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SCIENCE FAIR · HEALTH AND MEDICAL SCIENCES</a:t>
            </a:r>
            <a:endParaRPr lang="en-US" sz="1200" dirty="0"/>
          </a:p>
        </p:txBody>
      </p:sp>
      <p:sp>
        <p:nvSpPr>
          <p:cNvPr id="3" name="Text 1"/>
          <p:cNvSpPr txBox="1"/>
          <p:nvPr/>
        </p:nvSpPr>
        <p:spPr>
          <a:xfrm>
            <a:off x="640080" y="2011680"/>
            <a:ext cx="10881360" cy="1188720"/>
          </a:xfrm>
          <a:prstGeom prst="rect">
            <a:avLst/>
          </a:prstGeom>
          <a:noFill/>
          <a:ln/>
        </p:spPr>
        <p:txBody>
          <a:bodyPr wrap="square" lIns="0" tIns="0" rIns="0" bIns="0" rtlCol="0" anchor="ctr"/>
          <a:lstStyle/>
          <a:p>
            <a:pPr indent="0" marL="0">
              <a:buNone/>
            </a:pPr>
            <a:r>
              <a:rPr lang="en-US" sz="6000" b="1" dirty="0">
                <a:solidFill>
                  <a:srgbClr val="FFFFFF"/>
                </a:solidFill>
                <a:latin typeface="Calibri" pitchFamily="34" charset="0"/>
                <a:ea typeface="Calibri" pitchFamily="34" charset="-122"/>
                <a:cs typeface="Calibri" pitchFamily="34" charset="-120"/>
              </a:rPr>
              <a:t>Night Signal</a:t>
            </a:r>
            <a:endParaRPr lang="en-US" sz="6000" dirty="0"/>
          </a:p>
        </p:txBody>
      </p:sp>
      <p:sp>
        <p:nvSpPr>
          <p:cNvPr id="4" name="Text 2"/>
          <p:cNvSpPr txBox="1"/>
          <p:nvPr/>
        </p:nvSpPr>
        <p:spPr>
          <a:xfrm>
            <a:off x="640080" y="3291840"/>
            <a:ext cx="9601200" cy="822960"/>
          </a:xfrm>
          <a:prstGeom prst="rect">
            <a:avLst/>
          </a:prstGeom>
          <a:noFill/>
          <a:ln/>
        </p:spPr>
        <p:txBody>
          <a:bodyPr wrap="square" lIns="0" tIns="0" rIns="0" bIns="0" rtlCol="0" anchor="ctr"/>
          <a:lstStyle/>
          <a:p>
            <a:pPr indent="0" marL="0">
              <a:lnSpc>
                <a:spcPts val="2600"/>
              </a:lnSpc>
              <a:buNone/>
            </a:pPr>
            <a:r>
              <a:rPr lang="en-US" sz="1900" dirty="0">
                <a:solidFill>
                  <a:srgbClr val="9FB0CF"/>
                </a:solidFill>
                <a:latin typeface="Calibri" pitchFamily="34" charset="0"/>
                <a:ea typeface="Calibri" pitchFamily="34" charset="-122"/>
                <a:cs typeface="Calibri" pitchFamily="34" charset="-120"/>
              </a:rPr>
              <a:t>A $35 wearable that detects sleep apnea from blood oxygen, heart rate and body position.</a:t>
            </a:r>
            <a:endParaRPr lang="en-US" sz="1900" dirty="0"/>
          </a:p>
        </p:txBody>
      </p:sp>
      <p:sp>
        <p:nvSpPr>
          <p:cNvPr id="5" name="Text 3"/>
          <p:cNvSpPr txBox="1"/>
          <p:nvPr/>
        </p:nvSpPr>
        <p:spPr>
          <a:xfrm>
            <a:off x="640080" y="4937760"/>
            <a:ext cx="10881360"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Gabriela Mamane</a:t>
            </a:r>
            <a:pPr indent="0" marL="0">
              <a:buNone/>
            </a:pPr>
            <a:r>
              <a:rPr lang="en-US" sz="1500" dirty="0">
                <a:solidFill>
                  <a:srgbClr val="9FB0CF"/>
                </a:solidFill>
                <a:latin typeface="Calibri" pitchFamily="34" charset="0"/>
                <a:ea typeface="Calibri" pitchFamily="34" charset="-122"/>
                <a:cs typeface="Calibri" pitchFamily="34" charset="-120"/>
              </a:rPr>
              <a:t>   ·   Grade ___   ·   Experimental Project</a:t>
            </a:r>
            <a:endParaRPr lang="en-US" sz="1500" dirty="0"/>
          </a:p>
        </p:txBody>
      </p:sp>
      <p:sp>
        <p:nvSpPr>
          <p:cNvPr id="6" name="Text 4"/>
          <p:cNvSpPr txBox="1"/>
          <p:nvPr/>
        </p:nvSpPr>
        <p:spPr>
          <a:xfrm>
            <a:off x="640080" y="6309360"/>
            <a:ext cx="10881360" cy="274320"/>
          </a:xfrm>
          <a:prstGeom prst="rect">
            <a:avLst/>
          </a:prstGeom>
          <a:noFill/>
          <a:ln/>
        </p:spPr>
        <p:txBody>
          <a:bodyPr wrap="square" lIns="0" tIns="0" rIns="0" bIns="0" rtlCol="0" anchor="ctr"/>
          <a:lstStyle/>
          <a:p>
            <a:pPr indent="0" marL="0">
              <a:buNone/>
            </a:pPr>
            <a:r>
              <a:rPr lang="en-US" sz="1100" dirty="0">
                <a:solidFill>
                  <a:srgbClr val="6B7889"/>
                </a:solidFill>
                <a:latin typeface="Calibri" pitchFamily="34" charset="0"/>
                <a:ea typeface="Calibri" pitchFamily="34" charset="-122"/>
                <a:cs typeface="Calibri" pitchFamily="34" charset="-120"/>
              </a:rPr>
              <a:t>Educational prototype — not a medical device.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PURPOSE &amp; HYPOTHESIS</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141A26"/>
                </a:solidFill>
                <a:latin typeface="Calibri" pitchFamily="34" charset="0"/>
                <a:ea typeface="Calibri" pitchFamily="34" charset="-122"/>
                <a:cs typeface="Calibri" pitchFamily="34" charset="-120"/>
              </a:rPr>
              <a:t>The question</a:t>
            </a:r>
            <a:endParaRPr lang="en-US" sz="3000" dirty="0"/>
          </a:p>
        </p:txBody>
      </p:sp>
      <p:sp>
        <p:nvSpPr>
          <p:cNvPr id="4" name="Shape 2"/>
          <p:cNvSpPr/>
          <p:nvPr/>
        </p:nvSpPr>
        <p:spPr>
          <a:xfrm>
            <a:off x="640080" y="1920240"/>
            <a:ext cx="10881360" cy="1371600"/>
          </a:xfrm>
          <a:prstGeom prst="roundRect">
            <a:avLst>
              <a:gd name="adj" fmla="val 6667"/>
            </a:avLst>
          </a:prstGeom>
          <a:solidFill>
            <a:srgbClr val="F3F5F9"/>
          </a:solidFill>
          <a:ln w="12700">
            <a:solidFill>
              <a:srgbClr val="DBE1EC"/>
            </a:solidFill>
            <a:prstDash val="solid"/>
          </a:ln>
        </p:spPr>
      </p:sp>
      <p:sp>
        <p:nvSpPr>
          <p:cNvPr id="5" name="Text 3"/>
          <p:cNvSpPr txBox="1"/>
          <p:nvPr/>
        </p:nvSpPr>
        <p:spPr>
          <a:xfrm>
            <a:off x="914400" y="2103120"/>
            <a:ext cx="10332720" cy="1005840"/>
          </a:xfrm>
          <a:prstGeom prst="rect">
            <a:avLst/>
          </a:prstGeom>
          <a:noFill/>
          <a:ln/>
        </p:spPr>
        <p:txBody>
          <a:bodyPr wrap="square" lIns="0" tIns="0" rIns="0" bIns="0" rtlCol="0" anchor="ctr"/>
          <a:lstStyle/>
          <a:p>
            <a:pPr indent="0" marL="0">
              <a:lnSpc>
                <a:spcPts val="2300"/>
              </a:lnSpc>
              <a:buNone/>
            </a:pPr>
            <a:r>
              <a:rPr lang="en-US" sz="1600" b="1" dirty="0">
                <a:solidFill>
                  <a:srgbClr val="1F8A9C"/>
                </a:solidFill>
                <a:latin typeface="Calibri" pitchFamily="34" charset="0"/>
                <a:ea typeface="Calibri" pitchFamily="34" charset="-122"/>
                <a:cs typeface="Calibri" pitchFamily="34" charset="-120"/>
              </a:rPr>
              <a:t>Purpose:  </a:t>
            </a:r>
            <a:pPr indent="0" marL="0">
              <a:lnSpc>
                <a:spcPts val="2300"/>
              </a:lnSpc>
              <a:buNone/>
            </a:pPr>
            <a:r>
              <a:rPr lang="en-US" sz="1600" dirty="0">
                <a:solidFill>
                  <a:srgbClr val="141A26"/>
                </a:solidFill>
                <a:latin typeface="Calibri" pitchFamily="34" charset="0"/>
                <a:ea typeface="Calibri" pitchFamily="34" charset="-122"/>
                <a:cs typeface="Calibri" pitchFamily="34" charset="-120"/>
              </a:rPr>
              <a:t>Can a low-cost (~$35) wearable detect the blood-oxygen drops caused by sleep apnea accurately enough to estimate how many events happen per hour — the way a clinical sleep study does?</a:t>
            </a:r>
            <a:endParaRPr lang="en-US" sz="1600" dirty="0"/>
          </a:p>
        </p:txBody>
      </p:sp>
      <p:sp>
        <p:nvSpPr>
          <p:cNvPr id="6" name="Text 4"/>
          <p:cNvSpPr txBox="1"/>
          <p:nvPr/>
        </p:nvSpPr>
        <p:spPr>
          <a:xfrm>
            <a:off x="640080" y="3657600"/>
            <a:ext cx="10881360" cy="1463040"/>
          </a:xfrm>
          <a:prstGeom prst="rect">
            <a:avLst/>
          </a:prstGeom>
          <a:noFill/>
          <a:ln/>
        </p:spPr>
        <p:txBody>
          <a:bodyPr wrap="square" lIns="0" tIns="0" rIns="0" bIns="0" rtlCol="0" anchor="ctr"/>
          <a:lstStyle/>
          <a:p>
            <a:pPr indent="0" marL="0">
              <a:lnSpc>
                <a:spcPts val="2400"/>
              </a:lnSpc>
              <a:buNone/>
            </a:pPr>
            <a:r>
              <a:rPr lang="en-US" sz="1600" b="1" dirty="0">
                <a:solidFill>
                  <a:srgbClr val="E4568A"/>
                </a:solidFill>
                <a:latin typeface="Calibri" pitchFamily="34" charset="0"/>
                <a:ea typeface="Calibri" pitchFamily="34" charset="-122"/>
                <a:cs typeface="Calibri" pitchFamily="34" charset="-120"/>
              </a:rPr>
              <a:t>Hypothesis:  </a:t>
            </a:r>
            <a:pPr indent="0" marL="0">
              <a:lnSpc>
                <a:spcPts val="2400"/>
              </a:lnSpc>
              <a:buNone/>
            </a:pPr>
            <a:r>
              <a:rPr lang="en-US" sz="1600" dirty="0">
                <a:solidFill>
                  <a:srgbClr val="44515F"/>
                </a:solidFill>
                <a:latin typeface="Calibri" pitchFamily="34" charset="0"/>
                <a:ea typeface="Calibri" pitchFamily="34" charset="-122"/>
                <a:cs typeface="Calibri" pitchFamily="34" charset="-120"/>
              </a:rPr>
              <a:t>Because apnea pauses breathing, blood oxygen will dip and heart rate will change during each event. Software can count these dips per hour (an AHI score) and sort the night into standard severity bands — showing a cheap device can screen for apnea.</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SCIENTIFIC BACKGROUND</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141A26"/>
                </a:solidFill>
                <a:latin typeface="Calibri" pitchFamily="34" charset="0"/>
                <a:ea typeface="Calibri" pitchFamily="34" charset="-122"/>
                <a:cs typeface="Calibri" pitchFamily="34" charset="-120"/>
              </a:rPr>
              <a:t>What sleep apnea does to the body</a:t>
            </a:r>
            <a:endParaRPr lang="en-US" sz="3000" dirty="0"/>
          </a:p>
        </p:txBody>
      </p:sp>
      <p:sp>
        <p:nvSpPr>
          <p:cNvPr id="4" name="Shape 2"/>
          <p:cNvSpPr/>
          <p:nvPr/>
        </p:nvSpPr>
        <p:spPr>
          <a:xfrm>
            <a:off x="640080" y="2029968"/>
            <a:ext cx="128016" cy="128016"/>
          </a:xfrm>
          <a:prstGeom prst="ellipse">
            <a:avLst/>
          </a:prstGeom>
          <a:solidFill>
            <a:srgbClr val="1F8A9C"/>
          </a:solidFill>
          <a:ln/>
        </p:spPr>
      </p:sp>
      <p:sp>
        <p:nvSpPr>
          <p:cNvPr id="5" name="Text 3"/>
          <p:cNvSpPr txBox="1"/>
          <p:nvPr/>
        </p:nvSpPr>
        <p:spPr>
          <a:xfrm>
            <a:off x="932688" y="1938528"/>
            <a:ext cx="7022592" cy="731520"/>
          </a:xfrm>
          <a:prstGeom prst="rect">
            <a:avLst/>
          </a:prstGeom>
          <a:noFill/>
          <a:ln/>
        </p:spPr>
        <p:txBody>
          <a:bodyPr wrap="square" lIns="0" tIns="0" rIns="0" bIns="0" rtlCol="0" anchor="ctr"/>
          <a:lstStyle/>
          <a:p>
            <a:pPr indent="0" marL="0">
              <a:lnSpc>
                <a:spcPts val="2000"/>
              </a:lnSpc>
              <a:buNone/>
            </a:pPr>
            <a:r>
              <a:rPr lang="en-US" sz="1500" dirty="0">
                <a:solidFill>
                  <a:srgbClr val="44515F"/>
                </a:solidFill>
                <a:latin typeface="Calibri" pitchFamily="34" charset="0"/>
                <a:ea typeface="Calibri" pitchFamily="34" charset="-122"/>
                <a:cs typeface="Calibri" pitchFamily="34" charset="-120"/>
              </a:rPr>
              <a:t>Obstructive sleep apnea repeatedly blocks the airway during sleep, pausing breathing for 10+ seconds.</a:t>
            </a:r>
            <a:endParaRPr lang="en-US" sz="1500" dirty="0"/>
          </a:p>
        </p:txBody>
      </p:sp>
      <p:sp>
        <p:nvSpPr>
          <p:cNvPr id="6" name="Shape 4"/>
          <p:cNvSpPr/>
          <p:nvPr/>
        </p:nvSpPr>
        <p:spPr>
          <a:xfrm>
            <a:off x="640080" y="2898648"/>
            <a:ext cx="128016" cy="128016"/>
          </a:xfrm>
          <a:prstGeom prst="ellipse">
            <a:avLst/>
          </a:prstGeom>
          <a:solidFill>
            <a:srgbClr val="1F8A9C"/>
          </a:solidFill>
          <a:ln/>
        </p:spPr>
      </p:sp>
      <p:sp>
        <p:nvSpPr>
          <p:cNvPr id="7" name="Text 5"/>
          <p:cNvSpPr txBox="1"/>
          <p:nvPr/>
        </p:nvSpPr>
        <p:spPr>
          <a:xfrm>
            <a:off x="932688" y="2807208"/>
            <a:ext cx="7022592" cy="731520"/>
          </a:xfrm>
          <a:prstGeom prst="rect">
            <a:avLst/>
          </a:prstGeom>
          <a:noFill/>
          <a:ln/>
        </p:spPr>
        <p:txBody>
          <a:bodyPr wrap="square" lIns="0" tIns="0" rIns="0" bIns="0" rtlCol="0" anchor="ctr"/>
          <a:lstStyle/>
          <a:p>
            <a:pPr indent="0" marL="0">
              <a:lnSpc>
                <a:spcPts val="2000"/>
              </a:lnSpc>
              <a:buNone/>
            </a:pPr>
            <a:r>
              <a:rPr lang="en-US" sz="1500" dirty="0">
                <a:solidFill>
                  <a:srgbClr val="44515F"/>
                </a:solidFill>
                <a:latin typeface="Calibri" pitchFamily="34" charset="0"/>
                <a:ea typeface="Calibri" pitchFamily="34" charset="-122"/>
                <a:cs typeface="Calibri" pitchFamily="34" charset="-120"/>
              </a:rPr>
              <a:t>Each pause starves the blood of oxygen — a “desaturation” — and the heart reacts.</a:t>
            </a:r>
            <a:endParaRPr lang="en-US" sz="1500" dirty="0"/>
          </a:p>
        </p:txBody>
      </p:sp>
      <p:sp>
        <p:nvSpPr>
          <p:cNvPr id="8" name="Shape 6"/>
          <p:cNvSpPr/>
          <p:nvPr/>
        </p:nvSpPr>
        <p:spPr>
          <a:xfrm>
            <a:off x="640080" y="3767328"/>
            <a:ext cx="128016" cy="128016"/>
          </a:xfrm>
          <a:prstGeom prst="ellipse">
            <a:avLst/>
          </a:prstGeom>
          <a:solidFill>
            <a:srgbClr val="1F8A9C"/>
          </a:solidFill>
          <a:ln/>
        </p:spPr>
      </p:sp>
      <p:sp>
        <p:nvSpPr>
          <p:cNvPr id="9" name="Text 7"/>
          <p:cNvSpPr txBox="1"/>
          <p:nvPr/>
        </p:nvSpPr>
        <p:spPr>
          <a:xfrm>
            <a:off x="932688" y="3675888"/>
            <a:ext cx="7022592" cy="731520"/>
          </a:xfrm>
          <a:prstGeom prst="rect">
            <a:avLst/>
          </a:prstGeom>
          <a:noFill/>
          <a:ln/>
        </p:spPr>
        <p:txBody>
          <a:bodyPr wrap="square" lIns="0" tIns="0" rIns="0" bIns="0" rtlCol="0" anchor="ctr"/>
          <a:lstStyle/>
          <a:p>
            <a:pPr indent="0" marL="0">
              <a:lnSpc>
                <a:spcPts val="2000"/>
              </a:lnSpc>
              <a:buNone/>
            </a:pPr>
            <a:r>
              <a:rPr lang="en-US" sz="1500" dirty="0">
                <a:solidFill>
                  <a:srgbClr val="44515F"/>
                </a:solidFill>
                <a:latin typeface="Calibri" pitchFamily="34" charset="0"/>
                <a:ea typeface="Calibri" pitchFamily="34" charset="-122"/>
                <a:cs typeface="Calibri" pitchFamily="34" charset="-120"/>
              </a:rPr>
              <a:t>Doctors count these events per hour: the Apnea–Hypopnea Index (AHI).</a:t>
            </a:r>
            <a:endParaRPr lang="en-US" sz="1500" dirty="0"/>
          </a:p>
        </p:txBody>
      </p:sp>
      <p:sp>
        <p:nvSpPr>
          <p:cNvPr id="10" name="Shape 8"/>
          <p:cNvSpPr/>
          <p:nvPr/>
        </p:nvSpPr>
        <p:spPr>
          <a:xfrm>
            <a:off x="640080" y="4636008"/>
            <a:ext cx="128016" cy="128016"/>
          </a:xfrm>
          <a:prstGeom prst="ellipse">
            <a:avLst/>
          </a:prstGeom>
          <a:solidFill>
            <a:srgbClr val="1F8A9C"/>
          </a:solidFill>
          <a:ln/>
        </p:spPr>
      </p:sp>
      <p:sp>
        <p:nvSpPr>
          <p:cNvPr id="11" name="Text 9"/>
          <p:cNvSpPr txBox="1"/>
          <p:nvPr/>
        </p:nvSpPr>
        <p:spPr>
          <a:xfrm>
            <a:off x="932688" y="4544568"/>
            <a:ext cx="7022592" cy="731520"/>
          </a:xfrm>
          <a:prstGeom prst="rect">
            <a:avLst/>
          </a:prstGeom>
          <a:noFill/>
          <a:ln/>
        </p:spPr>
        <p:txBody>
          <a:bodyPr wrap="square" lIns="0" tIns="0" rIns="0" bIns="0" rtlCol="0" anchor="ctr"/>
          <a:lstStyle/>
          <a:p>
            <a:pPr indent="0" marL="0">
              <a:lnSpc>
                <a:spcPts val="2000"/>
              </a:lnSpc>
              <a:buNone/>
            </a:pPr>
            <a:r>
              <a:rPr lang="en-US" sz="1500" dirty="0">
                <a:solidFill>
                  <a:srgbClr val="44515F"/>
                </a:solidFill>
                <a:latin typeface="Calibri" pitchFamily="34" charset="0"/>
                <a:ea typeface="Calibri" pitchFamily="34" charset="-122"/>
                <a:cs typeface="Calibri" pitchFamily="34" charset="-120"/>
              </a:rPr>
              <a:t>A clinical sleep study costs thousands; this project tests a low-cost alternative.</a:t>
            </a:r>
            <a:endParaRPr lang="en-US" sz="1500" dirty="0"/>
          </a:p>
        </p:txBody>
      </p:sp>
      <p:sp>
        <p:nvSpPr>
          <p:cNvPr id="12" name="Shape 10"/>
          <p:cNvSpPr/>
          <p:nvPr/>
        </p:nvSpPr>
        <p:spPr>
          <a:xfrm>
            <a:off x="640080" y="5029200"/>
            <a:ext cx="2606040" cy="1143000"/>
          </a:xfrm>
          <a:prstGeom prst="roundRect">
            <a:avLst>
              <a:gd name="adj" fmla="val 8000"/>
            </a:avLst>
          </a:prstGeom>
          <a:solidFill>
            <a:srgbClr val="F3F5F9"/>
          </a:solidFill>
          <a:ln w="12700">
            <a:solidFill>
              <a:srgbClr val="DBE1EC"/>
            </a:solidFill>
            <a:prstDash val="solid"/>
          </a:ln>
        </p:spPr>
      </p:sp>
      <p:sp>
        <p:nvSpPr>
          <p:cNvPr id="13" name="Text 11"/>
          <p:cNvSpPr txBox="1"/>
          <p:nvPr/>
        </p:nvSpPr>
        <p:spPr>
          <a:xfrm>
            <a:off x="640080" y="5166360"/>
            <a:ext cx="2606040" cy="548640"/>
          </a:xfrm>
          <a:prstGeom prst="rect">
            <a:avLst/>
          </a:prstGeom>
          <a:noFill/>
          <a:ln/>
        </p:spPr>
        <p:txBody>
          <a:bodyPr wrap="square" lIns="0" tIns="0" rIns="0" bIns="0" rtlCol="0" anchor="ctr"/>
          <a:lstStyle/>
          <a:p>
            <a:pPr algn="ctr" indent="0" marL="0">
              <a:buNone/>
            </a:pPr>
            <a:r>
              <a:rPr lang="en-US" sz="2600" b="1" dirty="0">
                <a:solidFill>
                  <a:srgbClr val="2F8F5B"/>
                </a:solidFill>
                <a:latin typeface="Calibri" pitchFamily="34" charset="0"/>
                <a:ea typeface="Calibri" pitchFamily="34" charset="-122"/>
                <a:cs typeface="Calibri" pitchFamily="34" charset="-120"/>
              </a:rPr>
              <a:t>&lt; 5</a:t>
            </a:r>
            <a:endParaRPr lang="en-US" sz="2600" dirty="0"/>
          </a:p>
        </p:txBody>
      </p:sp>
      <p:sp>
        <p:nvSpPr>
          <p:cNvPr id="14" name="Text 12"/>
          <p:cNvSpPr txBox="1"/>
          <p:nvPr/>
        </p:nvSpPr>
        <p:spPr>
          <a:xfrm>
            <a:off x="640080" y="5715000"/>
            <a:ext cx="2606040" cy="36576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Normal  (events/hr)</a:t>
            </a:r>
            <a:endParaRPr lang="en-US" sz="1200" dirty="0"/>
          </a:p>
        </p:txBody>
      </p:sp>
      <p:sp>
        <p:nvSpPr>
          <p:cNvPr id="15" name="Shape 13"/>
          <p:cNvSpPr/>
          <p:nvPr/>
        </p:nvSpPr>
        <p:spPr>
          <a:xfrm>
            <a:off x="3383280" y="5029200"/>
            <a:ext cx="2606040" cy="1143000"/>
          </a:xfrm>
          <a:prstGeom prst="roundRect">
            <a:avLst>
              <a:gd name="adj" fmla="val 8000"/>
            </a:avLst>
          </a:prstGeom>
          <a:solidFill>
            <a:srgbClr val="F3F5F9"/>
          </a:solidFill>
          <a:ln w="12700">
            <a:solidFill>
              <a:srgbClr val="DBE1EC"/>
            </a:solidFill>
            <a:prstDash val="solid"/>
          </a:ln>
        </p:spPr>
      </p:sp>
      <p:sp>
        <p:nvSpPr>
          <p:cNvPr id="16" name="Text 14"/>
          <p:cNvSpPr txBox="1"/>
          <p:nvPr/>
        </p:nvSpPr>
        <p:spPr>
          <a:xfrm>
            <a:off x="3383280" y="5166360"/>
            <a:ext cx="2606040" cy="548640"/>
          </a:xfrm>
          <a:prstGeom prst="rect">
            <a:avLst/>
          </a:prstGeom>
          <a:noFill/>
          <a:ln/>
        </p:spPr>
        <p:txBody>
          <a:bodyPr wrap="square" lIns="0" tIns="0" rIns="0" bIns="0" rtlCol="0" anchor="ctr"/>
          <a:lstStyle/>
          <a:p>
            <a:pPr algn="ctr" indent="0" marL="0">
              <a:buNone/>
            </a:pPr>
            <a:r>
              <a:rPr lang="en-US" sz="2600" b="1" dirty="0">
                <a:solidFill>
                  <a:srgbClr val="C98A1E"/>
                </a:solidFill>
                <a:latin typeface="Calibri" pitchFamily="34" charset="0"/>
                <a:ea typeface="Calibri" pitchFamily="34" charset="-122"/>
                <a:cs typeface="Calibri" pitchFamily="34" charset="-120"/>
              </a:rPr>
              <a:t>5–15</a:t>
            </a:r>
            <a:endParaRPr lang="en-US" sz="2600" dirty="0"/>
          </a:p>
        </p:txBody>
      </p:sp>
      <p:sp>
        <p:nvSpPr>
          <p:cNvPr id="17" name="Text 15"/>
          <p:cNvSpPr txBox="1"/>
          <p:nvPr/>
        </p:nvSpPr>
        <p:spPr>
          <a:xfrm>
            <a:off x="3383280" y="5715000"/>
            <a:ext cx="2606040" cy="36576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Mild  (events/hr)</a:t>
            </a:r>
            <a:endParaRPr lang="en-US" sz="1200" dirty="0"/>
          </a:p>
        </p:txBody>
      </p:sp>
      <p:sp>
        <p:nvSpPr>
          <p:cNvPr id="18" name="Shape 16"/>
          <p:cNvSpPr/>
          <p:nvPr/>
        </p:nvSpPr>
        <p:spPr>
          <a:xfrm>
            <a:off x="6126480" y="5029200"/>
            <a:ext cx="2606040" cy="1143000"/>
          </a:xfrm>
          <a:prstGeom prst="roundRect">
            <a:avLst>
              <a:gd name="adj" fmla="val 8000"/>
            </a:avLst>
          </a:prstGeom>
          <a:solidFill>
            <a:srgbClr val="F3F5F9"/>
          </a:solidFill>
          <a:ln w="12700">
            <a:solidFill>
              <a:srgbClr val="DBE1EC"/>
            </a:solidFill>
            <a:prstDash val="solid"/>
          </a:ln>
        </p:spPr>
      </p:sp>
      <p:sp>
        <p:nvSpPr>
          <p:cNvPr id="19" name="Text 17"/>
          <p:cNvSpPr txBox="1"/>
          <p:nvPr/>
        </p:nvSpPr>
        <p:spPr>
          <a:xfrm>
            <a:off x="6126480" y="5166360"/>
            <a:ext cx="2606040" cy="548640"/>
          </a:xfrm>
          <a:prstGeom prst="rect">
            <a:avLst/>
          </a:prstGeom>
          <a:noFill/>
          <a:ln/>
        </p:spPr>
        <p:txBody>
          <a:bodyPr wrap="square" lIns="0" tIns="0" rIns="0" bIns="0" rtlCol="0" anchor="ctr"/>
          <a:lstStyle/>
          <a:p>
            <a:pPr algn="ctr" indent="0" marL="0">
              <a:buNone/>
            </a:pPr>
            <a:r>
              <a:rPr lang="en-US" sz="2600" b="1" dirty="0">
                <a:solidFill>
                  <a:srgbClr val="D9741F"/>
                </a:solidFill>
                <a:latin typeface="Calibri" pitchFamily="34" charset="0"/>
                <a:ea typeface="Calibri" pitchFamily="34" charset="-122"/>
                <a:cs typeface="Calibri" pitchFamily="34" charset="-120"/>
              </a:rPr>
              <a:t>15–30</a:t>
            </a:r>
            <a:endParaRPr lang="en-US" sz="2600" dirty="0"/>
          </a:p>
        </p:txBody>
      </p:sp>
      <p:sp>
        <p:nvSpPr>
          <p:cNvPr id="20" name="Text 18"/>
          <p:cNvSpPr txBox="1"/>
          <p:nvPr/>
        </p:nvSpPr>
        <p:spPr>
          <a:xfrm>
            <a:off x="6126480" y="5715000"/>
            <a:ext cx="2606040" cy="36576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Moderate  (events/hr)</a:t>
            </a:r>
            <a:endParaRPr lang="en-US" sz="1200" dirty="0"/>
          </a:p>
        </p:txBody>
      </p:sp>
      <p:sp>
        <p:nvSpPr>
          <p:cNvPr id="21" name="Shape 19"/>
          <p:cNvSpPr/>
          <p:nvPr/>
        </p:nvSpPr>
        <p:spPr>
          <a:xfrm>
            <a:off x="8869680" y="5029200"/>
            <a:ext cx="2606040" cy="1143000"/>
          </a:xfrm>
          <a:prstGeom prst="roundRect">
            <a:avLst>
              <a:gd name="adj" fmla="val 8000"/>
            </a:avLst>
          </a:prstGeom>
          <a:solidFill>
            <a:srgbClr val="F3F5F9"/>
          </a:solidFill>
          <a:ln w="12700">
            <a:solidFill>
              <a:srgbClr val="DBE1EC"/>
            </a:solidFill>
            <a:prstDash val="solid"/>
          </a:ln>
        </p:spPr>
      </p:sp>
      <p:sp>
        <p:nvSpPr>
          <p:cNvPr id="22" name="Text 20"/>
          <p:cNvSpPr txBox="1"/>
          <p:nvPr/>
        </p:nvSpPr>
        <p:spPr>
          <a:xfrm>
            <a:off x="8869680" y="5166360"/>
            <a:ext cx="2606040" cy="548640"/>
          </a:xfrm>
          <a:prstGeom prst="rect">
            <a:avLst/>
          </a:prstGeom>
          <a:noFill/>
          <a:ln/>
        </p:spPr>
        <p:txBody>
          <a:bodyPr wrap="square" lIns="0" tIns="0" rIns="0" bIns="0" rtlCol="0" anchor="ctr"/>
          <a:lstStyle/>
          <a:p>
            <a:pPr algn="ctr" indent="0" marL="0">
              <a:buNone/>
            </a:pPr>
            <a:r>
              <a:rPr lang="en-US" sz="2600" b="1" dirty="0">
                <a:solidFill>
                  <a:srgbClr val="CF4747"/>
                </a:solidFill>
                <a:latin typeface="Calibri" pitchFamily="34" charset="0"/>
                <a:ea typeface="Calibri" pitchFamily="34" charset="-122"/>
                <a:cs typeface="Calibri" pitchFamily="34" charset="-120"/>
              </a:rPr>
              <a:t>&gt; 30</a:t>
            </a:r>
            <a:endParaRPr lang="en-US" sz="2600" dirty="0"/>
          </a:p>
        </p:txBody>
      </p:sp>
      <p:sp>
        <p:nvSpPr>
          <p:cNvPr id="23" name="Text 21"/>
          <p:cNvSpPr txBox="1"/>
          <p:nvPr/>
        </p:nvSpPr>
        <p:spPr>
          <a:xfrm>
            <a:off x="8869680" y="5715000"/>
            <a:ext cx="2606040" cy="36576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Severe  (events/hr)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DESIGN &amp; PROTOCOL</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141A26"/>
                </a:solidFill>
                <a:latin typeface="Calibri" pitchFamily="34" charset="0"/>
                <a:ea typeface="Calibri" pitchFamily="34" charset="-122"/>
                <a:cs typeface="Calibri" pitchFamily="34" charset="-120"/>
              </a:rPr>
              <a:t>How the experiment works</a:t>
            </a:r>
            <a:endParaRPr lang="en-US" sz="3000" dirty="0"/>
          </a:p>
        </p:txBody>
      </p:sp>
      <p:sp>
        <p:nvSpPr>
          <p:cNvPr id="4" name="Shape 2"/>
          <p:cNvSpPr/>
          <p:nvPr/>
        </p:nvSpPr>
        <p:spPr>
          <a:xfrm>
            <a:off x="640080" y="1920240"/>
            <a:ext cx="457200" cy="457200"/>
          </a:xfrm>
          <a:prstGeom prst="roundRect">
            <a:avLst>
              <a:gd name="adj" fmla="val 20000"/>
            </a:avLst>
          </a:prstGeom>
          <a:solidFill>
            <a:srgbClr val="1F8A9C"/>
          </a:solidFill>
          <a:ln/>
        </p:spPr>
      </p:sp>
      <p:sp>
        <p:nvSpPr>
          <p:cNvPr id="5" name="Text 3"/>
          <p:cNvSpPr txBox="1"/>
          <p:nvPr/>
        </p:nvSpPr>
        <p:spPr>
          <a:xfrm>
            <a:off x="640080" y="19202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280160" y="1938528"/>
            <a:ext cx="10149840" cy="548640"/>
          </a:xfrm>
          <a:prstGeom prst="rect">
            <a:avLst/>
          </a:prstGeom>
          <a:noFill/>
          <a:ln/>
        </p:spPr>
        <p:txBody>
          <a:bodyPr wrap="square" lIns="0" tIns="0" rIns="0" bIns="0" rtlCol="0" anchor="ctr"/>
          <a:lstStyle/>
          <a:p>
            <a:pPr indent="0" marL="0">
              <a:lnSpc>
                <a:spcPts val="1900"/>
              </a:lnSpc>
              <a:buNone/>
            </a:pPr>
            <a:r>
              <a:rPr lang="en-US" sz="1450" b="1" dirty="0">
                <a:solidFill>
                  <a:srgbClr val="141A26"/>
                </a:solidFill>
                <a:latin typeface="Calibri" pitchFamily="34" charset="0"/>
                <a:ea typeface="Calibri" pitchFamily="34" charset="-122"/>
                <a:cs typeface="Calibri" pitchFamily="34" charset="-120"/>
              </a:rPr>
              <a:t>Build the wearable  </a:t>
            </a:r>
            <a:pPr indent="0" marL="0">
              <a:lnSpc>
                <a:spcPts val="1900"/>
              </a:lnSpc>
              <a:buNone/>
            </a:pPr>
            <a:r>
              <a:rPr lang="en-US" sz="1450" dirty="0">
                <a:solidFill>
                  <a:srgbClr val="44515F"/>
                </a:solidFill>
                <a:latin typeface="Calibri" pitchFamily="34" charset="0"/>
                <a:ea typeface="Calibri" pitchFamily="34" charset="-122"/>
                <a:cs typeface="Calibri" pitchFamily="34" charset="-120"/>
              </a:rPr>
              <a:t>— MAX30102 oxygen sensor + MPU-6050 + ESP32 in a small case on a velcro strap; battery-powered.</a:t>
            </a:r>
            <a:endParaRPr lang="en-US" sz="1450" dirty="0"/>
          </a:p>
        </p:txBody>
      </p:sp>
      <p:sp>
        <p:nvSpPr>
          <p:cNvPr id="7" name="Shape 5"/>
          <p:cNvSpPr/>
          <p:nvPr/>
        </p:nvSpPr>
        <p:spPr>
          <a:xfrm>
            <a:off x="640080" y="2788920"/>
            <a:ext cx="457200" cy="457200"/>
          </a:xfrm>
          <a:prstGeom prst="roundRect">
            <a:avLst>
              <a:gd name="adj" fmla="val 20000"/>
            </a:avLst>
          </a:prstGeom>
          <a:solidFill>
            <a:srgbClr val="1F8A9C"/>
          </a:solidFill>
          <a:ln/>
        </p:spPr>
      </p:sp>
      <p:sp>
        <p:nvSpPr>
          <p:cNvPr id="8" name="Text 6"/>
          <p:cNvSpPr txBox="1"/>
          <p:nvPr/>
        </p:nvSpPr>
        <p:spPr>
          <a:xfrm>
            <a:off x="640080" y="27889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1280160" y="2807208"/>
            <a:ext cx="10149840" cy="548640"/>
          </a:xfrm>
          <a:prstGeom prst="rect">
            <a:avLst/>
          </a:prstGeom>
          <a:noFill/>
          <a:ln/>
        </p:spPr>
        <p:txBody>
          <a:bodyPr wrap="square" lIns="0" tIns="0" rIns="0" bIns="0" rtlCol="0" anchor="ctr"/>
          <a:lstStyle/>
          <a:p>
            <a:pPr indent="0" marL="0">
              <a:lnSpc>
                <a:spcPts val="1900"/>
              </a:lnSpc>
              <a:buNone/>
            </a:pPr>
            <a:r>
              <a:rPr lang="en-US" sz="1450" b="1" dirty="0">
                <a:solidFill>
                  <a:srgbClr val="141A26"/>
                </a:solidFill>
                <a:latin typeface="Calibri" pitchFamily="34" charset="0"/>
                <a:ea typeface="Calibri" pitchFamily="34" charset="-122"/>
                <a:cs typeface="Calibri" pitchFamily="34" charset="-120"/>
              </a:rPr>
              <a:t>Validate it  </a:t>
            </a:r>
            <a:pPr indent="0" marL="0">
              <a:lnSpc>
                <a:spcPts val="1900"/>
              </a:lnSpc>
              <a:buNone/>
            </a:pPr>
            <a:r>
              <a:rPr lang="en-US" sz="1450" dirty="0">
                <a:solidFill>
                  <a:srgbClr val="44515F"/>
                </a:solidFill>
                <a:latin typeface="Calibri" pitchFamily="34" charset="0"/>
                <a:ea typeface="Calibri" pitchFamily="34" charset="-122"/>
                <a:cs typeface="Calibri" pitchFamily="34" charset="-120"/>
              </a:rPr>
              <a:t>— Compare readings to a store-bought oximeter while awake to prove accuracy.</a:t>
            </a:r>
            <a:endParaRPr lang="en-US" sz="1450" dirty="0"/>
          </a:p>
        </p:txBody>
      </p:sp>
      <p:sp>
        <p:nvSpPr>
          <p:cNvPr id="10" name="Shape 8"/>
          <p:cNvSpPr/>
          <p:nvPr/>
        </p:nvSpPr>
        <p:spPr>
          <a:xfrm>
            <a:off x="640080" y="3657600"/>
            <a:ext cx="457200" cy="457200"/>
          </a:xfrm>
          <a:prstGeom prst="roundRect">
            <a:avLst>
              <a:gd name="adj" fmla="val 20000"/>
            </a:avLst>
          </a:prstGeom>
          <a:solidFill>
            <a:srgbClr val="1F8A9C"/>
          </a:solidFill>
          <a:ln/>
        </p:spPr>
      </p:sp>
      <p:sp>
        <p:nvSpPr>
          <p:cNvPr id="11" name="Text 9"/>
          <p:cNvSpPr txBox="1"/>
          <p:nvPr/>
        </p:nvSpPr>
        <p:spPr>
          <a:xfrm>
            <a:off x="640080" y="36576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2" name="Text 10"/>
          <p:cNvSpPr txBox="1"/>
          <p:nvPr/>
        </p:nvSpPr>
        <p:spPr>
          <a:xfrm>
            <a:off x="1280160" y="3675888"/>
            <a:ext cx="10149840" cy="548640"/>
          </a:xfrm>
          <a:prstGeom prst="rect">
            <a:avLst/>
          </a:prstGeom>
          <a:noFill/>
          <a:ln/>
        </p:spPr>
        <p:txBody>
          <a:bodyPr wrap="square" lIns="0" tIns="0" rIns="0" bIns="0" rtlCol="0" anchor="ctr"/>
          <a:lstStyle/>
          <a:p>
            <a:pPr indent="0" marL="0">
              <a:lnSpc>
                <a:spcPts val="1900"/>
              </a:lnSpc>
              <a:buNone/>
            </a:pPr>
            <a:r>
              <a:rPr lang="en-US" sz="1450" b="1" dirty="0">
                <a:solidFill>
                  <a:srgbClr val="141A26"/>
                </a:solidFill>
                <a:latin typeface="Calibri" pitchFamily="34" charset="0"/>
                <a:ea typeface="Calibri" pitchFamily="34" charset="-122"/>
                <a:cs typeface="Calibri" pitchFamily="34" charset="-120"/>
              </a:rPr>
              <a:t>Record nights  </a:t>
            </a:r>
            <a:pPr indent="0" marL="0">
              <a:lnSpc>
                <a:spcPts val="1900"/>
              </a:lnSpc>
              <a:buNone/>
            </a:pPr>
            <a:r>
              <a:rPr lang="en-US" sz="1450" dirty="0">
                <a:solidFill>
                  <a:srgbClr val="44515F"/>
                </a:solidFill>
                <a:latin typeface="Calibri" pitchFamily="34" charset="0"/>
                <a:ea typeface="Calibri" pitchFamily="34" charset="-122"/>
                <a:cs typeface="Calibri" pitchFamily="34" charset="-120"/>
              </a:rPr>
              <a:t>— Stream data over Bluetooth to a laptop and log the whole night.</a:t>
            </a:r>
            <a:endParaRPr lang="en-US" sz="1450" dirty="0"/>
          </a:p>
        </p:txBody>
      </p:sp>
      <p:sp>
        <p:nvSpPr>
          <p:cNvPr id="13" name="Shape 11"/>
          <p:cNvSpPr/>
          <p:nvPr/>
        </p:nvSpPr>
        <p:spPr>
          <a:xfrm>
            <a:off x="640080" y="4526280"/>
            <a:ext cx="457200" cy="457200"/>
          </a:xfrm>
          <a:prstGeom prst="roundRect">
            <a:avLst>
              <a:gd name="adj" fmla="val 20000"/>
            </a:avLst>
          </a:prstGeom>
          <a:solidFill>
            <a:srgbClr val="1F8A9C"/>
          </a:solidFill>
          <a:ln/>
        </p:spPr>
      </p:sp>
      <p:sp>
        <p:nvSpPr>
          <p:cNvPr id="14" name="Text 12"/>
          <p:cNvSpPr txBox="1"/>
          <p:nvPr/>
        </p:nvSpPr>
        <p:spPr>
          <a:xfrm>
            <a:off x="640080" y="45262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5" name="Text 13"/>
          <p:cNvSpPr txBox="1"/>
          <p:nvPr/>
        </p:nvSpPr>
        <p:spPr>
          <a:xfrm>
            <a:off x="1280160" y="4544568"/>
            <a:ext cx="10149840" cy="548640"/>
          </a:xfrm>
          <a:prstGeom prst="rect">
            <a:avLst/>
          </a:prstGeom>
          <a:noFill/>
          <a:ln/>
        </p:spPr>
        <p:txBody>
          <a:bodyPr wrap="square" lIns="0" tIns="0" rIns="0" bIns="0" rtlCol="0" anchor="ctr"/>
          <a:lstStyle/>
          <a:p>
            <a:pPr indent="0" marL="0">
              <a:lnSpc>
                <a:spcPts val="1900"/>
              </a:lnSpc>
              <a:buNone/>
            </a:pPr>
            <a:r>
              <a:rPr lang="en-US" sz="1450" b="1" dirty="0">
                <a:solidFill>
                  <a:srgbClr val="141A26"/>
                </a:solidFill>
                <a:latin typeface="Calibri" pitchFamily="34" charset="0"/>
                <a:ea typeface="Calibri" pitchFamily="34" charset="-122"/>
                <a:cs typeface="Calibri" pitchFamily="34" charset="-120"/>
              </a:rPr>
              <a:t>Test detection safely  </a:t>
            </a:r>
            <a:pPr indent="0" marL="0">
              <a:lnSpc>
                <a:spcPts val="1900"/>
              </a:lnSpc>
              <a:buNone/>
            </a:pPr>
            <a:r>
              <a:rPr lang="en-US" sz="1450" dirty="0">
                <a:solidFill>
                  <a:srgbClr val="44515F"/>
                </a:solidFill>
                <a:latin typeface="Calibri" pitchFamily="34" charset="0"/>
                <a:ea typeface="Calibri" pitchFamily="34" charset="-122"/>
                <a:cs typeface="Calibri" pitchFamily="34" charset="-120"/>
              </a:rPr>
              <a:t>— Short, supervised, awake breath-holds create known events to check the software.</a:t>
            </a:r>
            <a:endParaRPr lang="en-US" sz="1450" dirty="0"/>
          </a:p>
        </p:txBody>
      </p:sp>
      <p:sp>
        <p:nvSpPr>
          <p:cNvPr id="16" name="Shape 14"/>
          <p:cNvSpPr/>
          <p:nvPr/>
        </p:nvSpPr>
        <p:spPr>
          <a:xfrm>
            <a:off x="640080" y="5394960"/>
            <a:ext cx="457200" cy="457200"/>
          </a:xfrm>
          <a:prstGeom prst="roundRect">
            <a:avLst>
              <a:gd name="adj" fmla="val 20000"/>
            </a:avLst>
          </a:prstGeom>
          <a:solidFill>
            <a:srgbClr val="1F8A9C"/>
          </a:solidFill>
          <a:ln/>
        </p:spPr>
      </p:sp>
      <p:sp>
        <p:nvSpPr>
          <p:cNvPr id="17" name="Text 15"/>
          <p:cNvSpPr txBox="1"/>
          <p:nvPr/>
        </p:nvSpPr>
        <p:spPr>
          <a:xfrm>
            <a:off x="640080" y="5394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8" name="Text 16"/>
          <p:cNvSpPr txBox="1"/>
          <p:nvPr/>
        </p:nvSpPr>
        <p:spPr>
          <a:xfrm>
            <a:off x="1280160" y="5413248"/>
            <a:ext cx="10149840" cy="548640"/>
          </a:xfrm>
          <a:prstGeom prst="rect">
            <a:avLst/>
          </a:prstGeom>
          <a:noFill/>
          <a:ln/>
        </p:spPr>
        <p:txBody>
          <a:bodyPr wrap="square" lIns="0" tIns="0" rIns="0" bIns="0" rtlCol="0" anchor="ctr"/>
          <a:lstStyle/>
          <a:p>
            <a:pPr indent="0" marL="0">
              <a:lnSpc>
                <a:spcPts val="1900"/>
              </a:lnSpc>
              <a:buNone/>
            </a:pPr>
            <a:r>
              <a:rPr lang="en-US" sz="1450" b="1" dirty="0">
                <a:solidFill>
                  <a:srgbClr val="141A26"/>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44515F"/>
                </a:solidFill>
                <a:latin typeface="Calibri" pitchFamily="34" charset="0"/>
                <a:ea typeface="Calibri" pitchFamily="34" charset="-122"/>
                <a:cs typeface="Calibri" pitchFamily="34" charset="-120"/>
              </a:rPr>
              <a:t>— Count events (AHI), accuracy, breathing rate, HRV, sleep position, and machine learning.</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THE PRODUCT</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FFFFFF"/>
                </a:solidFill>
                <a:latin typeface="Calibri" pitchFamily="34" charset="0"/>
                <a:ea typeface="Calibri" pitchFamily="34" charset="-122"/>
                <a:cs typeface="Calibri" pitchFamily="34" charset="-120"/>
              </a:rPr>
              <a:t>What it looks like</a:t>
            </a:r>
            <a:endParaRPr lang="en-US" sz="3000" dirty="0"/>
          </a:p>
        </p:txBody>
      </p:sp>
      <p:pic>
        <p:nvPicPr>
          <p:cNvPr id="4" name="Image 0" descr="/tmp/product_hero.png">    </p:cNvPr>
          <p:cNvPicPr>
            <a:picLocks noChangeAspect="1"/>
          </p:cNvPicPr>
          <p:nvPr/>
        </p:nvPicPr>
        <p:blipFill>
          <a:blip r:embed="rId1"/>
          <a:stretch>
            <a:fillRect/>
          </a:stretch>
        </p:blipFill>
        <p:spPr>
          <a:xfrm>
            <a:off x="5760720" y="1554480"/>
            <a:ext cx="5760720" cy="3960495"/>
          </a:xfrm>
          <a:prstGeom prst="rect">
            <a:avLst/>
          </a:prstGeom>
        </p:spPr>
      </p:pic>
      <p:sp>
        <p:nvSpPr>
          <p:cNvPr id="5" name="Shape 2"/>
          <p:cNvSpPr/>
          <p:nvPr/>
        </p:nvSpPr>
        <p:spPr>
          <a:xfrm>
            <a:off x="640080" y="2075688"/>
            <a:ext cx="128016" cy="128016"/>
          </a:xfrm>
          <a:prstGeom prst="ellipse">
            <a:avLst/>
          </a:prstGeom>
          <a:solidFill>
            <a:srgbClr val="1F8A9C"/>
          </a:solidFill>
          <a:ln/>
        </p:spPr>
      </p:sp>
      <p:sp>
        <p:nvSpPr>
          <p:cNvPr id="6" name="Text 3"/>
          <p:cNvSpPr txBox="1"/>
          <p:nvPr/>
        </p:nvSpPr>
        <p:spPr>
          <a:xfrm>
            <a:off x="932688" y="1984248"/>
            <a:ext cx="4553712" cy="731520"/>
          </a:xfrm>
          <a:prstGeom prst="rect">
            <a:avLst/>
          </a:prstGeom>
          <a:noFill/>
          <a:ln/>
        </p:spPr>
        <p:txBody>
          <a:bodyPr wrap="square" lIns="0" tIns="0" rIns="0" bIns="0" rtlCol="0" anchor="ctr"/>
          <a:lstStyle/>
          <a:p>
            <a:pPr indent="0" marL="0">
              <a:lnSpc>
                <a:spcPts val="1950"/>
              </a:lnSpc>
              <a:buNone/>
            </a:pPr>
            <a:r>
              <a:rPr lang="en-US" sz="1450" dirty="0">
                <a:solidFill>
                  <a:srgbClr val="9FB0CF"/>
                </a:solidFill>
                <a:latin typeface="Calibri" pitchFamily="34" charset="0"/>
                <a:ea typeface="Calibri" pitchFamily="34" charset="-122"/>
                <a:cs typeface="Calibri" pitchFamily="34" charset="-120"/>
              </a:rPr>
              <a:t>Machined body with a glass screen showing your sleep report.</a:t>
            </a:r>
            <a:endParaRPr lang="en-US" sz="1450" dirty="0"/>
          </a:p>
        </p:txBody>
      </p:sp>
      <p:sp>
        <p:nvSpPr>
          <p:cNvPr id="7" name="Shape 4"/>
          <p:cNvSpPr/>
          <p:nvPr/>
        </p:nvSpPr>
        <p:spPr>
          <a:xfrm>
            <a:off x="640080" y="2642616"/>
            <a:ext cx="128016" cy="128016"/>
          </a:xfrm>
          <a:prstGeom prst="ellipse">
            <a:avLst/>
          </a:prstGeom>
          <a:solidFill>
            <a:srgbClr val="1F8A9C"/>
          </a:solidFill>
          <a:ln/>
        </p:spPr>
      </p:sp>
      <p:sp>
        <p:nvSpPr>
          <p:cNvPr id="8" name="Text 5"/>
          <p:cNvSpPr txBox="1"/>
          <p:nvPr/>
        </p:nvSpPr>
        <p:spPr>
          <a:xfrm>
            <a:off x="932688" y="2551176"/>
            <a:ext cx="4553712" cy="731520"/>
          </a:xfrm>
          <a:prstGeom prst="rect">
            <a:avLst/>
          </a:prstGeom>
          <a:noFill/>
          <a:ln/>
        </p:spPr>
        <p:txBody>
          <a:bodyPr wrap="square" lIns="0" tIns="0" rIns="0" bIns="0" rtlCol="0" anchor="ctr"/>
          <a:lstStyle/>
          <a:p>
            <a:pPr indent="0" marL="0">
              <a:lnSpc>
                <a:spcPts val="1950"/>
              </a:lnSpc>
              <a:buNone/>
            </a:pPr>
            <a:r>
              <a:rPr lang="en-US" sz="1450" dirty="0">
                <a:solidFill>
                  <a:srgbClr val="9FB0CF"/>
                </a:solidFill>
                <a:latin typeface="Calibri" pitchFamily="34" charset="0"/>
                <a:ea typeface="Calibri" pitchFamily="34" charset="-122"/>
                <a:cs typeface="Calibri" pitchFamily="34" charset="-120"/>
              </a:rPr>
              <a:t>Soft velcro band holds the processor, battery and Bluetooth.</a:t>
            </a:r>
            <a:endParaRPr lang="en-US" sz="1450" dirty="0"/>
          </a:p>
        </p:txBody>
      </p:sp>
      <p:sp>
        <p:nvSpPr>
          <p:cNvPr id="9" name="Shape 6"/>
          <p:cNvSpPr/>
          <p:nvPr/>
        </p:nvSpPr>
        <p:spPr>
          <a:xfrm>
            <a:off x="640080" y="3209544"/>
            <a:ext cx="128016" cy="128016"/>
          </a:xfrm>
          <a:prstGeom prst="ellipse">
            <a:avLst/>
          </a:prstGeom>
          <a:solidFill>
            <a:srgbClr val="1F8A9C"/>
          </a:solidFill>
          <a:ln/>
        </p:spPr>
      </p:sp>
      <p:sp>
        <p:nvSpPr>
          <p:cNvPr id="10" name="Text 7"/>
          <p:cNvSpPr txBox="1"/>
          <p:nvPr/>
        </p:nvSpPr>
        <p:spPr>
          <a:xfrm>
            <a:off x="932688" y="3118104"/>
            <a:ext cx="4553712" cy="731520"/>
          </a:xfrm>
          <a:prstGeom prst="rect">
            <a:avLst/>
          </a:prstGeom>
          <a:noFill/>
          <a:ln/>
        </p:spPr>
        <p:txBody>
          <a:bodyPr wrap="square" lIns="0" tIns="0" rIns="0" bIns="0" rtlCol="0" anchor="ctr"/>
          <a:lstStyle/>
          <a:p>
            <a:pPr indent="0" marL="0">
              <a:lnSpc>
                <a:spcPts val="1950"/>
              </a:lnSpc>
              <a:buNone/>
            </a:pPr>
            <a:r>
              <a:rPr lang="en-US" sz="1450" dirty="0">
                <a:solidFill>
                  <a:srgbClr val="9FB0CF"/>
                </a:solidFill>
                <a:latin typeface="Calibri" pitchFamily="34" charset="0"/>
                <a:ea typeface="Calibri" pitchFamily="34" charset="-122"/>
                <a:cs typeface="Calibri" pitchFamily="34" charset="-120"/>
              </a:rPr>
              <a:t>A fingertip sensor reads blood oxygen and pulse.</a:t>
            </a:r>
            <a:endParaRPr lang="en-US" sz="1450" dirty="0"/>
          </a:p>
        </p:txBody>
      </p:sp>
      <p:sp>
        <p:nvSpPr>
          <p:cNvPr id="11" name="Shape 8"/>
          <p:cNvSpPr/>
          <p:nvPr/>
        </p:nvSpPr>
        <p:spPr>
          <a:xfrm>
            <a:off x="640080" y="3776472"/>
            <a:ext cx="128016" cy="128016"/>
          </a:xfrm>
          <a:prstGeom prst="ellipse">
            <a:avLst/>
          </a:prstGeom>
          <a:solidFill>
            <a:srgbClr val="1F8A9C"/>
          </a:solidFill>
          <a:ln/>
        </p:spPr>
      </p:sp>
      <p:sp>
        <p:nvSpPr>
          <p:cNvPr id="12" name="Text 9"/>
          <p:cNvSpPr txBox="1"/>
          <p:nvPr/>
        </p:nvSpPr>
        <p:spPr>
          <a:xfrm>
            <a:off x="932688" y="3685032"/>
            <a:ext cx="4553712" cy="731520"/>
          </a:xfrm>
          <a:prstGeom prst="rect">
            <a:avLst/>
          </a:prstGeom>
          <a:noFill/>
          <a:ln/>
        </p:spPr>
        <p:txBody>
          <a:bodyPr wrap="square" lIns="0" tIns="0" rIns="0" bIns="0" rtlCol="0" anchor="ctr"/>
          <a:lstStyle/>
          <a:p>
            <a:pPr indent="0" marL="0">
              <a:lnSpc>
                <a:spcPts val="1950"/>
              </a:lnSpc>
              <a:buNone/>
            </a:pPr>
            <a:r>
              <a:rPr lang="en-US" sz="1450" dirty="0">
                <a:solidFill>
                  <a:srgbClr val="9FB0CF"/>
                </a:solidFill>
                <a:latin typeface="Calibri" pitchFamily="34" charset="0"/>
                <a:ea typeface="Calibri" pitchFamily="34" charset="-122"/>
                <a:cs typeface="Calibri" pitchFamily="34" charset="-120"/>
              </a:rPr>
              <a:t>Charges by USB and runs all night, cordless.</a:t>
            </a:r>
            <a:endParaRPr lang="en-US" sz="1450" dirty="0"/>
          </a:p>
        </p:txBody>
      </p:sp>
      <p:sp>
        <p:nvSpPr>
          <p:cNvPr id="13" name="Shape 10"/>
          <p:cNvSpPr/>
          <p:nvPr/>
        </p:nvSpPr>
        <p:spPr>
          <a:xfrm>
            <a:off x="640080" y="4937760"/>
            <a:ext cx="4846320" cy="914400"/>
          </a:xfrm>
          <a:prstGeom prst="roundRect">
            <a:avLst>
              <a:gd name="adj" fmla="val 10000"/>
            </a:avLst>
          </a:prstGeom>
          <a:solidFill>
            <a:srgbClr val="18233F"/>
          </a:solidFill>
          <a:ln w="12700">
            <a:solidFill>
              <a:srgbClr val="1F8A9C"/>
            </a:solidFill>
            <a:prstDash val="solid"/>
          </a:ln>
        </p:spPr>
      </p:sp>
      <p:sp>
        <p:nvSpPr>
          <p:cNvPr id="14" name="Text 11"/>
          <p:cNvSpPr txBox="1"/>
          <p:nvPr/>
        </p:nvSpPr>
        <p:spPr>
          <a:xfrm>
            <a:off x="868680" y="5120640"/>
            <a:ext cx="4480560" cy="640080"/>
          </a:xfrm>
          <a:prstGeom prst="rect">
            <a:avLst/>
          </a:prstGeom>
          <a:noFill/>
          <a:ln/>
        </p:spPr>
        <p:txBody>
          <a:bodyPr wrap="square" lIns="0" tIns="0" rIns="0" bIns="0" rtlCol="0" anchor="ctr"/>
          <a:lstStyle/>
          <a:p>
            <a:pPr indent="0" marL="0">
              <a:lnSpc>
                <a:spcPts val="1800"/>
              </a:lnSpc>
              <a:buNone/>
            </a:pPr>
            <a:r>
              <a:rPr lang="en-US" sz="1300" b="1" dirty="0">
                <a:solidFill>
                  <a:srgbClr val="3FB8CC"/>
                </a:solidFill>
                <a:latin typeface="Calibri" pitchFamily="34" charset="0"/>
                <a:ea typeface="Calibri" pitchFamily="34" charset="-122"/>
                <a:cs typeface="Calibri" pitchFamily="34" charset="-120"/>
              </a:rPr>
              <a:t>Live demo:  </a:t>
            </a:r>
            <a:pPr indent="0" marL="0">
              <a:lnSpc>
                <a:spcPts val="1800"/>
              </a:lnSpc>
              <a:buNone/>
            </a:pPr>
            <a:r>
              <a:rPr lang="en-US" sz="1300" dirty="0">
                <a:solidFill>
                  <a:srgbClr val="FFFFFF"/>
                </a:solidFill>
                <a:latin typeface="Calibri" pitchFamily="34" charset="0"/>
                <a:ea typeface="Calibri" pitchFamily="34" charset="-122"/>
                <a:cs typeface="Calibri" pitchFamily="34" charset="-120"/>
              </a:rPr>
              <a:t>an interactive 3D model can be spun around on screen at the fair.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RESULTS · THE NIGHT</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141A26"/>
                </a:solidFill>
                <a:latin typeface="Calibri" pitchFamily="34" charset="0"/>
                <a:ea typeface="Calibri" pitchFamily="34" charset="-122"/>
                <a:cs typeface="Calibri" pitchFamily="34" charset="-120"/>
              </a:rPr>
              <a:t>Detecting apnea events</a:t>
            </a:r>
            <a:endParaRPr lang="en-US" sz="3000" dirty="0"/>
          </a:p>
        </p:txBody>
      </p:sp>
      <p:sp>
        <p:nvSpPr>
          <p:cNvPr id="4" name="Shape 2"/>
          <p:cNvSpPr/>
          <p:nvPr/>
        </p:nvSpPr>
        <p:spPr>
          <a:xfrm>
            <a:off x="9966960" y="475488"/>
            <a:ext cx="1600200" cy="329184"/>
          </a:xfrm>
          <a:prstGeom prst="roundRect">
            <a:avLst>
              <a:gd name="adj" fmla="val 50000"/>
            </a:avLst>
          </a:prstGeom>
          <a:solidFill>
            <a:srgbClr val="2C2412"/>
          </a:solidFill>
          <a:ln w="12700">
            <a:solidFill>
              <a:srgbClr val="C98A1E"/>
            </a:solidFill>
            <a:prstDash val="solid"/>
          </a:ln>
        </p:spPr>
      </p:sp>
      <p:sp>
        <p:nvSpPr>
          <p:cNvPr id="5" name="Text 3"/>
          <p:cNvSpPr txBox="1"/>
          <p:nvPr/>
        </p:nvSpPr>
        <p:spPr>
          <a:xfrm>
            <a:off x="9966960" y="475488"/>
            <a:ext cx="160020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PRELIMINARY DATA</a:t>
            </a:r>
            <a:endParaRPr lang="en-US" sz="900" dirty="0"/>
          </a:p>
        </p:txBody>
      </p:sp>
      <p:pic>
        <p:nvPicPr>
          <p:cNvPr id="6" name="Image 0" descr="/tmp/pres_report.png">    </p:cNvPr>
          <p:cNvPicPr>
            <a:picLocks noChangeAspect="1"/>
          </p:cNvPicPr>
          <p:nvPr/>
        </p:nvPicPr>
        <p:blipFill>
          <a:blip r:embed="rId1"/>
          <a:stretch>
            <a:fillRect/>
          </a:stretch>
        </p:blipFill>
        <p:spPr>
          <a:xfrm>
            <a:off x="4800600" y="2011680"/>
            <a:ext cx="6949440" cy="3184928"/>
          </a:xfrm>
          <a:prstGeom prst="rect">
            <a:avLst/>
          </a:prstGeom>
        </p:spPr>
      </p:pic>
      <p:sp>
        <p:nvSpPr>
          <p:cNvPr id="7" name="Text 4"/>
          <p:cNvSpPr txBox="1"/>
          <p:nvPr/>
        </p:nvSpPr>
        <p:spPr>
          <a:xfrm>
            <a:off x="4800600" y="5242328"/>
            <a:ext cx="694944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Each red band is a detected apnea event.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3931920" cy="914400"/>
        </p:xfrm>
        <a:graphic>
          <a:graphicData uri="http://schemas.openxmlformats.org/drawingml/2006/table">
            <a:tbl>
              <a:tblPr/>
              <a:tblGrid>
                <a:gridCol w="2286000"/>
                <a:gridCol w="16459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Result</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365760">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Estimated AHI</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2.7 /hr  (Normal)</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65760">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Average blood oxygen</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97.5 %</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65760">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Lowest blood oxygen</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84 %</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65760">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Events detected</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19</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65760">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Night length</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7.0 hours</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RESULTS · ACCURACY &amp; DETECTION</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FFFFFF"/>
                </a:solidFill>
                <a:latin typeface="Calibri" pitchFamily="34" charset="0"/>
                <a:ea typeface="Calibri" pitchFamily="34" charset="-122"/>
                <a:cs typeface="Calibri" pitchFamily="34" charset="-120"/>
              </a:rPr>
              <a:t>Proving it works</a:t>
            </a:r>
            <a:endParaRPr lang="en-US" sz="3000" dirty="0"/>
          </a:p>
        </p:txBody>
      </p:sp>
      <p:sp>
        <p:nvSpPr>
          <p:cNvPr id="4" name="Shape 2"/>
          <p:cNvSpPr/>
          <p:nvPr/>
        </p:nvSpPr>
        <p:spPr>
          <a:xfrm>
            <a:off x="9966960" y="475488"/>
            <a:ext cx="1600200" cy="329184"/>
          </a:xfrm>
          <a:prstGeom prst="roundRect">
            <a:avLst>
              <a:gd name="adj" fmla="val 50000"/>
            </a:avLst>
          </a:prstGeom>
          <a:solidFill>
            <a:srgbClr val="2C2412"/>
          </a:solidFill>
          <a:ln w="12700">
            <a:solidFill>
              <a:srgbClr val="C98A1E"/>
            </a:solidFill>
            <a:prstDash val="solid"/>
          </a:ln>
        </p:spPr>
      </p:sp>
      <p:sp>
        <p:nvSpPr>
          <p:cNvPr id="5" name="Text 3"/>
          <p:cNvSpPr txBox="1"/>
          <p:nvPr/>
        </p:nvSpPr>
        <p:spPr>
          <a:xfrm>
            <a:off x="9966960" y="475488"/>
            <a:ext cx="160020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PRELIMINARY DATA</a:t>
            </a:r>
            <a:endParaRPr lang="en-US" sz="900" dirty="0"/>
          </a:p>
        </p:txBody>
      </p:sp>
      <p:sp>
        <p:nvSpPr>
          <p:cNvPr id="6" name="Shape 4"/>
          <p:cNvSpPr/>
          <p:nvPr/>
        </p:nvSpPr>
        <p:spPr>
          <a:xfrm>
            <a:off x="6126480" y="1783080"/>
            <a:ext cx="5669280" cy="3571180"/>
          </a:xfrm>
          <a:prstGeom prst="roundRect">
            <a:avLst>
              <a:gd name="adj" fmla="val 2048"/>
            </a:avLst>
          </a:prstGeom>
          <a:solidFill>
            <a:srgbClr val="FFFFFF"/>
          </a:solidFill>
          <a:ln w="12700">
            <a:solidFill>
              <a:srgbClr val="18233F"/>
            </a:solidFill>
            <a:prstDash val="solid"/>
          </a:ln>
        </p:spPr>
      </p:sp>
      <p:pic>
        <p:nvPicPr>
          <p:cNvPr id="7" name="Image 0" descr="/tmp/pres_validation.png">    </p:cNvPr>
          <p:cNvPicPr>
            <a:picLocks noChangeAspect="1"/>
          </p:cNvPicPr>
          <p:nvPr/>
        </p:nvPicPr>
        <p:blipFill>
          <a:blip r:embed="rId1"/>
          <a:stretch>
            <a:fillRect/>
          </a:stretch>
        </p:blipFill>
        <p:spPr>
          <a:xfrm>
            <a:off x="6263640" y="1920240"/>
            <a:ext cx="5394960" cy="3296860"/>
          </a:xfrm>
          <a:prstGeom prst="rect">
            <a:avLst/>
          </a:prstGeom>
        </p:spPr>
      </p:pic>
      <p:sp>
        <p:nvSpPr>
          <p:cNvPr id="8" name="Text 5"/>
          <p:cNvSpPr txBox="1"/>
          <p:nvPr/>
        </p:nvSpPr>
        <p:spPr>
          <a:xfrm>
            <a:off x="6126480" y="5381692"/>
            <a:ext cx="5669280" cy="274320"/>
          </a:xfrm>
          <a:prstGeom prst="rect">
            <a:avLst/>
          </a:prstGeom>
          <a:noFill/>
          <a:ln/>
        </p:spPr>
        <p:txBody>
          <a:bodyPr wrap="square" lIns="0" tIns="0" rIns="0" bIns="0" rtlCol="0" anchor="ctr"/>
          <a:lstStyle/>
          <a:p>
            <a:pPr algn="ctr" indent="0" marL="0">
              <a:buNone/>
            </a:pPr>
            <a:r>
              <a:rPr lang="en-US" sz="1100" i="1" dirty="0">
                <a:solidFill>
                  <a:srgbClr val="9FB0CF"/>
                </a:solidFill>
                <a:latin typeface="Calibri" pitchFamily="34" charset="0"/>
                <a:ea typeface="Calibri" pitchFamily="34" charset="-122"/>
                <a:cs typeface="Calibri" pitchFamily="34" charset="-120"/>
              </a:rPr>
              <a:t>Bland–Altman: device vs reference oximeter.</a:t>
            </a:r>
            <a:endParaRPr lang="en-US" sz="1100" dirty="0"/>
          </a:p>
        </p:txBody>
      </p:sp>
      <p:sp>
        <p:nvSpPr>
          <p:cNvPr id="9" name="Text 6"/>
          <p:cNvSpPr txBox="1"/>
          <p:nvPr/>
        </p:nvSpPr>
        <p:spPr>
          <a:xfrm>
            <a:off x="685800" y="1920240"/>
            <a:ext cx="2560320" cy="640080"/>
          </a:xfrm>
          <a:prstGeom prst="rect">
            <a:avLst/>
          </a:prstGeom>
          <a:noFill/>
          <a:ln/>
        </p:spPr>
        <p:txBody>
          <a:bodyPr wrap="square" lIns="0" tIns="0" rIns="0" bIns="0" rtlCol="0" anchor="ctr"/>
          <a:lstStyle/>
          <a:p>
            <a:pPr indent="0" marL="0">
              <a:buNone/>
            </a:pPr>
            <a:r>
              <a:rPr lang="en-US" sz="3400" b="1" dirty="0">
                <a:solidFill>
                  <a:srgbClr val="3FB8CC"/>
                </a:solidFill>
                <a:latin typeface="Calibri" pitchFamily="34" charset="0"/>
                <a:ea typeface="Calibri" pitchFamily="34" charset="-122"/>
                <a:cs typeface="Calibri" pitchFamily="34" charset="-120"/>
              </a:rPr>
              <a:t>±0.56%</a:t>
            </a:r>
            <a:endParaRPr lang="en-US" sz="3400" dirty="0"/>
          </a:p>
        </p:txBody>
      </p:sp>
      <p:sp>
        <p:nvSpPr>
          <p:cNvPr id="10" name="Text 7"/>
          <p:cNvSpPr txBox="1"/>
          <p:nvPr/>
        </p:nvSpPr>
        <p:spPr>
          <a:xfrm>
            <a:off x="685800" y="2560320"/>
            <a:ext cx="2743200" cy="457200"/>
          </a:xfrm>
          <a:prstGeom prst="rect">
            <a:avLst/>
          </a:prstGeom>
          <a:noFill/>
          <a:ln/>
        </p:spPr>
        <p:txBody>
          <a:bodyPr wrap="square" lIns="0" tIns="0" rIns="0" bIns="0" rtlCol="0" anchor="ctr"/>
          <a:lstStyle/>
          <a:p>
            <a:pPr indent="0" marL="0">
              <a:buNone/>
            </a:pPr>
            <a:r>
              <a:rPr lang="en-US" sz="1200" dirty="0">
                <a:solidFill>
                  <a:srgbClr val="9FB0CF"/>
                </a:solidFill>
                <a:latin typeface="Calibri" pitchFamily="34" charset="0"/>
                <a:ea typeface="Calibri" pitchFamily="34" charset="-122"/>
                <a:cs typeface="Calibri" pitchFamily="34" charset="-120"/>
              </a:rPr>
              <a:t>mean error vs a medical oximeter</a:t>
            </a:r>
            <a:endParaRPr lang="en-US" sz="1200" dirty="0"/>
          </a:p>
        </p:txBody>
      </p:sp>
      <p:sp>
        <p:nvSpPr>
          <p:cNvPr id="11" name="Text 8"/>
          <p:cNvSpPr txBox="1"/>
          <p:nvPr/>
        </p:nvSpPr>
        <p:spPr>
          <a:xfrm>
            <a:off x="3566160" y="1920240"/>
            <a:ext cx="2286000" cy="640080"/>
          </a:xfrm>
          <a:prstGeom prst="rect">
            <a:avLst/>
          </a:prstGeom>
          <a:noFill/>
          <a:ln/>
        </p:spPr>
        <p:txBody>
          <a:bodyPr wrap="square" lIns="0" tIns="0" rIns="0" bIns="0" rtlCol="0" anchor="ctr"/>
          <a:lstStyle/>
          <a:p>
            <a:pPr indent="0" marL="0">
              <a:buNone/>
            </a:pPr>
            <a:r>
              <a:rPr lang="en-US" sz="3400" b="1" dirty="0">
                <a:solidFill>
                  <a:srgbClr val="3FB8CC"/>
                </a:solidFill>
                <a:latin typeface="Calibri" pitchFamily="34" charset="0"/>
                <a:ea typeface="Calibri" pitchFamily="34" charset="-122"/>
                <a:cs typeface="Calibri" pitchFamily="34" charset="-120"/>
              </a:rPr>
              <a:t>r = 0.88</a:t>
            </a:r>
            <a:endParaRPr lang="en-US" sz="3400" dirty="0"/>
          </a:p>
        </p:txBody>
      </p:sp>
      <p:sp>
        <p:nvSpPr>
          <p:cNvPr id="12" name="Text 9"/>
          <p:cNvSpPr txBox="1"/>
          <p:nvPr/>
        </p:nvSpPr>
        <p:spPr>
          <a:xfrm>
            <a:off x="3566160" y="2560320"/>
            <a:ext cx="2377440" cy="457200"/>
          </a:xfrm>
          <a:prstGeom prst="rect">
            <a:avLst/>
          </a:prstGeom>
          <a:noFill/>
          <a:ln/>
        </p:spPr>
        <p:txBody>
          <a:bodyPr wrap="square" lIns="0" tIns="0" rIns="0" bIns="0" rtlCol="0" anchor="ctr"/>
          <a:lstStyle/>
          <a:p>
            <a:pPr indent="0" marL="0">
              <a:buNone/>
            </a:pPr>
            <a:r>
              <a:rPr lang="en-US" sz="1200" dirty="0">
                <a:solidFill>
                  <a:srgbClr val="9FB0CF"/>
                </a:solidFill>
                <a:latin typeface="Calibri" pitchFamily="34" charset="0"/>
                <a:ea typeface="Calibri" pitchFamily="34" charset="-122"/>
                <a:cs typeface="Calibri" pitchFamily="34" charset="-120"/>
              </a:rPr>
              <a:t>the two devices agree</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85800" y="3566160"/>
          <a:ext cx="5120640" cy="914400"/>
        </p:xfrm>
        <a:graphic>
          <a:graphicData uri="http://schemas.openxmlformats.org/drawingml/2006/table">
            <a:tbl>
              <a:tblPr/>
              <a:tblGrid>
                <a:gridCol w="2377440"/>
                <a:gridCol w="1371600"/>
                <a:gridCol w="137160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Detector</a:t>
                      </a:r>
                      <a:endParaRPr lang="en-US" sz="1300" dirty="0">
                        <a:latin typeface="Calibri" charset="0"/>
                        <a:ea typeface="Calibri" charset="0"/>
                        <a:cs typeface="Calibri" charset="0"/>
                      </a:endParaRPr>
                    </a:p>
                  </a:txBody>
                  <a:tcPr marL="91440" marR="91440" marT="45720" marB="45720" anchor="ctr">
                    <a:lnL w="12700" cap="flat" cmpd="sng" algn="ctr">
                      <a:solidFill>
                        <a:srgbClr val="18233F"/>
                      </a:solidFill>
                      <a:prstDash val="solid"/>
                      <a:round/>
                      <a:headEnd type="none" w="med" len="med"/>
                      <a:tailEnd type="none" w="med" len="med"/>
                    </a:lnL>
                    <a:lnR w="12700" cap="flat" cmpd="sng" algn="ctr">
                      <a:solidFill>
                        <a:srgbClr val="18233F"/>
                      </a:solidFill>
                      <a:prstDash val="solid"/>
                      <a:round/>
                      <a:headEnd type="none" w="med" len="med"/>
                      <a:tailEnd type="none" w="med" len="med"/>
                    </a:lnR>
                    <a:lnT w="12700" cap="flat" cmpd="sng" algn="ctr">
                      <a:solidFill>
                        <a:srgbClr val="18233F"/>
                      </a:solidFill>
                      <a:prstDash val="solid"/>
                      <a:round/>
                      <a:headEnd type="none" w="med" len="med"/>
                      <a:tailEnd type="none" w="med" len="med"/>
                    </a:lnT>
                    <a:lnB w="12700" cap="flat" cmpd="sng" algn="ctr">
                      <a:solidFill>
                        <a:srgbClr val="18233F"/>
                      </a:solidFill>
                      <a:prstDash val="solid"/>
                      <a:round/>
                      <a:headEnd type="none" w="med" len="med"/>
                      <a:tailEnd type="none" w="med" len="med"/>
                    </a:lnB>
                    <a:solidFill>
                      <a:srgbClr val="1F8A9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Precision</a:t>
                      </a:r>
                      <a:endParaRPr lang="en-US" sz="1300" dirty="0">
                        <a:latin typeface="Calibri" charset="0"/>
                        <a:ea typeface="Calibri" charset="0"/>
                        <a:cs typeface="Calibri" charset="0"/>
                      </a:endParaRPr>
                    </a:p>
                  </a:txBody>
                  <a:tcPr marL="91440" marR="91440" marT="45720" marB="45720" anchor="ctr">
                    <a:lnL w="12700" cap="flat" cmpd="sng" algn="ctr">
                      <a:solidFill>
                        <a:srgbClr val="18233F"/>
                      </a:solidFill>
                      <a:prstDash val="solid"/>
                      <a:round/>
                      <a:headEnd type="none" w="med" len="med"/>
                      <a:tailEnd type="none" w="med" len="med"/>
                    </a:lnL>
                    <a:lnR w="12700" cap="flat" cmpd="sng" algn="ctr">
                      <a:solidFill>
                        <a:srgbClr val="18233F"/>
                      </a:solidFill>
                      <a:prstDash val="solid"/>
                      <a:round/>
                      <a:headEnd type="none" w="med" len="med"/>
                      <a:tailEnd type="none" w="med" len="med"/>
                    </a:lnR>
                    <a:lnT w="12700" cap="flat" cmpd="sng" algn="ctr">
                      <a:solidFill>
                        <a:srgbClr val="18233F"/>
                      </a:solidFill>
                      <a:prstDash val="solid"/>
                      <a:round/>
                      <a:headEnd type="none" w="med" len="med"/>
                      <a:tailEnd type="none" w="med" len="med"/>
                    </a:lnT>
                    <a:lnB w="12700" cap="flat" cmpd="sng" algn="ctr">
                      <a:solidFill>
                        <a:srgbClr val="18233F"/>
                      </a:solidFill>
                      <a:prstDash val="solid"/>
                      <a:round/>
                      <a:headEnd type="none" w="med" len="med"/>
                      <a:tailEnd type="none" w="med" len="med"/>
                    </a:lnB>
                    <a:solidFill>
                      <a:srgbClr val="1F8A9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91440" marR="91440" marT="45720" marB="45720" anchor="ctr">
                    <a:lnL w="12700" cap="flat" cmpd="sng" algn="ctr">
                      <a:solidFill>
                        <a:srgbClr val="18233F"/>
                      </a:solidFill>
                      <a:prstDash val="solid"/>
                      <a:round/>
                      <a:headEnd type="none" w="med" len="med"/>
                      <a:tailEnd type="none" w="med" len="med"/>
                    </a:lnL>
                    <a:lnR w="12700" cap="flat" cmpd="sng" algn="ctr">
                      <a:solidFill>
                        <a:srgbClr val="18233F"/>
                      </a:solidFill>
                      <a:prstDash val="solid"/>
                      <a:round/>
                      <a:headEnd type="none" w="med" len="med"/>
                      <a:tailEnd type="none" w="med" len="med"/>
                    </a:lnR>
                    <a:lnT w="12700" cap="flat" cmpd="sng" algn="ctr">
                      <a:solidFill>
                        <a:srgbClr val="18233F"/>
                      </a:solidFill>
                      <a:prstDash val="solid"/>
                      <a:round/>
                      <a:headEnd type="none" w="med" len="med"/>
                      <a:tailEnd type="none" w="med" len="med"/>
                    </a:lnT>
                    <a:lnB w="12700" cap="flat" cmpd="sng" algn="ctr">
                      <a:solidFill>
                        <a:srgbClr val="18233F"/>
                      </a:solidFill>
                      <a:prstDash val="solid"/>
                      <a:round/>
                      <a:headEnd type="none" w="med" len="med"/>
                      <a:tailEnd type="none" w="med" len="med"/>
                    </a:lnB>
                    <a:solidFill>
                      <a:srgbClr val="1F8A9C"/>
                    </a:solidFill>
                  </a:tcPr>
                </a:tc>
              </a:tr>
              <a:tr h="411480">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Rule-based</a:t>
                      </a:r>
                      <a:endParaRPr lang="en-US" sz="1300" dirty="0">
                        <a:latin typeface="Calibri" charset="0"/>
                        <a:ea typeface="Calibri" charset="0"/>
                        <a:cs typeface="Calibri" charset="0"/>
                      </a:endParaRPr>
                    </a:p>
                  </a:txBody>
                  <a:tcPr marL="91440" marR="91440" marT="45720" marB="45720" anchor="ctr">
                    <a:lnL w="12700" cap="flat" cmpd="sng" algn="ctr">
                      <a:solidFill>
                        <a:srgbClr val="18233F"/>
                      </a:solidFill>
                      <a:prstDash val="solid"/>
                      <a:round/>
                      <a:headEnd type="none" w="med" len="med"/>
                      <a:tailEnd type="none" w="med" len="med"/>
                    </a:lnL>
                    <a:lnR w="12700" cap="flat" cmpd="sng" algn="ctr">
                      <a:solidFill>
                        <a:srgbClr val="18233F"/>
                      </a:solidFill>
                      <a:prstDash val="solid"/>
                      <a:round/>
                      <a:headEnd type="none" w="med" len="med"/>
                      <a:tailEnd type="none" w="med" len="med"/>
                    </a:lnR>
                    <a:lnT w="12700" cap="flat" cmpd="sng" algn="ctr">
                      <a:solidFill>
                        <a:srgbClr val="18233F"/>
                      </a:solidFill>
                      <a:prstDash val="solid"/>
                      <a:round/>
                      <a:headEnd type="none" w="med" len="med"/>
                      <a:tailEnd type="none" w="med" len="med"/>
                    </a:lnT>
                    <a:lnB w="12700" cap="flat" cmpd="sng" algn="ctr">
                      <a:solidFill>
                        <a:srgbClr val="18233F"/>
                      </a:solidFill>
                      <a:prstDash val="solid"/>
                      <a:round/>
                      <a:headEnd type="none" w="med" len="med"/>
                      <a:tailEnd type="none" w="med" len="med"/>
                    </a:lnB>
                    <a:solidFill>
                      <a:srgbClr val="18233F"/>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nchor="ctr">
                    <a:lnL w="12700" cap="flat" cmpd="sng" algn="ctr">
                      <a:solidFill>
                        <a:srgbClr val="18233F"/>
                      </a:solidFill>
                      <a:prstDash val="solid"/>
                      <a:round/>
                      <a:headEnd type="none" w="med" len="med"/>
                      <a:tailEnd type="none" w="med" len="med"/>
                    </a:lnL>
                    <a:lnR w="12700" cap="flat" cmpd="sng" algn="ctr">
                      <a:solidFill>
                        <a:srgbClr val="18233F"/>
                      </a:solidFill>
                      <a:prstDash val="solid"/>
                      <a:round/>
                      <a:headEnd type="none" w="med" len="med"/>
                      <a:tailEnd type="none" w="med" len="med"/>
                    </a:lnR>
                    <a:lnT w="12700" cap="flat" cmpd="sng" algn="ctr">
                      <a:solidFill>
                        <a:srgbClr val="18233F"/>
                      </a:solidFill>
                      <a:prstDash val="solid"/>
                      <a:round/>
                      <a:headEnd type="none" w="med" len="med"/>
                      <a:tailEnd type="none" w="med" len="med"/>
                    </a:lnT>
                    <a:lnB w="12700" cap="flat" cmpd="sng" algn="ctr">
                      <a:solidFill>
                        <a:srgbClr val="18233F"/>
                      </a:solidFill>
                      <a:prstDash val="solid"/>
                      <a:round/>
                      <a:headEnd type="none" w="med" len="med"/>
                      <a:tailEnd type="none" w="med" len="med"/>
                    </a:lnB>
                    <a:solidFill>
                      <a:srgbClr val="18233F"/>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0.63</a:t>
                      </a:r>
                      <a:endParaRPr lang="en-US" sz="1300" dirty="0">
                        <a:latin typeface="Calibri" charset="0"/>
                        <a:ea typeface="Calibri" charset="0"/>
                        <a:cs typeface="Calibri" charset="0"/>
                      </a:endParaRPr>
                    </a:p>
                  </a:txBody>
                  <a:tcPr marL="91440" marR="91440" marT="45720" marB="45720" anchor="ctr">
                    <a:lnL w="12700" cap="flat" cmpd="sng" algn="ctr">
                      <a:solidFill>
                        <a:srgbClr val="18233F"/>
                      </a:solidFill>
                      <a:prstDash val="solid"/>
                      <a:round/>
                      <a:headEnd type="none" w="med" len="med"/>
                      <a:tailEnd type="none" w="med" len="med"/>
                    </a:lnL>
                    <a:lnR w="12700" cap="flat" cmpd="sng" algn="ctr">
                      <a:solidFill>
                        <a:srgbClr val="18233F"/>
                      </a:solidFill>
                      <a:prstDash val="solid"/>
                      <a:round/>
                      <a:headEnd type="none" w="med" len="med"/>
                      <a:tailEnd type="none" w="med" len="med"/>
                    </a:lnR>
                    <a:lnT w="12700" cap="flat" cmpd="sng" algn="ctr">
                      <a:solidFill>
                        <a:srgbClr val="18233F"/>
                      </a:solidFill>
                      <a:prstDash val="solid"/>
                      <a:round/>
                      <a:headEnd type="none" w="med" len="med"/>
                      <a:tailEnd type="none" w="med" len="med"/>
                    </a:lnT>
                    <a:lnB w="12700" cap="flat" cmpd="sng" algn="ctr">
                      <a:solidFill>
                        <a:srgbClr val="18233F"/>
                      </a:solidFill>
                      <a:prstDash val="solid"/>
                      <a:round/>
                      <a:headEnd type="none" w="med" len="med"/>
                      <a:tailEnd type="none" w="med" len="med"/>
                    </a:lnB>
                    <a:solidFill>
                      <a:srgbClr val="18233F"/>
                    </a:solidFill>
                  </a:tcPr>
                </a:tc>
              </a:tr>
              <a:tr h="411480">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Machine learning</a:t>
                      </a:r>
                      <a:endParaRPr lang="en-US" sz="1300" dirty="0">
                        <a:latin typeface="Calibri" charset="0"/>
                        <a:ea typeface="Calibri" charset="0"/>
                        <a:cs typeface="Calibri" charset="0"/>
                      </a:endParaRPr>
                    </a:p>
                  </a:txBody>
                  <a:tcPr marL="91440" marR="91440" marT="45720" marB="45720" anchor="ctr">
                    <a:lnL w="12700" cap="flat" cmpd="sng" algn="ctr">
                      <a:solidFill>
                        <a:srgbClr val="18233F"/>
                      </a:solidFill>
                      <a:prstDash val="solid"/>
                      <a:round/>
                      <a:headEnd type="none" w="med" len="med"/>
                      <a:tailEnd type="none" w="med" len="med"/>
                    </a:lnL>
                    <a:lnR w="12700" cap="flat" cmpd="sng" algn="ctr">
                      <a:solidFill>
                        <a:srgbClr val="18233F"/>
                      </a:solidFill>
                      <a:prstDash val="solid"/>
                      <a:round/>
                      <a:headEnd type="none" w="med" len="med"/>
                      <a:tailEnd type="none" w="med" len="med"/>
                    </a:lnR>
                    <a:lnT w="12700" cap="flat" cmpd="sng" algn="ctr">
                      <a:solidFill>
                        <a:srgbClr val="18233F"/>
                      </a:solidFill>
                      <a:prstDash val="solid"/>
                      <a:round/>
                      <a:headEnd type="none" w="med" len="med"/>
                      <a:tailEnd type="none" w="med" len="med"/>
                    </a:lnT>
                    <a:lnB w="12700" cap="flat" cmpd="sng" algn="ctr">
                      <a:solidFill>
                        <a:srgbClr val="18233F"/>
                      </a:solidFill>
                      <a:prstDash val="solid"/>
                      <a:round/>
                      <a:headEnd type="none" w="med" len="med"/>
                      <a:tailEnd type="none" w="med" len="med"/>
                    </a:lnB>
                    <a:solidFill>
                      <a:srgbClr val="18233F"/>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0.92</a:t>
                      </a:r>
                      <a:endParaRPr lang="en-US" sz="1300" dirty="0">
                        <a:latin typeface="Calibri" charset="0"/>
                        <a:ea typeface="Calibri" charset="0"/>
                        <a:cs typeface="Calibri" charset="0"/>
                      </a:endParaRPr>
                    </a:p>
                  </a:txBody>
                  <a:tcPr marL="91440" marR="91440" marT="45720" marB="45720" anchor="ctr">
                    <a:lnL w="12700" cap="flat" cmpd="sng" algn="ctr">
                      <a:solidFill>
                        <a:srgbClr val="18233F"/>
                      </a:solidFill>
                      <a:prstDash val="solid"/>
                      <a:round/>
                      <a:headEnd type="none" w="med" len="med"/>
                      <a:tailEnd type="none" w="med" len="med"/>
                    </a:lnL>
                    <a:lnR w="12700" cap="flat" cmpd="sng" algn="ctr">
                      <a:solidFill>
                        <a:srgbClr val="18233F"/>
                      </a:solidFill>
                      <a:prstDash val="solid"/>
                      <a:round/>
                      <a:headEnd type="none" w="med" len="med"/>
                      <a:tailEnd type="none" w="med" len="med"/>
                    </a:lnR>
                    <a:lnT w="12700" cap="flat" cmpd="sng" algn="ctr">
                      <a:solidFill>
                        <a:srgbClr val="18233F"/>
                      </a:solidFill>
                      <a:prstDash val="solid"/>
                      <a:round/>
                      <a:headEnd type="none" w="med" len="med"/>
                      <a:tailEnd type="none" w="med" len="med"/>
                    </a:lnT>
                    <a:lnB w="12700" cap="flat" cmpd="sng" algn="ctr">
                      <a:solidFill>
                        <a:srgbClr val="18233F"/>
                      </a:solidFill>
                      <a:prstDash val="solid"/>
                      <a:round/>
                      <a:headEnd type="none" w="med" len="med"/>
                      <a:tailEnd type="none" w="med" len="med"/>
                    </a:lnB>
                    <a:solidFill>
                      <a:srgbClr val="18233F"/>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0.63</a:t>
                      </a:r>
                      <a:endParaRPr lang="en-US" sz="1300" dirty="0">
                        <a:latin typeface="Calibri" charset="0"/>
                        <a:ea typeface="Calibri" charset="0"/>
                        <a:cs typeface="Calibri" charset="0"/>
                      </a:endParaRPr>
                    </a:p>
                  </a:txBody>
                  <a:tcPr marL="91440" marR="91440" marT="45720" marB="45720" anchor="ctr">
                    <a:lnL w="12700" cap="flat" cmpd="sng" algn="ctr">
                      <a:solidFill>
                        <a:srgbClr val="18233F"/>
                      </a:solidFill>
                      <a:prstDash val="solid"/>
                      <a:round/>
                      <a:headEnd type="none" w="med" len="med"/>
                      <a:tailEnd type="none" w="med" len="med"/>
                    </a:lnL>
                    <a:lnR w="12700" cap="flat" cmpd="sng" algn="ctr">
                      <a:solidFill>
                        <a:srgbClr val="18233F"/>
                      </a:solidFill>
                      <a:prstDash val="solid"/>
                      <a:round/>
                      <a:headEnd type="none" w="med" len="med"/>
                      <a:tailEnd type="none" w="med" len="med"/>
                    </a:lnR>
                    <a:lnT w="12700" cap="flat" cmpd="sng" algn="ctr">
                      <a:solidFill>
                        <a:srgbClr val="18233F"/>
                      </a:solidFill>
                      <a:prstDash val="solid"/>
                      <a:round/>
                      <a:headEnd type="none" w="med" len="med"/>
                      <a:tailEnd type="none" w="med" len="med"/>
                    </a:lnT>
                    <a:lnB w="12700" cap="flat" cmpd="sng" algn="ctr">
                      <a:solidFill>
                        <a:srgbClr val="18233F"/>
                      </a:solidFill>
                      <a:prstDash val="solid"/>
                      <a:round/>
                      <a:headEnd type="none" w="med" len="med"/>
                      <a:tailEnd type="none" w="med" len="med"/>
                    </a:lnB>
                    <a:solidFill>
                      <a:srgbClr val="18233F"/>
                    </a:solidFill>
                  </a:tcPr>
                </a:tc>
              </a:tr>
            </a:tbl>
          </a:graphicData>
        </a:graphic>
      </p:graphicFrame>
      <p:sp>
        <p:nvSpPr>
          <p:cNvPr id="14" name="Text 10"/>
          <p:cNvSpPr txBox="1"/>
          <p:nvPr/>
        </p:nvSpPr>
        <p:spPr>
          <a:xfrm>
            <a:off x="685800" y="5212080"/>
            <a:ext cx="5212080" cy="822960"/>
          </a:xfrm>
          <a:prstGeom prst="rect">
            <a:avLst/>
          </a:prstGeom>
          <a:noFill/>
          <a:ln/>
        </p:spPr>
        <p:txBody>
          <a:bodyPr wrap="square" lIns="0" tIns="0" rIns="0" bIns="0" rtlCol="0" anchor="ctr"/>
          <a:lstStyle/>
          <a:p>
            <a:pPr indent="0" marL="0">
              <a:lnSpc>
                <a:spcPts val="1700"/>
              </a:lnSpc>
              <a:buNone/>
            </a:pPr>
            <a:r>
              <a:rPr lang="en-US" sz="1250" i="1" dirty="0">
                <a:solidFill>
                  <a:srgbClr val="9FB0CF"/>
                </a:solidFill>
                <a:latin typeface="Calibri" pitchFamily="34" charset="0"/>
                <a:ea typeface="Calibri" pitchFamily="34" charset="-122"/>
                <a:cs typeface="Calibri" pitchFamily="34" charset="-120"/>
              </a:rPr>
              <a:t>Machine learning matched the rule-based detector; with real labeled nights it is expected to improve.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RESULTS · SLEEP POSITION</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141A26"/>
                </a:solidFill>
                <a:latin typeface="Calibri" pitchFamily="34" charset="0"/>
                <a:ea typeface="Calibri" pitchFamily="34" charset="-122"/>
                <a:cs typeface="Calibri" pitchFamily="34" charset="-120"/>
              </a:rPr>
              <a:t>Does position matter?</a:t>
            </a:r>
            <a:endParaRPr lang="en-US" sz="3000" dirty="0"/>
          </a:p>
        </p:txBody>
      </p:sp>
      <p:sp>
        <p:nvSpPr>
          <p:cNvPr id="4" name="Shape 2"/>
          <p:cNvSpPr/>
          <p:nvPr/>
        </p:nvSpPr>
        <p:spPr>
          <a:xfrm>
            <a:off x="9966960" y="475488"/>
            <a:ext cx="1600200" cy="329184"/>
          </a:xfrm>
          <a:prstGeom prst="roundRect">
            <a:avLst>
              <a:gd name="adj" fmla="val 50000"/>
            </a:avLst>
          </a:prstGeom>
          <a:solidFill>
            <a:srgbClr val="2C2412"/>
          </a:solidFill>
          <a:ln w="12700">
            <a:solidFill>
              <a:srgbClr val="C98A1E"/>
            </a:solidFill>
            <a:prstDash val="solid"/>
          </a:ln>
        </p:spPr>
      </p:sp>
      <p:sp>
        <p:nvSpPr>
          <p:cNvPr id="5" name="Text 3"/>
          <p:cNvSpPr txBox="1"/>
          <p:nvPr/>
        </p:nvSpPr>
        <p:spPr>
          <a:xfrm>
            <a:off x="9966960" y="475488"/>
            <a:ext cx="160020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PRELIMINARY DATA</a:t>
            </a:r>
            <a:endParaRPr lang="en-US" sz="900" dirty="0"/>
          </a:p>
        </p:txBody>
      </p:sp>
      <p:pic>
        <p:nvPicPr>
          <p:cNvPr id="6" name="Image 0" descr="/tmp/pres_position.png">    </p:cNvPr>
          <p:cNvPicPr>
            <a:picLocks noChangeAspect="1"/>
          </p:cNvPicPr>
          <p:nvPr/>
        </p:nvPicPr>
        <p:blipFill>
          <a:blip r:embed="rId1"/>
          <a:stretch>
            <a:fillRect/>
          </a:stretch>
        </p:blipFill>
        <p:spPr>
          <a:xfrm>
            <a:off x="5669280" y="1920240"/>
            <a:ext cx="6035040" cy="3771900"/>
          </a:xfrm>
          <a:prstGeom prst="rect">
            <a:avLst/>
          </a:prstGeom>
        </p:spPr>
      </p:pic>
      <p:sp>
        <p:nvSpPr>
          <p:cNvPr id="7" name="Shape 4"/>
          <p:cNvSpPr/>
          <p:nvPr/>
        </p:nvSpPr>
        <p:spPr>
          <a:xfrm>
            <a:off x="640080" y="2258568"/>
            <a:ext cx="128016" cy="128016"/>
          </a:xfrm>
          <a:prstGeom prst="ellipse">
            <a:avLst/>
          </a:prstGeom>
          <a:solidFill>
            <a:srgbClr val="1F8A9C"/>
          </a:solidFill>
          <a:ln/>
        </p:spPr>
      </p:sp>
      <p:sp>
        <p:nvSpPr>
          <p:cNvPr id="8" name="Text 5"/>
          <p:cNvSpPr txBox="1"/>
          <p:nvPr/>
        </p:nvSpPr>
        <p:spPr>
          <a:xfrm>
            <a:off x="932688" y="2167128"/>
            <a:ext cx="4370832" cy="731520"/>
          </a:xfrm>
          <a:prstGeom prst="rect">
            <a:avLst/>
          </a:prstGeom>
          <a:noFill/>
          <a:ln/>
        </p:spPr>
        <p:txBody>
          <a:bodyPr wrap="square" lIns="0" tIns="0" rIns="0" bIns="0" rtlCol="0" anchor="ctr"/>
          <a:lstStyle/>
          <a:p>
            <a:pPr indent="0" marL="0">
              <a:lnSpc>
                <a:spcPts val="2000"/>
              </a:lnSpc>
              <a:buNone/>
            </a:pPr>
            <a:r>
              <a:rPr lang="en-US" sz="1500" dirty="0">
                <a:solidFill>
                  <a:srgbClr val="44515F"/>
                </a:solidFill>
                <a:latin typeface="Calibri" pitchFamily="34" charset="0"/>
                <a:ea typeface="Calibri" pitchFamily="34" charset="-122"/>
                <a:cs typeface="Calibri" pitchFamily="34" charset="-120"/>
              </a:rPr>
              <a:t>Apnea events happened MOST while sleeping on the back (3.8 /hr).</a:t>
            </a:r>
            <a:endParaRPr lang="en-US" sz="1500" dirty="0"/>
          </a:p>
        </p:txBody>
      </p:sp>
      <p:sp>
        <p:nvSpPr>
          <p:cNvPr id="9" name="Shape 6"/>
          <p:cNvSpPr/>
          <p:nvPr/>
        </p:nvSpPr>
        <p:spPr>
          <a:xfrm>
            <a:off x="640080" y="3127248"/>
            <a:ext cx="128016" cy="128016"/>
          </a:xfrm>
          <a:prstGeom prst="ellipse">
            <a:avLst/>
          </a:prstGeom>
          <a:solidFill>
            <a:srgbClr val="1F8A9C"/>
          </a:solidFill>
          <a:ln/>
        </p:spPr>
      </p:sp>
      <p:sp>
        <p:nvSpPr>
          <p:cNvPr id="10" name="Text 7"/>
          <p:cNvSpPr txBox="1"/>
          <p:nvPr/>
        </p:nvSpPr>
        <p:spPr>
          <a:xfrm>
            <a:off x="932688" y="3035808"/>
            <a:ext cx="4370832" cy="731520"/>
          </a:xfrm>
          <a:prstGeom prst="rect">
            <a:avLst/>
          </a:prstGeom>
          <a:noFill/>
          <a:ln/>
        </p:spPr>
        <p:txBody>
          <a:bodyPr wrap="square" lIns="0" tIns="0" rIns="0" bIns="0" rtlCol="0" anchor="ctr"/>
          <a:lstStyle/>
          <a:p>
            <a:pPr indent="0" marL="0">
              <a:lnSpc>
                <a:spcPts val="2000"/>
              </a:lnSpc>
              <a:buNone/>
            </a:pPr>
            <a:r>
              <a:rPr lang="en-US" sz="1500" dirty="0">
                <a:solidFill>
                  <a:srgbClr val="44515F"/>
                </a:solidFill>
                <a:latin typeface="Calibri" pitchFamily="34" charset="0"/>
                <a:ea typeface="Calibri" pitchFamily="34" charset="-122"/>
                <a:cs typeface="Calibri" pitchFamily="34" charset="-120"/>
              </a:rPr>
              <a:t>Far fewer events on the left (1.3) and right (1.1) sides.</a:t>
            </a:r>
            <a:endParaRPr lang="en-US" sz="1500" dirty="0"/>
          </a:p>
        </p:txBody>
      </p:sp>
      <p:sp>
        <p:nvSpPr>
          <p:cNvPr id="11" name="Shape 8"/>
          <p:cNvSpPr/>
          <p:nvPr/>
        </p:nvSpPr>
        <p:spPr>
          <a:xfrm>
            <a:off x="640080" y="3694176"/>
            <a:ext cx="128016" cy="128016"/>
          </a:xfrm>
          <a:prstGeom prst="ellipse">
            <a:avLst/>
          </a:prstGeom>
          <a:solidFill>
            <a:srgbClr val="1F8A9C"/>
          </a:solidFill>
          <a:ln/>
        </p:spPr>
      </p:sp>
      <p:sp>
        <p:nvSpPr>
          <p:cNvPr id="12" name="Text 9"/>
          <p:cNvSpPr txBox="1"/>
          <p:nvPr/>
        </p:nvSpPr>
        <p:spPr>
          <a:xfrm>
            <a:off x="932688" y="3602736"/>
            <a:ext cx="4370832" cy="731520"/>
          </a:xfrm>
          <a:prstGeom prst="rect">
            <a:avLst/>
          </a:prstGeom>
          <a:noFill/>
          <a:ln/>
        </p:spPr>
        <p:txBody>
          <a:bodyPr wrap="square" lIns="0" tIns="0" rIns="0" bIns="0" rtlCol="0" anchor="ctr"/>
          <a:lstStyle/>
          <a:p>
            <a:pPr indent="0" marL="0">
              <a:lnSpc>
                <a:spcPts val="2000"/>
              </a:lnSpc>
              <a:buNone/>
            </a:pPr>
            <a:r>
              <a:rPr lang="en-US" sz="1500" dirty="0">
                <a:solidFill>
                  <a:srgbClr val="44515F"/>
                </a:solidFill>
                <a:latin typeface="Calibri" pitchFamily="34" charset="0"/>
                <a:ea typeface="Calibri" pitchFamily="34" charset="-122"/>
                <a:cs typeface="Calibri" pitchFamily="34" charset="-120"/>
              </a:rPr>
              <a:t>This supports the hypothesis that back-sleeping worsens apnea.</a:t>
            </a:r>
            <a:endParaRPr lang="en-US" sz="1500" dirty="0"/>
          </a:p>
        </p:txBody>
      </p:sp>
      <p:sp>
        <p:nvSpPr>
          <p:cNvPr id="13" name="Shape 10"/>
          <p:cNvSpPr/>
          <p:nvPr/>
        </p:nvSpPr>
        <p:spPr>
          <a:xfrm>
            <a:off x="640080" y="4754880"/>
            <a:ext cx="4663440" cy="1188720"/>
          </a:xfrm>
          <a:prstGeom prst="roundRect">
            <a:avLst>
              <a:gd name="adj" fmla="val 7692"/>
            </a:avLst>
          </a:prstGeom>
          <a:solidFill>
            <a:srgbClr val="F3F5F9"/>
          </a:solidFill>
          <a:ln w="19050">
            <a:solidFill>
              <a:srgbClr val="2F8F5B"/>
            </a:solidFill>
            <a:prstDash val="solid"/>
          </a:ln>
        </p:spPr>
      </p:sp>
      <p:sp>
        <p:nvSpPr>
          <p:cNvPr id="14" name="Text 11"/>
          <p:cNvSpPr txBox="1"/>
          <p:nvPr/>
        </p:nvSpPr>
        <p:spPr>
          <a:xfrm>
            <a:off x="868680" y="4937760"/>
            <a:ext cx="4206240" cy="822960"/>
          </a:xfrm>
          <a:prstGeom prst="rect">
            <a:avLst/>
          </a:prstGeom>
          <a:noFill/>
          <a:ln/>
        </p:spPr>
        <p:txBody>
          <a:bodyPr wrap="square" lIns="0" tIns="0" rIns="0" bIns="0" rtlCol="0" anchor="ctr"/>
          <a:lstStyle/>
          <a:p>
            <a:pPr indent="0" marL="0">
              <a:lnSpc>
                <a:spcPts val="2000"/>
              </a:lnSpc>
              <a:buNone/>
            </a:pPr>
            <a:r>
              <a:rPr lang="en-US" sz="1400" b="1" dirty="0">
                <a:solidFill>
                  <a:srgbClr val="2F8F5B"/>
                </a:solidFill>
                <a:latin typeface="Calibri" pitchFamily="34" charset="0"/>
                <a:ea typeface="Calibri" pitchFamily="34" charset="-122"/>
                <a:cs typeface="Calibri" pitchFamily="34" charset="-120"/>
              </a:rPr>
              <a:t>Finding:  </a:t>
            </a:r>
            <a:pPr indent="0" marL="0">
              <a:lnSpc>
                <a:spcPts val="2000"/>
              </a:lnSpc>
              <a:buNone/>
            </a:pPr>
            <a:r>
              <a:rPr lang="en-US" sz="1400" dirty="0">
                <a:solidFill>
                  <a:srgbClr val="141A26"/>
                </a:solidFill>
                <a:latin typeface="Calibri" pitchFamily="34" charset="0"/>
                <a:ea typeface="Calibri" pitchFamily="34" charset="-122"/>
                <a:cs typeface="Calibri" pitchFamily="34" charset="-120"/>
              </a:rPr>
              <a:t>a simple change — sleeping on your side — could reduce events.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ANALYSIS</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FFFFFF"/>
                </a:solidFill>
                <a:latin typeface="Calibri" pitchFamily="34" charset="0"/>
                <a:ea typeface="Calibri" pitchFamily="34" charset="-122"/>
                <a:cs typeface="Calibri" pitchFamily="34" charset="-120"/>
              </a:rPr>
              <a:t>What the results mean</a:t>
            </a:r>
            <a:endParaRPr lang="en-US" sz="3000" dirty="0"/>
          </a:p>
        </p:txBody>
      </p:sp>
      <p:sp>
        <p:nvSpPr>
          <p:cNvPr id="4" name="Text 2"/>
          <p:cNvSpPr txBox="1"/>
          <p:nvPr/>
        </p:nvSpPr>
        <p:spPr>
          <a:xfrm>
            <a:off x="640080" y="1828800"/>
            <a:ext cx="5120640" cy="365760"/>
          </a:xfrm>
          <a:prstGeom prst="rect">
            <a:avLst/>
          </a:prstGeom>
          <a:noFill/>
          <a:ln/>
        </p:spPr>
        <p:txBody>
          <a:bodyPr wrap="square" lIns="0" tIns="0" rIns="0" bIns="0" rtlCol="0" anchor="ctr"/>
          <a:lstStyle/>
          <a:p>
            <a:pPr indent="0" marL="0">
              <a:buNone/>
            </a:pPr>
            <a:r>
              <a:rPr lang="en-US" sz="1600" b="1" dirty="0">
                <a:solidFill>
                  <a:srgbClr val="3FB8CC"/>
                </a:solidFill>
                <a:latin typeface="Calibri" pitchFamily="34" charset="0"/>
                <a:ea typeface="Calibri" pitchFamily="34" charset="-122"/>
                <a:cs typeface="Calibri" pitchFamily="34" charset="-120"/>
              </a:rPr>
              <a:t>Interpretation</a:t>
            </a:r>
            <a:endParaRPr lang="en-US" sz="1600" dirty="0"/>
          </a:p>
        </p:txBody>
      </p:sp>
      <p:sp>
        <p:nvSpPr>
          <p:cNvPr id="5" name="Shape 3"/>
          <p:cNvSpPr/>
          <p:nvPr/>
        </p:nvSpPr>
        <p:spPr>
          <a:xfrm>
            <a:off x="640080" y="2350008"/>
            <a:ext cx="128016" cy="128016"/>
          </a:xfrm>
          <a:prstGeom prst="ellipse">
            <a:avLst/>
          </a:prstGeom>
          <a:solidFill>
            <a:srgbClr val="1F8A9C"/>
          </a:solidFill>
          <a:ln/>
        </p:spPr>
      </p:sp>
      <p:sp>
        <p:nvSpPr>
          <p:cNvPr id="6" name="Text 4"/>
          <p:cNvSpPr txBox="1"/>
          <p:nvPr/>
        </p:nvSpPr>
        <p:spPr>
          <a:xfrm>
            <a:off x="932688" y="2258568"/>
            <a:ext cx="5010912" cy="731520"/>
          </a:xfrm>
          <a:prstGeom prst="rect">
            <a:avLst/>
          </a:prstGeom>
          <a:noFill/>
          <a:ln/>
        </p:spPr>
        <p:txBody>
          <a:bodyPr wrap="square" lIns="0" tIns="0" rIns="0" bIns="0" rtlCol="0" anchor="ctr"/>
          <a:lstStyle/>
          <a:p>
            <a:pPr indent="0" marL="0">
              <a:lnSpc>
                <a:spcPts val="1850"/>
              </a:lnSpc>
              <a:buNone/>
            </a:pPr>
            <a:r>
              <a:rPr lang="en-US" sz="1350" dirty="0">
                <a:solidFill>
                  <a:srgbClr val="9FB0CF"/>
                </a:solidFill>
                <a:latin typeface="Calibri" pitchFamily="34" charset="0"/>
                <a:ea typeface="Calibri" pitchFamily="34" charset="-122"/>
                <a:cs typeface="Calibri" pitchFamily="34" charset="-120"/>
              </a:rPr>
              <a:t>The device agreed with a reference oximeter within ~0.6% — accurate enough to trust its readings.</a:t>
            </a:r>
            <a:endParaRPr lang="en-US" sz="1350" dirty="0"/>
          </a:p>
        </p:txBody>
      </p:sp>
      <p:sp>
        <p:nvSpPr>
          <p:cNvPr id="7" name="Shape 5"/>
          <p:cNvSpPr/>
          <p:nvPr/>
        </p:nvSpPr>
        <p:spPr>
          <a:xfrm>
            <a:off x="640080" y="3218688"/>
            <a:ext cx="128016" cy="128016"/>
          </a:xfrm>
          <a:prstGeom prst="ellipse">
            <a:avLst/>
          </a:prstGeom>
          <a:solidFill>
            <a:srgbClr val="1F8A9C"/>
          </a:solidFill>
          <a:ln/>
        </p:spPr>
      </p:sp>
      <p:sp>
        <p:nvSpPr>
          <p:cNvPr id="8" name="Text 6"/>
          <p:cNvSpPr txBox="1"/>
          <p:nvPr/>
        </p:nvSpPr>
        <p:spPr>
          <a:xfrm>
            <a:off x="932688" y="3127248"/>
            <a:ext cx="5010912" cy="731520"/>
          </a:xfrm>
          <a:prstGeom prst="rect">
            <a:avLst/>
          </a:prstGeom>
          <a:noFill/>
          <a:ln/>
        </p:spPr>
        <p:txBody>
          <a:bodyPr wrap="square" lIns="0" tIns="0" rIns="0" bIns="0" rtlCol="0" anchor="ctr"/>
          <a:lstStyle/>
          <a:p>
            <a:pPr indent="0" marL="0">
              <a:lnSpc>
                <a:spcPts val="1850"/>
              </a:lnSpc>
              <a:buNone/>
            </a:pPr>
            <a:r>
              <a:rPr lang="en-US" sz="1350" dirty="0">
                <a:solidFill>
                  <a:srgbClr val="9FB0CF"/>
                </a:solidFill>
                <a:latin typeface="Calibri" pitchFamily="34" charset="0"/>
                <a:ea typeface="Calibri" pitchFamily="34" charset="-122"/>
                <a:cs typeface="Calibri" pitchFamily="34" charset="-120"/>
              </a:rPr>
              <a:t>It reliably flagged the oxygen drops that mark apnea events.</a:t>
            </a:r>
            <a:endParaRPr lang="en-US" sz="1350" dirty="0"/>
          </a:p>
        </p:txBody>
      </p:sp>
      <p:sp>
        <p:nvSpPr>
          <p:cNvPr id="9" name="Shape 7"/>
          <p:cNvSpPr/>
          <p:nvPr/>
        </p:nvSpPr>
        <p:spPr>
          <a:xfrm>
            <a:off x="640080" y="3785616"/>
            <a:ext cx="128016" cy="128016"/>
          </a:xfrm>
          <a:prstGeom prst="ellipse">
            <a:avLst/>
          </a:prstGeom>
          <a:solidFill>
            <a:srgbClr val="1F8A9C"/>
          </a:solidFill>
          <a:ln/>
        </p:spPr>
      </p:sp>
      <p:sp>
        <p:nvSpPr>
          <p:cNvPr id="10" name="Text 8"/>
          <p:cNvSpPr txBox="1"/>
          <p:nvPr/>
        </p:nvSpPr>
        <p:spPr>
          <a:xfrm>
            <a:off x="932688" y="3694176"/>
            <a:ext cx="5010912" cy="731520"/>
          </a:xfrm>
          <a:prstGeom prst="rect">
            <a:avLst/>
          </a:prstGeom>
          <a:noFill/>
          <a:ln/>
        </p:spPr>
        <p:txBody>
          <a:bodyPr wrap="square" lIns="0" tIns="0" rIns="0" bIns="0" rtlCol="0" anchor="ctr"/>
          <a:lstStyle/>
          <a:p>
            <a:pPr indent="0" marL="0">
              <a:lnSpc>
                <a:spcPts val="1850"/>
              </a:lnSpc>
              <a:buNone/>
            </a:pPr>
            <a:r>
              <a:rPr lang="en-US" sz="1350" dirty="0">
                <a:solidFill>
                  <a:srgbClr val="9FB0CF"/>
                </a:solidFill>
                <a:latin typeface="Calibri" pitchFamily="34" charset="0"/>
                <a:ea typeface="Calibri" pitchFamily="34" charset="-122"/>
                <a:cs typeface="Calibri" pitchFamily="34" charset="-120"/>
              </a:rPr>
              <a:t>Back-sleeping produced the most events, matching medical literature.</a:t>
            </a:r>
            <a:endParaRPr lang="en-US" sz="1350" dirty="0"/>
          </a:p>
        </p:txBody>
      </p:sp>
      <p:sp>
        <p:nvSpPr>
          <p:cNvPr id="11" name="Text 9"/>
          <p:cNvSpPr txBox="1"/>
          <p:nvPr/>
        </p:nvSpPr>
        <p:spPr>
          <a:xfrm>
            <a:off x="6309360" y="1828800"/>
            <a:ext cx="5120640" cy="365760"/>
          </a:xfrm>
          <a:prstGeom prst="rect">
            <a:avLst/>
          </a:prstGeom>
          <a:noFill/>
          <a:ln/>
        </p:spPr>
        <p:txBody>
          <a:bodyPr wrap="square" lIns="0" tIns="0" rIns="0" bIns="0" rtlCol="0" anchor="ctr"/>
          <a:lstStyle/>
          <a:p>
            <a:pPr indent="0" marL="0">
              <a:buNone/>
            </a:pPr>
            <a:r>
              <a:rPr lang="en-US" sz="1600" b="1" dirty="0">
                <a:solidFill>
                  <a:srgbClr val="E4568A"/>
                </a:solidFill>
                <a:latin typeface="Calibri" pitchFamily="34" charset="0"/>
                <a:ea typeface="Calibri" pitchFamily="34" charset="-122"/>
                <a:cs typeface="Calibri" pitchFamily="34" charset="-120"/>
              </a:rPr>
              <a:t>Sources of error</a:t>
            </a:r>
            <a:endParaRPr lang="en-US" sz="1600" dirty="0"/>
          </a:p>
        </p:txBody>
      </p:sp>
      <p:sp>
        <p:nvSpPr>
          <p:cNvPr id="12" name="Shape 10"/>
          <p:cNvSpPr/>
          <p:nvPr/>
        </p:nvSpPr>
        <p:spPr>
          <a:xfrm>
            <a:off x="6309360" y="2350008"/>
            <a:ext cx="128016" cy="128016"/>
          </a:xfrm>
          <a:prstGeom prst="ellipse">
            <a:avLst/>
          </a:prstGeom>
          <a:solidFill>
            <a:srgbClr val="1F8A9C"/>
          </a:solidFill>
          <a:ln/>
        </p:spPr>
      </p:sp>
      <p:sp>
        <p:nvSpPr>
          <p:cNvPr id="13" name="Text 11"/>
          <p:cNvSpPr txBox="1"/>
          <p:nvPr/>
        </p:nvSpPr>
        <p:spPr>
          <a:xfrm>
            <a:off x="6601968" y="2258568"/>
            <a:ext cx="4919472" cy="731520"/>
          </a:xfrm>
          <a:prstGeom prst="rect">
            <a:avLst/>
          </a:prstGeom>
          <a:noFill/>
          <a:ln/>
        </p:spPr>
        <p:txBody>
          <a:bodyPr wrap="square" lIns="0" tIns="0" rIns="0" bIns="0" rtlCol="0" anchor="ctr"/>
          <a:lstStyle/>
          <a:p>
            <a:pPr indent="0" marL="0">
              <a:lnSpc>
                <a:spcPts val="1850"/>
              </a:lnSpc>
              <a:buNone/>
            </a:pPr>
            <a:r>
              <a:rPr lang="en-US" sz="1350" dirty="0">
                <a:solidFill>
                  <a:srgbClr val="9FB0CF"/>
                </a:solidFill>
                <a:latin typeface="Calibri" pitchFamily="34" charset="0"/>
                <a:ea typeface="Calibri" pitchFamily="34" charset="-122"/>
                <a:cs typeface="Calibri" pitchFamily="34" charset="-120"/>
              </a:rPr>
              <a:t>A $8 sensor is less precise than clinical equipment.</a:t>
            </a:r>
            <a:endParaRPr lang="en-US" sz="1350" dirty="0"/>
          </a:p>
        </p:txBody>
      </p:sp>
      <p:sp>
        <p:nvSpPr>
          <p:cNvPr id="14" name="Shape 12"/>
          <p:cNvSpPr/>
          <p:nvPr/>
        </p:nvSpPr>
        <p:spPr>
          <a:xfrm>
            <a:off x="6309360" y="2916936"/>
            <a:ext cx="128016" cy="128016"/>
          </a:xfrm>
          <a:prstGeom prst="ellipse">
            <a:avLst/>
          </a:prstGeom>
          <a:solidFill>
            <a:srgbClr val="1F8A9C"/>
          </a:solidFill>
          <a:ln/>
        </p:spPr>
      </p:sp>
      <p:sp>
        <p:nvSpPr>
          <p:cNvPr id="15" name="Text 13"/>
          <p:cNvSpPr txBox="1"/>
          <p:nvPr/>
        </p:nvSpPr>
        <p:spPr>
          <a:xfrm>
            <a:off x="6601968" y="2825496"/>
            <a:ext cx="4919472" cy="731520"/>
          </a:xfrm>
          <a:prstGeom prst="rect">
            <a:avLst/>
          </a:prstGeom>
          <a:noFill/>
          <a:ln/>
        </p:spPr>
        <p:txBody>
          <a:bodyPr wrap="square" lIns="0" tIns="0" rIns="0" bIns="0" rtlCol="0" anchor="ctr"/>
          <a:lstStyle/>
          <a:p>
            <a:pPr indent="0" marL="0">
              <a:lnSpc>
                <a:spcPts val="1850"/>
              </a:lnSpc>
              <a:buNone/>
            </a:pPr>
            <a:r>
              <a:rPr lang="en-US" sz="1350" dirty="0">
                <a:solidFill>
                  <a:srgbClr val="9FB0CF"/>
                </a:solidFill>
                <a:latin typeface="Calibri" pitchFamily="34" charset="0"/>
                <a:ea typeface="Calibri" pitchFamily="34" charset="-122"/>
                <a:cs typeface="Calibri" pitchFamily="34" charset="-120"/>
              </a:rPr>
              <a:t>Breath-holds while awake imitate, but aren’t identical to, real apnea.</a:t>
            </a:r>
            <a:endParaRPr lang="en-US" sz="1350" dirty="0"/>
          </a:p>
        </p:txBody>
      </p:sp>
      <p:sp>
        <p:nvSpPr>
          <p:cNvPr id="16" name="Shape 14"/>
          <p:cNvSpPr/>
          <p:nvPr/>
        </p:nvSpPr>
        <p:spPr>
          <a:xfrm>
            <a:off x="6309360" y="3785616"/>
            <a:ext cx="128016" cy="128016"/>
          </a:xfrm>
          <a:prstGeom prst="ellipse">
            <a:avLst/>
          </a:prstGeom>
          <a:solidFill>
            <a:srgbClr val="1F8A9C"/>
          </a:solidFill>
          <a:ln/>
        </p:spPr>
      </p:sp>
      <p:sp>
        <p:nvSpPr>
          <p:cNvPr id="17" name="Text 15"/>
          <p:cNvSpPr txBox="1"/>
          <p:nvPr/>
        </p:nvSpPr>
        <p:spPr>
          <a:xfrm>
            <a:off x="6601968" y="3694176"/>
            <a:ext cx="4919472" cy="731520"/>
          </a:xfrm>
          <a:prstGeom prst="rect">
            <a:avLst/>
          </a:prstGeom>
          <a:noFill/>
          <a:ln/>
        </p:spPr>
        <p:txBody>
          <a:bodyPr wrap="square" lIns="0" tIns="0" rIns="0" bIns="0" rtlCol="0" anchor="ctr"/>
          <a:lstStyle/>
          <a:p>
            <a:pPr indent="0" marL="0">
              <a:lnSpc>
                <a:spcPts val="1850"/>
              </a:lnSpc>
              <a:buNone/>
            </a:pPr>
            <a:r>
              <a:rPr lang="en-US" sz="1350" dirty="0">
                <a:solidFill>
                  <a:srgbClr val="9FB0CF"/>
                </a:solidFill>
                <a:latin typeface="Calibri" pitchFamily="34" charset="0"/>
                <a:ea typeface="Calibri" pitchFamily="34" charset="-122"/>
                <a:cs typeface="Calibri" pitchFamily="34" charset="-120"/>
              </a:rPr>
              <a:t>Tested on one person over few nights — a small sample.</a:t>
            </a:r>
            <a:endParaRPr lang="en-US" sz="1350" dirty="0"/>
          </a:p>
        </p:txBody>
      </p:sp>
      <p:sp>
        <p:nvSpPr>
          <p:cNvPr id="18" name="Shape 16"/>
          <p:cNvSpPr/>
          <p:nvPr/>
        </p:nvSpPr>
        <p:spPr>
          <a:xfrm>
            <a:off x="6309360" y="4352544"/>
            <a:ext cx="128016" cy="128016"/>
          </a:xfrm>
          <a:prstGeom prst="ellipse">
            <a:avLst/>
          </a:prstGeom>
          <a:solidFill>
            <a:srgbClr val="1F8A9C"/>
          </a:solidFill>
          <a:ln/>
        </p:spPr>
      </p:sp>
      <p:sp>
        <p:nvSpPr>
          <p:cNvPr id="19" name="Text 17"/>
          <p:cNvSpPr txBox="1"/>
          <p:nvPr/>
        </p:nvSpPr>
        <p:spPr>
          <a:xfrm>
            <a:off x="6601968" y="4261104"/>
            <a:ext cx="4919472" cy="731520"/>
          </a:xfrm>
          <a:prstGeom prst="rect">
            <a:avLst/>
          </a:prstGeom>
          <a:noFill/>
          <a:ln/>
        </p:spPr>
        <p:txBody>
          <a:bodyPr wrap="square" lIns="0" tIns="0" rIns="0" bIns="0" rtlCol="0" anchor="ctr"/>
          <a:lstStyle/>
          <a:p>
            <a:pPr indent="0" marL="0">
              <a:lnSpc>
                <a:spcPts val="1850"/>
              </a:lnSpc>
              <a:buNone/>
            </a:pPr>
            <a:r>
              <a:rPr lang="en-US" sz="1350" dirty="0">
                <a:solidFill>
                  <a:srgbClr val="9FB0CF"/>
                </a:solidFill>
                <a:latin typeface="Calibri" pitchFamily="34" charset="0"/>
                <a:ea typeface="Calibri" pitchFamily="34" charset="-122"/>
                <a:cs typeface="Calibri" pitchFamily="34" charset="-120"/>
              </a:rPr>
              <a:t>Finger movement adds noise the software must smooth out.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FFFFFF"/>
                </a:solidFill>
                <a:latin typeface="Calibri" pitchFamily="34" charset="0"/>
                <a:ea typeface="Calibri" pitchFamily="34" charset="-122"/>
                <a:cs typeface="Calibri" pitchFamily="34" charset="-120"/>
              </a:rPr>
              <a:t>Back to the hypothesis</a:t>
            </a:r>
            <a:endParaRPr lang="en-US" sz="3000" dirty="0"/>
          </a:p>
        </p:txBody>
      </p:sp>
      <p:sp>
        <p:nvSpPr>
          <p:cNvPr id="4" name="Shape 2"/>
          <p:cNvSpPr/>
          <p:nvPr/>
        </p:nvSpPr>
        <p:spPr>
          <a:xfrm>
            <a:off x="640080" y="1828800"/>
            <a:ext cx="10881360" cy="1280160"/>
          </a:xfrm>
          <a:prstGeom prst="roundRect">
            <a:avLst>
              <a:gd name="adj" fmla="val 7143"/>
            </a:avLst>
          </a:prstGeom>
          <a:solidFill>
            <a:srgbClr val="18233F"/>
          </a:solidFill>
          <a:ln w="12700">
            <a:solidFill>
              <a:srgbClr val="1F8A9C"/>
            </a:solidFill>
            <a:prstDash val="solid"/>
          </a:ln>
        </p:spPr>
      </p:sp>
      <p:sp>
        <p:nvSpPr>
          <p:cNvPr id="5" name="Text 3"/>
          <p:cNvSpPr txBox="1"/>
          <p:nvPr/>
        </p:nvSpPr>
        <p:spPr>
          <a:xfrm>
            <a:off x="914400" y="2011680"/>
            <a:ext cx="10332720" cy="1005840"/>
          </a:xfrm>
          <a:prstGeom prst="rect">
            <a:avLst/>
          </a:prstGeom>
          <a:noFill/>
          <a:ln/>
        </p:spPr>
        <p:txBody>
          <a:bodyPr wrap="square" lIns="0" tIns="0" rIns="0" bIns="0" rtlCol="0" anchor="ctr"/>
          <a:lstStyle/>
          <a:p>
            <a:pPr indent="0" marL="0">
              <a:lnSpc>
                <a:spcPts val="2300"/>
              </a:lnSpc>
              <a:buNone/>
            </a:pPr>
            <a:r>
              <a:rPr lang="en-US" sz="1600" b="1" dirty="0">
                <a:solidFill>
                  <a:srgbClr val="3FB8CC"/>
                </a:solidFill>
                <a:latin typeface="Calibri" pitchFamily="34" charset="0"/>
                <a:ea typeface="Calibri" pitchFamily="34" charset="-122"/>
                <a:cs typeface="Calibri" pitchFamily="34" charset="-120"/>
              </a:rPr>
              <a:t>Hypothesis supported. </a:t>
            </a:r>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$35 wearable detected apnea’s oxygen drops, agreed closely with a medical oximeter, estimated an AHI severity, and revealed that back-sleeping caused more events.</a:t>
            </a:r>
            <a:endParaRPr lang="en-US" sz="1600" dirty="0"/>
          </a:p>
        </p:txBody>
      </p:sp>
      <p:sp>
        <p:nvSpPr>
          <p:cNvPr id="6" name="Text 4"/>
          <p:cNvSpPr txBox="1"/>
          <p:nvPr/>
        </p:nvSpPr>
        <p:spPr>
          <a:xfrm>
            <a:off x="640080" y="3474720"/>
            <a:ext cx="10058400" cy="365760"/>
          </a:xfrm>
          <a:prstGeom prst="rect">
            <a:avLst/>
          </a:prstGeom>
          <a:noFill/>
          <a:ln/>
        </p:spPr>
        <p:txBody>
          <a:bodyPr wrap="square" lIns="0" tIns="0" rIns="0" bIns="0" rtlCol="0" anchor="ctr"/>
          <a:lstStyle/>
          <a:p>
            <a:pPr indent="0" marL="0">
              <a:buNone/>
            </a:pPr>
            <a:r>
              <a:rPr lang="en-US" sz="1600" b="1" dirty="0">
                <a:solidFill>
                  <a:srgbClr val="E4568A"/>
                </a:solidFill>
                <a:latin typeface="Calibri" pitchFamily="34" charset="0"/>
                <a:ea typeface="Calibri" pitchFamily="34" charset="-122"/>
                <a:cs typeface="Calibri" pitchFamily="34" charset="-120"/>
              </a:rPr>
              <a:t>Further considerations &amp; improvements</a:t>
            </a:r>
            <a:endParaRPr lang="en-US" sz="1600" dirty="0"/>
          </a:p>
        </p:txBody>
      </p:sp>
      <p:sp>
        <p:nvSpPr>
          <p:cNvPr id="7" name="Shape 5"/>
          <p:cNvSpPr/>
          <p:nvPr/>
        </p:nvSpPr>
        <p:spPr>
          <a:xfrm>
            <a:off x="640080" y="3995928"/>
            <a:ext cx="128016" cy="128016"/>
          </a:xfrm>
          <a:prstGeom prst="ellipse">
            <a:avLst/>
          </a:prstGeom>
          <a:solidFill>
            <a:srgbClr val="1F8A9C"/>
          </a:solidFill>
          <a:ln/>
        </p:spPr>
      </p:sp>
      <p:sp>
        <p:nvSpPr>
          <p:cNvPr id="8" name="Text 6"/>
          <p:cNvSpPr txBox="1"/>
          <p:nvPr/>
        </p:nvSpPr>
        <p:spPr>
          <a:xfrm>
            <a:off x="932688" y="3904488"/>
            <a:ext cx="10314432" cy="731520"/>
          </a:xfrm>
          <a:prstGeom prst="rect">
            <a:avLst/>
          </a:prstGeom>
          <a:noFill/>
          <a:ln/>
        </p:spPr>
        <p:txBody>
          <a:bodyPr wrap="square" lIns="0" tIns="0" rIns="0" bIns="0" rtlCol="0" anchor="ctr"/>
          <a:lstStyle/>
          <a:p>
            <a:pPr indent="0" marL="0">
              <a:lnSpc>
                <a:spcPts val="1900"/>
              </a:lnSpc>
              <a:buNone/>
            </a:pPr>
            <a:r>
              <a:rPr lang="en-US" sz="1400" dirty="0">
                <a:solidFill>
                  <a:srgbClr val="9FB0CF"/>
                </a:solidFill>
                <a:latin typeface="Calibri" pitchFamily="34" charset="0"/>
                <a:ea typeface="Calibri" pitchFamily="34" charset="-122"/>
                <a:cs typeface="Calibri" pitchFamily="34" charset="-120"/>
              </a:rPr>
              <a:t>Test more people, for more full nights, to strengthen the data.</a:t>
            </a:r>
            <a:endParaRPr lang="en-US" sz="1400" dirty="0"/>
          </a:p>
        </p:txBody>
      </p:sp>
      <p:sp>
        <p:nvSpPr>
          <p:cNvPr id="9" name="Shape 7"/>
          <p:cNvSpPr/>
          <p:nvPr/>
        </p:nvSpPr>
        <p:spPr>
          <a:xfrm>
            <a:off x="640080" y="4864608"/>
            <a:ext cx="128016" cy="128016"/>
          </a:xfrm>
          <a:prstGeom prst="ellipse">
            <a:avLst/>
          </a:prstGeom>
          <a:solidFill>
            <a:srgbClr val="1F8A9C"/>
          </a:solidFill>
          <a:ln/>
        </p:spPr>
      </p:sp>
      <p:sp>
        <p:nvSpPr>
          <p:cNvPr id="10" name="Text 8"/>
          <p:cNvSpPr txBox="1"/>
          <p:nvPr/>
        </p:nvSpPr>
        <p:spPr>
          <a:xfrm>
            <a:off x="932688" y="4773168"/>
            <a:ext cx="10314432" cy="731520"/>
          </a:xfrm>
          <a:prstGeom prst="rect">
            <a:avLst/>
          </a:prstGeom>
          <a:noFill/>
          <a:ln/>
        </p:spPr>
        <p:txBody>
          <a:bodyPr wrap="square" lIns="0" tIns="0" rIns="0" bIns="0" rtlCol="0" anchor="ctr"/>
          <a:lstStyle/>
          <a:p>
            <a:pPr indent="0" marL="0">
              <a:lnSpc>
                <a:spcPts val="1900"/>
              </a:lnSpc>
              <a:buNone/>
            </a:pPr>
            <a:r>
              <a:rPr lang="en-US" sz="1400" dirty="0">
                <a:solidFill>
                  <a:srgbClr val="9FB0CF"/>
                </a:solidFill>
                <a:latin typeface="Calibri" pitchFamily="34" charset="0"/>
                <a:ea typeface="Calibri" pitchFamily="34" charset="-122"/>
                <a:cs typeface="Calibri" pitchFamily="34" charset="-120"/>
              </a:rPr>
              <a:t>Switch to Bluetooth Low Energy for a live phone app.</a:t>
            </a:r>
            <a:endParaRPr lang="en-US" sz="1400" dirty="0"/>
          </a:p>
        </p:txBody>
      </p:sp>
      <p:sp>
        <p:nvSpPr>
          <p:cNvPr id="11" name="Shape 9"/>
          <p:cNvSpPr/>
          <p:nvPr/>
        </p:nvSpPr>
        <p:spPr>
          <a:xfrm>
            <a:off x="640080" y="5431536"/>
            <a:ext cx="128016" cy="128016"/>
          </a:xfrm>
          <a:prstGeom prst="ellipse">
            <a:avLst/>
          </a:prstGeom>
          <a:solidFill>
            <a:srgbClr val="1F8A9C"/>
          </a:solidFill>
          <a:ln/>
        </p:spPr>
      </p:sp>
      <p:sp>
        <p:nvSpPr>
          <p:cNvPr id="12" name="Text 10"/>
          <p:cNvSpPr txBox="1"/>
          <p:nvPr/>
        </p:nvSpPr>
        <p:spPr>
          <a:xfrm>
            <a:off x="932688" y="5340096"/>
            <a:ext cx="10314432" cy="731520"/>
          </a:xfrm>
          <a:prstGeom prst="rect">
            <a:avLst/>
          </a:prstGeom>
          <a:noFill/>
          <a:ln/>
        </p:spPr>
        <p:txBody>
          <a:bodyPr wrap="square" lIns="0" tIns="0" rIns="0" bIns="0" rtlCol="0" anchor="ctr"/>
          <a:lstStyle/>
          <a:p>
            <a:pPr indent="0" marL="0">
              <a:lnSpc>
                <a:spcPts val="1900"/>
              </a:lnSpc>
              <a:buNone/>
            </a:pPr>
            <a:r>
              <a:rPr lang="en-US" sz="1400" dirty="0">
                <a:solidFill>
                  <a:srgbClr val="9FB0CF"/>
                </a:solidFill>
                <a:latin typeface="Calibri" pitchFamily="34" charset="0"/>
                <a:ea typeface="Calibri" pitchFamily="34" charset="-122"/>
                <a:cs typeface="Calibri" pitchFamily="34" charset="-120"/>
              </a:rPr>
              <a:t>Shrink the device into a comfortable finger-ring form.</a:t>
            </a:r>
            <a:endParaRPr lang="en-US" sz="1400" dirty="0"/>
          </a:p>
        </p:txBody>
      </p:sp>
      <p:sp>
        <p:nvSpPr>
          <p:cNvPr id="13" name="Shape 11"/>
          <p:cNvSpPr/>
          <p:nvPr/>
        </p:nvSpPr>
        <p:spPr>
          <a:xfrm>
            <a:off x="640080" y="5998464"/>
            <a:ext cx="128016" cy="128016"/>
          </a:xfrm>
          <a:prstGeom prst="ellipse">
            <a:avLst/>
          </a:prstGeom>
          <a:solidFill>
            <a:srgbClr val="1F8A9C"/>
          </a:solidFill>
          <a:ln/>
        </p:spPr>
      </p:sp>
      <p:sp>
        <p:nvSpPr>
          <p:cNvPr id="14" name="Text 12"/>
          <p:cNvSpPr txBox="1"/>
          <p:nvPr/>
        </p:nvSpPr>
        <p:spPr>
          <a:xfrm>
            <a:off x="932688" y="5907024"/>
            <a:ext cx="10314432" cy="731520"/>
          </a:xfrm>
          <a:prstGeom prst="rect">
            <a:avLst/>
          </a:prstGeom>
          <a:noFill/>
          <a:ln/>
        </p:spPr>
        <p:txBody>
          <a:bodyPr wrap="square" lIns="0" tIns="0" rIns="0" bIns="0" rtlCol="0" anchor="ctr"/>
          <a:lstStyle/>
          <a:p>
            <a:pPr indent="0" marL="0">
              <a:lnSpc>
                <a:spcPts val="1900"/>
              </a:lnSpc>
              <a:buNone/>
            </a:pPr>
            <a:r>
              <a:rPr lang="en-US" sz="1400" dirty="0">
                <a:solidFill>
                  <a:srgbClr val="9FB0CF"/>
                </a:solidFill>
                <a:latin typeface="Calibri" pitchFamily="34" charset="0"/>
                <a:ea typeface="Calibri" pitchFamily="34" charset="-122"/>
                <a:cs typeface="Calibri" pitchFamily="34" charset="-120"/>
              </a:rPr>
              <a:t>Compare results directly against a real clinical sleep study.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APPENDIX</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141A26"/>
                </a:solidFill>
                <a:latin typeface="Calibri" pitchFamily="34" charset="0"/>
                <a:ea typeface="Calibri" pitchFamily="34" charset="-122"/>
                <a:cs typeface="Calibri" pitchFamily="34" charset="-120"/>
              </a:rPr>
              <a:t>Materials &amp; full protocol</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4754880" cy="914400"/>
        </p:xfrm>
        <a:graphic>
          <a:graphicData uri="http://schemas.openxmlformats.org/drawingml/2006/table">
            <a:tbl>
              <a:tblPr/>
              <a:tblGrid>
                <a:gridCol w="3566160"/>
                <a:gridCol w="1188720"/>
              </a:tblGrid>
              <a:tr h="329184">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Material</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Cost</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329184">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ESP32-WROOM-32 board</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29184">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MAX30102 oxygen/HR sensor</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29184">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MPU-6050 accelerometer</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29184">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LiPo battery + TP4056 charger</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29184">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Jumper wires + breadboard</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29184">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Project box + velcro strap</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29184">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Reference fingertip oximeter</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sp>
        <p:nvSpPr>
          <p:cNvPr id="5" name="Text 2"/>
          <p:cNvSpPr txBox="1"/>
          <p:nvPr/>
        </p:nvSpPr>
        <p:spPr>
          <a:xfrm>
            <a:off x="5852160" y="1828800"/>
            <a:ext cx="5486400" cy="365760"/>
          </a:xfrm>
          <a:prstGeom prst="rect">
            <a:avLst/>
          </a:prstGeom>
          <a:noFill/>
          <a:ln/>
        </p:spPr>
        <p:txBody>
          <a:bodyPr wrap="square" lIns="0" tIns="0" rIns="0" bIns="0" rtlCol="0" anchor="ctr"/>
          <a:lstStyle/>
          <a:p>
            <a:pPr indent="0" marL="0">
              <a:buNone/>
            </a:pPr>
            <a:r>
              <a:rPr lang="en-US" sz="1600" b="1" dirty="0">
                <a:solidFill>
                  <a:srgbClr val="141A26"/>
                </a:solidFill>
                <a:latin typeface="Calibri" pitchFamily="34" charset="0"/>
                <a:ea typeface="Calibri" pitchFamily="34" charset="-122"/>
                <a:cs typeface="Calibri" pitchFamily="34" charset="-120"/>
              </a:rPr>
              <a:t>Protocol summary</a:t>
            </a:r>
            <a:endParaRPr lang="en-US" sz="1600" dirty="0"/>
          </a:p>
        </p:txBody>
      </p:sp>
      <p:sp>
        <p:nvSpPr>
          <p:cNvPr id="6" name="Shape 3"/>
          <p:cNvSpPr/>
          <p:nvPr/>
        </p:nvSpPr>
        <p:spPr>
          <a:xfrm>
            <a:off x="5852160" y="2350008"/>
            <a:ext cx="128016" cy="128016"/>
          </a:xfrm>
          <a:prstGeom prst="ellipse">
            <a:avLst/>
          </a:prstGeom>
          <a:solidFill>
            <a:srgbClr val="1F8A9C"/>
          </a:solidFill>
          <a:ln/>
        </p:spPr>
      </p:sp>
      <p:sp>
        <p:nvSpPr>
          <p:cNvPr id="7" name="Text 4"/>
          <p:cNvSpPr txBox="1"/>
          <p:nvPr/>
        </p:nvSpPr>
        <p:spPr>
          <a:xfrm>
            <a:off x="6144768" y="2258568"/>
            <a:ext cx="5468112" cy="731520"/>
          </a:xfrm>
          <a:prstGeom prst="rect">
            <a:avLst/>
          </a:prstGeom>
          <a:noFill/>
          <a:ln/>
        </p:spPr>
        <p:txBody>
          <a:bodyPr wrap="square" lIns="0" tIns="0" rIns="0" bIns="0" rtlCol="0" anchor="ctr"/>
          <a:lstStyle/>
          <a:p>
            <a:pPr indent="0" marL="0">
              <a:lnSpc>
                <a:spcPts val="1750"/>
              </a:lnSpc>
              <a:buNone/>
            </a:pPr>
            <a:r>
              <a:rPr lang="en-US" sz="1250" dirty="0">
                <a:solidFill>
                  <a:srgbClr val="44515F"/>
                </a:solidFill>
                <a:latin typeface="Calibri" pitchFamily="34" charset="0"/>
                <a:ea typeface="Calibri" pitchFamily="34" charset="-122"/>
                <a:cs typeface="Calibri" pitchFamily="34" charset="-120"/>
              </a:rPr>
              <a:t>Assemble sensors + ESP32 in a case on a velcro strap.</a:t>
            </a:r>
            <a:endParaRPr lang="en-US" sz="1250" dirty="0"/>
          </a:p>
        </p:txBody>
      </p:sp>
      <p:sp>
        <p:nvSpPr>
          <p:cNvPr id="8" name="Shape 5"/>
          <p:cNvSpPr/>
          <p:nvPr/>
        </p:nvSpPr>
        <p:spPr>
          <a:xfrm>
            <a:off x="5852160" y="2916936"/>
            <a:ext cx="128016" cy="128016"/>
          </a:xfrm>
          <a:prstGeom prst="ellipse">
            <a:avLst/>
          </a:prstGeom>
          <a:solidFill>
            <a:srgbClr val="1F8A9C"/>
          </a:solidFill>
          <a:ln/>
        </p:spPr>
      </p:sp>
      <p:sp>
        <p:nvSpPr>
          <p:cNvPr id="9" name="Text 6"/>
          <p:cNvSpPr txBox="1"/>
          <p:nvPr/>
        </p:nvSpPr>
        <p:spPr>
          <a:xfrm>
            <a:off x="6144768" y="2825496"/>
            <a:ext cx="5468112" cy="731520"/>
          </a:xfrm>
          <a:prstGeom prst="rect">
            <a:avLst/>
          </a:prstGeom>
          <a:noFill/>
          <a:ln/>
        </p:spPr>
        <p:txBody>
          <a:bodyPr wrap="square" lIns="0" tIns="0" rIns="0" bIns="0" rtlCol="0" anchor="ctr"/>
          <a:lstStyle/>
          <a:p>
            <a:pPr indent="0" marL="0">
              <a:lnSpc>
                <a:spcPts val="1750"/>
              </a:lnSpc>
              <a:buNone/>
            </a:pPr>
            <a:r>
              <a:rPr lang="en-US" sz="1250" dirty="0">
                <a:solidFill>
                  <a:srgbClr val="44515F"/>
                </a:solidFill>
                <a:latin typeface="Calibri" pitchFamily="34" charset="0"/>
                <a:ea typeface="Calibri" pitchFamily="34" charset="-122"/>
                <a:cs typeface="Calibri" pitchFamily="34" charset="-120"/>
              </a:rPr>
              <a:t>Flash firmware; pair over Bluetooth; verify live readings.</a:t>
            </a:r>
            <a:endParaRPr lang="en-US" sz="1250" dirty="0"/>
          </a:p>
        </p:txBody>
      </p:sp>
      <p:sp>
        <p:nvSpPr>
          <p:cNvPr id="10" name="Shape 7"/>
          <p:cNvSpPr/>
          <p:nvPr/>
        </p:nvSpPr>
        <p:spPr>
          <a:xfrm>
            <a:off x="5852160" y="3483864"/>
            <a:ext cx="128016" cy="128016"/>
          </a:xfrm>
          <a:prstGeom prst="ellipse">
            <a:avLst/>
          </a:prstGeom>
          <a:solidFill>
            <a:srgbClr val="1F8A9C"/>
          </a:solidFill>
          <a:ln/>
        </p:spPr>
      </p:sp>
      <p:sp>
        <p:nvSpPr>
          <p:cNvPr id="11" name="Text 8"/>
          <p:cNvSpPr txBox="1"/>
          <p:nvPr/>
        </p:nvSpPr>
        <p:spPr>
          <a:xfrm>
            <a:off x="6144768" y="3392424"/>
            <a:ext cx="5468112" cy="731520"/>
          </a:xfrm>
          <a:prstGeom prst="rect">
            <a:avLst/>
          </a:prstGeom>
          <a:noFill/>
          <a:ln/>
        </p:spPr>
        <p:txBody>
          <a:bodyPr wrap="square" lIns="0" tIns="0" rIns="0" bIns="0" rtlCol="0" anchor="ctr"/>
          <a:lstStyle/>
          <a:p>
            <a:pPr indent="0" marL="0">
              <a:lnSpc>
                <a:spcPts val="1750"/>
              </a:lnSpc>
              <a:buNone/>
            </a:pPr>
            <a:r>
              <a:rPr lang="en-US" sz="1250" dirty="0">
                <a:solidFill>
                  <a:srgbClr val="44515F"/>
                </a:solidFill>
                <a:latin typeface="Calibri" pitchFamily="34" charset="0"/>
                <a:ea typeface="Calibri" pitchFamily="34" charset="-122"/>
                <a:cs typeface="Calibri" pitchFamily="34" charset="-120"/>
              </a:rPr>
              <a:t>Validate against a reference oximeter (awake spot-checks).</a:t>
            </a:r>
            <a:endParaRPr lang="en-US" sz="1250" dirty="0"/>
          </a:p>
        </p:txBody>
      </p:sp>
      <p:sp>
        <p:nvSpPr>
          <p:cNvPr id="12" name="Shape 9"/>
          <p:cNvSpPr/>
          <p:nvPr/>
        </p:nvSpPr>
        <p:spPr>
          <a:xfrm>
            <a:off x="5852160" y="4050792"/>
            <a:ext cx="128016" cy="128016"/>
          </a:xfrm>
          <a:prstGeom prst="ellipse">
            <a:avLst/>
          </a:prstGeom>
          <a:solidFill>
            <a:srgbClr val="1F8A9C"/>
          </a:solidFill>
          <a:ln/>
        </p:spPr>
      </p:sp>
      <p:sp>
        <p:nvSpPr>
          <p:cNvPr id="13" name="Text 10"/>
          <p:cNvSpPr txBox="1"/>
          <p:nvPr/>
        </p:nvSpPr>
        <p:spPr>
          <a:xfrm>
            <a:off x="6144768" y="3959352"/>
            <a:ext cx="5468112" cy="731520"/>
          </a:xfrm>
          <a:prstGeom prst="rect">
            <a:avLst/>
          </a:prstGeom>
          <a:noFill/>
          <a:ln/>
        </p:spPr>
        <p:txBody>
          <a:bodyPr wrap="square" lIns="0" tIns="0" rIns="0" bIns="0" rtlCol="0" anchor="ctr"/>
          <a:lstStyle/>
          <a:p>
            <a:pPr indent="0" marL="0">
              <a:lnSpc>
                <a:spcPts val="1750"/>
              </a:lnSpc>
              <a:buNone/>
            </a:pPr>
            <a:r>
              <a:rPr lang="en-US" sz="1250" dirty="0">
                <a:solidFill>
                  <a:srgbClr val="44515F"/>
                </a:solidFill>
                <a:latin typeface="Calibri" pitchFamily="34" charset="0"/>
                <a:ea typeface="Calibri" pitchFamily="34" charset="-122"/>
                <a:cs typeface="Calibri" pitchFamily="34" charset="-120"/>
              </a:rPr>
              <a:t>Record full nights; log SpO₂, heart rate, position at 1 Hz.</a:t>
            </a:r>
            <a:endParaRPr lang="en-US" sz="1250" dirty="0"/>
          </a:p>
        </p:txBody>
      </p:sp>
      <p:sp>
        <p:nvSpPr>
          <p:cNvPr id="14" name="Shape 11"/>
          <p:cNvSpPr/>
          <p:nvPr/>
        </p:nvSpPr>
        <p:spPr>
          <a:xfrm>
            <a:off x="5852160" y="4617720"/>
            <a:ext cx="128016" cy="128016"/>
          </a:xfrm>
          <a:prstGeom prst="ellipse">
            <a:avLst/>
          </a:prstGeom>
          <a:solidFill>
            <a:srgbClr val="1F8A9C"/>
          </a:solidFill>
          <a:ln/>
        </p:spPr>
      </p:sp>
      <p:sp>
        <p:nvSpPr>
          <p:cNvPr id="15" name="Text 12"/>
          <p:cNvSpPr txBox="1"/>
          <p:nvPr/>
        </p:nvSpPr>
        <p:spPr>
          <a:xfrm>
            <a:off x="6144768" y="4526280"/>
            <a:ext cx="5468112" cy="731520"/>
          </a:xfrm>
          <a:prstGeom prst="rect">
            <a:avLst/>
          </a:prstGeom>
          <a:noFill/>
          <a:ln/>
        </p:spPr>
        <p:txBody>
          <a:bodyPr wrap="square" lIns="0" tIns="0" rIns="0" bIns="0" rtlCol="0" anchor="ctr"/>
          <a:lstStyle/>
          <a:p>
            <a:pPr indent="0" marL="0">
              <a:lnSpc>
                <a:spcPts val="1750"/>
              </a:lnSpc>
              <a:buNone/>
            </a:pPr>
            <a:r>
              <a:rPr lang="en-US" sz="1250" dirty="0">
                <a:solidFill>
                  <a:srgbClr val="44515F"/>
                </a:solidFill>
                <a:latin typeface="Calibri" pitchFamily="34" charset="0"/>
                <a:ea typeface="Calibri" pitchFamily="34" charset="-122"/>
                <a:cs typeface="Calibri" pitchFamily="34" charset="-120"/>
              </a:rPr>
              <a:t>Run supervised awake breath-holds to test detection.</a:t>
            </a:r>
            <a:endParaRPr lang="en-US" sz="1250" dirty="0"/>
          </a:p>
        </p:txBody>
      </p:sp>
      <p:sp>
        <p:nvSpPr>
          <p:cNvPr id="16" name="Shape 13"/>
          <p:cNvSpPr/>
          <p:nvPr/>
        </p:nvSpPr>
        <p:spPr>
          <a:xfrm>
            <a:off x="5852160" y="5184648"/>
            <a:ext cx="128016" cy="128016"/>
          </a:xfrm>
          <a:prstGeom prst="ellipse">
            <a:avLst/>
          </a:prstGeom>
          <a:solidFill>
            <a:srgbClr val="1F8A9C"/>
          </a:solidFill>
          <a:ln/>
        </p:spPr>
      </p:sp>
      <p:sp>
        <p:nvSpPr>
          <p:cNvPr id="17" name="Text 14"/>
          <p:cNvSpPr txBox="1"/>
          <p:nvPr/>
        </p:nvSpPr>
        <p:spPr>
          <a:xfrm>
            <a:off x="6144768" y="5093208"/>
            <a:ext cx="5468112" cy="731520"/>
          </a:xfrm>
          <a:prstGeom prst="rect">
            <a:avLst/>
          </a:prstGeom>
          <a:noFill/>
          <a:ln/>
        </p:spPr>
        <p:txBody>
          <a:bodyPr wrap="square" lIns="0" tIns="0" rIns="0" bIns="0" rtlCol="0" anchor="ctr"/>
          <a:lstStyle/>
          <a:p>
            <a:pPr indent="0" marL="0">
              <a:lnSpc>
                <a:spcPts val="1750"/>
              </a:lnSpc>
              <a:buNone/>
            </a:pPr>
            <a:r>
              <a:rPr lang="en-US" sz="1250" dirty="0">
                <a:solidFill>
                  <a:srgbClr val="44515F"/>
                </a:solidFill>
                <a:latin typeface="Calibri" pitchFamily="34" charset="0"/>
                <a:ea typeface="Calibri" pitchFamily="34" charset="-122"/>
                <a:cs typeface="Calibri" pitchFamily="34" charset="-120"/>
              </a:rPr>
              <a:t>Analyze with Python: events, accuracy, HRV, position, ML.</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BIBLIOGRAPHY</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141A26"/>
                </a:solidFill>
                <a:latin typeface="Calibri" pitchFamily="34" charset="0"/>
                <a:ea typeface="Calibri" pitchFamily="34" charset="-122"/>
                <a:cs typeface="Calibri" pitchFamily="34" charset="-120"/>
              </a:rPr>
              <a:t>References</a:t>
            </a:r>
            <a:endParaRPr lang="en-US" sz="3000" dirty="0"/>
          </a:p>
        </p:txBody>
      </p:sp>
      <p:sp>
        <p:nvSpPr>
          <p:cNvPr id="4" name="Text 2"/>
          <p:cNvSpPr txBox="1"/>
          <p:nvPr/>
        </p:nvSpPr>
        <p:spPr>
          <a:xfrm>
            <a:off x="640080" y="2011680"/>
            <a:ext cx="10881360" cy="640080"/>
          </a:xfrm>
          <a:prstGeom prst="rect">
            <a:avLst/>
          </a:prstGeom>
          <a:noFill/>
          <a:ln/>
        </p:spPr>
        <p:txBody>
          <a:bodyPr wrap="square" lIns="0" tIns="0" rIns="0" bIns="0" rtlCol="0" anchor="ctr"/>
          <a:lstStyle/>
          <a:p>
            <a:pPr indent="0" marL="0">
              <a:lnSpc>
                <a:spcPts val="1900"/>
              </a:lnSpc>
              <a:buNone/>
            </a:pPr>
            <a:r>
              <a:rPr lang="en-US" sz="1350" dirty="0">
                <a:solidFill>
                  <a:srgbClr val="44515F"/>
                </a:solidFill>
                <a:latin typeface="Calibri" pitchFamily="34" charset="0"/>
                <a:ea typeface="Calibri" pitchFamily="34" charset="-122"/>
                <a:cs typeface="Calibri" pitchFamily="34" charset="-120"/>
              </a:rPr>
              <a:t>American Academy of Sleep Medicine. (2014). International Classification of Sleep Disorders (3rd ed.).</a:t>
            </a:r>
            <a:endParaRPr lang="en-US" sz="1350" dirty="0"/>
          </a:p>
        </p:txBody>
      </p:sp>
      <p:sp>
        <p:nvSpPr>
          <p:cNvPr id="5" name="Text 3"/>
          <p:cNvSpPr txBox="1"/>
          <p:nvPr/>
        </p:nvSpPr>
        <p:spPr>
          <a:xfrm>
            <a:off x="640080" y="2788920"/>
            <a:ext cx="10881360" cy="640080"/>
          </a:xfrm>
          <a:prstGeom prst="rect">
            <a:avLst/>
          </a:prstGeom>
          <a:noFill/>
          <a:ln/>
        </p:spPr>
        <p:txBody>
          <a:bodyPr wrap="square" lIns="0" tIns="0" rIns="0" bIns="0" rtlCol="0" anchor="ctr"/>
          <a:lstStyle/>
          <a:p>
            <a:pPr indent="0" marL="0">
              <a:lnSpc>
                <a:spcPts val="1900"/>
              </a:lnSpc>
              <a:buNone/>
            </a:pPr>
            <a:r>
              <a:rPr lang="en-US" sz="1350" dirty="0">
                <a:solidFill>
                  <a:srgbClr val="44515F"/>
                </a:solidFill>
                <a:latin typeface="Calibri" pitchFamily="34" charset="0"/>
                <a:ea typeface="Calibri" pitchFamily="34" charset="-122"/>
                <a:cs typeface="Calibri" pitchFamily="34" charset="-120"/>
              </a:rPr>
              <a:t>Berry, R. B., et al. (2012). Rules for scoring respiratory events in sleep. Journal of Clinical Sleep Medicine, 8(5), 597–619.</a:t>
            </a:r>
            <a:endParaRPr lang="en-US" sz="1350" dirty="0"/>
          </a:p>
        </p:txBody>
      </p:sp>
      <p:sp>
        <p:nvSpPr>
          <p:cNvPr id="6" name="Text 4"/>
          <p:cNvSpPr txBox="1"/>
          <p:nvPr/>
        </p:nvSpPr>
        <p:spPr>
          <a:xfrm>
            <a:off x="640080" y="3566160"/>
            <a:ext cx="10881360" cy="640080"/>
          </a:xfrm>
          <a:prstGeom prst="rect">
            <a:avLst/>
          </a:prstGeom>
          <a:noFill/>
          <a:ln/>
        </p:spPr>
        <p:txBody>
          <a:bodyPr wrap="square" lIns="0" tIns="0" rIns="0" bIns="0" rtlCol="0" anchor="ctr"/>
          <a:lstStyle/>
          <a:p>
            <a:pPr indent="0" marL="0">
              <a:lnSpc>
                <a:spcPts val="1900"/>
              </a:lnSpc>
              <a:buNone/>
            </a:pPr>
            <a:r>
              <a:rPr lang="en-US" sz="1350" dirty="0">
                <a:solidFill>
                  <a:srgbClr val="44515F"/>
                </a:solidFill>
                <a:latin typeface="Calibri" pitchFamily="34" charset="0"/>
                <a:ea typeface="Calibri" pitchFamily="34" charset="-122"/>
                <a:cs typeface="Calibri" pitchFamily="34" charset="-120"/>
              </a:rPr>
              <a:t>Bland, J. M., &amp; Altman, D. G. (1986). Statistical methods for assessing agreement between two methods of clinical measurement. The Lancet, 327(8476), 307–310.</a:t>
            </a:r>
            <a:endParaRPr lang="en-US" sz="1350" dirty="0"/>
          </a:p>
        </p:txBody>
      </p:sp>
      <p:sp>
        <p:nvSpPr>
          <p:cNvPr id="7" name="Text 5"/>
          <p:cNvSpPr txBox="1"/>
          <p:nvPr/>
        </p:nvSpPr>
        <p:spPr>
          <a:xfrm>
            <a:off x="640080" y="4343400"/>
            <a:ext cx="10881360" cy="640080"/>
          </a:xfrm>
          <a:prstGeom prst="rect">
            <a:avLst/>
          </a:prstGeom>
          <a:noFill/>
          <a:ln/>
        </p:spPr>
        <p:txBody>
          <a:bodyPr wrap="square" lIns="0" tIns="0" rIns="0" bIns="0" rtlCol="0" anchor="ctr"/>
          <a:lstStyle/>
          <a:p>
            <a:pPr indent="0" marL="0">
              <a:lnSpc>
                <a:spcPts val="1900"/>
              </a:lnSpc>
              <a:buNone/>
            </a:pPr>
            <a:r>
              <a:rPr lang="en-US" sz="1350" dirty="0">
                <a:solidFill>
                  <a:srgbClr val="44515F"/>
                </a:solidFill>
                <a:latin typeface="Calibri" pitchFamily="34" charset="0"/>
                <a:ea typeface="Calibri" pitchFamily="34" charset="-122"/>
                <a:cs typeface="Calibri" pitchFamily="34" charset="-120"/>
              </a:rPr>
              <a:t>Maxim Integrated. (2020). MAX30102 High-Sensitivity Pulse Oximeter and Heart-Rate Sensor — Datasheet.</a:t>
            </a:r>
            <a:endParaRPr lang="en-US" sz="1350" dirty="0"/>
          </a:p>
        </p:txBody>
      </p:sp>
      <p:sp>
        <p:nvSpPr>
          <p:cNvPr id="8" name="Text 6"/>
          <p:cNvSpPr txBox="1"/>
          <p:nvPr/>
        </p:nvSpPr>
        <p:spPr>
          <a:xfrm>
            <a:off x="640080" y="5120640"/>
            <a:ext cx="10881360" cy="640080"/>
          </a:xfrm>
          <a:prstGeom prst="rect">
            <a:avLst/>
          </a:prstGeom>
          <a:noFill/>
          <a:ln/>
        </p:spPr>
        <p:txBody>
          <a:bodyPr wrap="square" lIns="0" tIns="0" rIns="0" bIns="0" rtlCol="0" anchor="ctr"/>
          <a:lstStyle/>
          <a:p>
            <a:pPr indent="0" marL="0">
              <a:lnSpc>
                <a:spcPts val="1900"/>
              </a:lnSpc>
              <a:buNone/>
            </a:pPr>
            <a:r>
              <a:rPr lang="en-US" sz="1350" dirty="0">
                <a:solidFill>
                  <a:srgbClr val="44515F"/>
                </a:solidFill>
                <a:latin typeface="Calibri" pitchFamily="34" charset="0"/>
                <a:ea typeface="Calibri" pitchFamily="34" charset="-122"/>
                <a:cs typeface="Calibri" pitchFamily="34" charset="-120"/>
              </a:rPr>
              <a:t>SparkFun Electronics. MAX3010x Pulse and Proximity Sensor Arduino Library — Documentation.</a:t>
            </a:r>
            <a:endParaRPr lang="en-US" sz="1350" dirty="0"/>
          </a:p>
        </p:txBody>
      </p:sp>
      <p:sp>
        <p:nvSpPr>
          <p:cNvPr id="9" name="Text 7"/>
          <p:cNvSpPr txBox="1"/>
          <p:nvPr/>
        </p:nvSpPr>
        <p:spPr>
          <a:xfrm>
            <a:off x="640080" y="6217920"/>
            <a:ext cx="10881360" cy="274320"/>
          </a:xfrm>
          <a:prstGeom prst="rect">
            <a:avLst/>
          </a:prstGeom>
          <a:noFill/>
          <a:ln/>
        </p:spPr>
        <p:txBody>
          <a:bodyPr wrap="square" lIns="0" tIns="0" rIns="0" bIns="0" rtlCol="0" anchor="ctr"/>
          <a:lstStyle/>
          <a:p>
            <a:pPr indent="0" marL="0">
              <a:buNone/>
            </a:pPr>
            <a:r>
              <a:rPr lang="en-US" sz="1100" i="1" dirty="0">
                <a:solidFill>
                  <a:srgbClr val="6B7889"/>
                </a:solidFill>
                <a:latin typeface="Calibri" pitchFamily="34" charset="0"/>
                <a:ea typeface="Calibri" pitchFamily="34" charset="-122"/>
                <a:cs typeface="Calibri" pitchFamily="34" charset="-120"/>
              </a:rPr>
              <a:t>(Citation style: APA. Replace demo results with your own data before the final submission.)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2026-10-01T20:49:39Z</dcterms:created>
  <dcterms:modified xsi:type="dcterms:W3CDTF">2026-10-01T20:49:39Z</dcterms:modified>
</cp:coreProperties>
</file>