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A26"/>
                </a:solidFill>
                <a:latin typeface="Arial"/>
              </a:defRPr>
            </a:pPr>
            <a:r>
              <a:rPr sz="1400" b="0" i="0" u="none" strike="noStrike">
                <a:solidFill>
                  <a:srgbClr val="141A26"/>
                </a:solidFill>
                <a:latin typeface="Arial"/>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1F8A9C"/>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E4568A"/>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4515F"/>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6EAF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88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Gabriela.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wearable that costs about sixty-five dollars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A small case — a 60 by 35 millimetre Hammond box — rides on a velcro strap and holds the ESP32 processor, battery, charger and a motion sensor. A cable runs to a velcro finger clip with the MAX30102 oxygen sensor.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battery runtime test.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the battery only lasts four to five hours with Bluetooth, so I added a runtime test and use a power bank for full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links 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Wiring table and the internal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hyperlink" Target="https://claude.ai/artifact/7wqAASJ8qWxBBKBuVHAqLt" TargetMode="External"/><Relationship Id="rId5" Type="http://schemas.openxmlformats.org/officeDocument/2006/relationships/hyperlink" Target="https://claude.ai/artifact/7wqAASJ8qWxBBKBuVHAqLt" TargetMode="External"/><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claude.ai/artifact/KCkbwVKfmBhQoC9cxCn7qZ" TargetMode="External"/><Relationship Id="rId5" Type="http://schemas.openxmlformats.org/officeDocument/2006/relationships/hyperlink" Target="https://claude.ai/artifact/KCkbwVKfmBhQoC9cxCn7qZ"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claude.ai/artifact/KCkbwVKfmBhQoC9cxCn7qZ" TargetMode="External"/><Relationship Id="rId4" Type="http://schemas.openxmlformats.org/officeDocument/2006/relationships/hyperlink" Target="https://claude.ai/artifact/7wqAASJ8qWxBBKBuVHAqLt"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canadarobotix.com/products/2594" TargetMode="External"/><Relationship Id="rId2" Type="http://schemas.openxmlformats.org/officeDocument/2006/relationships/hyperlink" Target="https://x2robotics.ca/pulse-oximeter-and-heart-rate-sensor-max30102" TargetMode="External"/><Relationship Id="rId3" Type="http://schemas.openxmlformats.org/officeDocument/2006/relationships/hyperlink" Target="https://www.adafruit.com/product/3886" TargetMode="External"/><Relationship Id="rId4" Type="http://schemas.openxmlformats.org/officeDocument/2006/relationships/hyperlink" Target="https://www.adafruit.com/product/1578" TargetMode="External"/><Relationship Id="rId5" Type="http://schemas.openxmlformats.org/officeDocument/2006/relationships/hyperlink" Target="https://www.amazon.ca/s?k=TP4056+type+c+lithium+charger+module+protection" TargetMode="External"/><Relationship Id="rId6" Type="http://schemas.openxmlformats.org/officeDocument/2006/relationships/hyperlink" Target="https://www.pololu.com/product/2122" TargetMode="External"/><Relationship Id="rId7" Type="http://schemas.openxmlformats.org/officeDocument/2006/relationships/hyperlink" Target="https://www.hammfg.com/electronics/small-case/plastic/1551" TargetMode="External"/><Relationship Id="rId8" Type="http://schemas.openxmlformats.org/officeDocument/2006/relationships/hyperlink" Target="https://www.amazon.ca/s?k=velcro+one-wrap+strap+1+inch" TargetMode="External"/><Relationship Id="rId9" Type="http://schemas.openxmlformats.org/officeDocument/2006/relationships/hyperlink" Target="https://www.amazon.ca/s?k=resistor+kit+100k" TargetMode="External"/><Relationship Id="rId10" Type="http://schemas.openxmlformats.org/officeDocument/2006/relationships/hyperlink" Target="https://www.amazon.ca/s?k=fingertip+pulse+oximeter" TargetMode="External"/><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claude.ai/artifact/4xLvQVUaMqndpLeRDXtp4A"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SCIENCE FAIR · HEALTH AND MEDICAL SCIENCES · EXPERIMENTAL PROJECT</a:t>
            </a:r>
            <a:endParaRPr lang="en-US" sz="1200" dirty="0"/>
          </a:p>
        </p:txBody>
      </p:sp>
      <p:sp>
        <p:nvSpPr>
          <p:cNvPr id="3" name="Text 1"/>
          <p:cNvSpPr txBox="1"/>
          <p:nvPr/>
        </p:nvSpPr>
        <p:spPr>
          <a:xfrm>
            <a:off x="640080" y="1463040"/>
            <a:ext cx="5852160" cy="109728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Night Signal</a:t>
            </a:r>
            <a:endParaRPr lang="en-US" sz="6000" dirty="0"/>
          </a:p>
        </p:txBody>
      </p:sp>
      <p:sp>
        <p:nvSpPr>
          <p:cNvPr id="4" name="Text 2"/>
          <p:cNvSpPr txBox="1"/>
          <p:nvPr/>
        </p:nvSpPr>
        <p:spPr>
          <a:xfrm>
            <a:off x="640080" y="2651760"/>
            <a:ext cx="5394960" cy="1005840"/>
          </a:xfrm>
          <a:prstGeom prst="rect">
            <a:avLst/>
          </a:prstGeom>
          <a:noFill/>
          <a:ln/>
        </p:spPr>
        <p:txBody>
          <a:bodyPr wrap="square" lIns="0" tIns="0" rIns="0" bIns="0" rtlCol="0" anchor="t"/>
          <a:lstStyle/>
          <a:p>
            <a:pPr indent="0" marL="0">
              <a:buNone/>
            </a:pPr>
            <a:r>
              <a:rPr lang="en-US" sz="1900" dirty="0">
                <a:solidFill>
                  <a:srgbClr val="A9B8D2"/>
                </a:solidFill>
                <a:latin typeface="Calibri" pitchFamily="34" charset="0"/>
                <a:ea typeface="Calibri" pitchFamily="34" charset="-122"/>
                <a:cs typeface="Calibri" pitchFamily="34" charset="-120"/>
              </a:rPr>
              <a:t>A low-cost wearable that detects sleep apnea — and screens the heart and breathing too.</a:t>
            </a:r>
            <a:endParaRPr lang="en-US" sz="1900" dirty="0"/>
          </a:p>
        </p:txBody>
      </p:sp>
      <p:sp>
        <p:nvSpPr>
          <p:cNvPr id="5" name="Text 3"/>
          <p:cNvSpPr txBox="1"/>
          <p:nvPr/>
        </p:nvSpPr>
        <p:spPr>
          <a:xfrm>
            <a:off x="640080" y="420624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Gabriela Mamane</a:t>
            </a:r>
            <a:pPr indent="0" marL="0">
              <a:buNone/>
            </a:pPr>
            <a:r>
              <a:rPr lang="en-US" sz="1600" dirty="0">
                <a:solidFill>
                  <a:srgbClr val="A9B8D2"/>
                </a:solidFill>
                <a:latin typeface="Calibri" pitchFamily="34" charset="0"/>
                <a:ea typeface="Calibri" pitchFamily="34" charset="-122"/>
                <a:cs typeface="Calibri" pitchFamily="34" charset="-120"/>
              </a:rPr>
              <a:t>   ·   Grade ___</a:t>
            </a:r>
            <a:endParaRPr lang="en-US" sz="1600" dirty="0"/>
          </a:p>
        </p:txBody>
      </p:sp>
      <p:pic>
        <p:nvPicPr>
          <p:cNvPr id="6" name="Image 0" descr="/home/user/teetomivV2/science-fair/night-signal/slides/assets/3d_assembled.jpg">    </p:cNvPr>
          <p:cNvPicPr>
            <a:picLocks noChangeAspect="1"/>
          </p:cNvPicPr>
          <p:nvPr/>
        </p:nvPicPr>
        <p:blipFill>
          <a:blip r:embed="rId1"/>
          <a:stretch>
            <a:fillRect/>
          </a:stretch>
        </p:blipFill>
        <p:spPr>
          <a:xfrm>
            <a:off x="6172200" y="1143000"/>
            <a:ext cx="5577840" cy="3775500"/>
          </a:xfrm>
          <a:prstGeom prst="rect">
            <a:avLst/>
          </a:prstGeom>
        </p:spPr>
      </p:pic>
      <p:sp>
        <p:nvSpPr>
          <p:cNvPr id="7" name="Text 4"/>
          <p:cNvSpPr txBox="1"/>
          <p:nvPr/>
        </p:nvSpPr>
        <p:spPr>
          <a:xfrm>
            <a:off x="640080" y="6355080"/>
            <a:ext cx="7315200" cy="274320"/>
          </a:xfrm>
          <a:prstGeom prst="rect">
            <a:avLst/>
          </a:prstGeom>
          <a:noFill/>
          <a:ln/>
        </p:spPr>
        <p:txBody>
          <a:bodyPr wrap="square" lIns="0" tIns="0" rIns="0" bIns="0" rtlCol="0" anchor="ctr"/>
          <a:lstStyle/>
          <a:p>
            <a:pPr indent="0" marL="0">
              <a:buNone/>
            </a:pPr>
            <a:r>
              <a:rPr lang="en-US" sz="1100" dirty="0">
                <a:solidFill>
                  <a:srgbClr val="6B7889"/>
                </a:solidFill>
                <a:latin typeface="Calibri" pitchFamily="34" charset="0"/>
                <a:ea typeface="Calibri" pitchFamily="34" charset="-122"/>
                <a:cs typeface="Calibri" pitchFamily="34" charset="-120"/>
              </a:rPr>
              <a:t>Educational prototype — not a medical device.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PURPOSE &amp; HYPOTHESIS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Can a ~$65 wearable catch sleep apnea?</a:t>
            </a:r>
            <a:endParaRPr lang="en-US" sz="3200" dirty="0"/>
          </a:p>
        </p:txBody>
      </p:sp>
      <p:sp>
        <p:nvSpPr>
          <p:cNvPr id="4" name="Shape 2"/>
          <p:cNvSpPr/>
          <p:nvPr/>
        </p:nvSpPr>
        <p:spPr>
          <a:xfrm>
            <a:off x="640080" y="1645920"/>
            <a:ext cx="10881360" cy="1143000"/>
          </a:xfrm>
          <a:prstGeom prst="roundRect">
            <a:avLst>
              <a:gd name="adj" fmla="val 8000"/>
            </a:avLst>
          </a:prstGeom>
          <a:solidFill>
            <a:srgbClr val="F3F5F9"/>
          </a:solidFill>
          <a:ln w="12700">
            <a:solidFill>
              <a:srgbClr val="DBE1EC"/>
            </a:solidFill>
            <a:prstDash val="solid"/>
          </a:ln>
        </p:spPr>
      </p:sp>
      <p:sp>
        <p:nvSpPr>
          <p:cNvPr id="5" name="Text 3"/>
          <p:cNvSpPr txBox="1"/>
          <p:nvPr/>
        </p:nvSpPr>
        <p:spPr>
          <a:xfrm>
            <a:off x="914400" y="1783080"/>
            <a:ext cx="10332720" cy="914400"/>
          </a:xfrm>
          <a:prstGeom prst="rect">
            <a:avLst/>
          </a:prstGeom>
          <a:noFill/>
          <a:ln/>
        </p:spPr>
        <p:txBody>
          <a:bodyPr wrap="square" lIns="0" tIns="0" rIns="0" bIns="0" rtlCol="0" anchor="t"/>
          <a:lstStyle/>
          <a:p>
            <a:pPr indent="0" marL="0">
              <a:buNone/>
            </a:pPr>
            <a:r>
              <a:rPr lang="en-US" sz="1600" b="1" dirty="0">
                <a:solidFill>
                  <a:srgbClr val="1F8A9C"/>
                </a:solidFill>
                <a:latin typeface="Calibri" pitchFamily="34" charset="0"/>
                <a:ea typeface="Calibri" pitchFamily="34" charset="-122"/>
                <a:cs typeface="Calibri" pitchFamily="34" charset="-120"/>
              </a:rPr>
              <a:t>Purpose  </a:t>
            </a:r>
            <a:pPr indent="0" marL="0">
              <a:buNone/>
            </a:pPr>
            <a:r>
              <a:rPr lang="en-US" sz="1600" dirty="0">
                <a:solidFill>
                  <a:srgbClr val="141A26"/>
                </a:solidFill>
                <a:latin typeface="Calibri" pitchFamily="34" charset="0"/>
                <a:ea typeface="Calibri" pitchFamily="34" charset="-122"/>
                <a:cs typeface="Calibri" pitchFamily="34" charset="-120"/>
              </a:rPr>
              <a:t>Find out whether a low-cost wearable can detect the oxygen drops caused by sleep apnea accurately enough to estimate how many events happen per hour — the number doctors use (AHI).</a:t>
            </a:r>
            <a:endParaRPr lang="en-US" sz="1600" dirty="0"/>
          </a:p>
        </p:txBody>
      </p:sp>
      <p:sp>
        <p:nvSpPr>
          <p:cNvPr id="6" name="Text 4"/>
          <p:cNvSpPr txBox="1"/>
          <p:nvPr/>
        </p:nvSpPr>
        <p:spPr>
          <a:xfrm>
            <a:off x="640080" y="3017520"/>
            <a:ext cx="10881360" cy="1097280"/>
          </a:xfrm>
          <a:prstGeom prst="rect">
            <a:avLst/>
          </a:prstGeom>
          <a:noFill/>
          <a:ln/>
        </p:spPr>
        <p:txBody>
          <a:bodyPr wrap="square" lIns="0" tIns="0" rIns="0" bIns="0" rtlCol="0" anchor="t"/>
          <a:lstStyle/>
          <a:p>
            <a:pPr indent="0" marL="0">
              <a:buNone/>
            </a:pPr>
            <a:r>
              <a:rPr lang="en-US" sz="1600" b="1" dirty="0">
                <a:solidFill>
                  <a:srgbClr val="E4568A"/>
                </a:solidFill>
                <a:latin typeface="Calibri" pitchFamily="34" charset="0"/>
                <a:ea typeface="Calibri" pitchFamily="34" charset="-122"/>
                <a:cs typeface="Calibri" pitchFamily="34" charset="-120"/>
              </a:rPr>
              <a:t>Hypothesis  </a:t>
            </a:r>
            <a:pPr indent="0" marL="0">
              <a:buNone/>
            </a:pPr>
            <a:r>
              <a:rPr lang="en-US" sz="1600" dirty="0">
                <a:solidFill>
                  <a:srgbClr val="44515F"/>
                </a:solidFill>
                <a:latin typeface="Calibri" pitchFamily="34" charset="0"/>
                <a:ea typeface="Calibri" pitchFamily="34" charset="-122"/>
                <a:cs typeface="Calibri" pitchFamily="34" charset="-120"/>
              </a:rPr>
              <a:t>If breathing pauses make blood oxygen dip, then a fingertip sensor read once per second will reveal those dips, and software can count them to sort a night into Normal, Mild, Moderate or Severe — because oxygen-rich and oxygen-poor blood absorb red and infrared light differently.</a:t>
            </a:r>
            <a:endParaRPr lang="en-US" sz="1600" dirty="0"/>
          </a:p>
        </p:txBody>
      </p:sp>
      <p:sp>
        <p:nvSpPr>
          <p:cNvPr id="7" name="Shape 5"/>
          <p:cNvSpPr/>
          <p:nvPr/>
        </p:nvSpPr>
        <p:spPr>
          <a:xfrm>
            <a:off x="640080" y="4434840"/>
            <a:ext cx="3502152" cy="1417320"/>
          </a:xfrm>
          <a:prstGeom prst="roundRect">
            <a:avLst>
              <a:gd name="adj" fmla="val 6452"/>
            </a:avLst>
          </a:prstGeom>
          <a:solidFill>
            <a:srgbClr val="FFFFFF"/>
          </a:solidFill>
          <a:ln w="12700">
            <a:solidFill>
              <a:srgbClr val="DBE1EC"/>
            </a:solidFill>
            <a:prstDash val="solid"/>
          </a:ln>
        </p:spPr>
      </p:sp>
      <p:sp>
        <p:nvSpPr>
          <p:cNvPr id="8" name="Text 6"/>
          <p:cNvSpPr txBox="1"/>
          <p:nvPr/>
        </p:nvSpPr>
        <p:spPr>
          <a:xfrm>
            <a:off x="841248" y="4572000"/>
            <a:ext cx="3108960" cy="274320"/>
          </a:xfrm>
          <a:prstGeom prst="rect">
            <a:avLst/>
          </a:prstGeom>
          <a:noFill/>
          <a:ln/>
        </p:spPr>
        <p:txBody>
          <a:bodyPr wrap="square" lIns="0" tIns="0" rIns="0" bIns="0" rtlCol="0" anchor="ctr"/>
          <a:lstStyle/>
          <a:p>
            <a:pPr indent="0" marL="0">
              <a:buNone/>
            </a:pPr>
            <a:r>
              <a:rPr lang="en-US" sz="1100" b="1" spc="200" kern="0" dirty="0">
                <a:solidFill>
                  <a:srgbClr val="E4568A"/>
                </a:solidFill>
                <a:latin typeface="Calibri" pitchFamily="34" charset="0"/>
                <a:ea typeface="Calibri" pitchFamily="34" charset="-122"/>
                <a:cs typeface="Calibri" pitchFamily="34" charset="-120"/>
              </a:rPr>
              <a:t>INDEPENDENT VARIABLES</a:t>
            </a:r>
            <a:endParaRPr lang="en-US" sz="1100" dirty="0"/>
          </a:p>
        </p:txBody>
      </p:sp>
      <p:sp>
        <p:nvSpPr>
          <p:cNvPr id="9" name="Text 7"/>
          <p:cNvSpPr txBox="1"/>
          <p:nvPr/>
        </p:nvSpPr>
        <p:spPr>
          <a:xfrm>
            <a:off x="841248"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Breath-hold length (10 / 15 / 20 s) and sleeping position</a:t>
            </a:r>
            <a:endParaRPr lang="en-US" sz="1400" dirty="0"/>
          </a:p>
        </p:txBody>
      </p:sp>
      <p:sp>
        <p:nvSpPr>
          <p:cNvPr id="10" name="Shape 8"/>
          <p:cNvSpPr/>
          <p:nvPr/>
        </p:nvSpPr>
        <p:spPr>
          <a:xfrm>
            <a:off x="4325112" y="4434840"/>
            <a:ext cx="3502152" cy="1417320"/>
          </a:xfrm>
          <a:prstGeom prst="roundRect">
            <a:avLst>
              <a:gd name="adj" fmla="val 6452"/>
            </a:avLst>
          </a:prstGeom>
          <a:solidFill>
            <a:srgbClr val="FFFFFF"/>
          </a:solidFill>
          <a:ln w="12700">
            <a:solidFill>
              <a:srgbClr val="DBE1EC"/>
            </a:solidFill>
            <a:prstDash val="solid"/>
          </a:ln>
        </p:spPr>
      </p:sp>
      <p:sp>
        <p:nvSpPr>
          <p:cNvPr id="11" name="Text 9"/>
          <p:cNvSpPr txBox="1"/>
          <p:nvPr/>
        </p:nvSpPr>
        <p:spPr>
          <a:xfrm>
            <a:off x="4526280" y="4572000"/>
            <a:ext cx="3108960" cy="274320"/>
          </a:xfrm>
          <a:prstGeom prst="rect">
            <a:avLst/>
          </a:prstGeom>
          <a:noFill/>
          <a:ln/>
        </p:spPr>
        <p:txBody>
          <a:bodyPr wrap="square" lIns="0" tIns="0" rIns="0" bIns="0" rtlCol="0" anchor="ctr"/>
          <a:lstStyle/>
          <a:p>
            <a:pPr indent="0" marL="0">
              <a:buNone/>
            </a:pPr>
            <a:r>
              <a:rPr lang="en-US" sz="1100" b="1" spc="200" kern="0" dirty="0">
                <a:solidFill>
                  <a:srgbClr val="1F8A9C"/>
                </a:solidFill>
                <a:latin typeface="Calibri" pitchFamily="34" charset="0"/>
                <a:ea typeface="Calibri" pitchFamily="34" charset="-122"/>
                <a:cs typeface="Calibri" pitchFamily="34" charset="-120"/>
              </a:rPr>
              <a:t>DEPENDENT VARIABLES</a:t>
            </a:r>
            <a:endParaRPr lang="en-US" sz="1100" dirty="0"/>
          </a:p>
        </p:txBody>
      </p:sp>
      <p:sp>
        <p:nvSpPr>
          <p:cNvPr id="12" name="Text 10"/>
          <p:cNvSpPr txBox="1"/>
          <p:nvPr/>
        </p:nvSpPr>
        <p:spPr>
          <a:xfrm>
            <a:off x="4526280"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Events detected, AHI score, agreement with a reference oximeter</a:t>
            </a:r>
            <a:endParaRPr lang="en-US" sz="1400" dirty="0"/>
          </a:p>
        </p:txBody>
      </p:sp>
      <p:sp>
        <p:nvSpPr>
          <p:cNvPr id="13" name="Shape 11"/>
          <p:cNvSpPr/>
          <p:nvPr/>
        </p:nvSpPr>
        <p:spPr>
          <a:xfrm>
            <a:off x="8010144" y="4434840"/>
            <a:ext cx="3502152" cy="1417320"/>
          </a:xfrm>
          <a:prstGeom prst="roundRect">
            <a:avLst>
              <a:gd name="adj" fmla="val 6452"/>
            </a:avLst>
          </a:prstGeom>
          <a:solidFill>
            <a:srgbClr val="FFFFFF"/>
          </a:solidFill>
          <a:ln w="12700">
            <a:solidFill>
              <a:srgbClr val="DBE1EC"/>
            </a:solidFill>
            <a:prstDash val="solid"/>
          </a:ln>
        </p:spPr>
      </p:sp>
      <p:sp>
        <p:nvSpPr>
          <p:cNvPr id="14" name="Text 12"/>
          <p:cNvSpPr txBox="1"/>
          <p:nvPr/>
        </p:nvSpPr>
        <p:spPr>
          <a:xfrm>
            <a:off x="8211312" y="4572000"/>
            <a:ext cx="3108960" cy="274320"/>
          </a:xfrm>
          <a:prstGeom prst="rect">
            <a:avLst/>
          </a:prstGeom>
          <a:noFill/>
          <a:ln/>
        </p:spPr>
        <p:txBody>
          <a:bodyPr wrap="square" lIns="0" tIns="0" rIns="0" bIns="0" rtlCol="0" anchor="ctr"/>
          <a:lstStyle/>
          <a:p>
            <a:pPr indent="0" marL="0">
              <a:buNone/>
            </a:pPr>
            <a:r>
              <a:rPr lang="en-US" sz="1100" b="1" spc="200" kern="0" dirty="0">
                <a:solidFill>
                  <a:srgbClr val="6B7889"/>
                </a:solidFill>
                <a:latin typeface="Calibri" pitchFamily="34" charset="0"/>
                <a:ea typeface="Calibri" pitchFamily="34" charset="-122"/>
                <a:cs typeface="Calibri" pitchFamily="34" charset="-120"/>
              </a:rPr>
              <a:t>CONTROLS</a:t>
            </a:r>
            <a:endParaRPr lang="en-US" sz="1100" dirty="0"/>
          </a:p>
        </p:txBody>
      </p:sp>
      <p:sp>
        <p:nvSpPr>
          <p:cNvPr id="15" name="Text 13"/>
          <p:cNvSpPr txBox="1"/>
          <p:nvPr/>
        </p:nvSpPr>
        <p:spPr>
          <a:xfrm>
            <a:off x="8211312"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Same finger, cuff tightness, room, firmware and detection settings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SCIENTIFIC BACKGROUND</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Sleep apnea: breathing stops, oxygen drops</a:t>
            </a:r>
            <a:endParaRPr lang="en-US" sz="3200" dirty="0"/>
          </a:p>
        </p:txBody>
      </p:sp>
      <p:sp>
        <p:nvSpPr>
          <p:cNvPr id="4" name="Shape 2"/>
          <p:cNvSpPr/>
          <p:nvPr/>
        </p:nvSpPr>
        <p:spPr>
          <a:xfrm>
            <a:off x="640080" y="1773936"/>
            <a:ext cx="118872" cy="118872"/>
          </a:xfrm>
          <a:prstGeom prst="ellipse">
            <a:avLst/>
          </a:prstGeom>
          <a:solidFill>
            <a:srgbClr val="1F8A9C"/>
          </a:solidFill>
          <a:ln/>
        </p:spPr>
      </p:sp>
      <p:sp>
        <p:nvSpPr>
          <p:cNvPr id="5" name="Text 3"/>
          <p:cNvSpPr txBox="1"/>
          <p:nvPr/>
        </p:nvSpPr>
        <p:spPr>
          <a:xfrm>
            <a:off x="914400" y="167335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Obstructive sleep apnea: the airway collapses during sleep and breathing pauses for 10 seconds or more, many times a night.</a:t>
            </a:r>
            <a:endParaRPr lang="en-US" sz="1500" dirty="0"/>
          </a:p>
        </p:txBody>
      </p:sp>
      <p:sp>
        <p:nvSpPr>
          <p:cNvPr id="6" name="Shape 4"/>
          <p:cNvSpPr/>
          <p:nvPr/>
        </p:nvSpPr>
        <p:spPr>
          <a:xfrm>
            <a:off x="640080" y="2596896"/>
            <a:ext cx="118872" cy="118872"/>
          </a:xfrm>
          <a:prstGeom prst="ellipse">
            <a:avLst/>
          </a:prstGeom>
          <a:solidFill>
            <a:srgbClr val="1F8A9C"/>
          </a:solidFill>
          <a:ln/>
        </p:spPr>
      </p:sp>
      <p:sp>
        <p:nvSpPr>
          <p:cNvPr id="7" name="Text 5"/>
          <p:cNvSpPr txBox="1"/>
          <p:nvPr/>
        </p:nvSpPr>
        <p:spPr>
          <a:xfrm>
            <a:off x="914400" y="249631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Each pause lowers blood oxygen (a desaturation) and makes the heart speed up and slow down.</a:t>
            </a:r>
            <a:endParaRPr lang="en-US" sz="1500" dirty="0"/>
          </a:p>
        </p:txBody>
      </p:sp>
      <p:sp>
        <p:nvSpPr>
          <p:cNvPr id="8" name="Shape 6"/>
          <p:cNvSpPr/>
          <p:nvPr/>
        </p:nvSpPr>
        <p:spPr>
          <a:xfrm>
            <a:off x="640080" y="3419856"/>
            <a:ext cx="118872" cy="118872"/>
          </a:xfrm>
          <a:prstGeom prst="ellipse">
            <a:avLst/>
          </a:prstGeom>
          <a:solidFill>
            <a:srgbClr val="1F8A9C"/>
          </a:solidFill>
          <a:ln/>
        </p:spPr>
      </p:sp>
      <p:sp>
        <p:nvSpPr>
          <p:cNvPr id="9" name="Text 7"/>
          <p:cNvSpPr txBox="1"/>
          <p:nvPr/>
        </p:nvSpPr>
        <p:spPr>
          <a:xfrm>
            <a:off x="914400" y="331927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Pulse oximetry: red (660 nm) and infrared (880 nm) light shine through the fingertip; oxygen-rich blood absorbs them differently, giving SpO₂.</a:t>
            </a:r>
            <a:endParaRPr lang="en-US" sz="1500" dirty="0"/>
          </a:p>
        </p:txBody>
      </p:sp>
      <p:sp>
        <p:nvSpPr>
          <p:cNvPr id="10" name="Shape 8"/>
          <p:cNvSpPr/>
          <p:nvPr/>
        </p:nvSpPr>
        <p:spPr>
          <a:xfrm>
            <a:off x="640080" y="4242816"/>
            <a:ext cx="118872" cy="118872"/>
          </a:xfrm>
          <a:prstGeom prst="ellipse">
            <a:avLst/>
          </a:prstGeom>
          <a:solidFill>
            <a:srgbClr val="1F8A9C"/>
          </a:solidFill>
          <a:ln/>
        </p:spPr>
      </p:sp>
      <p:sp>
        <p:nvSpPr>
          <p:cNvPr id="11" name="Text 9"/>
          <p:cNvSpPr txBox="1"/>
          <p:nvPr/>
        </p:nvSpPr>
        <p:spPr>
          <a:xfrm>
            <a:off x="914400" y="414223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Doctors count events per hour of sleep: the Apnea–Hypopnea Index (AHI). A clinical sleep study costs thousands and needs a lab.</a:t>
            </a:r>
            <a:endParaRPr lang="en-US" sz="1500" dirty="0"/>
          </a:p>
        </p:txBody>
      </p:sp>
      <p:sp>
        <p:nvSpPr>
          <p:cNvPr id="12" name="Shape 10"/>
          <p:cNvSpPr/>
          <p:nvPr/>
        </p:nvSpPr>
        <p:spPr>
          <a:xfrm>
            <a:off x="7680960" y="1645920"/>
            <a:ext cx="3840480" cy="2148840"/>
          </a:xfrm>
          <a:prstGeom prst="roundRect">
            <a:avLst>
              <a:gd name="adj" fmla="val 4255"/>
            </a:avLst>
          </a:prstGeom>
          <a:solidFill>
            <a:srgbClr val="0E1830"/>
          </a:solidFill>
          <a:ln w="12700">
            <a:solidFill>
              <a:srgbClr val="0E1830"/>
            </a:solidFill>
            <a:prstDash val="solid"/>
          </a:ln>
        </p:spPr>
      </p:sp>
      <p:sp>
        <p:nvSpPr>
          <p:cNvPr id="13" name="Text 11"/>
          <p:cNvSpPr txBox="1"/>
          <p:nvPr/>
        </p:nvSpPr>
        <p:spPr>
          <a:xfrm>
            <a:off x="7863840" y="1828800"/>
            <a:ext cx="3566160" cy="685800"/>
          </a:xfrm>
          <a:prstGeom prst="rect">
            <a:avLst/>
          </a:prstGeom>
          <a:noFill/>
          <a:ln/>
        </p:spPr>
        <p:txBody>
          <a:bodyPr wrap="square" lIns="0" tIns="0" rIns="0" bIns="0" rtlCol="0" anchor="ctr"/>
          <a:lstStyle/>
          <a:p>
            <a:pPr indent="0" marL="0">
              <a:buNone/>
            </a:pPr>
            <a:r>
              <a:rPr lang="en-US" sz="4000" b="1" dirty="0">
                <a:solidFill>
                  <a:srgbClr val="3FB8CC"/>
                </a:solidFill>
                <a:latin typeface="Calibri" pitchFamily="34" charset="0"/>
                <a:ea typeface="Calibri" pitchFamily="34" charset="-122"/>
                <a:cs typeface="Calibri" pitchFamily="34" charset="-120"/>
              </a:rPr>
              <a:t>≈ 936 million</a:t>
            </a:r>
            <a:endParaRPr lang="en-US" sz="4000" dirty="0"/>
          </a:p>
        </p:txBody>
      </p:sp>
      <p:sp>
        <p:nvSpPr>
          <p:cNvPr id="14" name="Text 12"/>
          <p:cNvSpPr txBox="1"/>
          <p:nvPr/>
        </p:nvSpPr>
        <p:spPr>
          <a:xfrm>
            <a:off x="7863840" y="2560320"/>
            <a:ext cx="3520440" cy="109728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adults worldwide have obstructive sleep apnea — most don’t know it (Benjafield et al., 2019).</a:t>
            </a:r>
            <a:endParaRPr lang="en-US" sz="1400" dirty="0"/>
          </a:p>
        </p:txBody>
      </p:sp>
      <p:sp>
        <p:nvSpPr>
          <p:cNvPr id="15" name="Shape 13"/>
          <p:cNvSpPr/>
          <p:nvPr/>
        </p:nvSpPr>
        <p:spPr>
          <a:xfrm>
            <a:off x="640080" y="5074920"/>
            <a:ext cx="2560320" cy="1051560"/>
          </a:xfrm>
          <a:prstGeom prst="roundRect">
            <a:avLst>
              <a:gd name="adj" fmla="val 8696"/>
            </a:avLst>
          </a:prstGeom>
          <a:solidFill>
            <a:srgbClr val="F3F5F9"/>
          </a:solidFill>
          <a:ln w="12700">
            <a:solidFill>
              <a:srgbClr val="DBE1EC"/>
            </a:solidFill>
            <a:prstDash val="solid"/>
          </a:ln>
        </p:spPr>
      </p:sp>
      <p:sp>
        <p:nvSpPr>
          <p:cNvPr id="16" name="Text 14"/>
          <p:cNvSpPr txBox="1"/>
          <p:nvPr/>
        </p:nvSpPr>
        <p:spPr>
          <a:xfrm>
            <a:off x="640080" y="5138928"/>
            <a:ext cx="2560320" cy="548640"/>
          </a:xfrm>
          <a:prstGeom prst="rect">
            <a:avLst/>
          </a:prstGeom>
          <a:noFill/>
          <a:ln/>
        </p:spPr>
        <p:txBody>
          <a:bodyPr wrap="square" lIns="0" tIns="0" rIns="0" bIns="0" rtlCol="0" anchor="ctr"/>
          <a:lstStyle/>
          <a:p>
            <a:pPr algn="ctr" indent="0" marL="0">
              <a:buNone/>
            </a:pPr>
            <a:r>
              <a:rPr lang="en-US" sz="2600" b="1" dirty="0">
                <a:solidFill>
                  <a:srgbClr val="2F8F5B"/>
                </a:solidFill>
                <a:latin typeface="Calibri" pitchFamily="34" charset="0"/>
                <a:ea typeface="Calibri" pitchFamily="34" charset="-122"/>
                <a:cs typeface="Calibri" pitchFamily="34" charset="-120"/>
              </a:rPr>
              <a:t>&lt; 5</a:t>
            </a:r>
            <a:endParaRPr lang="en-US" sz="2600" dirty="0"/>
          </a:p>
        </p:txBody>
      </p:sp>
      <p:sp>
        <p:nvSpPr>
          <p:cNvPr id="17" name="Text 15"/>
          <p:cNvSpPr txBox="1"/>
          <p:nvPr/>
        </p:nvSpPr>
        <p:spPr>
          <a:xfrm>
            <a:off x="6400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Normal · events/hour</a:t>
            </a:r>
            <a:endParaRPr lang="en-US" sz="1200" dirty="0"/>
          </a:p>
        </p:txBody>
      </p:sp>
      <p:sp>
        <p:nvSpPr>
          <p:cNvPr id="18" name="Shape 16"/>
          <p:cNvSpPr/>
          <p:nvPr/>
        </p:nvSpPr>
        <p:spPr>
          <a:xfrm>
            <a:off x="3383280" y="5074920"/>
            <a:ext cx="2560320" cy="1051560"/>
          </a:xfrm>
          <a:prstGeom prst="roundRect">
            <a:avLst>
              <a:gd name="adj" fmla="val 8696"/>
            </a:avLst>
          </a:prstGeom>
          <a:solidFill>
            <a:srgbClr val="F3F5F9"/>
          </a:solidFill>
          <a:ln w="12700">
            <a:solidFill>
              <a:srgbClr val="DBE1EC"/>
            </a:solidFill>
            <a:prstDash val="solid"/>
          </a:ln>
        </p:spPr>
      </p:sp>
      <p:sp>
        <p:nvSpPr>
          <p:cNvPr id="19" name="Text 17"/>
          <p:cNvSpPr txBox="1"/>
          <p:nvPr/>
        </p:nvSpPr>
        <p:spPr>
          <a:xfrm>
            <a:off x="3383280" y="5138928"/>
            <a:ext cx="2560320" cy="548640"/>
          </a:xfrm>
          <a:prstGeom prst="rect">
            <a:avLst/>
          </a:prstGeom>
          <a:noFill/>
          <a:ln/>
        </p:spPr>
        <p:txBody>
          <a:bodyPr wrap="square" lIns="0" tIns="0" rIns="0" bIns="0" rtlCol="0" anchor="ctr"/>
          <a:lstStyle/>
          <a:p>
            <a:pPr algn="ctr" indent="0" marL="0">
              <a:buNone/>
            </a:pPr>
            <a:r>
              <a:rPr lang="en-US" sz="2600" b="1" dirty="0">
                <a:solidFill>
                  <a:srgbClr val="C98A1E"/>
                </a:solidFill>
                <a:latin typeface="Calibri" pitchFamily="34" charset="0"/>
                <a:ea typeface="Calibri" pitchFamily="34" charset="-122"/>
                <a:cs typeface="Calibri" pitchFamily="34" charset="-120"/>
              </a:rPr>
              <a:t>5–15</a:t>
            </a:r>
            <a:endParaRPr lang="en-US" sz="2600" dirty="0"/>
          </a:p>
        </p:txBody>
      </p:sp>
      <p:sp>
        <p:nvSpPr>
          <p:cNvPr id="20" name="Text 18"/>
          <p:cNvSpPr txBox="1"/>
          <p:nvPr/>
        </p:nvSpPr>
        <p:spPr>
          <a:xfrm>
            <a:off x="33832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Mild · events/hour</a:t>
            </a:r>
            <a:endParaRPr lang="en-US" sz="1200" dirty="0"/>
          </a:p>
        </p:txBody>
      </p:sp>
      <p:sp>
        <p:nvSpPr>
          <p:cNvPr id="21" name="Shape 19"/>
          <p:cNvSpPr/>
          <p:nvPr/>
        </p:nvSpPr>
        <p:spPr>
          <a:xfrm>
            <a:off x="6126480" y="5074920"/>
            <a:ext cx="2560320" cy="1051560"/>
          </a:xfrm>
          <a:prstGeom prst="roundRect">
            <a:avLst>
              <a:gd name="adj" fmla="val 8696"/>
            </a:avLst>
          </a:prstGeom>
          <a:solidFill>
            <a:srgbClr val="F3F5F9"/>
          </a:solidFill>
          <a:ln w="12700">
            <a:solidFill>
              <a:srgbClr val="DBE1EC"/>
            </a:solidFill>
            <a:prstDash val="solid"/>
          </a:ln>
        </p:spPr>
      </p:sp>
      <p:sp>
        <p:nvSpPr>
          <p:cNvPr id="22" name="Text 20"/>
          <p:cNvSpPr txBox="1"/>
          <p:nvPr/>
        </p:nvSpPr>
        <p:spPr>
          <a:xfrm>
            <a:off x="6126480" y="5138928"/>
            <a:ext cx="2560320" cy="548640"/>
          </a:xfrm>
          <a:prstGeom prst="rect">
            <a:avLst/>
          </a:prstGeom>
          <a:noFill/>
          <a:ln/>
        </p:spPr>
        <p:txBody>
          <a:bodyPr wrap="square" lIns="0" tIns="0" rIns="0" bIns="0" rtlCol="0" anchor="ctr"/>
          <a:lstStyle/>
          <a:p>
            <a:pPr algn="ctr" indent="0" marL="0">
              <a:buNone/>
            </a:pPr>
            <a:r>
              <a:rPr lang="en-US" sz="2600" b="1" dirty="0">
                <a:solidFill>
                  <a:srgbClr val="D9741F"/>
                </a:solidFill>
                <a:latin typeface="Calibri" pitchFamily="34" charset="0"/>
                <a:ea typeface="Calibri" pitchFamily="34" charset="-122"/>
                <a:cs typeface="Calibri" pitchFamily="34" charset="-120"/>
              </a:rPr>
              <a:t>15–30</a:t>
            </a:r>
            <a:endParaRPr lang="en-US" sz="2600" dirty="0"/>
          </a:p>
        </p:txBody>
      </p:sp>
      <p:sp>
        <p:nvSpPr>
          <p:cNvPr id="23" name="Text 21"/>
          <p:cNvSpPr txBox="1"/>
          <p:nvPr/>
        </p:nvSpPr>
        <p:spPr>
          <a:xfrm>
            <a:off x="61264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Moderate · events/hour</a:t>
            </a:r>
            <a:endParaRPr lang="en-US" sz="1200" dirty="0"/>
          </a:p>
        </p:txBody>
      </p:sp>
      <p:sp>
        <p:nvSpPr>
          <p:cNvPr id="24" name="Shape 22"/>
          <p:cNvSpPr/>
          <p:nvPr/>
        </p:nvSpPr>
        <p:spPr>
          <a:xfrm>
            <a:off x="8869680" y="5074920"/>
            <a:ext cx="2560320" cy="1051560"/>
          </a:xfrm>
          <a:prstGeom prst="roundRect">
            <a:avLst>
              <a:gd name="adj" fmla="val 8696"/>
            </a:avLst>
          </a:prstGeom>
          <a:solidFill>
            <a:srgbClr val="F3F5F9"/>
          </a:solidFill>
          <a:ln w="12700">
            <a:solidFill>
              <a:srgbClr val="DBE1EC"/>
            </a:solidFill>
            <a:prstDash val="solid"/>
          </a:ln>
        </p:spPr>
      </p:sp>
      <p:sp>
        <p:nvSpPr>
          <p:cNvPr id="25" name="Text 23"/>
          <p:cNvSpPr txBox="1"/>
          <p:nvPr/>
        </p:nvSpPr>
        <p:spPr>
          <a:xfrm>
            <a:off x="8869680" y="5138928"/>
            <a:ext cx="2560320" cy="548640"/>
          </a:xfrm>
          <a:prstGeom prst="rect">
            <a:avLst/>
          </a:prstGeom>
          <a:noFill/>
          <a:ln/>
        </p:spPr>
        <p:txBody>
          <a:bodyPr wrap="square" lIns="0" tIns="0" rIns="0" bIns="0" rtlCol="0" anchor="ctr"/>
          <a:lstStyle/>
          <a:p>
            <a:pPr algn="ctr" indent="0" marL="0">
              <a:buNone/>
            </a:pPr>
            <a:r>
              <a:rPr lang="en-US" sz="2600" b="1" dirty="0">
                <a:solidFill>
                  <a:srgbClr val="CF4747"/>
                </a:solidFill>
                <a:latin typeface="Calibri" pitchFamily="34" charset="0"/>
                <a:ea typeface="Calibri" pitchFamily="34" charset="-122"/>
                <a:cs typeface="Calibri" pitchFamily="34" charset="-120"/>
              </a:rPr>
              <a:t>&gt; 30</a:t>
            </a:r>
            <a:endParaRPr lang="en-US" sz="2600" dirty="0"/>
          </a:p>
        </p:txBody>
      </p:sp>
      <p:sp>
        <p:nvSpPr>
          <p:cNvPr id="26" name="Text 24"/>
          <p:cNvSpPr txBox="1"/>
          <p:nvPr/>
        </p:nvSpPr>
        <p:spPr>
          <a:xfrm>
            <a:off x="88696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Severe · events/hour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DESIGN PROTOTYPE</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The wearable</a:t>
            </a:r>
            <a:endParaRPr lang="en-US" sz="3200" dirty="0"/>
          </a:p>
        </p:txBody>
      </p:sp>
      <p:pic>
        <p:nvPicPr>
          <p:cNvPr id="4" name="Image 0" descr="/home/user/teetomivV2/science-fair/night-signal/slides/assets/3d_assembled.jpg">    </p:cNvPr>
          <p:cNvPicPr>
            <a:picLocks noChangeAspect="1"/>
          </p:cNvPicPr>
          <p:nvPr/>
        </p:nvPicPr>
        <p:blipFill>
          <a:blip r:embed="rId1"/>
          <a:stretch>
            <a:fillRect/>
          </a:stretch>
        </p:blipFill>
        <p:spPr>
          <a:xfrm>
            <a:off x="640080" y="1600200"/>
            <a:ext cx="5349240" cy="3620767"/>
          </a:xfrm>
          <a:prstGeom prst="rect">
            <a:avLst/>
          </a:prstGeom>
        </p:spPr>
      </p:pic>
      <p:sp>
        <p:nvSpPr>
          <p:cNvPr id="5" name="Text 2"/>
          <p:cNvSpPr txBox="1"/>
          <p:nvPr/>
        </p:nvSpPr>
        <p:spPr>
          <a:xfrm>
            <a:off x="640080" y="5266687"/>
            <a:ext cx="5349240" cy="274320"/>
          </a:xfrm>
          <a:prstGeom prst="rect">
            <a:avLst/>
          </a:prstGeom>
          <a:noFill/>
          <a:ln/>
        </p:spPr>
        <p:txBody>
          <a:bodyPr wrap="square" lIns="0" tIns="0" rIns="0" bIns="0" rtlCol="0" anchor="ctr"/>
          <a:lstStyle/>
          <a:p>
            <a:pPr algn="ctr" indent="0" marL="0">
              <a:buNone/>
            </a:pPr>
            <a:r>
              <a:rPr lang="en-US" sz="1100" i="1" dirty="0">
                <a:solidFill>
                  <a:srgbClr val="A9B8D2"/>
                </a:solidFill>
                <a:latin typeface="Calibri" pitchFamily="34" charset="0"/>
                <a:ea typeface="Calibri" pitchFamily="34" charset="-122"/>
                <a:cs typeface="Calibri" pitchFamily="34" charset="-120"/>
              </a:rPr>
              <a:t>Assembled — case on a velcro strap, cable to the finger clip</a:t>
            </a:r>
            <a:endParaRPr lang="en-US" sz="1100" dirty="0"/>
          </a:p>
        </p:txBody>
      </p:sp>
      <p:pic>
        <p:nvPicPr>
          <p:cNvPr id="6" name="Image 1" descr="/home/user/teetomivV2/science-fair/night-signal/slides/assets/3d_exploded.jpg">    </p:cNvPr>
          <p:cNvPicPr>
            <a:picLocks noChangeAspect="1"/>
          </p:cNvPicPr>
          <p:nvPr/>
        </p:nvPicPr>
        <p:blipFill>
          <a:blip r:embed="rId2"/>
          <a:stretch>
            <a:fillRect/>
          </a:stretch>
        </p:blipFill>
        <p:spPr>
          <a:xfrm>
            <a:off x="6172200" y="1600200"/>
            <a:ext cx="5349240" cy="3620767"/>
          </a:xfrm>
          <a:prstGeom prst="rect">
            <a:avLst/>
          </a:prstGeom>
        </p:spPr>
      </p:pic>
      <p:sp>
        <p:nvSpPr>
          <p:cNvPr id="7" name="Text 3"/>
          <p:cNvSpPr txBox="1"/>
          <p:nvPr/>
        </p:nvSpPr>
        <p:spPr>
          <a:xfrm>
            <a:off x="6172200" y="5266687"/>
            <a:ext cx="5349240" cy="274320"/>
          </a:xfrm>
          <a:prstGeom prst="rect">
            <a:avLst/>
          </a:prstGeom>
          <a:noFill/>
          <a:ln/>
        </p:spPr>
        <p:txBody>
          <a:bodyPr wrap="square" lIns="0" tIns="0" rIns="0" bIns="0" rtlCol="0" anchor="ctr"/>
          <a:lstStyle/>
          <a:p>
            <a:pPr algn="ctr" indent="0" marL="0">
              <a:buNone/>
            </a:pPr>
            <a:r>
              <a:rPr lang="en-US" sz="1100" i="1" dirty="0">
                <a:solidFill>
                  <a:srgbClr val="A9B8D2"/>
                </a:solidFill>
                <a:latin typeface="Calibri" pitchFamily="34" charset="0"/>
                <a:ea typeface="Calibri" pitchFamily="34" charset="-122"/>
                <a:cs typeface="Calibri" pitchFamily="34" charset="-120"/>
              </a:rPr>
              <a:t>Exploded — every part at its real size</a:t>
            </a:r>
            <a:endParaRPr lang="en-US" sz="1100" dirty="0"/>
          </a:p>
        </p:txBody>
      </p:sp>
      <p:sp>
        <p:nvSpPr>
          <p:cNvPr id="8" name="Text 4"/>
          <p:cNvSpPr txBox="1"/>
          <p:nvPr/>
        </p:nvSpPr>
        <p:spPr>
          <a:xfrm>
            <a:off x="64008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60 × 35 × 20 mm</a:t>
            </a:r>
            <a:endParaRPr lang="en-US" sz="2000" dirty="0"/>
          </a:p>
        </p:txBody>
      </p:sp>
      <p:sp>
        <p:nvSpPr>
          <p:cNvPr id="9" name="Text 5"/>
          <p:cNvSpPr txBox="1"/>
          <p:nvPr/>
        </p:nvSpPr>
        <p:spPr>
          <a:xfrm>
            <a:off x="64008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sensor case</a:t>
            </a:r>
            <a:endParaRPr lang="en-US" sz="1200" dirty="0"/>
          </a:p>
        </p:txBody>
      </p:sp>
      <p:sp>
        <p:nvSpPr>
          <p:cNvPr id="10" name="Text 6"/>
          <p:cNvSpPr txBox="1"/>
          <p:nvPr/>
        </p:nvSpPr>
        <p:spPr>
          <a:xfrm>
            <a:off x="297180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25 mm</a:t>
            </a:r>
            <a:endParaRPr lang="en-US" sz="2000" dirty="0"/>
          </a:p>
        </p:txBody>
      </p:sp>
      <p:sp>
        <p:nvSpPr>
          <p:cNvPr id="11" name="Text 7"/>
          <p:cNvSpPr txBox="1"/>
          <p:nvPr/>
        </p:nvSpPr>
        <p:spPr>
          <a:xfrm>
            <a:off x="297180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velcro strap</a:t>
            </a:r>
            <a:endParaRPr lang="en-US" sz="1200" dirty="0"/>
          </a:p>
        </p:txBody>
      </p:sp>
      <p:sp>
        <p:nvSpPr>
          <p:cNvPr id="12" name="Text 8"/>
          <p:cNvSpPr txBox="1"/>
          <p:nvPr/>
        </p:nvSpPr>
        <p:spPr>
          <a:xfrm>
            <a:off x="530352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18 × 14 mm</a:t>
            </a:r>
            <a:endParaRPr lang="en-US" sz="2000" dirty="0"/>
          </a:p>
        </p:txBody>
      </p:sp>
      <p:sp>
        <p:nvSpPr>
          <p:cNvPr id="13" name="Text 9"/>
          <p:cNvSpPr txBox="1"/>
          <p:nvPr/>
        </p:nvSpPr>
        <p:spPr>
          <a:xfrm>
            <a:off x="530352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finger sensor</a:t>
            </a:r>
            <a:endParaRPr lang="en-US" sz="1200" dirty="0"/>
          </a:p>
        </p:txBody>
      </p:sp>
      <p:sp>
        <p:nvSpPr>
          <p:cNvPr id="14" name="Text 10"/>
          <p:cNvSpPr txBox="1"/>
          <p:nvPr/>
        </p:nvSpPr>
        <p:spPr>
          <a:xfrm>
            <a:off x="763524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1 / second</a:t>
            </a:r>
            <a:endParaRPr lang="en-US" sz="2000" dirty="0"/>
          </a:p>
        </p:txBody>
      </p:sp>
      <p:sp>
        <p:nvSpPr>
          <p:cNvPr id="15" name="Text 11"/>
          <p:cNvSpPr txBox="1"/>
          <p:nvPr/>
        </p:nvSpPr>
        <p:spPr>
          <a:xfrm>
            <a:off x="763524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readings</a:t>
            </a:r>
            <a:endParaRPr lang="en-US" sz="1200" dirty="0"/>
          </a:p>
        </p:txBody>
      </p:sp>
      <p:pic>
        <p:nvPicPr>
          <p:cNvPr id="16" name="Image 2" descr="/home/user/teetomivV2/science-fair/night-signal/slides/assets/qr_3d.png">
            <a:hlinkClick r:id="rId4" tooltip="Interactive 3D model"/>
          </p:cNvPr>
          <p:cNvPicPr>
            <a:picLocks noChangeAspect="1"/>
          </p:cNvPicPr>
          <p:nvPr/>
        </p:nvPicPr>
        <p:blipFill>
          <a:blip r:embed="rId3"/>
          <a:stretch>
            <a:fillRect/>
          </a:stretch>
        </p:blipFill>
        <p:spPr>
          <a:xfrm>
            <a:off x="10561320" y="5394960"/>
            <a:ext cx="960120" cy="960120"/>
          </a:xfrm>
          <a:prstGeom prst="rect">
            <a:avLst/>
          </a:prstGeom>
        </p:spPr>
      </p:pic>
      <p:sp>
        <p:nvSpPr>
          <p:cNvPr id="17" name="Text 12"/>
          <p:cNvSpPr txBox="1"/>
          <p:nvPr/>
        </p:nvSpPr>
        <p:spPr>
          <a:xfrm>
            <a:off x="9281160" y="5715000"/>
            <a:ext cx="1234440" cy="292608"/>
          </a:xfrm>
          <a:prstGeom prst="rect">
            <a:avLst/>
          </a:prstGeom>
          <a:noFill/>
          <a:ln/>
        </p:spPr>
        <p:txBody>
          <a:bodyPr wrap="square" lIns="0" tIns="0" rIns="0" bIns="0" rtlCol="0" anchor="ctr"/>
          <a:lstStyle/>
          <a:p>
            <a:pPr indent="0" marL="0">
              <a:buNone/>
            </a:pPr>
            <a:r>
              <a:rPr lang="en-US" sz="1200" u="sng" dirty="0">
                <a:solidFill>
                  <a:srgbClr val="3FB8CC"/>
                </a:solidFill>
                <a:latin typeface="Calibri" pitchFamily="34" charset="0"/>
                <a:ea typeface="Calibri" pitchFamily="34" charset="-122"/>
                <a:cs typeface="Calibri" pitchFamily="34" charset="-120"/>
                <a:hlinkClick r:id="rId5" invalidUrl="" action="" tgtFrame="" tooltip="https://claude.ai/artifact/7wqAASJ8qWxBBKBuVHAqLt" history="1" highlightClick="0" endSnd="0">
                  <a:extLst>
                    <a:ext uri="{A12FA001-AC4F-418D-AE19-62706E023703}">
                      <ahyp:hlinkClr xmlns:ahyp="http://schemas.microsoft.com/office/drawing/2018/hyperlinkcolor" val="tx"/>
                    </a:ext>
                  </a:extLst>
                </a:hlinkClick>
              </a:rPr>
              <a:t>Interactive 3D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PROTOTYPE · HOW IT WORKS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From fingertip to sleep report</a:t>
            </a:r>
            <a:endParaRPr lang="en-US" sz="3200" dirty="0"/>
          </a:p>
        </p:txBody>
      </p:sp>
      <p:sp>
        <p:nvSpPr>
          <p:cNvPr id="4" name="Shape 2"/>
          <p:cNvSpPr/>
          <p:nvPr/>
        </p:nvSpPr>
        <p:spPr>
          <a:xfrm>
            <a:off x="640080" y="1691640"/>
            <a:ext cx="2514600" cy="1234440"/>
          </a:xfrm>
          <a:prstGeom prst="roundRect">
            <a:avLst>
              <a:gd name="adj" fmla="val 7407"/>
            </a:avLst>
          </a:prstGeom>
          <a:solidFill>
            <a:srgbClr val="F3F5F9"/>
          </a:solidFill>
          <a:ln w="12700">
            <a:solidFill>
              <a:srgbClr val="DBE1EC"/>
            </a:solidFill>
            <a:prstDash val="solid"/>
          </a:ln>
        </p:spPr>
      </p:sp>
      <p:sp>
        <p:nvSpPr>
          <p:cNvPr id="5" name="Text 3"/>
          <p:cNvSpPr txBox="1"/>
          <p:nvPr/>
        </p:nvSpPr>
        <p:spPr>
          <a:xfrm>
            <a:off x="77724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Finger sensor</a:t>
            </a:r>
            <a:endParaRPr lang="en-US" sz="1600" dirty="0"/>
          </a:p>
        </p:txBody>
      </p:sp>
      <p:sp>
        <p:nvSpPr>
          <p:cNvPr id="6" name="Text 4"/>
          <p:cNvSpPr txBox="1"/>
          <p:nvPr/>
        </p:nvSpPr>
        <p:spPr>
          <a:xfrm>
            <a:off x="77724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MAX30102 · red + infrared light</a:t>
            </a:r>
            <a:endParaRPr lang="en-US" sz="1200" dirty="0"/>
          </a:p>
        </p:txBody>
      </p:sp>
      <p:sp>
        <p:nvSpPr>
          <p:cNvPr id="7" name="Text 5"/>
          <p:cNvSpPr txBox="1"/>
          <p:nvPr/>
        </p:nvSpPr>
        <p:spPr>
          <a:xfrm>
            <a:off x="315468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8" name="Shape 6"/>
          <p:cNvSpPr/>
          <p:nvPr/>
        </p:nvSpPr>
        <p:spPr>
          <a:xfrm>
            <a:off x="3474720" y="1691640"/>
            <a:ext cx="2514600" cy="1234440"/>
          </a:xfrm>
          <a:prstGeom prst="roundRect">
            <a:avLst>
              <a:gd name="adj" fmla="val 7407"/>
            </a:avLst>
          </a:prstGeom>
          <a:solidFill>
            <a:srgbClr val="F3F5F9"/>
          </a:solidFill>
          <a:ln w="12700">
            <a:solidFill>
              <a:srgbClr val="DBE1EC"/>
            </a:solidFill>
            <a:prstDash val="solid"/>
          </a:ln>
        </p:spPr>
      </p:sp>
      <p:sp>
        <p:nvSpPr>
          <p:cNvPr id="9" name="Text 7"/>
          <p:cNvSpPr txBox="1"/>
          <p:nvPr/>
        </p:nvSpPr>
        <p:spPr>
          <a:xfrm>
            <a:off x="361188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ESP32 in the case</a:t>
            </a:r>
            <a:endParaRPr lang="en-US" sz="1600" dirty="0"/>
          </a:p>
        </p:txBody>
      </p:sp>
      <p:sp>
        <p:nvSpPr>
          <p:cNvPr id="10" name="Text 8"/>
          <p:cNvSpPr txBox="1"/>
          <p:nvPr/>
        </p:nvSpPr>
        <p:spPr>
          <a:xfrm>
            <a:off x="361188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computes SpO₂ + pulse, reads position</a:t>
            </a:r>
            <a:endParaRPr lang="en-US" sz="1200" dirty="0"/>
          </a:p>
        </p:txBody>
      </p:sp>
      <p:sp>
        <p:nvSpPr>
          <p:cNvPr id="11" name="Text 9"/>
          <p:cNvSpPr txBox="1"/>
          <p:nvPr/>
        </p:nvSpPr>
        <p:spPr>
          <a:xfrm>
            <a:off x="598932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12" name="Shape 10"/>
          <p:cNvSpPr/>
          <p:nvPr/>
        </p:nvSpPr>
        <p:spPr>
          <a:xfrm>
            <a:off x="6309360" y="1691640"/>
            <a:ext cx="2514600" cy="1234440"/>
          </a:xfrm>
          <a:prstGeom prst="roundRect">
            <a:avLst>
              <a:gd name="adj" fmla="val 7407"/>
            </a:avLst>
          </a:prstGeom>
          <a:solidFill>
            <a:srgbClr val="F3F5F9"/>
          </a:solidFill>
          <a:ln w="12700">
            <a:solidFill>
              <a:srgbClr val="DBE1EC"/>
            </a:solidFill>
            <a:prstDash val="solid"/>
          </a:ln>
        </p:spPr>
      </p:sp>
      <p:sp>
        <p:nvSpPr>
          <p:cNvPr id="13" name="Text 11"/>
          <p:cNvSpPr txBox="1"/>
          <p:nvPr/>
        </p:nvSpPr>
        <p:spPr>
          <a:xfrm>
            <a:off x="644652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Bluetooth / USB</a:t>
            </a:r>
            <a:endParaRPr lang="en-US" sz="1600" dirty="0"/>
          </a:p>
        </p:txBody>
      </p:sp>
      <p:sp>
        <p:nvSpPr>
          <p:cNvPr id="14" name="Text 12"/>
          <p:cNvSpPr txBox="1"/>
          <p:nvPr/>
        </p:nvSpPr>
        <p:spPr>
          <a:xfrm>
            <a:off x="644652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one line of data every second</a:t>
            </a:r>
            <a:endParaRPr lang="en-US" sz="1200" dirty="0"/>
          </a:p>
        </p:txBody>
      </p:sp>
      <p:sp>
        <p:nvSpPr>
          <p:cNvPr id="15" name="Text 13"/>
          <p:cNvSpPr txBox="1"/>
          <p:nvPr/>
        </p:nvSpPr>
        <p:spPr>
          <a:xfrm>
            <a:off x="882396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16" name="Shape 14"/>
          <p:cNvSpPr/>
          <p:nvPr/>
        </p:nvSpPr>
        <p:spPr>
          <a:xfrm>
            <a:off x="9144000" y="1691640"/>
            <a:ext cx="2514600" cy="1234440"/>
          </a:xfrm>
          <a:prstGeom prst="roundRect">
            <a:avLst>
              <a:gd name="adj" fmla="val 7407"/>
            </a:avLst>
          </a:prstGeom>
          <a:solidFill>
            <a:srgbClr val="F3F5F9"/>
          </a:solidFill>
          <a:ln w="12700">
            <a:solidFill>
              <a:srgbClr val="DBE1EC"/>
            </a:solidFill>
            <a:prstDash val="solid"/>
          </a:ln>
        </p:spPr>
      </p:sp>
      <p:sp>
        <p:nvSpPr>
          <p:cNvPr id="17" name="Text 15"/>
          <p:cNvSpPr txBox="1"/>
          <p:nvPr/>
        </p:nvSpPr>
        <p:spPr>
          <a:xfrm>
            <a:off x="928116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App + analysis</a:t>
            </a:r>
            <a:endParaRPr lang="en-US" sz="1600" dirty="0"/>
          </a:p>
        </p:txBody>
      </p:sp>
      <p:sp>
        <p:nvSpPr>
          <p:cNvPr id="18" name="Text 16"/>
          <p:cNvSpPr txBox="1"/>
          <p:nvPr/>
        </p:nvSpPr>
        <p:spPr>
          <a:xfrm>
            <a:off x="928116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events, AHI, heart, breathing</a:t>
            </a:r>
            <a:endParaRPr lang="en-US" sz="1200" dirty="0"/>
          </a:p>
        </p:txBody>
      </p:sp>
      <p:sp>
        <p:nvSpPr>
          <p:cNvPr id="19" name="Text 17"/>
          <p:cNvSpPr txBox="1"/>
          <p:nvPr/>
        </p:nvSpPr>
        <p:spPr>
          <a:xfrm>
            <a:off x="640080" y="3246120"/>
            <a:ext cx="6400800" cy="365760"/>
          </a:xfrm>
          <a:prstGeom prst="rect">
            <a:avLst/>
          </a:prstGeom>
          <a:noFill/>
          <a:ln/>
        </p:spPr>
        <p:txBody>
          <a:bodyPr wrap="square" lIns="0" tIns="0" rIns="0" bIns="0" rtlCol="0" anchor="ctr"/>
          <a:lstStyle/>
          <a:p>
            <a:pPr indent="0" marL="0">
              <a:buNone/>
            </a:pPr>
            <a:r>
              <a:rPr lang="en-US" sz="1600" b="1" dirty="0">
                <a:solidFill>
                  <a:srgbClr val="141A26"/>
                </a:solidFill>
                <a:latin typeface="Calibri" pitchFamily="34" charset="0"/>
                <a:ea typeface="Calibri" pitchFamily="34" charset="-122"/>
                <a:cs typeface="Calibri" pitchFamily="34" charset="-120"/>
              </a:rPr>
              <a:t>Built-in self-test — proves it’s working before every recording</a:t>
            </a:r>
            <a:endParaRPr lang="en-US" sz="1600" dirty="0"/>
          </a:p>
        </p:txBody>
      </p:sp>
      <p:sp>
        <p:nvSpPr>
          <p:cNvPr id="20" name="Shape 18"/>
          <p:cNvSpPr/>
          <p:nvPr/>
        </p:nvSpPr>
        <p:spPr>
          <a:xfrm>
            <a:off x="640080" y="3657600"/>
            <a:ext cx="6400800" cy="2514600"/>
          </a:xfrm>
          <a:prstGeom prst="roundRect">
            <a:avLst>
              <a:gd name="adj" fmla="val 3636"/>
            </a:avLst>
          </a:prstGeom>
          <a:solidFill>
            <a:srgbClr val="0E1830"/>
          </a:solidFill>
          <a:ln w="12700">
            <a:solidFill>
              <a:srgbClr val="0E1830"/>
            </a:solidFill>
            <a:prstDash val="solid"/>
          </a:ln>
        </p:spPr>
      </p:sp>
      <p:sp>
        <p:nvSpPr>
          <p:cNvPr id="21" name="Text 19"/>
          <p:cNvSpPr txBox="1"/>
          <p:nvPr/>
        </p:nvSpPr>
        <p:spPr>
          <a:xfrm>
            <a:off x="868680" y="3794760"/>
            <a:ext cx="6035040" cy="2286000"/>
          </a:xfrm>
          <a:prstGeom prst="rect">
            <a:avLst/>
          </a:prstGeom>
          <a:noFill/>
          <a:ln/>
        </p:spPr>
        <p:txBody>
          <a:bodyPr wrap="square" lIns="0" tIns="0" rIns="0" bIns="0" rtlCol="0" anchor="t"/>
          <a:lstStyle/>
          <a:p>
            <a:pPr indent="0" marL="0">
              <a:spcAft>
                <a:spcPts val="300"/>
              </a:spcAft>
              <a:buNone/>
            </a:pPr>
            <a:r>
              <a:rPr lang="en-US" sz="1300" dirty="0">
                <a:solidFill>
                  <a:srgbClr val="A9B8D2"/>
                </a:solidFill>
                <a:latin typeface="Courier New" pitchFamily="34" charset="0"/>
                <a:ea typeface="Courier New" pitchFamily="34" charset="-122"/>
                <a:cs typeface="Courier New" pitchFamily="34" charset="-120"/>
              </a:rPr>
              <a:t>$ python check_device.py --port COM5</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Data arriving        1 reading/s</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Self-test            oxygen OK · motion OK</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Finger on sensor     100%</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Believable values    SpO2 97–98%, HR 60–64</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Motion sensor        100% near 1 g</a:t>
            </a:r>
            <a:endParaRPr lang="en-US" sz="1300" dirty="0"/>
          </a:p>
          <a:p>
            <a:pPr indent="0" marL="0">
              <a:spcAft>
                <a:spcPts val="300"/>
              </a:spcAft>
              <a:buNone/>
            </a:pPr>
            <a:r>
              <a:rPr lang="en-US" sz="1300" b="1" dirty="0">
                <a:solidFill>
                  <a:srgbClr val="FFFFFF"/>
                </a:solidFill>
                <a:latin typeface="Courier New" pitchFamily="34" charset="0"/>
                <a:ea typeface="Courier New" pitchFamily="34" charset="-122"/>
                <a:cs typeface="Courier New" pitchFamily="34" charset="-120"/>
              </a:rPr>
              <a:t>RESULT: READY — sending real data</a:t>
            </a:r>
            <a:endParaRPr lang="en-US" sz="1300" dirty="0"/>
          </a:p>
        </p:txBody>
      </p:sp>
      <p:sp>
        <p:nvSpPr>
          <p:cNvPr id="22" name="Shape 20"/>
          <p:cNvSpPr/>
          <p:nvPr/>
        </p:nvSpPr>
        <p:spPr>
          <a:xfrm>
            <a:off x="7406640" y="3785616"/>
            <a:ext cx="118872" cy="118872"/>
          </a:xfrm>
          <a:prstGeom prst="ellipse">
            <a:avLst/>
          </a:prstGeom>
          <a:solidFill>
            <a:srgbClr val="1F8A9C"/>
          </a:solidFill>
          <a:ln/>
        </p:spPr>
      </p:sp>
      <p:sp>
        <p:nvSpPr>
          <p:cNvPr id="23" name="Text 21"/>
          <p:cNvSpPr txBox="1"/>
          <p:nvPr/>
        </p:nvSpPr>
        <p:spPr>
          <a:xfrm>
            <a:off x="7680960" y="3685032"/>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Firmware re-checks both sensors every 30 s and reports it.</a:t>
            </a:r>
            <a:endParaRPr lang="en-US" sz="1400" dirty="0"/>
          </a:p>
        </p:txBody>
      </p:sp>
      <p:sp>
        <p:nvSpPr>
          <p:cNvPr id="24" name="Shape 22"/>
          <p:cNvSpPr/>
          <p:nvPr/>
        </p:nvSpPr>
        <p:spPr>
          <a:xfrm>
            <a:off x="7406640" y="4546397"/>
            <a:ext cx="118872" cy="118872"/>
          </a:xfrm>
          <a:prstGeom prst="ellipse">
            <a:avLst/>
          </a:prstGeom>
          <a:solidFill>
            <a:srgbClr val="1F8A9C"/>
          </a:solidFill>
          <a:ln/>
        </p:spPr>
      </p:sp>
      <p:sp>
        <p:nvSpPr>
          <p:cNvPr id="25" name="Text 23"/>
          <p:cNvSpPr txBox="1"/>
          <p:nvPr/>
        </p:nvSpPr>
        <p:spPr>
          <a:xfrm>
            <a:off x="7680960" y="4445813"/>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No finger → readings are marked invalid, never trusted.</a:t>
            </a:r>
            <a:endParaRPr lang="en-US" sz="1400" dirty="0"/>
          </a:p>
        </p:txBody>
      </p:sp>
      <p:sp>
        <p:nvSpPr>
          <p:cNvPr id="26" name="Shape 24"/>
          <p:cNvSpPr/>
          <p:nvPr/>
        </p:nvSpPr>
        <p:spPr>
          <a:xfrm>
            <a:off x="7406640" y="5307178"/>
            <a:ext cx="118872" cy="118872"/>
          </a:xfrm>
          <a:prstGeom prst="ellipse">
            <a:avLst/>
          </a:prstGeom>
          <a:solidFill>
            <a:srgbClr val="1F8A9C"/>
          </a:solidFill>
          <a:ln/>
        </p:spPr>
      </p:sp>
      <p:sp>
        <p:nvSpPr>
          <p:cNvPr id="27" name="Text 25"/>
          <p:cNvSpPr txBox="1"/>
          <p:nvPr/>
        </p:nvSpPr>
        <p:spPr>
          <a:xfrm>
            <a:off x="7680960" y="5206594"/>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The app shows the same checks live, every second.</a:t>
            </a:r>
            <a:endParaRPr lang="en-US" sz="1400" dirty="0"/>
          </a:p>
        </p:txBody>
      </p:sp>
      <p:sp>
        <p:nvSpPr>
          <p:cNvPr id="28" name="Shape 26"/>
          <p:cNvSpPr/>
          <p:nvPr/>
        </p:nvSpPr>
        <p:spPr>
          <a:xfrm>
            <a:off x="7406640" y="6067958"/>
            <a:ext cx="118872" cy="118872"/>
          </a:xfrm>
          <a:prstGeom prst="ellipse">
            <a:avLst/>
          </a:prstGeom>
          <a:solidFill>
            <a:srgbClr val="1F8A9C"/>
          </a:solidFill>
          <a:ln/>
        </p:spPr>
      </p:sp>
      <p:sp>
        <p:nvSpPr>
          <p:cNvPr id="29" name="Text 27"/>
          <p:cNvSpPr txBox="1"/>
          <p:nvPr/>
        </p:nvSpPr>
        <p:spPr>
          <a:xfrm>
            <a:off x="7680960" y="5967374"/>
            <a:ext cx="3840480" cy="420624"/>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A broken sensor is caught: “NOT READY”.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EXPERIMENTAL PROTOCOL · KEY MANIPULATIONS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How I test it</a:t>
            </a:r>
            <a:endParaRPr lang="en-US" sz="3200" dirty="0"/>
          </a:p>
        </p:txBody>
      </p:sp>
      <p:sp>
        <p:nvSpPr>
          <p:cNvPr id="4" name="Shape 2"/>
          <p:cNvSpPr/>
          <p:nvPr/>
        </p:nvSpPr>
        <p:spPr>
          <a:xfrm>
            <a:off x="640080" y="1737360"/>
            <a:ext cx="502920" cy="502920"/>
          </a:xfrm>
          <a:prstGeom prst="roundRect">
            <a:avLst>
              <a:gd name="adj" fmla="val 18182"/>
            </a:avLst>
          </a:prstGeom>
          <a:solidFill>
            <a:srgbClr val="1F8A9C"/>
          </a:solidFill>
          <a:ln/>
        </p:spPr>
      </p:sp>
      <p:sp>
        <p:nvSpPr>
          <p:cNvPr id="5" name="Text 3"/>
          <p:cNvSpPr txBox="1"/>
          <p:nvPr/>
        </p:nvSpPr>
        <p:spPr>
          <a:xfrm>
            <a:off x="640080"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25880" y="180136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Device check  </a:t>
            </a:r>
            <a:pPr indent="0" marL="0">
              <a:buNone/>
            </a:pPr>
            <a:r>
              <a:rPr lang="en-US" sz="1500" dirty="0">
                <a:solidFill>
                  <a:srgbClr val="44515F"/>
                </a:solidFill>
                <a:latin typeface="Calibri" pitchFamily="34" charset="0"/>
                <a:ea typeface="Calibri" pitchFamily="34" charset="-122"/>
                <a:cs typeface="Calibri" pitchFamily="34" charset="-120"/>
              </a:rPr>
              <a:t>every session must pass check_device.py</a:t>
            </a:r>
            <a:endParaRPr lang="en-US" sz="1500" dirty="0"/>
          </a:p>
        </p:txBody>
      </p:sp>
      <p:sp>
        <p:nvSpPr>
          <p:cNvPr id="7" name="Shape 5"/>
          <p:cNvSpPr/>
          <p:nvPr/>
        </p:nvSpPr>
        <p:spPr>
          <a:xfrm>
            <a:off x="640080" y="2606040"/>
            <a:ext cx="502920" cy="502920"/>
          </a:xfrm>
          <a:prstGeom prst="roundRect">
            <a:avLst>
              <a:gd name="adj" fmla="val 18182"/>
            </a:avLst>
          </a:prstGeom>
          <a:solidFill>
            <a:srgbClr val="1F8A9C"/>
          </a:solidFill>
          <a:ln/>
        </p:spPr>
      </p:sp>
      <p:sp>
        <p:nvSpPr>
          <p:cNvPr id="8" name="Text 6"/>
          <p:cNvSpPr txBox="1"/>
          <p:nvPr/>
        </p:nvSpPr>
        <p:spPr>
          <a:xfrm>
            <a:off x="640080" y="2606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325880" y="267004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Accuracy test  </a:t>
            </a:r>
            <a:pPr indent="0" marL="0">
              <a:buNone/>
            </a:pPr>
            <a:r>
              <a:rPr lang="en-US" sz="1500" dirty="0">
                <a:solidFill>
                  <a:srgbClr val="44515F"/>
                </a:solidFill>
                <a:latin typeface="Calibri" pitchFamily="34" charset="0"/>
                <a:ea typeface="Calibri" pitchFamily="34" charset="-122"/>
                <a:cs typeface="Calibri" pitchFamily="34" charset="-120"/>
              </a:rPr>
              <a:t>awake, side-by-side with a store-bought oximeter every 2 min for 30 min</a:t>
            </a:r>
            <a:endParaRPr lang="en-US" sz="1500" dirty="0"/>
          </a:p>
        </p:txBody>
      </p:sp>
      <p:sp>
        <p:nvSpPr>
          <p:cNvPr id="10" name="Shape 8"/>
          <p:cNvSpPr/>
          <p:nvPr/>
        </p:nvSpPr>
        <p:spPr>
          <a:xfrm>
            <a:off x="640080" y="3474720"/>
            <a:ext cx="502920" cy="502920"/>
          </a:xfrm>
          <a:prstGeom prst="roundRect">
            <a:avLst>
              <a:gd name="adj" fmla="val 18182"/>
            </a:avLst>
          </a:prstGeom>
          <a:solidFill>
            <a:srgbClr val="1F8A9C"/>
          </a:solidFill>
          <a:ln/>
        </p:spPr>
      </p:sp>
      <p:sp>
        <p:nvSpPr>
          <p:cNvPr id="11" name="Text 9"/>
          <p:cNvSpPr txBox="1"/>
          <p:nvPr/>
        </p:nvSpPr>
        <p:spPr>
          <a:xfrm>
            <a:off x="640080" y="3474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325880" y="353872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Detection test  </a:t>
            </a:r>
            <a:pPr indent="0" marL="0">
              <a:buNone/>
            </a:pPr>
            <a:r>
              <a:rPr lang="en-US" sz="1500" dirty="0">
                <a:solidFill>
                  <a:srgbClr val="44515F"/>
                </a:solidFill>
                <a:latin typeface="Calibri" pitchFamily="34" charset="0"/>
                <a:ea typeface="Calibri" pitchFamily="34" charset="-122"/>
                <a:cs typeface="Calibri" pitchFamily="34" charset="-120"/>
              </a:rPr>
              <a:t>supervised, awake breath-holds of 10, 15 and 20 s — known events</a:t>
            </a:r>
            <a:endParaRPr lang="en-US" sz="1500" dirty="0"/>
          </a:p>
        </p:txBody>
      </p:sp>
      <p:sp>
        <p:nvSpPr>
          <p:cNvPr id="13" name="Shape 11"/>
          <p:cNvSpPr/>
          <p:nvPr/>
        </p:nvSpPr>
        <p:spPr>
          <a:xfrm>
            <a:off x="640080" y="4343400"/>
            <a:ext cx="502920" cy="502920"/>
          </a:xfrm>
          <a:prstGeom prst="roundRect">
            <a:avLst>
              <a:gd name="adj" fmla="val 18182"/>
            </a:avLst>
          </a:prstGeom>
          <a:solidFill>
            <a:srgbClr val="1F8A9C"/>
          </a:solidFill>
          <a:ln/>
        </p:spPr>
      </p:sp>
      <p:sp>
        <p:nvSpPr>
          <p:cNvPr id="14" name="Text 12"/>
          <p:cNvSpPr txBox="1"/>
          <p:nvPr/>
        </p:nvSpPr>
        <p:spPr>
          <a:xfrm>
            <a:off x="640080" y="43434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325880" y="440740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Battery runtime test  </a:t>
            </a:r>
            <a:pPr indent="0" marL="0">
              <a:buNone/>
            </a:pPr>
            <a:r>
              <a:rPr lang="en-US" sz="1500" dirty="0">
                <a:solidFill>
                  <a:srgbClr val="44515F"/>
                </a:solidFill>
                <a:latin typeface="Calibri" pitchFamily="34" charset="0"/>
                <a:ea typeface="Calibri" pitchFamily="34" charset="-122"/>
                <a:cs typeface="Calibri" pitchFamily="34" charset="-120"/>
              </a:rPr>
              <a:t>full charge → stream until it stops, 3 times</a:t>
            </a:r>
            <a:endParaRPr lang="en-US" sz="1500" dirty="0"/>
          </a:p>
        </p:txBody>
      </p:sp>
      <p:sp>
        <p:nvSpPr>
          <p:cNvPr id="16" name="Shape 14"/>
          <p:cNvSpPr/>
          <p:nvPr/>
        </p:nvSpPr>
        <p:spPr>
          <a:xfrm>
            <a:off x="640080" y="5212080"/>
            <a:ext cx="502920" cy="502920"/>
          </a:xfrm>
          <a:prstGeom prst="roundRect">
            <a:avLst>
              <a:gd name="adj" fmla="val 18182"/>
            </a:avLst>
          </a:prstGeom>
          <a:solidFill>
            <a:srgbClr val="1F8A9C"/>
          </a:solidFill>
          <a:ln/>
        </p:spPr>
      </p:sp>
      <p:sp>
        <p:nvSpPr>
          <p:cNvPr id="17" name="Text 15"/>
          <p:cNvSpPr txBox="1"/>
          <p:nvPr/>
        </p:nvSpPr>
        <p:spPr>
          <a:xfrm>
            <a:off x="640080" y="52120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325880" y="527608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Recorded nights  </a:t>
            </a:r>
            <a:pPr indent="0" marL="0">
              <a:buNone/>
            </a:pPr>
            <a:r>
              <a:rPr lang="en-US" sz="1500" dirty="0">
                <a:solidFill>
                  <a:srgbClr val="44515F"/>
                </a:solidFill>
                <a:latin typeface="Calibri" pitchFamily="34" charset="0"/>
                <a:ea typeface="Calibri" pitchFamily="34" charset="-122"/>
                <a:cs typeface="Calibri" pitchFamily="34" charset="-120"/>
              </a:rPr>
              <a:t>≥ 5 nights; case on upper arm, clip on index finger</a:t>
            </a:r>
            <a:endParaRPr lang="en-US" sz="1500" dirty="0"/>
          </a:p>
        </p:txBody>
      </p:sp>
      <p:sp>
        <p:nvSpPr>
          <p:cNvPr id="19" name="Shape 17"/>
          <p:cNvSpPr/>
          <p:nvPr/>
        </p:nvSpPr>
        <p:spPr>
          <a:xfrm>
            <a:off x="7955280" y="1691640"/>
            <a:ext cx="3566160" cy="4206240"/>
          </a:xfrm>
          <a:prstGeom prst="roundRect">
            <a:avLst>
              <a:gd name="adj" fmla="val 2564"/>
            </a:avLst>
          </a:prstGeom>
          <a:solidFill>
            <a:srgbClr val="F3F5F9"/>
          </a:solidFill>
          <a:ln w="12700">
            <a:solidFill>
              <a:srgbClr val="DBE1EC"/>
            </a:solidFill>
            <a:prstDash val="solid"/>
          </a:ln>
        </p:spPr>
      </p:sp>
      <p:sp>
        <p:nvSpPr>
          <p:cNvPr id="20" name="Text 18"/>
          <p:cNvSpPr txBox="1"/>
          <p:nvPr/>
        </p:nvSpPr>
        <p:spPr>
          <a:xfrm>
            <a:off x="8183880" y="1874520"/>
            <a:ext cx="3108960" cy="274320"/>
          </a:xfrm>
          <a:prstGeom prst="rect">
            <a:avLst/>
          </a:prstGeom>
          <a:noFill/>
          <a:ln/>
        </p:spPr>
        <p:txBody>
          <a:bodyPr wrap="square" lIns="0" tIns="0" rIns="0" bIns="0" rtlCol="0" anchor="ctr"/>
          <a:lstStyle/>
          <a:p>
            <a:pPr indent="0" marL="0">
              <a:buNone/>
            </a:pPr>
            <a:r>
              <a:rPr lang="en-US" sz="1200" b="1" spc="200" kern="0" dirty="0">
                <a:solidFill>
                  <a:srgbClr val="CF4747"/>
                </a:solidFill>
                <a:latin typeface="Calibri" pitchFamily="34" charset="0"/>
                <a:ea typeface="Calibri" pitchFamily="34" charset="-122"/>
                <a:cs typeface="Calibri" pitchFamily="34" charset="-120"/>
              </a:rPr>
              <a:t>SAFETY</a:t>
            </a:r>
            <a:endParaRPr lang="en-US" sz="1200" dirty="0"/>
          </a:p>
        </p:txBody>
      </p:sp>
      <p:sp>
        <p:nvSpPr>
          <p:cNvPr id="21" name="Shape 19"/>
          <p:cNvSpPr/>
          <p:nvPr/>
        </p:nvSpPr>
        <p:spPr>
          <a:xfrm>
            <a:off x="8183880" y="2368296"/>
            <a:ext cx="118872" cy="118872"/>
          </a:xfrm>
          <a:prstGeom prst="ellipse">
            <a:avLst/>
          </a:prstGeom>
          <a:solidFill>
            <a:srgbClr val="1F8A9C"/>
          </a:solidFill>
          <a:ln/>
        </p:spPr>
      </p:sp>
      <p:sp>
        <p:nvSpPr>
          <p:cNvPr id="22" name="Text 20"/>
          <p:cNvSpPr txBox="1"/>
          <p:nvPr/>
        </p:nvSpPr>
        <p:spPr>
          <a:xfrm>
            <a:off x="8458200" y="2267712"/>
            <a:ext cx="2926080" cy="749808"/>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Breath-holds only while awake and supervised — never asleep</a:t>
            </a:r>
            <a:endParaRPr lang="en-US" sz="1400" dirty="0"/>
          </a:p>
        </p:txBody>
      </p:sp>
      <p:sp>
        <p:nvSpPr>
          <p:cNvPr id="23" name="Shape 21"/>
          <p:cNvSpPr/>
          <p:nvPr/>
        </p:nvSpPr>
        <p:spPr>
          <a:xfrm>
            <a:off x="8183880" y="3147365"/>
            <a:ext cx="118872" cy="118872"/>
          </a:xfrm>
          <a:prstGeom prst="ellipse">
            <a:avLst/>
          </a:prstGeom>
          <a:solidFill>
            <a:srgbClr val="1F8A9C"/>
          </a:solidFill>
          <a:ln/>
        </p:spPr>
      </p:sp>
      <p:sp>
        <p:nvSpPr>
          <p:cNvPr id="24" name="Text 22"/>
          <p:cNvSpPr txBox="1"/>
          <p:nvPr/>
        </p:nvSpPr>
        <p:spPr>
          <a:xfrm>
            <a:off x="8458200" y="3046781"/>
            <a:ext cx="2926080" cy="420624"/>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Stop at any dizziness</a:t>
            </a:r>
            <a:endParaRPr lang="en-US" sz="1400" dirty="0"/>
          </a:p>
        </p:txBody>
      </p:sp>
      <p:sp>
        <p:nvSpPr>
          <p:cNvPr id="25" name="Shape 23"/>
          <p:cNvSpPr/>
          <p:nvPr/>
        </p:nvSpPr>
        <p:spPr>
          <a:xfrm>
            <a:off x="8183880" y="3619195"/>
            <a:ext cx="118872" cy="118872"/>
          </a:xfrm>
          <a:prstGeom prst="ellipse">
            <a:avLst/>
          </a:prstGeom>
          <a:solidFill>
            <a:srgbClr val="1F8A9C"/>
          </a:solidFill>
          <a:ln/>
        </p:spPr>
      </p:sp>
      <p:sp>
        <p:nvSpPr>
          <p:cNvPr id="26" name="Text 24"/>
          <p:cNvSpPr txBox="1"/>
          <p:nvPr/>
        </p:nvSpPr>
        <p:spPr>
          <a:xfrm>
            <a:off x="8458200" y="3518611"/>
            <a:ext cx="2926080" cy="420624"/>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Parent/guardian consent</a:t>
            </a:r>
            <a:endParaRPr lang="en-US" sz="1400" dirty="0"/>
          </a:p>
        </p:txBody>
      </p:sp>
      <p:sp>
        <p:nvSpPr>
          <p:cNvPr id="27" name="Shape 25"/>
          <p:cNvSpPr/>
          <p:nvPr/>
        </p:nvSpPr>
        <p:spPr>
          <a:xfrm>
            <a:off x="8183880" y="4091026"/>
            <a:ext cx="118872" cy="118872"/>
          </a:xfrm>
          <a:prstGeom prst="ellipse">
            <a:avLst/>
          </a:prstGeom>
          <a:solidFill>
            <a:srgbClr val="1F8A9C"/>
          </a:solidFill>
          <a:ln/>
        </p:spPr>
      </p:sp>
      <p:sp>
        <p:nvSpPr>
          <p:cNvPr id="28" name="Text 26"/>
          <p:cNvSpPr txBox="1"/>
          <p:nvPr/>
        </p:nvSpPr>
        <p:spPr>
          <a:xfrm>
            <a:off x="8458200" y="3990442"/>
            <a:ext cx="2926080" cy="749808"/>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Ethics committee form (human subject) submitted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PROTOTYPE · THE APP</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The companion app measures real data</a:t>
            </a:r>
            <a:endParaRPr lang="en-US" sz="3200" dirty="0"/>
          </a:p>
        </p:txBody>
      </p:sp>
      <p:sp>
        <p:nvSpPr>
          <p:cNvPr id="4" name="Shape 2"/>
          <p:cNvSpPr/>
          <p:nvPr/>
        </p:nvSpPr>
        <p:spPr>
          <a:xfrm>
            <a:off x="685800" y="1508760"/>
            <a:ext cx="2514600" cy="4965895"/>
          </a:xfrm>
          <a:prstGeom prst="roundRect">
            <a:avLst>
              <a:gd name="adj" fmla="val 3636"/>
            </a:avLst>
          </a:prstGeom>
          <a:solidFill>
            <a:srgbClr val="0E1830"/>
          </a:solidFill>
          <a:ln w="12700">
            <a:solidFill>
              <a:srgbClr val="18233F"/>
            </a:solidFill>
            <a:prstDash val="solid"/>
          </a:ln>
        </p:spPr>
      </p:sp>
      <p:pic>
        <p:nvPicPr>
          <p:cNvPr id="5" name="Image 0" descr="/home/user/teetomivV2/science-fair/night-signal/slides/assets/phone_sleep.png">    </p:cNvPr>
          <p:cNvPicPr>
            <a:picLocks noChangeAspect="1"/>
          </p:cNvPicPr>
          <p:nvPr/>
        </p:nvPicPr>
        <p:blipFill>
          <a:blip r:embed="rId1"/>
          <a:stretch>
            <a:fillRect/>
          </a:stretch>
        </p:blipFill>
        <p:spPr>
          <a:xfrm>
            <a:off x="777240" y="1600200"/>
            <a:ext cx="2331720" cy="4783015"/>
          </a:xfrm>
          <a:prstGeom prst="rect">
            <a:avLst/>
          </a:prstGeom>
        </p:spPr>
      </p:pic>
      <p:sp>
        <p:nvSpPr>
          <p:cNvPr id="6" name="Shape 3"/>
          <p:cNvSpPr/>
          <p:nvPr/>
        </p:nvSpPr>
        <p:spPr>
          <a:xfrm>
            <a:off x="3337560" y="1508760"/>
            <a:ext cx="2514600" cy="4965895"/>
          </a:xfrm>
          <a:prstGeom prst="roundRect">
            <a:avLst>
              <a:gd name="adj" fmla="val 3636"/>
            </a:avLst>
          </a:prstGeom>
          <a:solidFill>
            <a:srgbClr val="0E1830"/>
          </a:solidFill>
          <a:ln w="12700">
            <a:solidFill>
              <a:srgbClr val="18233F"/>
            </a:solidFill>
            <a:prstDash val="solid"/>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600200"/>
            <a:ext cx="2331720" cy="4783015"/>
          </a:xfrm>
          <a:prstGeom prst="rect">
            <a:avLst/>
          </a:prstGeom>
        </p:spPr>
      </p:pic>
      <p:sp>
        <p:nvSpPr>
          <p:cNvPr id="8" name="Text 4"/>
          <p:cNvSpPr txBox="1"/>
          <p:nvPr/>
        </p:nvSpPr>
        <p:spPr>
          <a:xfrm>
            <a:off x="777240" y="6520375"/>
            <a:ext cx="23317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Sleep report</a:t>
            </a:r>
            <a:endParaRPr lang="en-US" sz="1100" dirty="0"/>
          </a:p>
        </p:txBody>
      </p:sp>
      <p:sp>
        <p:nvSpPr>
          <p:cNvPr id="9" name="Text 5"/>
          <p:cNvSpPr txBox="1"/>
          <p:nvPr/>
        </p:nvSpPr>
        <p:spPr>
          <a:xfrm>
            <a:off x="3429000" y="6520375"/>
            <a:ext cx="23317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Live + device health</a:t>
            </a:r>
            <a:endParaRPr lang="en-US" sz="1100" dirty="0"/>
          </a:p>
        </p:txBody>
      </p:sp>
      <p:sp>
        <p:nvSpPr>
          <p:cNvPr id="10" name="Shape 6"/>
          <p:cNvSpPr/>
          <p:nvPr/>
        </p:nvSpPr>
        <p:spPr>
          <a:xfrm>
            <a:off x="6263640" y="1819656"/>
            <a:ext cx="118872" cy="118872"/>
          </a:xfrm>
          <a:prstGeom prst="ellipse">
            <a:avLst/>
          </a:prstGeom>
          <a:solidFill>
            <a:srgbClr val="1F8A9C"/>
          </a:solidFill>
          <a:ln/>
        </p:spPr>
      </p:sp>
      <p:sp>
        <p:nvSpPr>
          <p:cNvPr id="11" name="Text 7"/>
          <p:cNvSpPr txBox="1"/>
          <p:nvPr/>
        </p:nvSpPr>
        <p:spPr>
          <a:xfrm>
            <a:off x="6537960" y="1719072"/>
            <a:ext cx="4983480" cy="1078992"/>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Live tab connects straight to the wearable (USB or Bluetooth) and shows oxygen, heart rate and position every second.</a:t>
            </a:r>
            <a:endParaRPr lang="en-US" sz="1500" dirty="0"/>
          </a:p>
        </p:txBody>
      </p:sp>
      <p:sp>
        <p:nvSpPr>
          <p:cNvPr id="12" name="Shape 8"/>
          <p:cNvSpPr/>
          <p:nvPr/>
        </p:nvSpPr>
        <p:spPr>
          <a:xfrm>
            <a:off x="6263640" y="2990088"/>
            <a:ext cx="118872" cy="118872"/>
          </a:xfrm>
          <a:prstGeom prst="ellipse">
            <a:avLst/>
          </a:prstGeom>
          <a:solidFill>
            <a:srgbClr val="1F8A9C"/>
          </a:solidFill>
          <a:ln/>
        </p:spPr>
      </p:sp>
      <p:sp>
        <p:nvSpPr>
          <p:cNvPr id="13" name="Text 9"/>
          <p:cNvSpPr txBox="1"/>
          <p:nvPr/>
        </p:nvSpPr>
        <p:spPr>
          <a:xfrm>
            <a:off x="6537960" y="2889504"/>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Device health checks run continuously — data flowing, self-test, finger on, battery.</a:t>
            </a:r>
            <a:endParaRPr lang="en-US" sz="1500" dirty="0"/>
          </a:p>
        </p:txBody>
      </p:sp>
      <p:sp>
        <p:nvSpPr>
          <p:cNvPr id="14" name="Shape 10"/>
          <p:cNvSpPr/>
          <p:nvPr/>
        </p:nvSpPr>
        <p:spPr>
          <a:xfrm>
            <a:off x="6263640" y="3831336"/>
            <a:ext cx="118872" cy="118872"/>
          </a:xfrm>
          <a:prstGeom prst="ellipse">
            <a:avLst/>
          </a:prstGeom>
          <a:solidFill>
            <a:srgbClr val="1F8A9C"/>
          </a:solidFill>
          <a:ln/>
        </p:spPr>
      </p:sp>
      <p:sp>
        <p:nvSpPr>
          <p:cNvPr id="15" name="Text 11"/>
          <p:cNvSpPr txBox="1"/>
          <p:nvPr/>
        </p:nvSpPr>
        <p:spPr>
          <a:xfrm>
            <a:off x="6537960" y="3730752"/>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Save a session → the same CSV the analysis uses, so every number is traceable.</a:t>
            </a:r>
            <a:endParaRPr lang="en-US" sz="1500" dirty="0"/>
          </a:p>
        </p:txBody>
      </p:sp>
      <p:sp>
        <p:nvSpPr>
          <p:cNvPr id="16" name="Shape 12"/>
          <p:cNvSpPr/>
          <p:nvPr/>
        </p:nvSpPr>
        <p:spPr>
          <a:xfrm>
            <a:off x="6263640" y="4672584"/>
            <a:ext cx="118872" cy="118872"/>
          </a:xfrm>
          <a:prstGeom prst="ellipse">
            <a:avLst/>
          </a:prstGeom>
          <a:solidFill>
            <a:srgbClr val="1F8A9C"/>
          </a:solidFill>
          <a:ln/>
        </p:spPr>
      </p:sp>
      <p:sp>
        <p:nvSpPr>
          <p:cNvPr id="17" name="Text 13"/>
          <p:cNvSpPr txBox="1"/>
          <p:nvPr/>
        </p:nvSpPr>
        <p:spPr>
          <a:xfrm>
            <a:off x="6537960" y="4572000"/>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Heart, Asthma and Progress tabs for the spin-offs and my build log.</a:t>
            </a:r>
            <a:endParaRPr lang="en-US" sz="1500" dirty="0"/>
          </a:p>
        </p:txBody>
      </p:sp>
      <p:pic>
        <p:nvPicPr>
          <p:cNvPr id="18" name="Image 2" descr="/home/user/teetomivV2/science-fair/night-signal/slides/assets/qr_app.png">
            <a:hlinkClick r:id="rId4" tooltip="Open the app"/>
          </p:cNvPr>
          <p:cNvPicPr>
            <a:picLocks noChangeAspect="1"/>
          </p:cNvPicPr>
          <p:nvPr/>
        </p:nvPicPr>
        <p:blipFill>
          <a:blip r:embed="rId3"/>
          <a:stretch>
            <a:fillRect/>
          </a:stretch>
        </p:blipFill>
        <p:spPr>
          <a:xfrm>
            <a:off x="6355080" y="5074920"/>
            <a:ext cx="1051560" cy="1051560"/>
          </a:xfrm>
          <a:prstGeom prst="rect">
            <a:avLst/>
          </a:prstGeom>
        </p:spPr>
      </p:pic>
      <p:sp>
        <p:nvSpPr>
          <p:cNvPr id="19" name="Text 14"/>
          <p:cNvSpPr txBox="1"/>
          <p:nvPr/>
        </p:nvSpPr>
        <p:spPr>
          <a:xfrm>
            <a:off x="7589520" y="5349240"/>
            <a:ext cx="2743200" cy="292608"/>
          </a:xfrm>
          <a:prstGeom prst="rect">
            <a:avLst/>
          </a:prstGeom>
          <a:noFill/>
          <a:ln/>
        </p:spPr>
        <p:txBody>
          <a:bodyPr wrap="square" lIns="0" tIns="0" rIns="0" bIns="0" rtlCol="0" anchor="ctr"/>
          <a:lstStyle/>
          <a:p>
            <a:pPr indent="0" marL="0">
              <a:buNone/>
            </a:pPr>
            <a:r>
              <a:rPr lang="en-US" sz="1500" u="sng" dirty="0">
                <a:solidFill>
                  <a:srgbClr val="1F8A9C"/>
                </a:solidFill>
                <a:latin typeface="Calibri" pitchFamily="34" charset="0"/>
                <a:ea typeface="Calibri" pitchFamily="34" charset="-122"/>
                <a:cs typeface="Calibri" pitchFamily="34" charset="-120"/>
                <a:hlinkClick r:id="rId5" invalidUrl="" action="" tgtFrame="" tooltip="https://claude.ai/artifact/KCkbwVKfmBhQoC9cxCn7qZ" history="1" highlightClick="0" endSnd="0">
                  <a:extLst>
                    <a:ext uri="{A12FA001-AC4F-418D-AE19-62706E023703}">
                      <ahyp:hlinkClr xmlns:ahyp="http://schemas.microsoft.com/office/drawing/2018/hyperlinkcolor" val="tx"/>
                    </a:ext>
                  </a:extLst>
                </a:hlinkClick>
              </a:rPr>
              <a:t>Open the app →</a:t>
            </a:r>
            <a:endParaRPr lang="en-US" sz="1500" dirty="0"/>
          </a:p>
        </p:txBody>
      </p:sp>
      <p:sp>
        <p:nvSpPr>
          <p:cNvPr id="20" name="Text 15"/>
          <p:cNvSpPr txBox="1"/>
          <p:nvPr/>
        </p:nvSpPr>
        <p:spPr>
          <a:xfrm>
            <a:off x="7589520" y="5669280"/>
            <a:ext cx="3657600" cy="274320"/>
          </a:xfrm>
          <a:prstGeom prst="rect">
            <a:avLst/>
          </a:prstGeom>
          <a:noFill/>
          <a:ln/>
        </p:spPr>
        <p:txBody>
          <a:bodyPr wrap="square" lIns="0" tIns="0" rIns="0" bIns="0" rtlCol="0" anchor="ctr"/>
          <a:lstStyle/>
          <a:p>
            <a:pPr indent="0" marL="0">
              <a:buNone/>
            </a:pPr>
            <a:r>
              <a:rPr lang="en-US" sz="1200" dirty="0">
                <a:solidFill>
                  <a:srgbClr val="6B7889"/>
                </a:solidFill>
                <a:latin typeface="Calibri" pitchFamily="34" charset="0"/>
                <a:ea typeface="Calibri" pitchFamily="34" charset="-122"/>
                <a:cs typeface="Calibri" pitchFamily="34" charset="-120"/>
              </a:rPr>
              <a:t>Scan to try it (demo device built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SUMMARY</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What one night showed</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3108960"/>
                <a:gridCol w="3931920"/>
                <a:gridCol w="384048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Recording</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7.0 h · 25,200 readings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 full night captured</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Apnea events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19  →  AHI 2.7 / hour</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Normal range (&lt; 5)</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Blood oxygen (avg / lowest)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97.5 % / 84 %</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lowest point during an event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Accuracy vs reference</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 0.56 %  (r = 0.88)</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210 paired readings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Events caught: rule / ML</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63 % / 63 %</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precision 1.00 / 0.92</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Sleep position</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back 3.8 / h  vs  sides 1.1–1.3 / h</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 3 × more events on the back</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Spin-offs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3 heart episodes · breathing 13 → 22 / min</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patterns flagged correctly</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7" name="Text 4"/>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6B7889"/>
                </a:solidFill>
                <a:latin typeface="Calibri" pitchFamily="34" charset="0"/>
                <a:ea typeface="Calibri" pitchFamily="34" charset="-122"/>
                <a:cs typeface="Calibri" pitchFamily="34" charset="-120"/>
              </a:rPr>
              <a:t>Example data from my simulator — replaced with my own recorded nights before the final submission.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DETECTION AND ACCURACY</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Every dip found, and the readings agree</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oxygen.png">    </p:cNvPr>
          <p:cNvPicPr>
            <a:picLocks noChangeAspect="1"/>
          </p:cNvPicPr>
          <p:nvPr/>
        </p:nvPicPr>
        <p:blipFill>
          <a:blip r:embed="rId1"/>
          <a:stretch>
            <a:fillRect/>
          </a:stretch>
        </p:blipFill>
        <p:spPr>
          <a:xfrm>
            <a:off x="640080" y="1691640"/>
            <a:ext cx="6355080" cy="2912745"/>
          </a:xfrm>
          <a:prstGeom prst="rect">
            <a:avLst/>
          </a:prstGeom>
        </p:spPr>
      </p:pic>
      <p:sp>
        <p:nvSpPr>
          <p:cNvPr id="7" name="Text 4"/>
          <p:cNvSpPr txBox="1"/>
          <p:nvPr/>
        </p:nvSpPr>
        <p:spPr>
          <a:xfrm>
            <a:off x="640080" y="4677537"/>
            <a:ext cx="635508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One night: each red band is an apnea event found automatically</a:t>
            </a:r>
            <a:endParaRPr lang="en-US" sz="1100" dirty="0"/>
          </a:p>
        </p:txBody>
      </p:sp>
      <p:pic>
        <p:nvPicPr>
          <p:cNvPr id="8" name="Image 1" descr="/home/user/teetomivV2/science-fair/night-signal/slides/assets/validation.png">    </p:cNvPr>
          <p:cNvPicPr>
            <a:picLocks noChangeAspect="1"/>
          </p:cNvPicPr>
          <p:nvPr/>
        </p:nvPicPr>
        <p:blipFill>
          <a:blip r:embed="rId2"/>
          <a:stretch>
            <a:fillRect/>
          </a:stretch>
        </p:blipFill>
        <p:spPr>
          <a:xfrm>
            <a:off x="7223760" y="1691640"/>
            <a:ext cx="4297680" cy="2626360"/>
          </a:xfrm>
          <a:prstGeom prst="rect">
            <a:avLst/>
          </a:prstGeom>
        </p:spPr>
      </p:pic>
      <p:sp>
        <p:nvSpPr>
          <p:cNvPr id="9" name="Text 5"/>
          <p:cNvSpPr txBox="1"/>
          <p:nvPr/>
        </p:nvSpPr>
        <p:spPr>
          <a:xfrm>
            <a:off x="7223760" y="4391152"/>
            <a:ext cx="429768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Bland–Altman: 95% of readings within −1.5 to +1.7 %</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SLEEP POSITION AND MACHINE LEARNING</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Back-sleeping and two detectors</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position.png">    </p:cNvPr>
          <p:cNvPicPr>
            <a:picLocks noChangeAspect="1"/>
          </p:cNvPicPr>
          <p:nvPr/>
        </p:nvPicPr>
        <p:blipFill>
          <a:blip r:embed="rId1"/>
          <a:stretch>
            <a:fillRect/>
          </a:stretch>
        </p:blipFill>
        <p:spPr>
          <a:xfrm>
            <a:off x="640080" y="1691640"/>
            <a:ext cx="5303520" cy="3314700"/>
          </a:xfrm>
          <a:prstGeom prst="rect">
            <a:avLst/>
          </a:prstGeom>
        </p:spPr>
      </p:pic>
      <p:sp>
        <p:nvSpPr>
          <p:cNvPr id="7" name="Text 4"/>
          <p:cNvSpPr txBox="1"/>
          <p:nvPr/>
        </p:nvSpPr>
        <p:spPr>
          <a:xfrm>
            <a:off x="640080" y="5052060"/>
            <a:ext cx="53035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Apnea events per hour by position</a:t>
            </a:r>
            <a:endParaRPr lang="en-US" sz="1100" dirty="0"/>
          </a:p>
        </p:txBody>
      </p:sp>
      <p:graphicFrame>
        <p:nvGraphicFramePr>
          <p:cNvPr id="8" name="Chart 0" descr=""/>
          <p:cNvGraphicFramePr/>
          <p:nvPr/>
        </p:nvGraphicFramePr>
        <p:xfrm>
          <a:off x="6309360" y="1691640"/>
          <a:ext cx="5212080"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MAIN ANALYSIS · INTERPRETATION</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the results mean</a:t>
            </a:r>
            <a:endParaRPr lang="en-US" sz="3200" dirty="0"/>
          </a:p>
        </p:txBody>
      </p:sp>
      <p:sp>
        <p:nvSpPr>
          <p:cNvPr id="4" name="Shape 2"/>
          <p:cNvSpPr/>
          <p:nvPr/>
        </p:nvSpPr>
        <p:spPr>
          <a:xfrm>
            <a:off x="640080" y="1691640"/>
            <a:ext cx="5349240" cy="2011680"/>
          </a:xfrm>
          <a:prstGeom prst="roundRect">
            <a:avLst>
              <a:gd name="adj" fmla="val 4545"/>
            </a:avLst>
          </a:prstGeom>
          <a:solidFill>
            <a:srgbClr val="18233F"/>
          </a:solidFill>
          <a:ln w="12700">
            <a:solidFill>
              <a:srgbClr val="2C3D60"/>
            </a:solidFill>
            <a:prstDash val="solid"/>
          </a:ln>
        </p:spPr>
      </p:sp>
      <p:sp>
        <p:nvSpPr>
          <p:cNvPr id="5" name="Text 3"/>
          <p:cNvSpPr txBox="1"/>
          <p:nvPr/>
        </p:nvSpPr>
        <p:spPr>
          <a:xfrm>
            <a:off x="914400" y="189280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Accurate enough to trust</a:t>
            </a:r>
            <a:endParaRPr lang="en-US" sz="1800" dirty="0"/>
          </a:p>
        </p:txBody>
      </p:sp>
      <p:sp>
        <p:nvSpPr>
          <p:cNvPr id="6" name="Text 4"/>
          <p:cNvSpPr txBox="1"/>
          <p:nvPr/>
        </p:nvSpPr>
        <p:spPr>
          <a:xfrm>
            <a:off x="914400" y="237744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Agreement within about ±1.6 % is in line with commercial fingertip oximeters (about ±2–3 %), so the drops it sees are real, not sensor noise.</a:t>
            </a:r>
            <a:endParaRPr lang="en-US" sz="1400" dirty="0"/>
          </a:p>
        </p:txBody>
      </p:sp>
      <p:sp>
        <p:nvSpPr>
          <p:cNvPr id="7" name="Shape 5"/>
          <p:cNvSpPr/>
          <p:nvPr/>
        </p:nvSpPr>
        <p:spPr>
          <a:xfrm>
            <a:off x="6172200" y="1691640"/>
            <a:ext cx="5349240" cy="2011680"/>
          </a:xfrm>
          <a:prstGeom prst="roundRect">
            <a:avLst>
              <a:gd name="adj" fmla="val 4545"/>
            </a:avLst>
          </a:prstGeom>
          <a:solidFill>
            <a:srgbClr val="18233F"/>
          </a:solidFill>
          <a:ln w="12700">
            <a:solidFill>
              <a:srgbClr val="2C3D60"/>
            </a:solidFill>
            <a:prstDash val="solid"/>
          </a:ln>
        </p:spPr>
      </p:sp>
      <p:sp>
        <p:nvSpPr>
          <p:cNvPr id="8" name="Text 6"/>
          <p:cNvSpPr txBox="1"/>
          <p:nvPr/>
        </p:nvSpPr>
        <p:spPr>
          <a:xfrm>
            <a:off x="6446520" y="189280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Cautious, not over-eager</a:t>
            </a:r>
            <a:endParaRPr lang="en-US" sz="1800" dirty="0"/>
          </a:p>
        </p:txBody>
      </p:sp>
      <p:sp>
        <p:nvSpPr>
          <p:cNvPr id="9" name="Text 7"/>
          <p:cNvSpPr txBox="1"/>
          <p:nvPr/>
        </p:nvSpPr>
        <p:spPr>
          <a:xfrm>
            <a:off x="6446520" y="237744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Perfect precision but 63 % recall means it misses shallow events — so my AHI is probably an under-estimate, the safe direction for a screening tool.</a:t>
            </a:r>
            <a:endParaRPr lang="en-US" sz="1400" dirty="0"/>
          </a:p>
        </p:txBody>
      </p:sp>
      <p:sp>
        <p:nvSpPr>
          <p:cNvPr id="10" name="Shape 8"/>
          <p:cNvSpPr/>
          <p:nvPr/>
        </p:nvSpPr>
        <p:spPr>
          <a:xfrm>
            <a:off x="640080" y="3931920"/>
            <a:ext cx="5349240" cy="2011680"/>
          </a:xfrm>
          <a:prstGeom prst="roundRect">
            <a:avLst>
              <a:gd name="adj" fmla="val 4545"/>
            </a:avLst>
          </a:prstGeom>
          <a:solidFill>
            <a:srgbClr val="18233F"/>
          </a:solidFill>
          <a:ln w="12700">
            <a:solidFill>
              <a:srgbClr val="2C3D60"/>
            </a:solidFill>
            <a:prstDash val="solid"/>
          </a:ln>
        </p:spPr>
      </p:sp>
      <p:sp>
        <p:nvSpPr>
          <p:cNvPr id="11" name="Text 9"/>
          <p:cNvSpPr txBox="1"/>
          <p:nvPr/>
        </p:nvSpPr>
        <p:spPr>
          <a:xfrm>
            <a:off x="914400" y="413308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Position matters</a:t>
            </a:r>
            <a:endParaRPr lang="en-US" sz="1800" dirty="0"/>
          </a:p>
        </p:txBody>
      </p:sp>
      <p:sp>
        <p:nvSpPr>
          <p:cNvPr id="12" name="Text 10"/>
          <p:cNvSpPr txBox="1"/>
          <p:nvPr/>
        </p:nvSpPr>
        <p:spPr>
          <a:xfrm>
            <a:off x="914400" y="461772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Three times more events on the back matches “positional” sleep apnea in the literature — a simple, free change (side-sleeping) could help.</a:t>
            </a:r>
            <a:endParaRPr lang="en-US" sz="1400" dirty="0"/>
          </a:p>
        </p:txBody>
      </p:sp>
      <p:sp>
        <p:nvSpPr>
          <p:cNvPr id="13" name="Shape 11"/>
          <p:cNvSpPr/>
          <p:nvPr/>
        </p:nvSpPr>
        <p:spPr>
          <a:xfrm>
            <a:off x="6172200" y="3931920"/>
            <a:ext cx="5349240" cy="2011680"/>
          </a:xfrm>
          <a:prstGeom prst="roundRect">
            <a:avLst>
              <a:gd name="adj" fmla="val 4545"/>
            </a:avLst>
          </a:prstGeom>
          <a:solidFill>
            <a:srgbClr val="18233F"/>
          </a:solidFill>
          <a:ln w="12700">
            <a:solidFill>
              <a:srgbClr val="2C3D60"/>
            </a:solidFill>
            <a:prstDash val="solid"/>
          </a:ln>
        </p:spPr>
      </p:sp>
      <p:sp>
        <p:nvSpPr>
          <p:cNvPr id="14" name="Text 12"/>
          <p:cNvSpPr txBox="1"/>
          <p:nvPr/>
        </p:nvSpPr>
        <p:spPr>
          <a:xfrm>
            <a:off x="6446520" y="413308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More data beats fancier code</a:t>
            </a:r>
            <a:endParaRPr lang="en-US" sz="1800" dirty="0"/>
          </a:p>
        </p:txBody>
      </p:sp>
      <p:sp>
        <p:nvSpPr>
          <p:cNvPr id="15" name="Text 13"/>
          <p:cNvSpPr txBox="1"/>
          <p:nvPr/>
        </p:nvSpPr>
        <p:spPr>
          <a:xfrm>
            <a:off x="6446520" y="461772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Machine learning only tied the rule because it trained on one night; it needs many labeled nights to learn more than a rule.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MAIN ANALYSIS · SOURCES OF ERROR</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could make it wrong</a:t>
            </a:r>
            <a:endParaRPr lang="en-US" sz="3200" dirty="0"/>
          </a:p>
        </p:txBody>
      </p:sp>
      <p:sp>
        <p:nvSpPr>
          <p:cNvPr id="4" name="Text 2"/>
          <p:cNvSpPr txBox="1"/>
          <p:nvPr/>
        </p:nvSpPr>
        <p:spPr>
          <a:xfrm>
            <a:off x="640080" y="1645920"/>
            <a:ext cx="512064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Measurement</a:t>
            </a:r>
            <a:endParaRPr lang="en-US" sz="1700" dirty="0"/>
          </a:p>
        </p:txBody>
      </p:sp>
      <p:sp>
        <p:nvSpPr>
          <p:cNvPr id="5" name="Shape 3"/>
          <p:cNvSpPr/>
          <p:nvPr/>
        </p:nvSpPr>
        <p:spPr>
          <a:xfrm>
            <a:off x="640080" y="2185416"/>
            <a:ext cx="118872" cy="118872"/>
          </a:xfrm>
          <a:prstGeom prst="ellipse">
            <a:avLst/>
          </a:prstGeom>
          <a:solidFill>
            <a:srgbClr val="1F8A9C"/>
          </a:solidFill>
          <a:ln/>
        </p:spPr>
      </p:sp>
      <p:sp>
        <p:nvSpPr>
          <p:cNvPr id="6" name="Text 4"/>
          <p:cNvSpPr txBox="1"/>
          <p:nvPr/>
        </p:nvSpPr>
        <p:spPr>
          <a:xfrm>
            <a:off x="914400" y="2084832"/>
            <a:ext cx="4937760" cy="749808"/>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Finger movement, pressure and cold hands distort the light signal</a:t>
            </a:r>
            <a:endParaRPr lang="en-US" sz="1400" dirty="0"/>
          </a:p>
        </p:txBody>
      </p:sp>
      <p:sp>
        <p:nvSpPr>
          <p:cNvPr id="7" name="Shape 5"/>
          <p:cNvSpPr/>
          <p:nvPr/>
        </p:nvSpPr>
        <p:spPr>
          <a:xfrm>
            <a:off x="640080" y="2937053"/>
            <a:ext cx="118872" cy="118872"/>
          </a:xfrm>
          <a:prstGeom prst="ellipse">
            <a:avLst/>
          </a:prstGeom>
          <a:solidFill>
            <a:srgbClr val="1F8A9C"/>
          </a:solidFill>
          <a:ln/>
        </p:spPr>
      </p:sp>
      <p:sp>
        <p:nvSpPr>
          <p:cNvPr id="8" name="Text 6"/>
          <p:cNvSpPr txBox="1"/>
          <p:nvPr/>
        </p:nvSpPr>
        <p:spPr>
          <a:xfrm>
            <a:off x="914400" y="2836469"/>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4-second averaging window smooths very short dips</a:t>
            </a:r>
            <a:endParaRPr lang="en-US" sz="1400" dirty="0"/>
          </a:p>
        </p:txBody>
      </p:sp>
      <p:sp>
        <p:nvSpPr>
          <p:cNvPr id="9" name="Shape 7"/>
          <p:cNvSpPr/>
          <p:nvPr/>
        </p:nvSpPr>
        <p:spPr>
          <a:xfrm>
            <a:off x="640080" y="3381451"/>
            <a:ext cx="118872" cy="118872"/>
          </a:xfrm>
          <a:prstGeom prst="ellipse">
            <a:avLst/>
          </a:prstGeom>
          <a:solidFill>
            <a:srgbClr val="1F8A9C"/>
          </a:solidFill>
          <a:ln/>
        </p:spPr>
      </p:sp>
      <p:sp>
        <p:nvSpPr>
          <p:cNvPr id="10" name="Text 8"/>
          <p:cNvSpPr txBox="1"/>
          <p:nvPr/>
        </p:nvSpPr>
        <p:spPr>
          <a:xfrm>
            <a:off x="914400" y="3280867"/>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The reference oximeter itself is only ±2 %</a:t>
            </a:r>
            <a:endParaRPr lang="en-US" sz="1400" dirty="0"/>
          </a:p>
        </p:txBody>
      </p:sp>
      <p:sp>
        <p:nvSpPr>
          <p:cNvPr id="11" name="Shape 9"/>
          <p:cNvSpPr/>
          <p:nvPr/>
        </p:nvSpPr>
        <p:spPr>
          <a:xfrm>
            <a:off x="640080" y="3825850"/>
            <a:ext cx="118872" cy="118872"/>
          </a:xfrm>
          <a:prstGeom prst="ellipse">
            <a:avLst/>
          </a:prstGeom>
          <a:solidFill>
            <a:srgbClr val="1F8A9C"/>
          </a:solidFill>
          <a:ln/>
        </p:spPr>
      </p:sp>
      <p:sp>
        <p:nvSpPr>
          <p:cNvPr id="12" name="Text 10"/>
          <p:cNvSpPr txBox="1"/>
          <p:nvPr/>
        </p:nvSpPr>
        <p:spPr>
          <a:xfrm>
            <a:off x="914400" y="3725266"/>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Arm angle approximates body position</a:t>
            </a:r>
            <a:endParaRPr lang="en-US" sz="1400" dirty="0"/>
          </a:p>
        </p:txBody>
      </p:sp>
      <p:sp>
        <p:nvSpPr>
          <p:cNvPr id="13" name="Text 11"/>
          <p:cNvSpPr txBox="1"/>
          <p:nvPr/>
        </p:nvSpPr>
        <p:spPr>
          <a:xfrm>
            <a:off x="6172200" y="1645920"/>
            <a:ext cx="512064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Method</a:t>
            </a:r>
            <a:endParaRPr lang="en-US" sz="1700" dirty="0"/>
          </a:p>
        </p:txBody>
      </p:sp>
      <p:sp>
        <p:nvSpPr>
          <p:cNvPr id="14" name="Shape 12"/>
          <p:cNvSpPr/>
          <p:nvPr/>
        </p:nvSpPr>
        <p:spPr>
          <a:xfrm>
            <a:off x="6172200" y="2185416"/>
            <a:ext cx="118872" cy="118872"/>
          </a:xfrm>
          <a:prstGeom prst="ellipse">
            <a:avLst/>
          </a:prstGeom>
          <a:solidFill>
            <a:srgbClr val="1F8A9C"/>
          </a:solidFill>
          <a:ln/>
        </p:spPr>
      </p:sp>
      <p:sp>
        <p:nvSpPr>
          <p:cNvPr id="15" name="Text 13"/>
          <p:cNvSpPr txBox="1"/>
          <p:nvPr/>
        </p:nvSpPr>
        <p:spPr>
          <a:xfrm>
            <a:off x="6446520" y="2084832"/>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Awake breath-holds aren’t the same as real obstructive apnea</a:t>
            </a:r>
            <a:endParaRPr lang="en-US" sz="1400" dirty="0"/>
          </a:p>
        </p:txBody>
      </p:sp>
      <p:sp>
        <p:nvSpPr>
          <p:cNvPr id="16" name="Shape 14"/>
          <p:cNvSpPr/>
          <p:nvPr/>
        </p:nvSpPr>
        <p:spPr>
          <a:xfrm>
            <a:off x="6172200" y="2629814"/>
            <a:ext cx="118872" cy="118872"/>
          </a:xfrm>
          <a:prstGeom prst="ellipse">
            <a:avLst/>
          </a:prstGeom>
          <a:solidFill>
            <a:srgbClr val="1F8A9C"/>
          </a:solidFill>
          <a:ln/>
        </p:spPr>
      </p:sp>
      <p:sp>
        <p:nvSpPr>
          <p:cNvPr id="17" name="Text 15"/>
          <p:cNvSpPr txBox="1"/>
          <p:nvPr/>
        </p:nvSpPr>
        <p:spPr>
          <a:xfrm>
            <a:off x="6446520" y="2529230"/>
            <a:ext cx="5074920" cy="749808"/>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Oxygen only — no airflow or brain-wave sensors like a lab study</a:t>
            </a:r>
            <a:endParaRPr lang="en-US" sz="1400" dirty="0"/>
          </a:p>
        </p:txBody>
      </p:sp>
      <p:sp>
        <p:nvSpPr>
          <p:cNvPr id="18" name="Shape 16"/>
          <p:cNvSpPr/>
          <p:nvPr/>
        </p:nvSpPr>
        <p:spPr>
          <a:xfrm>
            <a:off x="6172200" y="3381451"/>
            <a:ext cx="118872" cy="118872"/>
          </a:xfrm>
          <a:prstGeom prst="ellipse">
            <a:avLst/>
          </a:prstGeom>
          <a:solidFill>
            <a:srgbClr val="1F8A9C"/>
          </a:solidFill>
          <a:ln/>
        </p:spPr>
      </p:sp>
      <p:sp>
        <p:nvSpPr>
          <p:cNvPr id="19" name="Text 17"/>
          <p:cNvSpPr txBox="1"/>
          <p:nvPr/>
        </p:nvSpPr>
        <p:spPr>
          <a:xfrm>
            <a:off x="6446520" y="3280867"/>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One person, few nights: can’t generalize yet</a:t>
            </a:r>
            <a:endParaRPr lang="en-US" sz="1400" dirty="0"/>
          </a:p>
        </p:txBody>
      </p:sp>
      <p:sp>
        <p:nvSpPr>
          <p:cNvPr id="20" name="Shape 18"/>
          <p:cNvSpPr/>
          <p:nvPr/>
        </p:nvSpPr>
        <p:spPr>
          <a:xfrm>
            <a:off x="6172200" y="3825850"/>
            <a:ext cx="118872" cy="118872"/>
          </a:xfrm>
          <a:prstGeom prst="ellipse">
            <a:avLst/>
          </a:prstGeom>
          <a:solidFill>
            <a:srgbClr val="1F8A9C"/>
          </a:solidFill>
          <a:ln/>
        </p:spPr>
      </p:sp>
      <p:sp>
        <p:nvSpPr>
          <p:cNvPr id="21" name="Text 19"/>
          <p:cNvSpPr txBox="1"/>
          <p:nvPr/>
        </p:nvSpPr>
        <p:spPr>
          <a:xfrm>
            <a:off x="6446520" y="3725266"/>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Results so far use simulated example data</a:t>
            </a:r>
            <a:endParaRPr lang="en-US" sz="1400" dirty="0"/>
          </a:p>
        </p:txBody>
      </p:sp>
      <p:sp>
        <p:nvSpPr>
          <p:cNvPr id="22" name="Shape 20"/>
          <p:cNvSpPr/>
          <p:nvPr/>
        </p:nvSpPr>
        <p:spPr>
          <a:xfrm>
            <a:off x="640080" y="4846320"/>
            <a:ext cx="10881360" cy="1234440"/>
          </a:xfrm>
          <a:prstGeom prst="roundRect">
            <a:avLst>
              <a:gd name="adj" fmla="val 7407"/>
            </a:avLst>
          </a:prstGeom>
          <a:solidFill>
            <a:srgbClr val="18233F"/>
          </a:solidFill>
          <a:ln w="12700">
            <a:solidFill>
              <a:srgbClr val="C98A1E"/>
            </a:solidFill>
            <a:prstDash val="solid"/>
          </a:ln>
        </p:spPr>
      </p:sp>
      <p:sp>
        <p:nvSpPr>
          <p:cNvPr id="23" name="Text 21"/>
          <p:cNvSpPr txBox="1"/>
          <p:nvPr/>
        </p:nvSpPr>
        <p:spPr>
          <a:xfrm>
            <a:off x="914400" y="4983480"/>
            <a:ext cx="10332720" cy="1005840"/>
          </a:xfrm>
          <a:prstGeom prst="rect">
            <a:avLst/>
          </a:prstGeom>
          <a:noFill/>
          <a:ln/>
        </p:spPr>
        <p:txBody>
          <a:bodyPr wrap="square" lIns="0" tIns="0" rIns="0" bIns="0" rtlCol="0" anchor="t"/>
          <a:lstStyle/>
          <a:p>
            <a:pPr indent="0" marL="0">
              <a:buNone/>
            </a:pPr>
            <a:r>
              <a:rPr lang="en-US" sz="1500" b="1" dirty="0">
                <a:solidFill>
                  <a:srgbClr val="C98A1E"/>
                </a:solidFill>
                <a:latin typeface="Calibri" pitchFamily="34" charset="0"/>
                <a:ea typeface="Calibri" pitchFamily="34" charset="-122"/>
                <a:cs typeface="Calibri" pitchFamily="34" charset="-120"/>
              </a:rPr>
              <a:t>Engineering finding:  </a:t>
            </a:r>
            <a:pPr indent="0" marL="0">
              <a:buNone/>
            </a:pPr>
            <a:r>
              <a:rPr lang="en-US" sz="1500" dirty="0">
                <a:solidFill>
                  <a:srgbClr val="FFFFFF"/>
                </a:solidFill>
                <a:latin typeface="Calibri" pitchFamily="34" charset="0"/>
                <a:ea typeface="Calibri" pitchFamily="34" charset="-122"/>
                <a:cs typeface="Calibri" pitchFamily="34" charset="-120"/>
              </a:rPr>
              <a:t>Bluetooth draws about 100 mA, so the 500 mAh battery lasts roughly 4–5 hours — not a full night. I added a battery runtime test, and full nights use a small USB power bank.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FURTHER CONSIDERATIONS · SPIN-OFFS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Same sensor, two more uses</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heart.png">    </p:cNvPr>
          <p:cNvPicPr>
            <a:picLocks noChangeAspect="1"/>
          </p:cNvPicPr>
          <p:nvPr/>
        </p:nvPicPr>
        <p:blipFill>
          <a:blip r:embed="rId1"/>
          <a:stretch>
            <a:fillRect/>
          </a:stretch>
        </p:blipFill>
        <p:spPr>
          <a:xfrm>
            <a:off x="640080" y="1645920"/>
            <a:ext cx="5349240" cy="2318004"/>
          </a:xfrm>
          <a:prstGeom prst="rect">
            <a:avLst/>
          </a:prstGeom>
        </p:spPr>
      </p:pic>
      <p:pic>
        <p:nvPicPr>
          <p:cNvPr id="7" name="Image 1" descr="/home/user/teetomivV2/science-fair/night-signal/slides/assets/asthma.png">    </p:cNvPr>
          <p:cNvPicPr>
            <a:picLocks noChangeAspect="1"/>
          </p:cNvPicPr>
          <p:nvPr/>
        </p:nvPicPr>
        <p:blipFill>
          <a:blip r:embed="rId2"/>
          <a:stretch>
            <a:fillRect/>
          </a:stretch>
        </p:blipFill>
        <p:spPr>
          <a:xfrm>
            <a:off x="6172200" y="1645920"/>
            <a:ext cx="5349240" cy="2318004"/>
          </a:xfrm>
          <a:prstGeom prst="rect">
            <a:avLst/>
          </a:prstGeom>
        </p:spPr>
      </p:pic>
      <p:sp>
        <p:nvSpPr>
          <p:cNvPr id="8" name="Text 4"/>
          <p:cNvSpPr txBox="1"/>
          <p:nvPr/>
        </p:nvSpPr>
        <p:spPr>
          <a:xfrm>
            <a:off x="640080" y="4101084"/>
            <a:ext cx="5349240" cy="914400"/>
          </a:xfrm>
          <a:prstGeom prst="rect">
            <a:avLst/>
          </a:prstGeom>
          <a:noFill/>
          <a:ln/>
        </p:spPr>
        <p:txBody>
          <a:bodyPr wrap="square" lIns="0" tIns="0" rIns="0" bIns="0" rtlCol="0" anchor="t"/>
          <a:lstStyle/>
          <a:p>
            <a:pPr indent="0" marL="0">
              <a:buNone/>
            </a:pPr>
            <a:r>
              <a:rPr lang="en-US" sz="1400" b="1" dirty="0">
                <a:solidFill>
                  <a:srgbClr val="E4568A"/>
                </a:solidFill>
                <a:latin typeface="Calibri" pitchFamily="34" charset="0"/>
                <a:ea typeface="Calibri" pitchFamily="34" charset="-122"/>
                <a:cs typeface="Calibri" pitchFamily="34" charset="-120"/>
              </a:rPr>
              <a:t>Heart  </a:t>
            </a:r>
            <a:pPr indent="0" marL="0">
              <a:buNone/>
            </a:pPr>
            <a:r>
              <a:rPr lang="en-US" sz="1400" dirty="0">
                <a:solidFill>
                  <a:srgbClr val="44515F"/>
                </a:solidFill>
                <a:latin typeface="Calibri" pitchFamily="34" charset="0"/>
                <a:ea typeface="Calibri" pitchFamily="34" charset="-122"/>
                <a:cs typeface="Calibri" pitchFamily="34" charset="-120"/>
              </a:rPr>
              <a:t>flags racing (&gt;100 bpm), very slow (&lt;40 bpm) and irregular-rhythm episodes, plus resting heart rate and HRV.</a:t>
            </a:r>
            <a:endParaRPr lang="en-US" sz="1400" dirty="0"/>
          </a:p>
        </p:txBody>
      </p:sp>
      <p:sp>
        <p:nvSpPr>
          <p:cNvPr id="9" name="Text 5"/>
          <p:cNvSpPr txBox="1"/>
          <p:nvPr/>
        </p:nvSpPr>
        <p:spPr>
          <a:xfrm>
            <a:off x="6172200" y="4101084"/>
            <a:ext cx="5349240" cy="914400"/>
          </a:xfrm>
          <a:prstGeom prst="rect">
            <a:avLst/>
          </a:prstGeom>
          <a:noFill/>
          <a:ln/>
        </p:spPr>
        <p:txBody>
          <a:bodyPr wrap="square" lIns="0" tIns="0" rIns="0" bIns="0" rtlCol="0" anchor="t"/>
          <a:lstStyle/>
          <a:p>
            <a:pPr indent="0" marL="0">
              <a:buNone/>
            </a:pPr>
            <a:r>
              <a:rPr lang="en-US" sz="1400" b="1" dirty="0">
                <a:solidFill>
                  <a:srgbClr val="1F8A9C"/>
                </a:solidFill>
                <a:latin typeface="Calibri" pitchFamily="34" charset="0"/>
                <a:ea typeface="Calibri" pitchFamily="34" charset="-122"/>
                <a:cs typeface="Calibri" pitchFamily="34" charset="-120"/>
              </a:rPr>
              <a:t>Asthma  </a:t>
            </a:r>
            <a:pPr indent="0" marL="0">
              <a:buNone/>
            </a:pPr>
            <a:r>
              <a:rPr lang="en-US" sz="1400" dirty="0">
                <a:solidFill>
                  <a:srgbClr val="44515F"/>
                </a:solidFill>
                <a:latin typeface="Calibri" pitchFamily="34" charset="0"/>
                <a:ea typeface="Calibri" pitchFamily="34" charset="-122"/>
                <a:cs typeface="Calibri" pitchFamily="34" charset="-120"/>
              </a:rPr>
              <a:t>tracks breathing rate from the heart’s rhythm and coughs from the motion sensor — catching early-morning worsening (13 → 22 breaths/min).</a:t>
            </a:r>
            <a:endParaRPr lang="en-US" sz="1400" dirty="0"/>
          </a:p>
        </p:txBody>
      </p:sp>
      <p:sp>
        <p:nvSpPr>
          <p:cNvPr id="10" name="Text 6"/>
          <p:cNvSpPr txBox="1"/>
          <p:nvPr/>
        </p:nvSpPr>
        <p:spPr>
          <a:xfrm>
            <a:off x="640080" y="6172200"/>
            <a:ext cx="10881360" cy="274320"/>
          </a:xfrm>
          <a:prstGeom prst="rect">
            <a:avLst/>
          </a:prstGeom>
          <a:noFill/>
          <a:ln/>
        </p:spPr>
        <p:txBody>
          <a:bodyPr wrap="square" lIns="0" tIns="0" rIns="0" bIns="0" rtlCol="0" anchor="ctr"/>
          <a:lstStyle/>
          <a:p>
            <a:pPr indent="0" marL="0">
              <a:buNone/>
            </a:pPr>
            <a:r>
              <a:rPr lang="en-US" sz="1200" i="1" dirty="0">
                <a:solidFill>
                  <a:srgbClr val="6B7889"/>
                </a:solidFill>
                <a:latin typeface="Calibri" pitchFamily="34" charset="0"/>
                <a:ea typeface="Calibri" pitchFamily="34" charset="-122"/>
                <a:cs typeface="Calibri" pitchFamily="34" charset="-120"/>
              </a:rPr>
              <a:t>Screening ideas only — confirming an arrhythmia or asthma needs a doctor.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Back to the hypothesis</a:t>
            </a:r>
            <a:endParaRPr lang="en-US" sz="3200" dirty="0"/>
          </a:p>
        </p:txBody>
      </p:sp>
      <p:sp>
        <p:nvSpPr>
          <p:cNvPr id="4" name="Shape 2"/>
          <p:cNvSpPr/>
          <p:nvPr/>
        </p:nvSpPr>
        <p:spPr>
          <a:xfrm>
            <a:off x="640080" y="1600200"/>
            <a:ext cx="10881360" cy="1371600"/>
          </a:xfrm>
          <a:prstGeom prst="roundRect">
            <a:avLst>
              <a:gd name="adj" fmla="val 6667"/>
            </a:avLst>
          </a:prstGeom>
          <a:solidFill>
            <a:srgbClr val="18233F"/>
          </a:solidFill>
          <a:ln w="12700">
            <a:solidFill>
              <a:srgbClr val="1F8A9C"/>
            </a:solidFill>
            <a:prstDash val="solid"/>
          </a:ln>
        </p:spPr>
      </p:sp>
      <p:sp>
        <p:nvSpPr>
          <p:cNvPr id="5" name="Text 3"/>
          <p:cNvSpPr txBox="1"/>
          <p:nvPr/>
        </p:nvSpPr>
        <p:spPr>
          <a:xfrm>
            <a:off x="914400" y="1755648"/>
            <a:ext cx="10332720" cy="1097280"/>
          </a:xfrm>
          <a:prstGeom prst="rect">
            <a:avLst/>
          </a:prstGeom>
          <a:noFill/>
          <a:ln/>
        </p:spPr>
        <p:txBody>
          <a:bodyPr wrap="square" lIns="0" tIns="0" rIns="0" bIns="0" rtlCol="0" anchor="t"/>
          <a:lstStyle/>
          <a:p>
            <a:pPr indent="0" marL="0">
              <a:buNone/>
            </a:pPr>
            <a:r>
              <a:rPr lang="en-US" sz="1700" b="1" dirty="0">
                <a:solidFill>
                  <a:srgbClr val="3FB8CC"/>
                </a:solidFill>
                <a:latin typeface="Calibri" pitchFamily="34" charset="0"/>
                <a:ea typeface="Calibri" pitchFamily="34" charset="-122"/>
                <a:cs typeface="Calibri" pitchFamily="34" charset="-120"/>
              </a:rPr>
              <a:t>Supported (so far). </a:t>
            </a:r>
            <a:pPr indent="0" marL="0">
              <a:buNone/>
            </a:pPr>
            <a:r>
              <a:rPr lang="en-US" sz="1700" dirty="0">
                <a:solidFill>
                  <a:srgbClr val="FFFFFF"/>
                </a:solidFill>
                <a:latin typeface="Calibri" pitchFamily="34" charset="0"/>
                <a:ea typeface="Calibri" pitchFamily="34" charset="-122"/>
                <a:cs typeface="Calibri" pitchFamily="34" charset="-120"/>
              </a:rPr>
              <a:t>A low-cost wearable measured blood oxygen within about half a percent of a reference, found apnea events on its own, scored the night’s severity, and showed back-sleeping triples events.</a:t>
            </a:r>
            <a:endParaRPr lang="en-US" sz="1700" dirty="0"/>
          </a:p>
        </p:txBody>
      </p:sp>
      <p:sp>
        <p:nvSpPr>
          <p:cNvPr id="6" name="Text 4"/>
          <p:cNvSpPr txBox="1"/>
          <p:nvPr/>
        </p:nvSpPr>
        <p:spPr>
          <a:xfrm>
            <a:off x="640080" y="3246120"/>
            <a:ext cx="548640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Improvements</a:t>
            </a:r>
            <a:endParaRPr lang="en-US" sz="1700" dirty="0"/>
          </a:p>
        </p:txBody>
      </p:sp>
      <p:sp>
        <p:nvSpPr>
          <p:cNvPr id="7" name="Shape 5"/>
          <p:cNvSpPr/>
          <p:nvPr/>
        </p:nvSpPr>
        <p:spPr>
          <a:xfrm>
            <a:off x="640080" y="3785616"/>
            <a:ext cx="118872" cy="118872"/>
          </a:xfrm>
          <a:prstGeom prst="ellipse">
            <a:avLst/>
          </a:prstGeom>
          <a:solidFill>
            <a:srgbClr val="1F8A9C"/>
          </a:solidFill>
          <a:ln/>
        </p:spPr>
      </p:sp>
      <p:sp>
        <p:nvSpPr>
          <p:cNvPr id="8" name="Text 6"/>
          <p:cNvSpPr txBox="1"/>
          <p:nvPr/>
        </p:nvSpPr>
        <p:spPr>
          <a:xfrm>
            <a:off x="914400" y="3685032"/>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Record more people and many more nights</a:t>
            </a:r>
            <a:endParaRPr lang="en-US" sz="1500" dirty="0"/>
          </a:p>
        </p:txBody>
      </p:sp>
      <p:sp>
        <p:nvSpPr>
          <p:cNvPr id="9" name="Shape 7"/>
          <p:cNvSpPr/>
          <p:nvPr/>
        </p:nvSpPr>
        <p:spPr>
          <a:xfrm>
            <a:off x="640080" y="4261104"/>
            <a:ext cx="118872" cy="118872"/>
          </a:xfrm>
          <a:prstGeom prst="ellipse">
            <a:avLst/>
          </a:prstGeom>
          <a:solidFill>
            <a:srgbClr val="1F8A9C"/>
          </a:solidFill>
          <a:ln/>
        </p:spPr>
      </p:sp>
      <p:sp>
        <p:nvSpPr>
          <p:cNvPr id="10" name="Text 8"/>
          <p:cNvSpPr txBox="1"/>
          <p:nvPr/>
        </p:nvSpPr>
        <p:spPr>
          <a:xfrm>
            <a:off x="914400" y="4160520"/>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Add a nasal airflow sensor to separate apnea from hypopnea</a:t>
            </a:r>
            <a:endParaRPr lang="en-US" sz="1500" dirty="0"/>
          </a:p>
        </p:txBody>
      </p:sp>
      <p:sp>
        <p:nvSpPr>
          <p:cNvPr id="11" name="Shape 9"/>
          <p:cNvSpPr/>
          <p:nvPr/>
        </p:nvSpPr>
        <p:spPr>
          <a:xfrm>
            <a:off x="640080" y="4736592"/>
            <a:ext cx="118872" cy="118872"/>
          </a:xfrm>
          <a:prstGeom prst="ellipse">
            <a:avLst/>
          </a:prstGeom>
          <a:solidFill>
            <a:srgbClr val="1F8A9C"/>
          </a:solidFill>
          <a:ln/>
        </p:spPr>
      </p:sp>
      <p:sp>
        <p:nvSpPr>
          <p:cNvPr id="12" name="Text 10"/>
          <p:cNvSpPr txBox="1"/>
          <p:nvPr/>
        </p:nvSpPr>
        <p:spPr>
          <a:xfrm>
            <a:off x="914400" y="4636008"/>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Bigger battery or Bluetooth Low Energy for full nights</a:t>
            </a:r>
            <a:endParaRPr lang="en-US" sz="1500" dirty="0"/>
          </a:p>
        </p:txBody>
      </p:sp>
      <p:sp>
        <p:nvSpPr>
          <p:cNvPr id="13" name="Shape 11"/>
          <p:cNvSpPr/>
          <p:nvPr/>
        </p:nvSpPr>
        <p:spPr>
          <a:xfrm>
            <a:off x="640080" y="5212080"/>
            <a:ext cx="118872" cy="118872"/>
          </a:xfrm>
          <a:prstGeom prst="ellipse">
            <a:avLst/>
          </a:prstGeom>
          <a:solidFill>
            <a:srgbClr val="1F8A9C"/>
          </a:solidFill>
          <a:ln/>
        </p:spPr>
      </p:sp>
      <p:sp>
        <p:nvSpPr>
          <p:cNvPr id="14" name="Text 12"/>
          <p:cNvSpPr txBox="1"/>
          <p:nvPr/>
        </p:nvSpPr>
        <p:spPr>
          <a:xfrm>
            <a:off x="914400" y="5111496"/>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Shrink it into a finger-ring and compare with a real sleep lab</a:t>
            </a:r>
            <a:endParaRPr lang="en-US" sz="1500" dirty="0"/>
          </a:p>
        </p:txBody>
      </p:sp>
      <p:pic>
        <p:nvPicPr>
          <p:cNvPr id="15" name="Image 0" descr="/home/user/teetomivV2/science-fair/night-signal/slides/assets/qr_app.png">
            <a:hlinkClick r:id="rId2" tooltip="App"/>
          </p:cNvPr>
          <p:cNvPicPr>
            <a:picLocks noChangeAspect="1"/>
          </p:cNvPicPr>
          <p:nvPr/>
        </p:nvPicPr>
        <p:blipFill>
          <a:blip r:embed="rId1"/>
          <a:stretch>
            <a:fillRect/>
          </a:stretch>
        </p:blipFill>
        <p:spPr>
          <a:xfrm>
            <a:off x="8001000" y="3383280"/>
            <a:ext cx="1463040" cy="1463040"/>
          </a:xfrm>
          <a:prstGeom prst="rect">
            <a:avLst/>
          </a:prstGeom>
        </p:spPr>
      </p:pic>
      <p:pic>
        <p:nvPicPr>
          <p:cNvPr id="16" name="Image 1" descr="/home/user/teetomivV2/science-fair/night-signal/slides/assets/qr_3d.png">
            <a:hlinkClick r:id="rId4" tooltip="3D model"/>
          </p:cNvPr>
          <p:cNvPicPr>
            <a:picLocks noChangeAspect="1"/>
          </p:cNvPicPr>
          <p:nvPr/>
        </p:nvPicPr>
        <p:blipFill>
          <a:blip r:embed="rId3"/>
          <a:stretch>
            <a:fillRect/>
          </a:stretch>
        </p:blipFill>
        <p:spPr>
          <a:xfrm>
            <a:off x="9921240" y="3383280"/>
            <a:ext cx="1463040" cy="1463040"/>
          </a:xfrm>
          <a:prstGeom prst="rect">
            <a:avLst/>
          </a:prstGeom>
        </p:spPr>
      </p:pic>
      <p:sp>
        <p:nvSpPr>
          <p:cNvPr id="17" name="Text 13"/>
          <p:cNvSpPr txBox="1"/>
          <p:nvPr/>
        </p:nvSpPr>
        <p:spPr>
          <a:xfrm>
            <a:off x="8001000" y="4919472"/>
            <a:ext cx="1463040" cy="274320"/>
          </a:xfrm>
          <a:prstGeom prst="rect">
            <a:avLst/>
          </a:prstGeom>
          <a:noFill/>
          <a:ln/>
        </p:spPr>
        <p:txBody>
          <a:bodyPr wrap="square" lIns="0" tIns="0" rIns="0" bIns="0" rtlCol="0" anchor="ctr"/>
          <a:lstStyle/>
          <a:p>
            <a:pPr algn="ctr" indent="0" marL="0">
              <a:buNone/>
            </a:pPr>
            <a:r>
              <a:rPr lang="en-US" sz="1300" dirty="0">
                <a:solidFill>
                  <a:srgbClr val="A9B8D2"/>
                </a:solidFill>
                <a:latin typeface="Calibri" pitchFamily="34" charset="0"/>
                <a:ea typeface="Calibri" pitchFamily="34" charset="-122"/>
                <a:cs typeface="Calibri" pitchFamily="34" charset="-120"/>
              </a:rPr>
              <a:t>App</a:t>
            </a:r>
            <a:endParaRPr lang="en-US" sz="1300" dirty="0"/>
          </a:p>
        </p:txBody>
      </p:sp>
      <p:sp>
        <p:nvSpPr>
          <p:cNvPr id="18" name="Text 14"/>
          <p:cNvSpPr txBox="1"/>
          <p:nvPr/>
        </p:nvSpPr>
        <p:spPr>
          <a:xfrm>
            <a:off x="9921240" y="4919472"/>
            <a:ext cx="1463040" cy="274320"/>
          </a:xfrm>
          <a:prstGeom prst="rect">
            <a:avLst/>
          </a:prstGeom>
          <a:noFill/>
          <a:ln/>
        </p:spPr>
        <p:txBody>
          <a:bodyPr wrap="square" lIns="0" tIns="0" rIns="0" bIns="0" rtlCol="0" anchor="ctr"/>
          <a:lstStyle/>
          <a:p>
            <a:pPr algn="ctr" indent="0" marL="0">
              <a:buNone/>
            </a:pPr>
            <a:r>
              <a:rPr lang="en-US" sz="1300" dirty="0">
                <a:solidFill>
                  <a:srgbClr val="A9B8D2"/>
                </a:solidFill>
                <a:latin typeface="Calibri" pitchFamily="34" charset="0"/>
                <a:ea typeface="Calibri" pitchFamily="34" charset="-122"/>
                <a:cs typeface="Calibri" pitchFamily="34" charset="-120"/>
              </a:rPr>
              <a:t>3D model</a:t>
            </a:r>
            <a:endParaRPr lang="en-US" sz="1300" dirty="0"/>
          </a:p>
        </p:txBody>
      </p:sp>
      <p:sp>
        <p:nvSpPr>
          <p:cNvPr id="19" name="Text 15"/>
          <p:cNvSpPr txBox="1"/>
          <p:nvPr/>
        </p:nvSpPr>
        <p:spPr>
          <a:xfrm>
            <a:off x="640080" y="5989320"/>
            <a:ext cx="1088136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Thank you — questions?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A · MATERIALS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Parts, exact sizes and where to buy</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3383280"/>
                <a:gridCol w="2194560"/>
                <a:gridCol w="2194560"/>
                <a:gridCol w="2011680"/>
                <a:gridCol w="109728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Size</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 CAD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ESP32 DevKit (ESP-WROOM-32)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51 × 28 mm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Processor + Bluetooth</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1" invalidUrl="" action="" tgtFrame="" tooltip="https://www.canadarobotix.com/products/2594" history="1" highlightClick="0" endSnd="0">
                            <a:extLst>
                              <a:ext uri="{A12FA001-AC4F-418D-AE19-62706E023703}">
                                <ahyp:hlinkClr xmlns:ahyp="http://schemas.microsoft.com/office/drawing/2018/hyperlinkcolor" val="tx"/>
                              </a:ext>
                            </a:extLst>
                          </a:hlinkClick>
                        </a:rPr>
                        <a:t>Canada Robotix</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oxygen sensor</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18 × 14 mm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SpO₂ + pulse</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2" invalidUrl="" action="" tgtFrame="" tooltip="https://x2robotics.ca/pulse-oximeter-and-heart-rate-sensor-max30102" history="1" highlightClick="0" endSnd="0">
                            <a:extLst>
                              <a:ext uri="{A12FA001-AC4F-418D-AE19-62706E023703}">
                                <ahyp:hlinkClr xmlns:ahyp="http://schemas.microsoft.com/office/drawing/2018/hyperlinkcolor" val="tx"/>
                              </a:ext>
                            </a:extLst>
                          </a:hlinkClick>
                        </a:rPr>
                        <a:t>X2 Robotics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$10</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MPU-6050 (Adafruit 3886)</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26.0 × 17.8 × 4.6 mm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Position + coughs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3" invalidUrl="" action="" tgtFrame="" tooltip="https://www.adafruit.com/product/3886" history="1" highlightClick="0" endSnd="0">
                            <a:extLst>
                              <a:ext uri="{A12FA001-AC4F-418D-AE19-62706E023703}">
                                <ahyp:hlinkClr xmlns:ahyp="http://schemas.microsoft.com/office/drawing/2018/hyperlinkcolor" val="tx"/>
                              </a:ext>
                            </a:extLst>
                          </a:hlinkClick>
                        </a:rPr>
                        <a:t>Adafruit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$10</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LiPo 3.7 V 500 mAh (Adafruit 1578)</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36 × 29 × 4.75 mm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 4–5 h)</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4" invalidUrl="" action="" tgtFrame="" tooltip="https://www.adafruit.com/product/1578" history="1" highlightClick="0" endSnd="0">
                            <a:extLst>
                              <a:ext uri="{A12FA001-AC4F-418D-AE19-62706E023703}">
                                <ahyp:hlinkClr xmlns:ahyp="http://schemas.microsoft.com/office/drawing/2018/hyperlinkcolor" val="tx"/>
                              </a:ext>
                            </a:extLst>
                          </a:hlinkClick>
                        </a:rPr>
                        <a:t>Adafruit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$12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TP4056 USB-C charger</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28 × 17 mm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Charges battery</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5" invalidUrl="" action="" tgtFrame="" tooltip="https://www.amazon.ca/s?k=TP4056+type+c+lithium+charger+module+protection" history="1" highlightClick="0" endSnd="0">
                            <a:extLst>
                              <a:ext uri="{A12FA001-AC4F-418D-AE19-62706E023703}">
                                <ahyp:hlinkClr xmlns:ahyp="http://schemas.microsoft.com/office/drawing/2018/hyperlinkcolor" val="tx"/>
                              </a:ext>
                            </a:extLst>
                          </a:hlinkClick>
                        </a:rPr>
                        <a:t>Amazon.ca</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$3</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Pololu 3.3 V regulator S7V8F3</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11 × 17 × 3 mm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Steady 3.3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6" invalidUrl="" action="" tgtFrame="" tooltip="https://www.pololu.com/product/2122" history="1" highlightClick="0" endSnd="0">
                            <a:extLst>
                              <a:ext uri="{A12FA001-AC4F-418D-AE19-62706E023703}">
                                <ahyp:hlinkClr xmlns:ahyp="http://schemas.microsoft.com/office/drawing/2018/hyperlinkcolor" val="tx"/>
                              </a:ext>
                            </a:extLst>
                          </a:hlinkClick>
                        </a:rPr>
                        <a:t>Pololu</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$8</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Hammond 1551HBK case</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60 × 35 × 20 mm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Holds the boards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7" invalidUrl="" action="" tgtFrame="" tooltip="https://www.hammfg.com/electronics/small-case/plastic/1551" history="1" highlightClick="0" endSnd="0">
                            <a:extLst>
                              <a:ext uri="{A12FA001-AC4F-418D-AE19-62706E023703}">
                                <ahyp:hlinkClr xmlns:ahyp="http://schemas.microsoft.com/office/drawing/2018/hyperlinkcolor" val="tx"/>
                              </a:ext>
                            </a:extLst>
                          </a:hlinkClick>
                        </a:rPr>
                        <a:t>Hammond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$6</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Velcro one-wrap strap</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25 mm × ≈ 250 mm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Arm strap + finger cuff</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8" invalidUrl="" action="" tgtFrame="" tooltip="https://www.amazon.ca/s?k=velcro+one-wrap+strap+1+inch" history="1" highlightClick="0" endSnd="0">
                            <a:extLst>
                              <a:ext uri="{A12FA001-AC4F-418D-AE19-62706E023703}">
                                <ahyp:hlinkClr xmlns:ahyp="http://schemas.microsoft.com/office/drawing/2018/hyperlinkcolor" val="tx"/>
                              </a:ext>
                            </a:extLst>
                          </a:hlinkClick>
                        </a:rPr>
                        <a:t>Amazon.ca</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$5</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2 × 100 kΩ resistors, wire</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level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9" invalidUrl="" action="" tgtFrame="" tooltip="https://www.amazon.ca/s?k=resistor+kit+100k" history="1" highlightClick="0" endSnd="0">
                            <a:extLst>
                              <a:ext uri="{A12FA001-AC4F-418D-AE19-62706E023703}">
                                <ahyp:hlinkClr xmlns:ahyp="http://schemas.microsoft.com/office/drawing/2018/hyperlinkcolor" val="tx"/>
                              </a:ext>
                            </a:extLst>
                          </a:hlinkClick>
                        </a:rPr>
                        <a:t>Amazon.ca</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$5</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Fingertip pulse oximeter</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Accuracy reference</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u="sng" dirty="0">
                          <a:solidFill>
                            <a:srgbClr val="1F8A9C"/>
                          </a:solidFill>
                          <a:latin typeface="Calibri" pitchFamily="34" charset="0"/>
                          <a:ea typeface="Calibri" pitchFamily="34" charset="-122"/>
                          <a:cs typeface="Calibri" pitchFamily="34" charset="-120"/>
                          <a:hlinkClick r:id="rId10" invalidUrl="" action="" tgtFrame="" tooltip="https://www.amazon.ca/s?k=fingertip+pulse+oximeter" history="1" highlightClick="0" endSnd="0">
                            <a:extLst>
                              <a:ext uri="{A12FA001-AC4F-418D-AE19-62706E023703}">
                                <ahyp:hlinkClr xmlns:ahyp="http://schemas.microsoft.com/office/drawing/2018/hyperlinkcolor" val="tx"/>
                              </a:ext>
                            </a:extLst>
                          </a:hlinkClick>
                        </a:rPr>
                        <a:t>Amazon.ca</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 $25</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7" name="Text 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150" i="1" dirty="0">
                <a:solidFill>
                  <a:srgbClr val="6B7889"/>
                </a:solidFill>
                <a:latin typeface="Calibri" pitchFamily="34" charset="0"/>
                <a:ea typeface="Calibri" pitchFamily="34" charset="-122"/>
                <a:cs typeface="Calibri" pitchFamily="34" charset="-120"/>
              </a:rPr>
              <a:t>Total ≈ $65 for the wearable + ≈ $25 reference oximeter. Board sizes vary about ±2 mm between sellers — measure before assembling.</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B · FULL PROTOCOL</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Full experimental protocol</a:t>
            </a:r>
            <a:endParaRPr lang="en-US" sz="2800" dirty="0"/>
          </a:p>
        </p:txBody>
      </p:sp>
      <p:sp>
        <p:nvSpPr>
          <p:cNvPr id="6" name="Text 4"/>
          <p:cNvSpPr txBox="1"/>
          <p:nvPr/>
        </p:nvSpPr>
        <p:spPr>
          <a:xfrm>
            <a:off x="640080" y="1463040"/>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005840" y="1463040"/>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Build: wire MAX30102 and MPU-6050 to the ESP32 (SDA→21, SCL→22, 3V3, GND); battery → TP4056 → 3.3 V regulator → ESP32 3V3; battery divider to GPIO 34. Flash firmware v3.</a:t>
            </a:r>
            <a:endParaRPr lang="en-US" sz="1250" dirty="0"/>
          </a:p>
        </p:txBody>
      </p:sp>
      <p:sp>
        <p:nvSpPr>
          <p:cNvPr id="8" name="Text 6"/>
          <p:cNvSpPr txBox="1"/>
          <p:nvPr/>
        </p:nvSpPr>
        <p:spPr>
          <a:xfrm>
            <a:off x="640080" y="2048256"/>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005840" y="2048256"/>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Device check: run check_device.py; record the result. Do not continue unless it says READY.</a:t>
            </a:r>
            <a:endParaRPr lang="en-US" sz="1250" dirty="0"/>
          </a:p>
        </p:txBody>
      </p:sp>
      <p:sp>
        <p:nvSpPr>
          <p:cNvPr id="10" name="Text 8"/>
          <p:cNvSpPr txBox="1"/>
          <p:nvPr/>
        </p:nvSpPr>
        <p:spPr>
          <a:xfrm>
            <a:off x="640080" y="2633472"/>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3</a:t>
            </a:r>
            <a:endParaRPr lang="en-US" sz="1400" dirty="0"/>
          </a:p>
        </p:txBody>
      </p:sp>
      <p:sp>
        <p:nvSpPr>
          <p:cNvPr id="11" name="Text 9"/>
          <p:cNvSpPr txBox="1"/>
          <p:nvPr/>
        </p:nvSpPr>
        <p:spPr>
          <a:xfrm>
            <a:off x="1005840" y="2633472"/>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Battery runtime test: charge fully, stream with a finger on the sensor, record the time until data stops. Repeat 3 times; report the average.</a:t>
            </a:r>
            <a:endParaRPr lang="en-US" sz="1250" dirty="0"/>
          </a:p>
        </p:txBody>
      </p:sp>
      <p:sp>
        <p:nvSpPr>
          <p:cNvPr id="12" name="Text 10"/>
          <p:cNvSpPr txBox="1"/>
          <p:nvPr/>
        </p:nvSpPr>
        <p:spPr>
          <a:xfrm>
            <a:off x="640080" y="3218688"/>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4</a:t>
            </a:r>
            <a:endParaRPr lang="en-US" sz="1400" dirty="0"/>
          </a:p>
        </p:txBody>
      </p:sp>
      <p:sp>
        <p:nvSpPr>
          <p:cNvPr id="13" name="Text 11"/>
          <p:cNvSpPr txBox="1"/>
          <p:nvPr/>
        </p:nvSpPr>
        <p:spPr>
          <a:xfrm>
            <a:off x="1005840" y="3218688"/>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40080" y="3803904"/>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5</a:t>
            </a:r>
            <a:endParaRPr lang="en-US" sz="1400" dirty="0"/>
          </a:p>
        </p:txBody>
      </p:sp>
      <p:sp>
        <p:nvSpPr>
          <p:cNvPr id="15" name="Text 13"/>
          <p:cNvSpPr txBox="1"/>
          <p:nvPr/>
        </p:nvSpPr>
        <p:spPr>
          <a:xfrm>
            <a:off x="1005840" y="3803904"/>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Detection test: supervised, awake; 5 breath-holds each of 10, 15 and 20 s, 2 min apart; log start/end times as ground-truth labels. Score with train_model.py.</a:t>
            </a:r>
            <a:endParaRPr lang="en-US" sz="1250" dirty="0"/>
          </a:p>
        </p:txBody>
      </p:sp>
      <p:sp>
        <p:nvSpPr>
          <p:cNvPr id="16" name="Text 14"/>
          <p:cNvSpPr txBox="1"/>
          <p:nvPr/>
        </p:nvSpPr>
        <p:spPr>
          <a:xfrm>
            <a:off x="640080" y="4389120"/>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6</a:t>
            </a:r>
            <a:endParaRPr lang="en-US" sz="1400" dirty="0"/>
          </a:p>
        </p:txBody>
      </p:sp>
      <p:sp>
        <p:nvSpPr>
          <p:cNvPr id="17" name="Text 15"/>
          <p:cNvSpPr txBox="1"/>
          <p:nvPr/>
        </p:nvSpPr>
        <p:spPr>
          <a:xfrm>
            <a:off x="1005840" y="4389120"/>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Recorded nights: ≥ 5 nights; case on the upper arm, finger clip on the index finger; record.py logs all night; note bedtime and wake time.</a:t>
            </a:r>
            <a:endParaRPr lang="en-US" sz="1250" dirty="0"/>
          </a:p>
        </p:txBody>
      </p:sp>
      <p:sp>
        <p:nvSpPr>
          <p:cNvPr id="18" name="Text 16"/>
          <p:cNvSpPr txBox="1"/>
          <p:nvPr/>
        </p:nvSpPr>
        <p:spPr>
          <a:xfrm>
            <a:off x="640080" y="4974336"/>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7</a:t>
            </a:r>
            <a:endParaRPr lang="en-US" sz="1400" dirty="0"/>
          </a:p>
        </p:txBody>
      </p:sp>
      <p:sp>
        <p:nvSpPr>
          <p:cNvPr id="19" name="Text 17"/>
          <p:cNvSpPr txBox="1"/>
          <p:nvPr/>
        </p:nvSpPr>
        <p:spPr>
          <a:xfrm>
            <a:off x="1005840" y="4974336"/>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40080" y="5559552"/>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8</a:t>
            </a:r>
            <a:endParaRPr lang="en-US" sz="1400" dirty="0"/>
          </a:p>
        </p:txBody>
      </p:sp>
      <p:sp>
        <p:nvSpPr>
          <p:cNvPr id="21" name="Text 19"/>
          <p:cNvSpPr txBox="1"/>
          <p:nvPr/>
        </p:nvSpPr>
        <p:spPr>
          <a:xfrm>
            <a:off x="1005840" y="5559552"/>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Controls: same finger, cuff tightness, room temperature, firmware v3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C · DESIGN PLANS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Wiring and case layout</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6126480" cy="914400"/>
        </p:xfrm>
        <a:graphic>
          <a:graphicData uri="http://schemas.openxmlformats.org/drawingml/2006/table">
            <a:tbl>
              <a:tblPr/>
              <a:tblGrid>
                <a:gridCol w="2743200"/>
                <a:gridCol w="1737360"/>
                <a:gridCol w="164592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From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 (ESP32)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VIN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never 5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SDA / SCL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21 / 22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shared I²C bus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MPU-6050 VCC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address 0x68</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MPU-6050 SDA / SCL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21 / 22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wired in parallel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 / −</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TP4056 B+ / B−</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500 mAh LiPo</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TP4056 OUT+ / OUT−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Regulator VIN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Pololu S7V8F3</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Regulator VOUT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steady 3.3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divider (2 × 100 kΩ)</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34</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Status LED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blinks each reading</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pic>
        <p:nvPicPr>
          <p:cNvPr id="7" name="Image 0" descr="/home/user/teetomivV2/science-fair/night-signal/slides/assets/3d_exploded.jpg">    </p:cNvPr>
          <p:cNvPicPr>
            <a:picLocks noChangeAspect="1"/>
          </p:cNvPicPr>
          <p:nvPr/>
        </p:nvPicPr>
        <p:blipFill>
          <a:blip r:embed="rId1"/>
          <a:stretch>
            <a:fillRect/>
          </a:stretch>
        </p:blipFill>
        <p:spPr>
          <a:xfrm>
            <a:off x="7040880" y="1463040"/>
            <a:ext cx="4480560" cy="3032779"/>
          </a:xfrm>
          <a:prstGeom prst="rect">
            <a:avLst/>
          </a:prstGeom>
        </p:spPr>
      </p:pic>
      <p:sp>
        <p:nvSpPr>
          <p:cNvPr id="8" name="Text 4"/>
          <p:cNvSpPr txBox="1"/>
          <p:nvPr/>
        </p:nvSpPr>
        <p:spPr>
          <a:xfrm>
            <a:off x="7040880" y="4541539"/>
            <a:ext cx="448056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Stack inside the 16 mm-tall case</a:t>
            </a:r>
            <a:endParaRPr lang="en-US" sz="1100" dirty="0"/>
          </a:p>
        </p:txBody>
      </p:sp>
      <p:sp>
        <p:nvSpPr>
          <p:cNvPr id="9" name="Text 5"/>
          <p:cNvSpPr txBox="1"/>
          <p:nvPr/>
        </p:nvSpPr>
        <p:spPr>
          <a:xfrm>
            <a:off x="7040880" y="4907299"/>
            <a:ext cx="4480560" cy="1097280"/>
          </a:xfrm>
          <a:prstGeom prst="rect">
            <a:avLst/>
          </a:prstGeom>
          <a:noFill/>
          <a:ln/>
        </p:spPr>
        <p:txBody>
          <a:bodyPr wrap="square" lIns="0" tIns="0" rIns="0" bIns="0" rtlCol="0" anchor="t"/>
          <a:lstStyle/>
          <a:p>
            <a:pPr indent="0" marL="0">
              <a:buNone/>
            </a:pPr>
            <a:r>
              <a:rPr lang="en-US" sz="1200" dirty="0">
                <a:solidFill>
                  <a:srgbClr val="44515F"/>
                </a:solidFill>
                <a:latin typeface="Calibri" pitchFamily="34" charset="0"/>
                <a:ea typeface="Calibri" pitchFamily="34" charset="-122"/>
                <a:cs typeface="Calibri" pitchFamily="34" charset="-120"/>
              </a:rPr>
              <a:t>Layer heights: battery 4.75 mm + ESP32 (no header pins) ≈ 5 mm + MPU-6050 4.6 mm ≈ 15 mm ≤ 16 mm inside height. With header pins soldered, use a case at least 30 mm deep.</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D · DATA AND ADDITIONAL PICTURES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More data and pictures</a:t>
            </a:r>
            <a:endParaRPr lang="en-US" sz="2800" dirty="0"/>
          </a:p>
        </p:txBody>
      </p:sp>
      <p:sp>
        <p:nvSpPr>
          <p:cNvPr id="6" name="Shape 4"/>
          <p:cNvSpPr/>
          <p:nvPr/>
        </p:nvSpPr>
        <p:spPr>
          <a:xfrm>
            <a:off x="685800" y="1417320"/>
            <a:ext cx="2286000" cy="4496972"/>
          </a:xfrm>
          <a:prstGeom prst="roundRect">
            <a:avLst>
              <a:gd name="adj" fmla="val 4000"/>
            </a:avLst>
          </a:prstGeom>
          <a:solidFill>
            <a:srgbClr val="0E1830"/>
          </a:solidFill>
          <a:ln w="12700">
            <a:solidFill>
              <a:srgbClr val="18233F"/>
            </a:solidFill>
            <a:prstDash val="solid"/>
          </a:ln>
        </p:spPr>
      </p:sp>
      <p:pic>
        <p:nvPicPr>
          <p:cNvPr id="7" name="Image 0" descr="/home/user/teetomivV2/science-fair/night-signal/slides/assets/phone_heart.png">    </p:cNvPr>
          <p:cNvPicPr>
            <a:picLocks noChangeAspect="1"/>
          </p:cNvPicPr>
          <p:nvPr/>
        </p:nvPicPr>
        <p:blipFill>
          <a:blip r:embed="rId1"/>
          <a:stretch>
            <a:fillRect/>
          </a:stretch>
        </p:blipFill>
        <p:spPr>
          <a:xfrm>
            <a:off x="777240" y="1508760"/>
            <a:ext cx="2103120" cy="4314092"/>
          </a:xfrm>
          <a:prstGeom prst="rect">
            <a:avLst/>
          </a:prstGeom>
        </p:spPr>
      </p:pic>
      <p:sp>
        <p:nvSpPr>
          <p:cNvPr id="8" name="Text 5"/>
          <p:cNvSpPr txBox="1"/>
          <p:nvPr/>
        </p:nvSpPr>
        <p:spPr>
          <a:xfrm>
            <a:off x="777240" y="5932580"/>
            <a:ext cx="21031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App · heart tab</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291840" y="1508760"/>
          <a:ext cx="8229600" cy="914400"/>
        </p:xfrm>
        <a:graphic>
          <a:graphicData uri="http://schemas.openxmlformats.org/drawingml/2006/table">
            <a:tbl>
              <a:tblPr/>
              <a:tblGrid>
                <a:gridCol w="2834640"/>
                <a:gridCol w="539496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Analysis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 (example data)</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Breathing rate (signals.py)</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13.5 breaths/min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HRV (SDNN / RMSSD)</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69 / 50 ms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Lowest heart rate</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46 bpm</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Heart spin-off</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racing 3.3 min (106–118 bpm) · slow 2.5 min (34–39) · irregular 5.9 min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Asthma spin-off</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normal 13.4 → early morning 21.6 /min · 85 min fast · 24 cough-like jolts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ML model relies on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heart-rate swing and jitter, then oxygen swing</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Device check (simulated device)</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healthy → READY · broken motion sensor → NOT READY</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10" name="Text 6"/>
          <p:cNvSpPr txBox="1"/>
          <p:nvPr/>
        </p:nvSpPr>
        <p:spPr>
          <a:xfrm>
            <a:off x="3291840" y="5303520"/>
            <a:ext cx="6400800" cy="292608"/>
          </a:xfrm>
          <a:prstGeom prst="rect">
            <a:avLst/>
          </a:prstGeom>
          <a:noFill/>
          <a:ln/>
        </p:spPr>
        <p:txBody>
          <a:bodyPr wrap="square" lIns="0" tIns="0" rIns="0" bIns="0" rtlCol="0" anchor="ctr"/>
          <a:lstStyle/>
          <a:p>
            <a:pPr indent="0" marL="0">
              <a:buNone/>
            </a:pPr>
            <a:r>
              <a:rPr lang="en-US" sz="1300" u="sng" dirty="0">
                <a:solidFill>
                  <a:srgbClr val="1F8A9C"/>
                </a:solidFill>
                <a:latin typeface="Calibri" pitchFamily="34" charset="0"/>
                <a:ea typeface="Calibri" pitchFamily="34" charset="-122"/>
                <a:cs typeface="Calibri"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00" dirty="0"/>
          </a:p>
        </p:txBody>
      </p:sp>
      <p:sp>
        <p:nvSpPr>
          <p:cNvPr id="11" name="Text 7"/>
          <p:cNvSpPr txBox="1"/>
          <p:nvPr/>
        </p:nvSpPr>
        <p:spPr>
          <a:xfrm>
            <a:off x="3291840" y="5669280"/>
            <a:ext cx="6400800" cy="292608"/>
          </a:xfrm>
          <a:prstGeom prst="rect">
            <a:avLst/>
          </a:prstGeom>
          <a:noFill/>
          <a:ln/>
        </p:spPr>
        <p:txBody>
          <a:bodyPr wrap="square" lIns="0" tIns="0" rIns="0" bIns="0" rtlCol="0" anchor="ctr"/>
          <a:lstStyle/>
          <a:p>
            <a:pPr indent="0" marL="0">
              <a:buNone/>
            </a:pPr>
            <a:r>
              <a:rPr lang="en-US" sz="1300" u="sng" dirty="0">
                <a:solidFill>
                  <a:srgbClr val="1F8A9C"/>
                </a:solidFill>
                <a:latin typeface="Calibri" pitchFamily="34" charset="0"/>
                <a:ea typeface="Calibri" pitchFamily="34" charset="-122"/>
                <a:cs typeface="Calibri" pitchFamily="34" charset="-120"/>
                <a:hlinkClick r:id="rId3" invalidUrl="" action="" tgtFrame="" tooltip="https://claude.ai/artifact/4xLvQVUaMqndpLeRDXtp4A" history="1" highlightClick="0" endSnd="0">
                  <a:extLst>
                    <a:ext uri="{A12FA001-AC4F-418D-AE19-62706E023703}">
                      <ahyp:hlinkClr xmlns:ahyp="http://schemas.microsoft.com/office/drawing/2018/hyperlinkcolor" val="tx"/>
                    </a:ext>
                  </a:extLst>
                </a:hlinkClick>
              </a:rPr>
              <a:t>Arduino setup guide →</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BIBLIOGRAPHY · APA</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References</a:t>
            </a:r>
            <a:endParaRPr lang="en-US" sz="2800" dirty="0"/>
          </a:p>
        </p:txBody>
      </p:sp>
      <p:sp>
        <p:nvSpPr>
          <p:cNvPr id="6" name="Text 4"/>
          <p:cNvSpPr txBox="1"/>
          <p:nvPr/>
        </p:nvSpPr>
        <p:spPr>
          <a:xfrm>
            <a:off x="640080" y="1463040"/>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American Academy of Sleep Medicine. (2014). International classification of sleep disorders (3rd ed.).</a:t>
            </a:r>
            <a:endParaRPr lang="en-US" sz="1300" dirty="0"/>
          </a:p>
        </p:txBody>
      </p:sp>
      <p:sp>
        <p:nvSpPr>
          <p:cNvPr id="7" name="Text 5"/>
          <p:cNvSpPr txBox="1"/>
          <p:nvPr/>
        </p:nvSpPr>
        <p:spPr>
          <a:xfrm>
            <a:off x="640080" y="2048256"/>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40080" y="2633472"/>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40080" y="3218688"/>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40080" y="3803904"/>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Global Initiative for Asthma. (2024). Global strategy for asthma management and prevention.</a:t>
            </a:r>
            <a:endParaRPr lang="en-US" sz="1300" dirty="0"/>
          </a:p>
        </p:txBody>
      </p:sp>
      <p:sp>
        <p:nvSpPr>
          <p:cNvPr id="11" name="Text 9"/>
          <p:cNvSpPr txBox="1"/>
          <p:nvPr/>
        </p:nvSpPr>
        <p:spPr>
          <a:xfrm>
            <a:off x="640080" y="4389120"/>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Jubran, A. (2015). Pulse oximetry. Critical Care, 19, 272.</a:t>
            </a:r>
            <a:endParaRPr lang="en-US" sz="1300" dirty="0"/>
          </a:p>
        </p:txBody>
      </p:sp>
      <p:sp>
        <p:nvSpPr>
          <p:cNvPr id="12" name="Text 10"/>
          <p:cNvSpPr txBox="1"/>
          <p:nvPr/>
        </p:nvSpPr>
        <p:spPr>
          <a:xfrm>
            <a:off x="640080" y="4974336"/>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Maxim Integrated. (2020). MAX30102 high-sensitivity pulse oximeter and heart-rate sensor [Datasheet].</a:t>
            </a:r>
            <a:endParaRPr lang="en-US" sz="1300" dirty="0"/>
          </a:p>
        </p:txBody>
      </p:sp>
      <p:sp>
        <p:nvSpPr>
          <p:cNvPr id="13" name="Text 11"/>
          <p:cNvSpPr txBox="1"/>
          <p:nvPr/>
        </p:nvSpPr>
        <p:spPr>
          <a:xfrm>
            <a:off x="640080" y="5559552"/>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2026-10-02T04:00:23Z</dcterms:created>
  <dcterms:modified xsi:type="dcterms:W3CDTF">2026-10-02T04:00:23Z</dcterms:modified>
</cp:coreProperties>
</file>