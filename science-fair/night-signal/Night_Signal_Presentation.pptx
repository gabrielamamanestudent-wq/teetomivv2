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Helvetica Neue"/>
              </a:defRPr>
            </a:pPr>
            <a:r>
              <a:rPr sz="1400" b="0" i="0" u="none" strike="noStrike">
                <a:solidFill>
                  <a:srgbClr val="1D1D1F"/>
                </a:solidFill>
                <a:latin typeface="Helvetica Neue"/>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0071E3"/>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FF375F"/>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D1D1F"/>
                </a:solidFill>
                <a:latin typeface="Helvetica Neue"/>
              </a:defRPr>
            </a:pPr>
            <a:endParaRPr lang="en-US"/>
          </a:p>
        </c:txPr>
        <c:crossAx val="2094734552"/>
        <c:crosses val="autoZero"/>
        <c:auto val="1"/>
        <c:lblAlgn val="ctr"/>
        <c:noMultiLvlLbl val="1"/>
      </c:catAx>
      <c:valAx>
        <c:axId val="2094734552"/>
        <c:scaling>
          <c:orientation val="minMax"/>
          <c:max val="1.2"/>
          <c:min val="0"/>
        </c:scaling>
        <c:delete val="1"/>
        <c:axPos val="l"/>
        <c:numFmt formatCode="0.0"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E6E73"/>
              </a:solidFill>
              <a:latin typeface="Helvetica Neue"/>
              <a:cs typeface="Helvetica Neue"/>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low-cost wearable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My working prototype, version 1, is built to be simple and reliable: the ESP32 sits in a running armband, each sensor plugs into its own pins with no soldered splices, and a USB cable powers it all night. A velcro finger clip holds the MAX30102 oxygen sensor. The 3D model shows version 2 — a 70 by 45 millimetre sealed case with its own battery on a velcro strap.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full-night power test — eight hours with no gaps.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Bluetooth draws about 100 milliamps, so a small 500 milliamp-hour battery would last only four to five hours. That's why version 1 runs on USB power all night, and version 2 needs a bigger battery or Bluetooth Low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hyperlink" Target="https://gabrielamamanestudent-wq.github.io/teetomivV2/science-fair/night-signal/app/3d.html" TargetMode="External"/><Relationship Id="rId6"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14-image-1.png"/><Relationship Id="rId2" Type="http://schemas.openxmlformats.org/officeDocument/2006/relationships/image" Target="../media/image-14-2.png"/><Relationship Id="rId4" Type="http://schemas.openxmlformats.org/officeDocument/2006/relationships/image" Target="../media/image-14-3.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gabrielamamanestudent-wq.github.io/teetomivV2/science-fair/night-signal/build-kit.html"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57200"/>
            <a:ext cx="10817352" cy="292608"/>
          </a:xfrm>
          <a:prstGeom prst="rect">
            <a:avLst/>
          </a:prstGeom>
          <a:noFill/>
          <a:ln/>
        </p:spPr>
        <p:txBody>
          <a:bodyPr wrap="square" lIns="0" tIns="0" rIns="0" bIns="0" rtlCol="0" anchor="t"/>
          <a:lstStyle/>
          <a:p>
            <a:pPr algn="ctr" indent="0" marL="0">
              <a:buNone/>
            </a:pPr>
            <a:r>
              <a:rPr lang="en-US" sz="1400" b="1" dirty="0">
                <a:solidFill>
                  <a:srgbClr val="86868B"/>
                </a:solidFill>
                <a:latin typeface="Helvetica Neue" pitchFamily="34" charset="0"/>
                <a:ea typeface="Helvetica Neue" pitchFamily="34" charset="-122"/>
                <a:cs typeface="Helvetica Neue" pitchFamily="34" charset="-120"/>
              </a:rPr>
              <a:t>Health and Medical Sciences · Experimental project</a:t>
            </a:r>
            <a:endParaRPr lang="en-US" sz="1400" dirty="0"/>
          </a:p>
        </p:txBody>
      </p:sp>
      <p:sp>
        <p:nvSpPr>
          <p:cNvPr id="3" name="Text 1"/>
          <p:cNvSpPr txBox="1"/>
          <p:nvPr/>
        </p:nvSpPr>
        <p:spPr>
          <a:xfrm>
            <a:off x="685800" y="804672"/>
            <a:ext cx="10817352" cy="1005840"/>
          </a:xfrm>
          <a:prstGeom prst="rect">
            <a:avLst/>
          </a:prstGeom>
          <a:noFill/>
          <a:ln/>
        </p:spPr>
        <p:txBody>
          <a:bodyPr wrap="square" lIns="0" tIns="0" rIns="0" bIns="0" rtlCol="0" anchor="t"/>
          <a:lstStyle/>
          <a:p>
            <a:pPr algn="ctr" indent="0" marL="0">
              <a:buNone/>
            </a:pPr>
            <a:r>
              <a:rPr lang="en-US" sz="6600" b="1" dirty="0">
                <a:solidFill>
                  <a:srgbClr val="FFFFFF"/>
                </a:solidFill>
                <a:latin typeface="Helvetica Neue" pitchFamily="34" charset="0"/>
                <a:ea typeface="Helvetica Neue" pitchFamily="34" charset="-122"/>
                <a:cs typeface="Helvetica Neue" pitchFamily="34" charset="-120"/>
              </a:rPr>
              <a:t>Night Signal.</a:t>
            </a:r>
            <a:endParaRPr lang="en-US" sz="6600" dirty="0"/>
          </a:p>
        </p:txBody>
      </p:sp>
      <p:sp>
        <p:nvSpPr>
          <p:cNvPr id="4" name="Text 2"/>
          <p:cNvSpPr txBox="1"/>
          <p:nvPr/>
        </p:nvSpPr>
        <p:spPr>
          <a:xfrm>
            <a:off x="685800" y="1810512"/>
            <a:ext cx="10817352" cy="457200"/>
          </a:xfrm>
          <a:prstGeom prst="rect">
            <a:avLst/>
          </a:prstGeom>
          <a:noFill/>
          <a:ln/>
        </p:spPr>
        <p:txBody>
          <a:bodyPr wrap="square" lIns="0" tIns="0" rIns="0" bIns="0" rtlCol="0" anchor="t"/>
          <a:lstStyle/>
          <a:p>
            <a:pPr algn="ctr" indent="0" marL="0">
              <a:buNone/>
            </a:pPr>
            <a:r>
              <a:rPr lang="en-US" sz="2400" dirty="0">
                <a:solidFill>
                  <a:srgbClr val="86868B"/>
                </a:solidFill>
                <a:latin typeface="Helvetica Neue" pitchFamily="34" charset="0"/>
                <a:ea typeface="Helvetica Neue" pitchFamily="34" charset="-122"/>
                <a:cs typeface="Helvetica Neue" pitchFamily="34" charset="-120"/>
              </a:rPr>
              <a:t>Sleep apnea screening you can wear.</a:t>
            </a:r>
            <a:endParaRPr lang="en-US" sz="2400" dirty="0"/>
          </a:p>
        </p:txBody>
      </p:sp>
      <p:pic>
        <p:nvPicPr>
          <p:cNvPr id="5" name="Image 0" descr="/home/user/teetomivV2/science-fair/night-signal/slides/assets/hero_alpha.png">    </p:cNvPr>
          <p:cNvPicPr>
            <a:picLocks noChangeAspect="1"/>
          </p:cNvPicPr>
          <p:nvPr/>
        </p:nvPicPr>
        <p:blipFill>
          <a:blip r:embed="rId2"/>
          <a:stretch>
            <a:fillRect/>
          </a:stretch>
        </p:blipFill>
        <p:spPr>
          <a:xfrm>
            <a:off x="4245440" y="2359152"/>
            <a:ext cx="3700814" cy="3611880"/>
          </a:xfrm>
          <a:prstGeom prst="rect">
            <a:avLst/>
          </a:prstGeom>
        </p:spPr>
      </p:pic>
      <p:sp>
        <p:nvSpPr>
          <p:cNvPr id="6" name="Text 3"/>
          <p:cNvSpPr txBox="1"/>
          <p:nvPr/>
        </p:nvSpPr>
        <p:spPr>
          <a:xfrm>
            <a:off x="685800" y="6053328"/>
            <a:ext cx="10817352"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Gabriel Mamane</a:t>
            </a:r>
            <a:pPr algn="ctr" indent="0" marL="0">
              <a:buNone/>
            </a:pPr>
            <a:r>
              <a:rPr lang="en-US" sz="1500" dirty="0">
                <a:solidFill>
                  <a:srgbClr val="86868B"/>
                </a:solidFill>
                <a:latin typeface="Helvetica Neue" pitchFamily="34" charset="0"/>
                <a:ea typeface="Helvetica Neue" pitchFamily="34" charset="-122"/>
                <a:cs typeface="Helvetica Neue" pitchFamily="34" charset="-120"/>
              </a:rPr>
              <a:t>   ·   Grade ___</a:t>
            </a:r>
            <a:endParaRPr lang="en-US" sz="1500" dirty="0"/>
          </a:p>
        </p:txBody>
      </p:sp>
      <p:sp>
        <p:nvSpPr>
          <p:cNvPr id="7" name="Text 4"/>
          <p:cNvSpPr txBox="1"/>
          <p:nvPr/>
        </p:nvSpPr>
        <p:spPr>
          <a:xfrm>
            <a:off x="685800" y="6382512"/>
            <a:ext cx="10817352" cy="256032"/>
          </a:xfrm>
          <a:prstGeom prst="rect">
            <a:avLst/>
          </a:prstGeom>
          <a:noFill/>
          <a:ln/>
        </p:spPr>
        <p:txBody>
          <a:bodyPr wrap="square" lIns="0" tIns="0" rIns="0" bIns="0" rtlCol="0" anchor="t"/>
          <a:lstStyle/>
          <a:p>
            <a:pPr algn="ctr" indent="0" marL="0">
              <a:buNone/>
            </a:pPr>
            <a:r>
              <a:rPr lang="en-US" sz="1050" dirty="0">
                <a:solidFill>
                  <a:srgbClr val="6E6E73"/>
                </a:solidFill>
                <a:latin typeface="Helvetica Neue" pitchFamily="34" charset="0"/>
                <a:ea typeface="Helvetica Neue" pitchFamily="34" charset="-122"/>
                <a:cs typeface="Helvetica Neue" pitchFamily="34" charset="-120"/>
              </a:rPr>
              <a:t>Educational prototype. Not a medical device.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Purpose and hypothesis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Can a low-cost wearable catch sleep apnea?</a:t>
            </a:r>
            <a:endParaRPr lang="en-US" sz="4000" dirty="0"/>
          </a:p>
        </p:txBody>
      </p:sp>
      <p:sp>
        <p:nvSpPr>
          <p:cNvPr id="4" name="Shape 2"/>
          <p:cNvSpPr/>
          <p:nvPr/>
        </p:nvSpPr>
        <p:spPr>
          <a:xfrm>
            <a:off x="685800" y="1920240"/>
            <a:ext cx="5303520" cy="2423160"/>
          </a:xfrm>
          <a:prstGeom prst="roundRect">
            <a:avLst>
              <a:gd name="adj" fmla="val 8302"/>
            </a:avLst>
          </a:prstGeom>
          <a:solidFill>
            <a:srgbClr val="F5F5F7"/>
          </a:solidFill>
          <a:ln/>
        </p:spPr>
      </p:sp>
      <p:sp>
        <p:nvSpPr>
          <p:cNvPr id="5" name="Shape 3"/>
          <p:cNvSpPr/>
          <p:nvPr/>
        </p:nvSpPr>
        <p:spPr>
          <a:xfrm>
            <a:off x="6199632" y="1920240"/>
            <a:ext cx="5303520" cy="2423160"/>
          </a:xfrm>
          <a:prstGeom prst="roundRect">
            <a:avLst>
              <a:gd name="adj" fmla="val 8302"/>
            </a:avLst>
          </a:prstGeom>
          <a:solidFill>
            <a:srgbClr val="F5F5F7"/>
          </a:solidFill>
          <a:ln/>
        </p:spPr>
      </p:sp>
      <p:sp>
        <p:nvSpPr>
          <p:cNvPr id="6" name="Shape 4"/>
          <p:cNvSpPr/>
          <p:nvPr/>
        </p:nvSpPr>
        <p:spPr>
          <a:xfrm>
            <a:off x="1005840" y="2194560"/>
            <a:ext cx="457200" cy="64008"/>
          </a:xfrm>
          <a:prstGeom prst="roundRect">
            <a:avLst>
              <a:gd name="adj" fmla="val 50000"/>
            </a:avLst>
          </a:prstGeom>
          <a:solidFill>
            <a:srgbClr val="E3254B"/>
          </a:solidFill>
          <a:ln/>
        </p:spPr>
      </p:sp>
      <p:sp>
        <p:nvSpPr>
          <p:cNvPr id="7" name="Shape 5"/>
          <p:cNvSpPr/>
          <p:nvPr/>
        </p:nvSpPr>
        <p:spPr>
          <a:xfrm>
            <a:off x="6519672" y="2194560"/>
            <a:ext cx="457200" cy="64008"/>
          </a:xfrm>
          <a:prstGeom prst="roundRect">
            <a:avLst>
              <a:gd name="adj" fmla="val 50000"/>
            </a:avLst>
          </a:prstGeom>
          <a:solidFill>
            <a:srgbClr val="0071E3"/>
          </a:solidFill>
          <a:ln/>
        </p:spPr>
      </p:sp>
      <p:sp>
        <p:nvSpPr>
          <p:cNvPr id="8" name="Text 6"/>
          <p:cNvSpPr txBox="1"/>
          <p:nvPr/>
        </p:nvSpPr>
        <p:spPr>
          <a:xfrm>
            <a:off x="1005840" y="2331720"/>
            <a:ext cx="4663440" cy="320040"/>
          </a:xfrm>
          <a:prstGeom prst="rect">
            <a:avLst/>
          </a:prstGeom>
          <a:noFill/>
          <a:ln/>
        </p:spPr>
        <p:txBody>
          <a:bodyPr wrap="square" lIns="0" tIns="0" rIns="0" bIns="0" rtlCol="0" anchor="t"/>
          <a:lstStyle/>
          <a:p>
            <a:pPr indent="0" marL="0">
              <a:buNone/>
            </a:pPr>
            <a:r>
              <a:rPr lang="en-US" sz="1500" b="1" dirty="0">
                <a:solidFill>
                  <a:srgbClr val="E3254B"/>
                </a:solidFill>
                <a:latin typeface="Helvetica Neue" pitchFamily="34" charset="0"/>
                <a:ea typeface="Helvetica Neue" pitchFamily="34" charset="-122"/>
                <a:cs typeface="Helvetica Neue" pitchFamily="34" charset="-120"/>
              </a:rPr>
              <a:t>Purpose</a:t>
            </a:r>
            <a:endParaRPr lang="en-US" sz="1500" dirty="0"/>
          </a:p>
        </p:txBody>
      </p:sp>
      <p:sp>
        <p:nvSpPr>
          <p:cNvPr id="9" name="Text 7"/>
          <p:cNvSpPr txBox="1"/>
          <p:nvPr/>
        </p:nvSpPr>
        <p:spPr>
          <a:xfrm>
            <a:off x="1005840" y="2724912"/>
            <a:ext cx="4663440" cy="1554480"/>
          </a:xfrm>
          <a:prstGeom prst="rect">
            <a:avLst/>
          </a:prstGeom>
          <a:noFill/>
          <a:ln/>
        </p:spPr>
        <p:txBody>
          <a:bodyPr wrap="square" lIns="0" tIns="0" rIns="0" bIns="0" rtlCol="0" anchor="t"/>
          <a:lstStyle/>
          <a:p>
            <a:pPr indent="0" marL="0">
              <a:lnSpc>
                <a:spcPct val="105000"/>
              </a:lnSpc>
              <a:buNone/>
            </a:pPr>
            <a:r>
              <a:rPr lang="en-US" sz="1700" dirty="0">
                <a:solidFill>
                  <a:srgbClr val="1D1D1F"/>
                </a:solidFill>
                <a:latin typeface="Helvetica Neue" pitchFamily="34" charset="0"/>
                <a:ea typeface="Helvetica Neue" pitchFamily="34" charset="-122"/>
                <a:cs typeface="Helvetica Neue" pitchFamily="34" charset="-120"/>
              </a:rPr>
              <a:t>Find out whether a low-cost wearable can detect the oxygen drops caused by sleep apnea accurately enough to estimate how many events happen per hour: the number doctors use (AHI).</a:t>
            </a:r>
            <a:endParaRPr lang="en-US" sz="1700" dirty="0"/>
          </a:p>
        </p:txBody>
      </p:sp>
      <p:sp>
        <p:nvSpPr>
          <p:cNvPr id="10" name="Text 8"/>
          <p:cNvSpPr txBox="1"/>
          <p:nvPr/>
        </p:nvSpPr>
        <p:spPr>
          <a:xfrm>
            <a:off x="6519672" y="2331720"/>
            <a:ext cx="4663440" cy="320040"/>
          </a:xfrm>
          <a:prstGeom prst="rect">
            <a:avLst/>
          </a:prstGeom>
          <a:noFill/>
          <a:ln/>
        </p:spPr>
        <p:txBody>
          <a:bodyPr wrap="square" lIns="0" tIns="0" rIns="0" bIns="0" rtlCol="0" anchor="t"/>
          <a:lstStyle/>
          <a:p>
            <a:pPr indent="0" marL="0">
              <a:buNone/>
            </a:pPr>
            <a:r>
              <a:rPr lang="en-US" sz="1500" b="1" dirty="0">
                <a:solidFill>
                  <a:srgbClr val="0071E3"/>
                </a:solidFill>
                <a:latin typeface="Helvetica Neue" pitchFamily="34" charset="0"/>
                <a:ea typeface="Helvetica Neue" pitchFamily="34" charset="-122"/>
                <a:cs typeface="Helvetica Neue" pitchFamily="34" charset="-120"/>
              </a:rPr>
              <a:t>Hypothesis</a:t>
            </a:r>
            <a:endParaRPr lang="en-US" sz="1500" dirty="0"/>
          </a:p>
        </p:txBody>
      </p:sp>
      <p:sp>
        <p:nvSpPr>
          <p:cNvPr id="11" name="Text 9"/>
          <p:cNvSpPr txBox="1"/>
          <p:nvPr/>
        </p:nvSpPr>
        <p:spPr>
          <a:xfrm>
            <a:off x="6519672" y="2724912"/>
            <a:ext cx="4663440" cy="1508760"/>
          </a:xfrm>
          <a:prstGeom prst="rect">
            <a:avLst/>
          </a:prstGeom>
          <a:noFill/>
          <a:ln/>
        </p:spPr>
        <p:txBody>
          <a:bodyPr wrap="square" lIns="0" tIns="0" rIns="0" bIns="0" rtlCol="0" anchor="t"/>
          <a:lstStyle/>
          <a:p>
            <a:pPr indent="0" marL="0">
              <a:lnSpc>
                <a:spcPct val="105000"/>
              </a:lnSpc>
              <a:buNone/>
            </a:pPr>
            <a:r>
              <a:rPr lang="en-US" sz="1550" dirty="0">
                <a:solidFill>
                  <a:srgbClr val="1D1D1F"/>
                </a:solidFill>
                <a:latin typeface="Helvetica Neue" pitchFamily="34" charset="0"/>
                <a:ea typeface="Helvetica Neue" pitchFamily="34" charset="-122"/>
                <a:cs typeface="Helvetica Neue" pitchFamily="34" charset="-120"/>
              </a:rPr>
              <a:t>If breathing pauses make blood oxygen dip, then a fingertip sensor read once per second will reveal the dips, and software can count them per hour, because oxygen-rich and oxygen-poor blood absorb red and infrared light differently.</a:t>
            </a:r>
            <a:endParaRPr lang="en-US" sz="1550" dirty="0"/>
          </a:p>
        </p:txBody>
      </p:sp>
      <p:sp>
        <p:nvSpPr>
          <p:cNvPr id="12" name="Shape 10"/>
          <p:cNvSpPr/>
          <p:nvPr/>
        </p:nvSpPr>
        <p:spPr>
          <a:xfrm>
            <a:off x="685800" y="4553712"/>
            <a:ext cx="3502152" cy="1600200"/>
          </a:xfrm>
          <a:prstGeom prst="roundRect">
            <a:avLst>
              <a:gd name="adj" fmla="val 12571"/>
            </a:avLst>
          </a:prstGeom>
          <a:solidFill>
            <a:srgbClr val="F5F5F7"/>
          </a:solidFill>
          <a:ln/>
        </p:spPr>
      </p:sp>
      <p:sp>
        <p:nvSpPr>
          <p:cNvPr id="13" name="Shape 11"/>
          <p:cNvSpPr/>
          <p:nvPr/>
        </p:nvSpPr>
        <p:spPr>
          <a:xfrm>
            <a:off x="960120" y="4773168"/>
            <a:ext cx="457200" cy="64008"/>
          </a:xfrm>
          <a:prstGeom prst="roundRect">
            <a:avLst>
              <a:gd name="adj" fmla="val 50000"/>
            </a:avLst>
          </a:prstGeom>
          <a:solidFill>
            <a:srgbClr val="C45500"/>
          </a:solidFill>
          <a:ln/>
        </p:spPr>
      </p:sp>
      <p:sp>
        <p:nvSpPr>
          <p:cNvPr id="14" name="Text 12"/>
          <p:cNvSpPr txBox="1"/>
          <p:nvPr/>
        </p:nvSpPr>
        <p:spPr>
          <a:xfrm>
            <a:off x="9601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Independent variables</a:t>
            </a:r>
            <a:endParaRPr lang="en-US" sz="1550" dirty="0"/>
          </a:p>
        </p:txBody>
      </p:sp>
      <p:sp>
        <p:nvSpPr>
          <p:cNvPr id="15" name="Text 13"/>
          <p:cNvSpPr txBox="1"/>
          <p:nvPr/>
        </p:nvSpPr>
        <p:spPr>
          <a:xfrm>
            <a:off x="960120" y="5285232"/>
            <a:ext cx="3017520" cy="77724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Breath-hold length (10, 15, 20 s) and sleeping position</a:t>
            </a:r>
            <a:endParaRPr lang="en-US" sz="1350" dirty="0"/>
          </a:p>
        </p:txBody>
      </p:sp>
      <p:sp>
        <p:nvSpPr>
          <p:cNvPr id="16" name="Shape 14"/>
          <p:cNvSpPr/>
          <p:nvPr/>
        </p:nvSpPr>
        <p:spPr>
          <a:xfrm>
            <a:off x="4343400" y="4553712"/>
            <a:ext cx="3502152" cy="1600200"/>
          </a:xfrm>
          <a:prstGeom prst="roundRect">
            <a:avLst>
              <a:gd name="adj" fmla="val 12571"/>
            </a:avLst>
          </a:prstGeom>
          <a:solidFill>
            <a:srgbClr val="F5F5F7"/>
          </a:solidFill>
          <a:ln/>
        </p:spPr>
      </p:sp>
      <p:sp>
        <p:nvSpPr>
          <p:cNvPr id="17" name="Shape 15"/>
          <p:cNvSpPr/>
          <p:nvPr/>
        </p:nvSpPr>
        <p:spPr>
          <a:xfrm>
            <a:off x="4617720" y="4773168"/>
            <a:ext cx="457200" cy="64008"/>
          </a:xfrm>
          <a:prstGeom prst="roundRect">
            <a:avLst>
              <a:gd name="adj" fmla="val 50000"/>
            </a:avLst>
          </a:prstGeom>
          <a:solidFill>
            <a:srgbClr val="248A3D"/>
          </a:solidFill>
          <a:ln/>
        </p:spPr>
      </p:sp>
      <p:sp>
        <p:nvSpPr>
          <p:cNvPr id="18" name="Text 16"/>
          <p:cNvSpPr txBox="1"/>
          <p:nvPr/>
        </p:nvSpPr>
        <p:spPr>
          <a:xfrm>
            <a:off x="46177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Dependent variables</a:t>
            </a:r>
            <a:endParaRPr lang="en-US" sz="1550" dirty="0"/>
          </a:p>
        </p:txBody>
      </p:sp>
      <p:sp>
        <p:nvSpPr>
          <p:cNvPr id="19" name="Text 17"/>
          <p:cNvSpPr txBox="1"/>
          <p:nvPr/>
        </p:nvSpPr>
        <p:spPr>
          <a:xfrm>
            <a:off x="4617720" y="5285232"/>
            <a:ext cx="3017520" cy="77724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Events detected, AHI score, agreement with a reference oximeter</a:t>
            </a:r>
            <a:endParaRPr lang="en-US" sz="1350" dirty="0"/>
          </a:p>
        </p:txBody>
      </p:sp>
      <p:sp>
        <p:nvSpPr>
          <p:cNvPr id="20" name="Shape 18"/>
          <p:cNvSpPr/>
          <p:nvPr/>
        </p:nvSpPr>
        <p:spPr>
          <a:xfrm>
            <a:off x="8001000" y="4553712"/>
            <a:ext cx="3502152" cy="1600200"/>
          </a:xfrm>
          <a:prstGeom prst="roundRect">
            <a:avLst>
              <a:gd name="adj" fmla="val 12571"/>
            </a:avLst>
          </a:prstGeom>
          <a:solidFill>
            <a:srgbClr val="F5F5F7"/>
          </a:solidFill>
          <a:ln/>
        </p:spPr>
      </p:sp>
      <p:sp>
        <p:nvSpPr>
          <p:cNvPr id="21" name="Shape 19"/>
          <p:cNvSpPr/>
          <p:nvPr/>
        </p:nvSpPr>
        <p:spPr>
          <a:xfrm>
            <a:off x="8275320" y="4773168"/>
            <a:ext cx="457200" cy="64008"/>
          </a:xfrm>
          <a:prstGeom prst="roundRect">
            <a:avLst>
              <a:gd name="adj" fmla="val 50000"/>
            </a:avLst>
          </a:prstGeom>
          <a:solidFill>
            <a:srgbClr val="A1A1A6"/>
          </a:solidFill>
          <a:ln/>
        </p:spPr>
      </p:sp>
      <p:sp>
        <p:nvSpPr>
          <p:cNvPr id="22" name="Text 20"/>
          <p:cNvSpPr txBox="1"/>
          <p:nvPr/>
        </p:nvSpPr>
        <p:spPr>
          <a:xfrm>
            <a:off x="82753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Controls</a:t>
            </a:r>
            <a:endParaRPr lang="en-US" sz="1550" dirty="0"/>
          </a:p>
        </p:txBody>
      </p:sp>
      <p:sp>
        <p:nvSpPr>
          <p:cNvPr id="23" name="Text 21"/>
          <p:cNvSpPr txBox="1"/>
          <p:nvPr/>
        </p:nvSpPr>
        <p:spPr>
          <a:xfrm>
            <a:off x="8275320" y="5285232"/>
            <a:ext cx="3017520" cy="77724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Same finger, cuff tightness, room, firmware and detection settings</a:t>
            </a:r>
            <a:endParaRPr lang="en-US" sz="135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Scientific background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Breathing stops. Oxygen drops.</a:t>
            </a:r>
            <a:endParaRPr lang="en-US" sz="4000" dirty="0"/>
          </a:p>
        </p:txBody>
      </p:sp>
      <p:sp>
        <p:nvSpPr>
          <p:cNvPr id="4" name="Shape 2"/>
          <p:cNvSpPr/>
          <p:nvPr/>
        </p:nvSpPr>
        <p:spPr>
          <a:xfrm>
            <a:off x="685800" y="2066826"/>
            <a:ext cx="73152" cy="73152"/>
          </a:xfrm>
          <a:prstGeom prst="ellipse">
            <a:avLst/>
          </a:prstGeom>
          <a:solidFill>
            <a:srgbClr val="A1A1A6"/>
          </a:solidFill>
          <a:ln/>
        </p:spPr>
      </p:sp>
      <p:sp>
        <p:nvSpPr>
          <p:cNvPr id="5" name="Text 3"/>
          <p:cNvSpPr txBox="1"/>
          <p:nvPr/>
        </p:nvSpPr>
        <p:spPr>
          <a:xfrm>
            <a:off x="914400" y="1965960"/>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Obstructive sleep apnea: the airway collapses during sleep and breathing pauses for 10 seconds or more, many times a night.</a:t>
            </a:r>
            <a:endParaRPr lang="en-US" sz="1550" dirty="0"/>
          </a:p>
        </p:txBody>
      </p:sp>
      <p:sp>
        <p:nvSpPr>
          <p:cNvPr id="6" name="Shape 4"/>
          <p:cNvSpPr/>
          <p:nvPr/>
        </p:nvSpPr>
        <p:spPr>
          <a:xfrm>
            <a:off x="685800" y="2730020"/>
            <a:ext cx="73152" cy="73152"/>
          </a:xfrm>
          <a:prstGeom prst="ellipse">
            <a:avLst/>
          </a:prstGeom>
          <a:solidFill>
            <a:srgbClr val="A1A1A6"/>
          </a:solidFill>
          <a:ln/>
        </p:spPr>
      </p:sp>
      <p:sp>
        <p:nvSpPr>
          <p:cNvPr id="7" name="Text 5"/>
          <p:cNvSpPr txBox="1"/>
          <p:nvPr/>
        </p:nvSpPr>
        <p:spPr>
          <a:xfrm>
            <a:off x="914400" y="2629154"/>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Each pause lowers blood oxygen (a desaturation) and makes the heart speed up and slow down.</a:t>
            </a:r>
            <a:endParaRPr lang="en-US" sz="1550" dirty="0"/>
          </a:p>
        </p:txBody>
      </p:sp>
      <p:sp>
        <p:nvSpPr>
          <p:cNvPr id="8" name="Shape 6"/>
          <p:cNvSpPr/>
          <p:nvPr/>
        </p:nvSpPr>
        <p:spPr>
          <a:xfrm>
            <a:off x="685800" y="3393214"/>
            <a:ext cx="73152" cy="73152"/>
          </a:xfrm>
          <a:prstGeom prst="ellipse">
            <a:avLst/>
          </a:prstGeom>
          <a:solidFill>
            <a:srgbClr val="A1A1A6"/>
          </a:solidFill>
          <a:ln/>
        </p:spPr>
      </p:sp>
      <p:sp>
        <p:nvSpPr>
          <p:cNvPr id="9" name="Text 7"/>
          <p:cNvSpPr txBox="1"/>
          <p:nvPr/>
        </p:nvSpPr>
        <p:spPr>
          <a:xfrm>
            <a:off x="914400" y="3292348"/>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Pulse oximetry: red (660 nm) and infrared (880 nm) light shine through the fingertip. Oxygen-rich blood absorbs them differently, giving SpO₂.</a:t>
            </a:r>
            <a:endParaRPr lang="en-US" sz="1550" dirty="0"/>
          </a:p>
        </p:txBody>
      </p:sp>
      <p:sp>
        <p:nvSpPr>
          <p:cNvPr id="10" name="Shape 8"/>
          <p:cNvSpPr/>
          <p:nvPr/>
        </p:nvSpPr>
        <p:spPr>
          <a:xfrm>
            <a:off x="685800" y="4296565"/>
            <a:ext cx="73152" cy="73152"/>
          </a:xfrm>
          <a:prstGeom prst="ellipse">
            <a:avLst/>
          </a:prstGeom>
          <a:solidFill>
            <a:srgbClr val="A1A1A6"/>
          </a:solidFill>
          <a:ln/>
        </p:spPr>
      </p:sp>
      <p:sp>
        <p:nvSpPr>
          <p:cNvPr id="11" name="Text 9"/>
          <p:cNvSpPr txBox="1"/>
          <p:nvPr/>
        </p:nvSpPr>
        <p:spPr>
          <a:xfrm>
            <a:off x="914400" y="4195699"/>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Doctors count events per hour of sleep: the Apnea–Hypopnea Index (AHI). A clinical sleep study costs thousands and needs a lab.</a:t>
            </a:r>
            <a:endParaRPr lang="en-US" sz="1550" dirty="0"/>
          </a:p>
        </p:txBody>
      </p:sp>
      <p:sp>
        <p:nvSpPr>
          <p:cNvPr id="12" name="Shape 10"/>
          <p:cNvSpPr/>
          <p:nvPr/>
        </p:nvSpPr>
        <p:spPr>
          <a:xfrm>
            <a:off x="7726680" y="1920240"/>
            <a:ext cx="3776472" cy="2514600"/>
          </a:xfrm>
          <a:prstGeom prst="roundRect">
            <a:avLst>
              <a:gd name="adj" fmla="val 8000"/>
            </a:avLst>
          </a:prstGeom>
          <a:solidFill>
            <a:srgbClr val="000000"/>
          </a:solidFill>
          <a:ln/>
        </p:spPr>
      </p:sp>
      <p:sp>
        <p:nvSpPr>
          <p:cNvPr id="13" name="Text 11"/>
          <p:cNvSpPr txBox="1"/>
          <p:nvPr/>
        </p:nvSpPr>
        <p:spPr>
          <a:xfrm>
            <a:off x="8001000" y="2194560"/>
            <a:ext cx="3291840" cy="685800"/>
          </a:xfrm>
          <a:prstGeom prst="rect">
            <a:avLst/>
          </a:prstGeom>
          <a:noFill/>
          <a:ln/>
        </p:spPr>
        <p:txBody>
          <a:bodyPr wrap="square" lIns="0" tIns="0" rIns="0" bIns="0" rtlCol="0" anchor="t"/>
          <a:lstStyle/>
          <a:p>
            <a:pPr indent="0" marL="0">
              <a:buNone/>
            </a:pPr>
            <a:r>
              <a:rPr lang="en-US" sz="4000" b="1" dirty="0">
                <a:solidFill>
                  <a:srgbClr val="FFFFFF"/>
                </a:solidFill>
                <a:latin typeface="Helvetica Neue" pitchFamily="34" charset="0"/>
                <a:ea typeface="Helvetica Neue" pitchFamily="34" charset="-122"/>
                <a:cs typeface="Helvetica Neue" pitchFamily="34" charset="-120"/>
              </a:rPr>
              <a:t>936 million</a:t>
            </a:r>
            <a:endParaRPr lang="en-US" sz="4000" dirty="0"/>
          </a:p>
        </p:txBody>
      </p:sp>
      <p:sp>
        <p:nvSpPr>
          <p:cNvPr id="14" name="Text 12"/>
          <p:cNvSpPr txBox="1"/>
          <p:nvPr/>
        </p:nvSpPr>
        <p:spPr>
          <a:xfrm>
            <a:off x="8001000" y="2971800"/>
            <a:ext cx="3291840" cy="1280160"/>
          </a:xfrm>
          <a:prstGeom prst="rect">
            <a:avLst/>
          </a:prstGeom>
          <a:noFill/>
          <a:ln/>
        </p:spPr>
        <p:txBody>
          <a:bodyPr wrap="square" lIns="0" tIns="0" rIns="0" bIns="0" rtlCol="0" anchor="t"/>
          <a:lstStyle/>
          <a:p>
            <a:pPr indent="0" marL="0">
              <a:lnSpc>
                <a:spcPct val="105000"/>
              </a:lnSpc>
              <a:buNone/>
            </a:pPr>
            <a:r>
              <a:rPr lang="en-US" sz="1450" dirty="0">
                <a:solidFill>
                  <a:srgbClr val="86868B"/>
                </a:solidFill>
                <a:latin typeface="Helvetica Neue" pitchFamily="34" charset="0"/>
                <a:ea typeface="Helvetica Neue" pitchFamily="34" charset="-122"/>
                <a:cs typeface="Helvetica Neue" pitchFamily="34" charset="-120"/>
              </a:rPr>
              <a:t>adults worldwide have obstructive sleep apnea. Most don’t know it (Benjafield et al., 2019).</a:t>
            </a:r>
            <a:endParaRPr lang="en-US" sz="1450" dirty="0"/>
          </a:p>
        </p:txBody>
      </p:sp>
      <p:sp>
        <p:nvSpPr>
          <p:cNvPr id="15" name="Shape 13"/>
          <p:cNvSpPr/>
          <p:nvPr/>
        </p:nvSpPr>
        <p:spPr>
          <a:xfrm>
            <a:off x="685800" y="4983480"/>
            <a:ext cx="2587752" cy="1234440"/>
          </a:xfrm>
          <a:prstGeom prst="roundRect">
            <a:avLst>
              <a:gd name="adj" fmla="val 16296"/>
            </a:avLst>
          </a:prstGeom>
          <a:solidFill>
            <a:srgbClr val="F5F5F7"/>
          </a:solidFill>
          <a:ln/>
        </p:spPr>
      </p:sp>
      <p:sp>
        <p:nvSpPr>
          <p:cNvPr id="16" name="Text 14"/>
          <p:cNvSpPr txBox="1"/>
          <p:nvPr/>
        </p:nvSpPr>
        <p:spPr>
          <a:xfrm>
            <a:off x="685800" y="5120640"/>
            <a:ext cx="2587752" cy="548640"/>
          </a:xfrm>
          <a:prstGeom prst="rect">
            <a:avLst/>
          </a:prstGeom>
          <a:noFill/>
          <a:ln/>
        </p:spPr>
        <p:txBody>
          <a:bodyPr wrap="square" lIns="0" tIns="0" rIns="0" bIns="0" rtlCol="0" anchor="t"/>
          <a:lstStyle/>
          <a:p>
            <a:pPr algn="ctr" indent="0" marL="0">
              <a:buNone/>
            </a:pPr>
            <a:r>
              <a:rPr lang="en-US" sz="3000" b="1" dirty="0">
                <a:solidFill>
                  <a:srgbClr val="248A3D"/>
                </a:solidFill>
                <a:latin typeface="Helvetica Neue" pitchFamily="34" charset="0"/>
                <a:ea typeface="Helvetica Neue" pitchFamily="34" charset="-122"/>
                <a:cs typeface="Helvetica Neue" pitchFamily="34" charset="-120"/>
              </a:rPr>
              <a:t>&lt; 5</a:t>
            </a:r>
            <a:endParaRPr lang="en-US" sz="3000" dirty="0"/>
          </a:p>
        </p:txBody>
      </p:sp>
      <p:sp>
        <p:nvSpPr>
          <p:cNvPr id="17" name="Text 15"/>
          <p:cNvSpPr txBox="1"/>
          <p:nvPr/>
        </p:nvSpPr>
        <p:spPr>
          <a:xfrm>
            <a:off x="6858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Normal · events per hour</a:t>
            </a:r>
            <a:endParaRPr lang="en-US" sz="1250" dirty="0"/>
          </a:p>
        </p:txBody>
      </p:sp>
      <p:sp>
        <p:nvSpPr>
          <p:cNvPr id="18" name="Shape 16"/>
          <p:cNvSpPr/>
          <p:nvPr/>
        </p:nvSpPr>
        <p:spPr>
          <a:xfrm>
            <a:off x="3429000" y="4983480"/>
            <a:ext cx="2587752" cy="1234440"/>
          </a:xfrm>
          <a:prstGeom prst="roundRect">
            <a:avLst>
              <a:gd name="adj" fmla="val 16296"/>
            </a:avLst>
          </a:prstGeom>
          <a:solidFill>
            <a:srgbClr val="F5F5F7"/>
          </a:solidFill>
          <a:ln/>
        </p:spPr>
      </p:sp>
      <p:sp>
        <p:nvSpPr>
          <p:cNvPr id="19" name="Text 17"/>
          <p:cNvSpPr txBox="1"/>
          <p:nvPr/>
        </p:nvSpPr>
        <p:spPr>
          <a:xfrm>
            <a:off x="3429000" y="5120640"/>
            <a:ext cx="2587752" cy="548640"/>
          </a:xfrm>
          <a:prstGeom prst="rect">
            <a:avLst/>
          </a:prstGeom>
          <a:noFill/>
          <a:ln/>
        </p:spPr>
        <p:txBody>
          <a:bodyPr wrap="square" lIns="0" tIns="0" rIns="0" bIns="0" rtlCol="0" anchor="t"/>
          <a:lstStyle/>
          <a:p>
            <a:pPr algn="ctr" indent="0" marL="0">
              <a:buNone/>
            </a:pPr>
            <a:r>
              <a:rPr lang="en-US" sz="3000" b="1" dirty="0">
                <a:solidFill>
                  <a:srgbClr val="C45500"/>
                </a:solidFill>
                <a:latin typeface="Helvetica Neue" pitchFamily="34" charset="0"/>
                <a:ea typeface="Helvetica Neue" pitchFamily="34" charset="-122"/>
                <a:cs typeface="Helvetica Neue" pitchFamily="34" charset="-120"/>
              </a:rPr>
              <a:t>5–15</a:t>
            </a:r>
            <a:endParaRPr lang="en-US" sz="3000" dirty="0"/>
          </a:p>
        </p:txBody>
      </p:sp>
      <p:sp>
        <p:nvSpPr>
          <p:cNvPr id="20" name="Text 18"/>
          <p:cNvSpPr txBox="1"/>
          <p:nvPr/>
        </p:nvSpPr>
        <p:spPr>
          <a:xfrm>
            <a:off x="34290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Mild · events per hour</a:t>
            </a:r>
            <a:endParaRPr lang="en-US" sz="1250" dirty="0"/>
          </a:p>
        </p:txBody>
      </p:sp>
      <p:sp>
        <p:nvSpPr>
          <p:cNvPr id="21" name="Shape 19"/>
          <p:cNvSpPr/>
          <p:nvPr/>
        </p:nvSpPr>
        <p:spPr>
          <a:xfrm>
            <a:off x="6172200" y="4983480"/>
            <a:ext cx="2587752" cy="1234440"/>
          </a:xfrm>
          <a:prstGeom prst="roundRect">
            <a:avLst>
              <a:gd name="adj" fmla="val 16296"/>
            </a:avLst>
          </a:prstGeom>
          <a:solidFill>
            <a:srgbClr val="F5F5F7"/>
          </a:solidFill>
          <a:ln/>
        </p:spPr>
      </p:sp>
      <p:sp>
        <p:nvSpPr>
          <p:cNvPr id="22" name="Text 20"/>
          <p:cNvSpPr txBox="1"/>
          <p:nvPr/>
        </p:nvSpPr>
        <p:spPr>
          <a:xfrm>
            <a:off x="6172200" y="5120640"/>
            <a:ext cx="2587752" cy="548640"/>
          </a:xfrm>
          <a:prstGeom prst="rect">
            <a:avLst/>
          </a:prstGeom>
          <a:noFill/>
          <a:ln/>
        </p:spPr>
        <p:txBody>
          <a:bodyPr wrap="square" lIns="0" tIns="0" rIns="0" bIns="0" rtlCol="0" anchor="t"/>
          <a:lstStyle/>
          <a:p>
            <a:pPr algn="ctr" indent="0" marL="0">
              <a:buNone/>
            </a:pPr>
            <a:r>
              <a:rPr lang="en-US" sz="3000" b="1" dirty="0">
                <a:solidFill>
                  <a:srgbClr val="B4410B"/>
                </a:solidFill>
                <a:latin typeface="Helvetica Neue" pitchFamily="34" charset="0"/>
                <a:ea typeface="Helvetica Neue" pitchFamily="34" charset="-122"/>
                <a:cs typeface="Helvetica Neue" pitchFamily="34" charset="-120"/>
              </a:rPr>
              <a:t>15–30</a:t>
            </a:r>
            <a:endParaRPr lang="en-US" sz="3000" dirty="0"/>
          </a:p>
        </p:txBody>
      </p:sp>
      <p:sp>
        <p:nvSpPr>
          <p:cNvPr id="23" name="Text 21"/>
          <p:cNvSpPr txBox="1"/>
          <p:nvPr/>
        </p:nvSpPr>
        <p:spPr>
          <a:xfrm>
            <a:off x="61722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Moderate · events per hour</a:t>
            </a:r>
            <a:endParaRPr lang="en-US" sz="1250" dirty="0"/>
          </a:p>
        </p:txBody>
      </p:sp>
      <p:sp>
        <p:nvSpPr>
          <p:cNvPr id="24" name="Shape 22"/>
          <p:cNvSpPr/>
          <p:nvPr/>
        </p:nvSpPr>
        <p:spPr>
          <a:xfrm>
            <a:off x="8915400" y="4983480"/>
            <a:ext cx="2587752" cy="1234440"/>
          </a:xfrm>
          <a:prstGeom prst="roundRect">
            <a:avLst>
              <a:gd name="adj" fmla="val 16296"/>
            </a:avLst>
          </a:prstGeom>
          <a:solidFill>
            <a:srgbClr val="F5F5F7"/>
          </a:solidFill>
          <a:ln/>
        </p:spPr>
      </p:sp>
      <p:sp>
        <p:nvSpPr>
          <p:cNvPr id="25" name="Text 23"/>
          <p:cNvSpPr txBox="1"/>
          <p:nvPr/>
        </p:nvSpPr>
        <p:spPr>
          <a:xfrm>
            <a:off x="8915400" y="5120640"/>
            <a:ext cx="2587752" cy="548640"/>
          </a:xfrm>
          <a:prstGeom prst="rect">
            <a:avLst/>
          </a:prstGeom>
          <a:noFill/>
          <a:ln/>
        </p:spPr>
        <p:txBody>
          <a:bodyPr wrap="square" lIns="0" tIns="0" rIns="0" bIns="0" rtlCol="0" anchor="t"/>
          <a:lstStyle/>
          <a:p>
            <a:pPr algn="ctr" indent="0" marL="0">
              <a:buNone/>
            </a:pPr>
            <a:r>
              <a:rPr lang="en-US" sz="3000" b="1" dirty="0">
                <a:solidFill>
                  <a:srgbClr val="D70015"/>
                </a:solidFill>
                <a:latin typeface="Helvetica Neue" pitchFamily="34" charset="0"/>
                <a:ea typeface="Helvetica Neue" pitchFamily="34" charset="-122"/>
                <a:cs typeface="Helvetica Neue" pitchFamily="34" charset="-120"/>
              </a:rPr>
              <a:t>&gt; 30</a:t>
            </a:r>
            <a:endParaRPr lang="en-US" sz="3000" dirty="0"/>
          </a:p>
        </p:txBody>
      </p:sp>
      <p:sp>
        <p:nvSpPr>
          <p:cNvPr id="26" name="Text 24"/>
          <p:cNvSpPr txBox="1"/>
          <p:nvPr/>
        </p:nvSpPr>
        <p:spPr>
          <a:xfrm>
            <a:off x="89154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Severe · events per hour</a:t>
            </a:r>
            <a:endParaRPr lang="en-US" sz="1250" dirty="0"/>
          </a:p>
        </p:txBody>
      </p:sp>
      <p:sp>
        <p:nvSpPr>
          <p:cNvPr id="27" name="Text 25"/>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8" name="Text 26"/>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algn="ctr" indent="0" marL="0">
              <a:buNone/>
            </a:pPr>
            <a:r>
              <a:rPr lang="en-US" sz="1600" b="1" dirty="0">
                <a:solidFill>
                  <a:srgbClr val="FF375F"/>
                </a:solidFill>
                <a:latin typeface="Helvetica Neue" pitchFamily="34" charset="0"/>
                <a:ea typeface="Helvetica Neue" pitchFamily="34" charset="-122"/>
                <a:cs typeface="Helvetica Neue" pitchFamily="34" charset="-120"/>
              </a:rPr>
              <a:t>Design</a:t>
            </a:r>
            <a:endParaRPr lang="en-US" sz="1600" dirty="0"/>
          </a:p>
        </p:txBody>
      </p:sp>
      <p:sp>
        <p:nvSpPr>
          <p:cNvPr id="3" name="Text 1"/>
          <p:cNvSpPr txBox="1"/>
          <p:nvPr/>
        </p:nvSpPr>
        <p:spPr>
          <a:xfrm>
            <a:off x="685800" y="822960"/>
            <a:ext cx="10789920" cy="868680"/>
          </a:xfrm>
          <a:prstGeom prst="rect">
            <a:avLst/>
          </a:prstGeom>
          <a:noFill/>
          <a:ln/>
        </p:spPr>
        <p:txBody>
          <a:bodyPr wrap="square" lIns="0" tIns="0" rIns="0" bIns="0" rtlCol="0" anchor="t"/>
          <a:lstStyle/>
          <a:p>
            <a:pPr algn="ctr" indent="0" marL="0">
              <a:lnSpc>
                <a:spcPct val="92000"/>
              </a:lnSpc>
              <a:buNone/>
            </a:pPr>
            <a:r>
              <a:rPr lang="en-US" sz="4800" b="1" dirty="0">
                <a:solidFill>
                  <a:srgbClr val="FFFFFF"/>
                </a:solidFill>
                <a:latin typeface="Helvetica Neue" pitchFamily="34" charset="0"/>
                <a:ea typeface="Helvetica Neue" pitchFamily="34" charset="-122"/>
                <a:cs typeface="Helvetica Neue" pitchFamily="34" charset="-120"/>
              </a:rPr>
              <a:t>The wearable.</a:t>
            </a:r>
            <a:endParaRPr lang="en-US" sz="4800" dirty="0"/>
          </a:p>
        </p:txBody>
      </p:sp>
      <p:pic>
        <p:nvPicPr>
          <p:cNvPr id="4" name="Image 0" descr="/home/user/teetomivV2/science-fair/night-signal/slides/assets/hero_alpha.png">    </p:cNvPr>
          <p:cNvPicPr>
            <a:picLocks noChangeAspect="1"/>
          </p:cNvPicPr>
          <p:nvPr/>
        </p:nvPicPr>
        <p:blipFill>
          <a:blip r:embed="rId2"/>
          <a:stretch>
            <a:fillRect/>
          </a:stretch>
        </p:blipFill>
        <p:spPr>
          <a:xfrm>
            <a:off x="2333661" y="1737360"/>
            <a:ext cx="3279203" cy="3200400"/>
          </a:xfrm>
          <a:prstGeom prst="rect">
            <a:avLst/>
          </a:prstGeom>
        </p:spPr>
      </p:pic>
      <p:pic>
        <p:nvPicPr>
          <p:cNvPr id="5" name="Image 1" descr="/home/user/teetomivV2/science-fair/night-signal/slides/assets/exploded_alpha.png">    </p:cNvPr>
          <p:cNvPicPr>
            <a:picLocks noChangeAspect="1"/>
          </p:cNvPicPr>
          <p:nvPr/>
        </p:nvPicPr>
        <p:blipFill>
          <a:blip r:embed="rId3"/>
          <a:stretch>
            <a:fillRect/>
          </a:stretch>
        </p:blipFill>
        <p:spPr>
          <a:xfrm>
            <a:off x="6527263" y="1737360"/>
            <a:ext cx="3330771" cy="3200400"/>
          </a:xfrm>
          <a:prstGeom prst="rect">
            <a:avLst/>
          </a:prstGeom>
        </p:spPr>
      </p:pic>
      <p:sp>
        <p:nvSpPr>
          <p:cNvPr id="6" name="Text 2"/>
          <p:cNvSpPr txBox="1"/>
          <p:nvPr/>
        </p:nvSpPr>
        <p:spPr>
          <a:xfrm>
            <a:off x="2059341" y="4983480"/>
            <a:ext cx="3827843"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v2 design: sealed case on a velcro strap</a:t>
            </a:r>
            <a:endParaRPr lang="en-US" sz="1200" dirty="0"/>
          </a:p>
        </p:txBody>
      </p:sp>
      <p:sp>
        <p:nvSpPr>
          <p:cNvPr id="7" name="Text 3"/>
          <p:cNvSpPr txBox="1"/>
          <p:nvPr/>
        </p:nvSpPr>
        <p:spPr>
          <a:xfrm>
            <a:off x="6252943" y="4983480"/>
            <a:ext cx="3879411"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Exploded: every v2 part at its real size</a:t>
            </a:r>
            <a:endParaRPr lang="en-US" sz="1200" dirty="0"/>
          </a:p>
        </p:txBody>
      </p:sp>
      <p:sp>
        <p:nvSpPr>
          <p:cNvPr id="8" name="Text 4"/>
          <p:cNvSpPr txBox="1"/>
          <p:nvPr/>
        </p:nvSpPr>
        <p:spPr>
          <a:xfrm>
            <a:off x="68580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Prototype v1</a:t>
            </a:r>
            <a:endParaRPr lang="en-US" sz="2200" dirty="0"/>
          </a:p>
        </p:txBody>
      </p:sp>
      <p:sp>
        <p:nvSpPr>
          <p:cNvPr id="9" name="Text 5"/>
          <p:cNvSpPr txBox="1"/>
          <p:nvPr/>
        </p:nvSpPr>
        <p:spPr>
          <a:xfrm>
            <a:off x="68580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armband + plug-in wires</a:t>
            </a:r>
            <a:endParaRPr lang="en-US" sz="1300" dirty="0"/>
          </a:p>
        </p:txBody>
      </p:sp>
      <p:sp>
        <p:nvSpPr>
          <p:cNvPr id="10" name="Text 6"/>
          <p:cNvSpPr txBox="1"/>
          <p:nvPr/>
        </p:nvSpPr>
        <p:spPr>
          <a:xfrm>
            <a:off x="292608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All night</a:t>
            </a:r>
            <a:endParaRPr lang="en-US" sz="2200" dirty="0"/>
          </a:p>
        </p:txBody>
      </p:sp>
      <p:sp>
        <p:nvSpPr>
          <p:cNvPr id="11" name="Text 7"/>
          <p:cNvSpPr txBox="1"/>
          <p:nvPr/>
        </p:nvSpPr>
        <p:spPr>
          <a:xfrm>
            <a:off x="292608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USB power</a:t>
            </a:r>
            <a:endParaRPr lang="en-US" sz="1300" dirty="0"/>
          </a:p>
        </p:txBody>
      </p:sp>
      <p:sp>
        <p:nvSpPr>
          <p:cNvPr id="12" name="Text 8"/>
          <p:cNvSpPr txBox="1"/>
          <p:nvPr/>
        </p:nvSpPr>
        <p:spPr>
          <a:xfrm>
            <a:off x="516636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14 × 14 mm</a:t>
            </a:r>
            <a:endParaRPr lang="en-US" sz="2200" dirty="0"/>
          </a:p>
        </p:txBody>
      </p:sp>
      <p:sp>
        <p:nvSpPr>
          <p:cNvPr id="13" name="Text 9"/>
          <p:cNvSpPr txBox="1"/>
          <p:nvPr/>
        </p:nvSpPr>
        <p:spPr>
          <a:xfrm>
            <a:off x="516636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finger sensor</a:t>
            </a:r>
            <a:endParaRPr lang="en-US" sz="1300" dirty="0"/>
          </a:p>
        </p:txBody>
      </p:sp>
      <p:sp>
        <p:nvSpPr>
          <p:cNvPr id="14" name="Text 10"/>
          <p:cNvSpPr txBox="1"/>
          <p:nvPr/>
        </p:nvSpPr>
        <p:spPr>
          <a:xfrm>
            <a:off x="740664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 / second</a:t>
            </a:r>
            <a:endParaRPr lang="en-US" sz="2200" dirty="0"/>
          </a:p>
        </p:txBody>
      </p:sp>
      <p:sp>
        <p:nvSpPr>
          <p:cNvPr id="15" name="Text 11"/>
          <p:cNvSpPr txBox="1"/>
          <p:nvPr/>
        </p:nvSpPr>
        <p:spPr>
          <a:xfrm>
            <a:off x="740664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readings</a:t>
            </a:r>
            <a:endParaRPr lang="en-US" sz="1300" dirty="0"/>
          </a:p>
        </p:txBody>
      </p:sp>
      <p:sp>
        <p:nvSpPr>
          <p:cNvPr id="16" name="Shape 12"/>
          <p:cNvSpPr/>
          <p:nvPr/>
        </p:nvSpPr>
        <p:spPr>
          <a:xfrm>
            <a:off x="10552176" y="5367528"/>
            <a:ext cx="1014984" cy="1014984"/>
          </a:xfrm>
          <a:prstGeom prst="roundRect">
            <a:avLst>
              <a:gd name="adj" fmla="val 19820"/>
            </a:avLst>
          </a:prstGeom>
          <a:solidFill>
            <a:srgbClr val="FFFFFF"/>
          </a:solidFill>
          <a:ln/>
        </p:spPr>
      </p:sp>
      <p:pic>
        <p:nvPicPr>
          <p:cNvPr id="17" name="Image 2"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625328" y="5440680"/>
            <a:ext cx="868680" cy="868680"/>
          </a:xfrm>
          <a:prstGeom prst="rect">
            <a:avLst/>
          </a:prstGeom>
        </p:spPr>
      </p:pic>
      <p:sp>
        <p:nvSpPr>
          <p:cNvPr id="18" name="Text 13"/>
          <p:cNvSpPr txBox="1"/>
          <p:nvPr/>
        </p:nvSpPr>
        <p:spPr>
          <a:xfrm>
            <a:off x="9235440" y="5715000"/>
            <a:ext cx="1280160" cy="310896"/>
          </a:xfrm>
          <a:prstGeom prst="rect">
            <a:avLst/>
          </a:prstGeom>
          <a:noFill/>
          <a:ln/>
        </p:spPr>
        <p:txBody>
          <a:bodyPr wrap="square" lIns="0" tIns="0" rIns="0" bIns="0" rtlCol="0" anchor="ctr"/>
          <a:lstStyle/>
          <a:p>
            <a:pPr algn="r" indent="0" marL="0">
              <a:buNone/>
            </a:pPr>
            <a:r>
              <a:rPr lang="en-US" sz="1300" u="sng" dirty="0">
                <a:solidFill>
                  <a:srgbClr val="2997FF"/>
                </a:solidFill>
                <a:latin typeface="Helvetica Neue" pitchFamily="34" charset="0"/>
                <a:ea typeface="Helvetica Neue" pitchFamily="34" charset="-122"/>
                <a:cs typeface="Helvetica Neue" pitchFamily="34" charset="-120"/>
                <a:hlinkClick r:id="rId6" invalidUrl="" action="" tgtFrame="" tooltip="https://gabrielamamanestudent-wq.github.io/teetomivV2/science-fair/night-signal/app/3d.html" history="1" highlightClick="0" endSnd="0">
                  <a:extLst>
                    <a:ext uri="{A12FA001-AC4F-418D-AE19-62706E023703}">
                      <ahyp:hlinkClr xmlns:ahyp="http://schemas.microsoft.com/office/drawing/2018/hyperlinkcolor" val="tx"/>
                    </a:ext>
                  </a:extLst>
                </a:hlinkClick>
              </a:rPr>
              <a:t>Interactive 3D ›</a:t>
            </a:r>
            <a:endParaRPr lang="en-US" sz="1300" dirty="0"/>
          </a:p>
        </p:txBody>
      </p:sp>
      <p:sp>
        <p:nvSpPr>
          <p:cNvPr id="19"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0"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How it works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From fingertip to sleep report.</a:t>
            </a:r>
            <a:endParaRPr lang="en-US" sz="4000" dirty="0"/>
          </a:p>
        </p:txBody>
      </p:sp>
      <p:sp>
        <p:nvSpPr>
          <p:cNvPr id="4" name="Shape 2"/>
          <p:cNvSpPr/>
          <p:nvPr/>
        </p:nvSpPr>
        <p:spPr>
          <a:xfrm>
            <a:off x="685800" y="1920240"/>
            <a:ext cx="2542032" cy="1417320"/>
          </a:xfrm>
          <a:prstGeom prst="roundRect">
            <a:avLst>
              <a:gd name="adj" fmla="val 14194"/>
            </a:avLst>
          </a:prstGeom>
          <a:solidFill>
            <a:srgbClr val="F5F5F7"/>
          </a:solidFill>
          <a:ln/>
        </p:spPr>
      </p:sp>
      <p:sp>
        <p:nvSpPr>
          <p:cNvPr id="5" name="Text 3"/>
          <p:cNvSpPr txBox="1"/>
          <p:nvPr/>
        </p:nvSpPr>
        <p:spPr>
          <a:xfrm>
            <a:off x="9418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01</a:t>
            </a:r>
            <a:endParaRPr lang="en-US" sz="1300" dirty="0"/>
          </a:p>
        </p:txBody>
      </p:sp>
      <p:sp>
        <p:nvSpPr>
          <p:cNvPr id="6" name="Text 4"/>
          <p:cNvSpPr txBox="1"/>
          <p:nvPr/>
        </p:nvSpPr>
        <p:spPr>
          <a:xfrm>
            <a:off x="9418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Finger sensor</a:t>
            </a:r>
            <a:endParaRPr lang="en-US" sz="1700" dirty="0"/>
          </a:p>
        </p:txBody>
      </p:sp>
      <p:sp>
        <p:nvSpPr>
          <p:cNvPr id="7" name="Text 5"/>
          <p:cNvSpPr txBox="1"/>
          <p:nvPr/>
        </p:nvSpPr>
        <p:spPr>
          <a:xfrm>
            <a:off x="9418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MAX30102 · red + infrared light</a:t>
            </a:r>
            <a:endParaRPr lang="en-US" sz="1250" dirty="0"/>
          </a:p>
        </p:txBody>
      </p:sp>
      <p:sp>
        <p:nvSpPr>
          <p:cNvPr id="8" name="Shape 6"/>
          <p:cNvSpPr/>
          <p:nvPr/>
        </p:nvSpPr>
        <p:spPr>
          <a:xfrm>
            <a:off x="3429000" y="1920240"/>
            <a:ext cx="2542032" cy="1417320"/>
          </a:xfrm>
          <a:prstGeom prst="roundRect">
            <a:avLst>
              <a:gd name="adj" fmla="val 14194"/>
            </a:avLst>
          </a:prstGeom>
          <a:solidFill>
            <a:srgbClr val="F5F5F7"/>
          </a:solidFill>
          <a:ln/>
        </p:spPr>
      </p:sp>
      <p:sp>
        <p:nvSpPr>
          <p:cNvPr id="9" name="Text 7"/>
          <p:cNvSpPr txBox="1"/>
          <p:nvPr/>
        </p:nvSpPr>
        <p:spPr>
          <a:xfrm>
            <a:off x="36850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02</a:t>
            </a:r>
            <a:endParaRPr lang="en-US" sz="1300" dirty="0"/>
          </a:p>
        </p:txBody>
      </p:sp>
      <p:sp>
        <p:nvSpPr>
          <p:cNvPr id="10" name="Text 8"/>
          <p:cNvSpPr txBox="1"/>
          <p:nvPr/>
        </p:nvSpPr>
        <p:spPr>
          <a:xfrm>
            <a:off x="36850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ESP32 on the arm</a:t>
            </a:r>
            <a:endParaRPr lang="en-US" sz="1700" dirty="0"/>
          </a:p>
        </p:txBody>
      </p:sp>
      <p:sp>
        <p:nvSpPr>
          <p:cNvPr id="11" name="Text 9"/>
          <p:cNvSpPr txBox="1"/>
          <p:nvPr/>
        </p:nvSpPr>
        <p:spPr>
          <a:xfrm>
            <a:off x="36850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computes SpO₂ + pulse, reads position</a:t>
            </a:r>
            <a:endParaRPr lang="en-US" sz="1250" dirty="0"/>
          </a:p>
        </p:txBody>
      </p:sp>
      <p:sp>
        <p:nvSpPr>
          <p:cNvPr id="12" name="Shape 10"/>
          <p:cNvSpPr/>
          <p:nvPr/>
        </p:nvSpPr>
        <p:spPr>
          <a:xfrm>
            <a:off x="6172200" y="1920240"/>
            <a:ext cx="2542032" cy="1417320"/>
          </a:xfrm>
          <a:prstGeom prst="roundRect">
            <a:avLst>
              <a:gd name="adj" fmla="val 14194"/>
            </a:avLst>
          </a:prstGeom>
          <a:solidFill>
            <a:srgbClr val="F5F5F7"/>
          </a:solidFill>
          <a:ln/>
        </p:spPr>
      </p:sp>
      <p:sp>
        <p:nvSpPr>
          <p:cNvPr id="13" name="Text 11"/>
          <p:cNvSpPr txBox="1"/>
          <p:nvPr/>
        </p:nvSpPr>
        <p:spPr>
          <a:xfrm>
            <a:off x="64282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03</a:t>
            </a:r>
            <a:endParaRPr lang="en-US" sz="1300" dirty="0"/>
          </a:p>
        </p:txBody>
      </p:sp>
      <p:sp>
        <p:nvSpPr>
          <p:cNvPr id="14" name="Text 12"/>
          <p:cNvSpPr txBox="1"/>
          <p:nvPr/>
        </p:nvSpPr>
        <p:spPr>
          <a:xfrm>
            <a:off x="64282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Bluetooth or USB</a:t>
            </a:r>
            <a:endParaRPr lang="en-US" sz="1700" dirty="0"/>
          </a:p>
        </p:txBody>
      </p:sp>
      <p:sp>
        <p:nvSpPr>
          <p:cNvPr id="15" name="Text 13"/>
          <p:cNvSpPr txBox="1"/>
          <p:nvPr/>
        </p:nvSpPr>
        <p:spPr>
          <a:xfrm>
            <a:off x="64282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one line of data every second</a:t>
            </a:r>
            <a:endParaRPr lang="en-US" sz="1250" dirty="0"/>
          </a:p>
        </p:txBody>
      </p:sp>
      <p:sp>
        <p:nvSpPr>
          <p:cNvPr id="16" name="Shape 14"/>
          <p:cNvSpPr/>
          <p:nvPr/>
        </p:nvSpPr>
        <p:spPr>
          <a:xfrm>
            <a:off x="8915400" y="1920240"/>
            <a:ext cx="2542032" cy="1417320"/>
          </a:xfrm>
          <a:prstGeom prst="roundRect">
            <a:avLst>
              <a:gd name="adj" fmla="val 14194"/>
            </a:avLst>
          </a:prstGeom>
          <a:solidFill>
            <a:srgbClr val="F5F5F7"/>
          </a:solidFill>
          <a:ln/>
        </p:spPr>
      </p:sp>
      <p:sp>
        <p:nvSpPr>
          <p:cNvPr id="17" name="Text 15"/>
          <p:cNvSpPr txBox="1"/>
          <p:nvPr/>
        </p:nvSpPr>
        <p:spPr>
          <a:xfrm>
            <a:off x="91714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04</a:t>
            </a:r>
            <a:endParaRPr lang="en-US" sz="1300" dirty="0"/>
          </a:p>
        </p:txBody>
      </p:sp>
      <p:sp>
        <p:nvSpPr>
          <p:cNvPr id="18" name="Text 16"/>
          <p:cNvSpPr txBox="1"/>
          <p:nvPr/>
        </p:nvSpPr>
        <p:spPr>
          <a:xfrm>
            <a:off x="91714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App + analysis</a:t>
            </a:r>
            <a:endParaRPr lang="en-US" sz="1700" dirty="0"/>
          </a:p>
        </p:txBody>
      </p:sp>
      <p:sp>
        <p:nvSpPr>
          <p:cNvPr id="19" name="Text 17"/>
          <p:cNvSpPr txBox="1"/>
          <p:nvPr/>
        </p:nvSpPr>
        <p:spPr>
          <a:xfrm>
            <a:off x="91714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events, AHI, heart, breathing</a:t>
            </a:r>
            <a:endParaRPr lang="en-US" sz="1250" dirty="0"/>
          </a:p>
        </p:txBody>
      </p:sp>
      <p:sp>
        <p:nvSpPr>
          <p:cNvPr id="20" name="Text 18"/>
          <p:cNvSpPr txBox="1"/>
          <p:nvPr/>
        </p:nvSpPr>
        <p:spPr>
          <a:xfrm>
            <a:off x="685800" y="3657600"/>
            <a:ext cx="107899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 built-in self-test proves it’s working before every recording.</a:t>
            </a:r>
            <a:endParaRPr lang="en-US" sz="1700" dirty="0"/>
          </a:p>
        </p:txBody>
      </p:sp>
      <p:sp>
        <p:nvSpPr>
          <p:cNvPr id="21" name="Shape 19"/>
          <p:cNvSpPr/>
          <p:nvPr/>
        </p:nvSpPr>
        <p:spPr>
          <a:xfrm>
            <a:off x="685800" y="4133088"/>
            <a:ext cx="6400800" cy="2194560"/>
          </a:xfrm>
          <a:prstGeom prst="roundRect">
            <a:avLst>
              <a:gd name="adj" fmla="val 9167"/>
            </a:avLst>
          </a:prstGeom>
          <a:solidFill>
            <a:srgbClr val="000000"/>
          </a:solidFill>
          <a:ln/>
        </p:spPr>
      </p:sp>
      <p:sp>
        <p:nvSpPr>
          <p:cNvPr id="22" name="Text 20"/>
          <p:cNvSpPr txBox="1"/>
          <p:nvPr/>
        </p:nvSpPr>
        <p:spPr>
          <a:xfrm>
            <a:off x="960120" y="4315968"/>
            <a:ext cx="5943600" cy="1920240"/>
          </a:xfrm>
          <a:prstGeom prst="rect">
            <a:avLst/>
          </a:prstGeom>
          <a:noFill/>
          <a:ln/>
        </p:spPr>
        <p:txBody>
          <a:bodyPr wrap="square" lIns="0" tIns="0" rIns="0" bIns="0" rtlCol="0" anchor="t"/>
          <a:lstStyle/>
          <a:p>
            <a:pPr indent="0" marL="0">
              <a:spcAft>
                <a:spcPts val="300"/>
              </a:spcAft>
              <a:buNone/>
            </a:pPr>
            <a:r>
              <a:rPr lang="en-US" sz="1250" dirty="0">
                <a:solidFill>
                  <a:srgbClr val="86868B"/>
                </a:solidFill>
                <a:latin typeface="Menlo" pitchFamily="34" charset="0"/>
                <a:ea typeface="Menlo" pitchFamily="34" charset="-122"/>
                <a:cs typeface="Menlo" pitchFamily="34" charset="-120"/>
              </a:rPr>
              <a:t>$ python check_device.py --port /dev/cu.NightSignal</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Data arriving        1 reading/s</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Self-test            oxygen OK · motion OK</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Finger on sensor     100%</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Believable values    SpO2 97–98%, HR 60–64</a:t>
            </a:r>
            <a:endParaRPr lang="en-US" sz="1250" dirty="0"/>
          </a:p>
          <a:p>
            <a:pPr indent="0" marL="0">
              <a:spcAft>
                <a:spcPts val="300"/>
              </a:spcAft>
              <a:buNone/>
            </a:pPr>
            <a:r>
              <a:rPr lang="en-US" sz="1250" b="1" dirty="0">
                <a:solidFill>
                  <a:srgbClr val="FFFFFF"/>
                </a:solidFill>
                <a:latin typeface="Menlo" pitchFamily="34" charset="0"/>
                <a:ea typeface="Menlo" pitchFamily="34" charset="-122"/>
                <a:cs typeface="Menlo" pitchFamily="34" charset="-120"/>
              </a:rPr>
              <a:t>RESULT: READY — sending real data</a:t>
            </a:r>
            <a:endParaRPr lang="en-US" sz="1250" dirty="0"/>
          </a:p>
        </p:txBody>
      </p:sp>
      <p:sp>
        <p:nvSpPr>
          <p:cNvPr id="23" name="Shape 21"/>
          <p:cNvSpPr/>
          <p:nvPr/>
        </p:nvSpPr>
        <p:spPr>
          <a:xfrm>
            <a:off x="7452360" y="4303852"/>
            <a:ext cx="73152" cy="73152"/>
          </a:xfrm>
          <a:prstGeom prst="ellipse">
            <a:avLst/>
          </a:prstGeom>
          <a:solidFill>
            <a:srgbClr val="A1A1A6"/>
          </a:solidFill>
          <a:ln/>
        </p:spPr>
      </p:sp>
      <p:sp>
        <p:nvSpPr>
          <p:cNvPr id="24" name="Text 22"/>
          <p:cNvSpPr txBox="1"/>
          <p:nvPr/>
        </p:nvSpPr>
        <p:spPr>
          <a:xfrm>
            <a:off x="7680960" y="4206240"/>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Firmware re-checks both sensors every 30 s.</a:t>
            </a:r>
            <a:endParaRPr lang="en-US" sz="1500" dirty="0"/>
          </a:p>
        </p:txBody>
      </p:sp>
      <p:sp>
        <p:nvSpPr>
          <p:cNvPr id="25" name="Shape 23"/>
          <p:cNvSpPr/>
          <p:nvPr/>
        </p:nvSpPr>
        <p:spPr>
          <a:xfrm>
            <a:off x="7452360" y="4914976"/>
            <a:ext cx="73152" cy="73152"/>
          </a:xfrm>
          <a:prstGeom prst="ellipse">
            <a:avLst/>
          </a:prstGeom>
          <a:solidFill>
            <a:srgbClr val="A1A1A6"/>
          </a:solidFill>
          <a:ln/>
        </p:spPr>
      </p:sp>
      <p:sp>
        <p:nvSpPr>
          <p:cNvPr id="26" name="Text 24"/>
          <p:cNvSpPr txBox="1"/>
          <p:nvPr/>
        </p:nvSpPr>
        <p:spPr>
          <a:xfrm>
            <a:off x="7680960" y="4817364"/>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No finger: readings are marked invalid, never trusted.</a:t>
            </a:r>
            <a:endParaRPr lang="en-US" sz="1500" dirty="0"/>
          </a:p>
        </p:txBody>
      </p:sp>
      <p:sp>
        <p:nvSpPr>
          <p:cNvPr id="27" name="Shape 25"/>
          <p:cNvSpPr/>
          <p:nvPr/>
        </p:nvSpPr>
        <p:spPr>
          <a:xfrm>
            <a:off x="7452360" y="5526100"/>
            <a:ext cx="73152" cy="73152"/>
          </a:xfrm>
          <a:prstGeom prst="ellipse">
            <a:avLst/>
          </a:prstGeom>
          <a:solidFill>
            <a:srgbClr val="A1A1A6"/>
          </a:solidFill>
          <a:ln/>
        </p:spPr>
      </p:sp>
      <p:sp>
        <p:nvSpPr>
          <p:cNvPr id="28" name="Text 26"/>
          <p:cNvSpPr txBox="1"/>
          <p:nvPr/>
        </p:nvSpPr>
        <p:spPr>
          <a:xfrm>
            <a:off x="7680960" y="5428488"/>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The app shows the same checks live, every second.</a:t>
            </a:r>
            <a:endParaRPr lang="en-US" sz="1500" dirty="0"/>
          </a:p>
        </p:txBody>
      </p:sp>
      <p:sp>
        <p:nvSpPr>
          <p:cNvPr id="29" name="Shape 27"/>
          <p:cNvSpPr/>
          <p:nvPr/>
        </p:nvSpPr>
        <p:spPr>
          <a:xfrm>
            <a:off x="7452360" y="6137224"/>
            <a:ext cx="73152" cy="73152"/>
          </a:xfrm>
          <a:prstGeom prst="ellipse">
            <a:avLst/>
          </a:prstGeom>
          <a:solidFill>
            <a:srgbClr val="A1A1A6"/>
          </a:solidFill>
          <a:ln/>
        </p:spPr>
      </p:sp>
      <p:sp>
        <p:nvSpPr>
          <p:cNvPr id="30" name="Text 28"/>
          <p:cNvSpPr txBox="1"/>
          <p:nvPr/>
        </p:nvSpPr>
        <p:spPr>
          <a:xfrm>
            <a:off x="7680960" y="6039612"/>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A broken sensor is caught: “NOT READY”.</a:t>
            </a:r>
            <a:endParaRPr lang="en-US" sz="1500" dirty="0"/>
          </a:p>
        </p:txBody>
      </p:sp>
      <p:sp>
        <p:nvSpPr>
          <p:cNvPr id="31" name="Text 29"/>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32" name="Text 30"/>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Experimental protocol</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How I test it.</a:t>
            </a:r>
            <a:endParaRPr lang="en-US" sz="4000" dirty="0"/>
          </a:p>
        </p:txBody>
      </p:sp>
      <p:sp>
        <p:nvSpPr>
          <p:cNvPr id="4" name="Shape 2"/>
          <p:cNvSpPr/>
          <p:nvPr/>
        </p:nvSpPr>
        <p:spPr>
          <a:xfrm>
            <a:off x="685800" y="1920240"/>
            <a:ext cx="475488" cy="475488"/>
          </a:xfrm>
          <a:prstGeom prst="ellipse">
            <a:avLst/>
          </a:prstGeom>
          <a:solidFill>
            <a:srgbClr val="0071E3"/>
          </a:solidFill>
          <a:ln/>
        </p:spPr>
      </p:sp>
      <p:sp>
        <p:nvSpPr>
          <p:cNvPr id="5" name="Text 3"/>
          <p:cNvSpPr txBox="1"/>
          <p:nvPr/>
        </p:nvSpPr>
        <p:spPr>
          <a:xfrm>
            <a:off x="685800" y="19202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1</a:t>
            </a:r>
            <a:endParaRPr lang="en-US" sz="1700" dirty="0"/>
          </a:p>
        </p:txBody>
      </p:sp>
      <p:sp>
        <p:nvSpPr>
          <p:cNvPr id="6" name="Text 4"/>
          <p:cNvSpPr txBox="1"/>
          <p:nvPr/>
        </p:nvSpPr>
        <p:spPr>
          <a:xfrm>
            <a:off x="1371600" y="1984248"/>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Device check   </a:t>
            </a:r>
            <a:pPr indent="0" marL="0">
              <a:buNone/>
            </a:pPr>
            <a:r>
              <a:rPr lang="en-US" sz="1550" dirty="0">
                <a:solidFill>
                  <a:srgbClr val="6E6E73"/>
                </a:solidFill>
                <a:latin typeface="Helvetica Neue" pitchFamily="34" charset="0"/>
                <a:ea typeface="Helvetica Neue" pitchFamily="34" charset="-122"/>
                <a:cs typeface="Helvetica Neue" pitchFamily="34" charset="-120"/>
              </a:rPr>
              <a:t>every session must pass check_device.py</a:t>
            </a:r>
            <a:endParaRPr lang="en-US" sz="1550" dirty="0"/>
          </a:p>
        </p:txBody>
      </p:sp>
      <p:sp>
        <p:nvSpPr>
          <p:cNvPr id="7" name="Shape 5"/>
          <p:cNvSpPr/>
          <p:nvPr/>
        </p:nvSpPr>
        <p:spPr>
          <a:xfrm>
            <a:off x="685800" y="2761488"/>
            <a:ext cx="475488" cy="475488"/>
          </a:xfrm>
          <a:prstGeom prst="ellipse">
            <a:avLst/>
          </a:prstGeom>
          <a:solidFill>
            <a:srgbClr val="0071E3"/>
          </a:solidFill>
          <a:ln/>
        </p:spPr>
      </p:sp>
      <p:sp>
        <p:nvSpPr>
          <p:cNvPr id="8" name="Text 6"/>
          <p:cNvSpPr txBox="1"/>
          <p:nvPr/>
        </p:nvSpPr>
        <p:spPr>
          <a:xfrm>
            <a:off x="685800"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2</a:t>
            </a:r>
            <a:endParaRPr lang="en-US" sz="1700" dirty="0"/>
          </a:p>
        </p:txBody>
      </p:sp>
      <p:sp>
        <p:nvSpPr>
          <p:cNvPr id="9" name="Text 7"/>
          <p:cNvSpPr txBox="1"/>
          <p:nvPr/>
        </p:nvSpPr>
        <p:spPr>
          <a:xfrm>
            <a:off x="1371600" y="2825496"/>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Accuracy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awake, side by side with a store-bought oximeter every 2 min for 30 min</a:t>
            </a:r>
            <a:endParaRPr lang="en-US" sz="1550" dirty="0"/>
          </a:p>
        </p:txBody>
      </p:sp>
      <p:sp>
        <p:nvSpPr>
          <p:cNvPr id="10" name="Shape 8"/>
          <p:cNvSpPr/>
          <p:nvPr/>
        </p:nvSpPr>
        <p:spPr>
          <a:xfrm>
            <a:off x="685800" y="3602736"/>
            <a:ext cx="475488" cy="475488"/>
          </a:xfrm>
          <a:prstGeom prst="ellipse">
            <a:avLst/>
          </a:prstGeom>
          <a:solidFill>
            <a:srgbClr val="0071E3"/>
          </a:solidFill>
          <a:ln/>
        </p:spPr>
      </p:sp>
      <p:sp>
        <p:nvSpPr>
          <p:cNvPr id="11" name="Text 9"/>
          <p:cNvSpPr txBox="1"/>
          <p:nvPr/>
        </p:nvSpPr>
        <p:spPr>
          <a:xfrm>
            <a:off x="685800" y="36027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3</a:t>
            </a:r>
            <a:endParaRPr lang="en-US" sz="1700" dirty="0"/>
          </a:p>
        </p:txBody>
      </p:sp>
      <p:sp>
        <p:nvSpPr>
          <p:cNvPr id="12" name="Text 10"/>
          <p:cNvSpPr txBox="1"/>
          <p:nvPr/>
        </p:nvSpPr>
        <p:spPr>
          <a:xfrm>
            <a:off x="1371600" y="3666744"/>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Detection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supervised, awake breath-holds of 10, 15 and 20 s: known events</a:t>
            </a:r>
            <a:endParaRPr lang="en-US" sz="1550" dirty="0"/>
          </a:p>
        </p:txBody>
      </p:sp>
      <p:sp>
        <p:nvSpPr>
          <p:cNvPr id="13" name="Shape 11"/>
          <p:cNvSpPr/>
          <p:nvPr/>
        </p:nvSpPr>
        <p:spPr>
          <a:xfrm>
            <a:off x="685800" y="4443984"/>
            <a:ext cx="475488" cy="475488"/>
          </a:xfrm>
          <a:prstGeom prst="ellipse">
            <a:avLst/>
          </a:prstGeom>
          <a:solidFill>
            <a:srgbClr val="0071E3"/>
          </a:solidFill>
          <a:ln/>
        </p:spPr>
      </p:sp>
      <p:sp>
        <p:nvSpPr>
          <p:cNvPr id="14" name="Text 12"/>
          <p:cNvSpPr txBox="1"/>
          <p:nvPr/>
        </p:nvSpPr>
        <p:spPr>
          <a:xfrm>
            <a:off x="685800" y="44439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4</a:t>
            </a:r>
            <a:endParaRPr lang="en-US" sz="1700" dirty="0"/>
          </a:p>
        </p:txBody>
      </p:sp>
      <p:sp>
        <p:nvSpPr>
          <p:cNvPr id="15" name="Text 13"/>
          <p:cNvSpPr txBox="1"/>
          <p:nvPr/>
        </p:nvSpPr>
        <p:spPr>
          <a:xfrm>
            <a:off x="1371600" y="4507992"/>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Full-night power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USB power, 8 h of data with no gaps</a:t>
            </a:r>
            <a:endParaRPr lang="en-US" sz="1550" dirty="0"/>
          </a:p>
        </p:txBody>
      </p:sp>
      <p:sp>
        <p:nvSpPr>
          <p:cNvPr id="16" name="Shape 14"/>
          <p:cNvSpPr/>
          <p:nvPr/>
        </p:nvSpPr>
        <p:spPr>
          <a:xfrm>
            <a:off x="685800" y="5285232"/>
            <a:ext cx="475488" cy="475488"/>
          </a:xfrm>
          <a:prstGeom prst="ellipse">
            <a:avLst/>
          </a:prstGeom>
          <a:solidFill>
            <a:srgbClr val="0071E3"/>
          </a:solidFill>
          <a:ln/>
        </p:spPr>
      </p:sp>
      <p:sp>
        <p:nvSpPr>
          <p:cNvPr id="17" name="Text 15"/>
          <p:cNvSpPr txBox="1"/>
          <p:nvPr/>
        </p:nvSpPr>
        <p:spPr>
          <a:xfrm>
            <a:off x="685800" y="52852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5</a:t>
            </a:r>
            <a:endParaRPr lang="en-US" sz="1700" dirty="0"/>
          </a:p>
        </p:txBody>
      </p:sp>
      <p:sp>
        <p:nvSpPr>
          <p:cNvPr id="18" name="Text 16"/>
          <p:cNvSpPr txBox="1"/>
          <p:nvPr/>
        </p:nvSpPr>
        <p:spPr>
          <a:xfrm>
            <a:off x="1371600" y="5349240"/>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Recorded nights   </a:t>
            </a:r>
            <a:pPr indent="0" marL="0">
              <a:buNone/>
            </a:pPr>
            <a:r>
              <a:rPr lang="en-US" sz="1550" dirty="0">
                <a:solidFill>
                  <a:srgbClr val="6E6E73"/>
                </a:solidFill>
                <a:latin typeface="Helvetica Neue" pitchFamily="34" charset="0"/>
                <a:ea typeface="Helvetica Neue" pitchFamily="34" charset="-122"/>
                <a:cs typeface="Helvetica Neue" pitchFamily="34" charset="-120"/>
              </a:rPr>
              <a:t>at least 5 nights; armband on forearm, clip on index finger</a:t>
            </a:r>
            <a:endParaRPr lang="en-US" sz="1550" dirty="0"/>
          </a:p>
        </p:txBody>
      </p:sp>
      <p:sp>
        <p:nvSpPr>
          <p:cNvPr id="19" name="Shape 17"/>
          <p:cNvSpPr/>
          <p:nvPr/>
        </p:nvSpPr>
        <p:spPr>
          <a:xfrm>
            <a:off x="8001000" y="1874520"/>
            <a:ext cx="3502152" cy="4160520"/>
          </a:xfrm>
          <a:prstGeom prst="roundRect">
            <a:avLst>
              <a:gd name="adj" fmla="val 5744"/>
            </a:avLst>
          </a:prstGeom>
          <a:solidFill>
            <a:srgbClr val="F5F5F7"/>
          </a:solidFill>
          <a:ln/>
        </p:spPr>
      </p:sp>
      <p:sp>
        <p:nvSpPr>
          <p:cNvPr id="20" name="Text 18"/>
          <p:cNvSpPr txBox="1"/>
          <p:nvPr/>
        </p:nvSpPr>
        <p:spPr>
          <a:xfrm>
            <a:off x="8275320" y="2103120"/>
            <a:ext cx="3017520" cy="32004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Safety</a:t>
            </a:r>
            <a:endParaRPr lang="en-US" sz="1700" dirty="0"/>
          </a:p>
        </p:txBody>
      </p:sp>
      <p:sp>
        <p:nvSpPr>
          <p:cNvPr id="21" name="Shape 19"/>
          <p:cNvSpPr/>
          <p:nvPr/>
        </p:nvSpPr>
        <p:spPr>
          <a:xfrm>
            <a:off x="8275320" y="2654678"/>
            <a:ext cx="73152" cy="73152"/>
          </a:xfrm>
          <a:prstGeom prst="ellipse">
            <a:avLst/>
          </a:prstGeom>
          <a:solidFill>
            <a:srgbClr val="A1A1A6"/>
          </a:solidFill>
          <a:ln/>
        </p:spPr>
      </p:sp>
      <p:sp>
        <p:nvSpPr>
          <p:cNvPr id="22" name="Text 20"/>
          <p:cNvSpPr txBox="1"/>
          <p:nvPr/>
        </p:nvSpPr>
        <p:spPr>
          <a:xfrm>
            <a:off x="8503920" y="2560320"/>
            <a:ext cx="2788920" cy="747141"/>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Breath-holds only while awake, seated and supervised. Never asleep.</a:t>
            </a:r>
            <a:endParaRPr lang="en-US" sz="1450" dirty="0"/>
          </a:p>
        </p:txBody>
      </p:sp>
      <p:sp>
        <p:nvSpPr>
          <p:cNvPr id="23" name="Shape 21"/>
          <p:cNvSpPr/>
          <p:nvPr/>
        </p:nvSpPr>
        <p:spPr>
          <a:xfrm>
            <a:off x="8275320" y="3493259"/>
            <a:ext cx="73152" cy="73152"/>
          </a:xfrm>
          <a:prstGeom prst="ellipse">
            <a:avLst/>
          </a:prstGeom>
          <a:solidFill>
            <a:srgbClr val="A1A1A6"/>
          </a:solidFill>
          <a:ln/>
        </p:spPr>
      </p:sp>
      <p:sp>
        <p:nvSpPr>
          <p:cNvPr id="24" name="Text 22"/>
          <p:cNvSpPr txBox="1"/>
          <p:nvPr/>
        </p:nvSpPr>
        <p:spPr>
          <a:xfrm>
            <a:off x="8503920" y="3398901"/>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20 seconds at most. Stop at any dizziness.</a:t>
            </a:r>
            <a:endParaRPr lang="en-US" sz="1450" dirty="0"/>
          </a:p>
        </p:txBody>
      </p:sp>
      <p:sp>
        <p:nvSpPr>
          <p:cNvPr id="25" name="Shape 23"/>
          <p:cNvSpPr/>
          <p:nvPr/>
        </p:nvSpPr>
        <p:spPr>
          <a:xfrm>
            <a:off x="8275320" y="4107177"/>
            <a:ext cx="73152" cy="73152"/>
          </a:xfrm>
          <a:prstGeom prst="ellipse">
            <a:avLst/>
          </a:prstGeom>
          <a:solidFill>
            <a:srgbClr val="A1A1A6"/>
          </a:solidFill>
          <a:ln/>
        </p:spPr>
      </p:sp>
      <p:sp>
        <p:nvSpPr>
          <p:cNvPr id="26" name="Text 24"/>
          <p:cNvSpPr txBox="1"/>
          <p:nvPr/>
        </p:nvSpPr>
        <p:spPr>
          <a:xfrm>
            <a:off x="8503920" y="4012819"/>
            <a:ext cx="2788920" cy="297815"/>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Parent/guardian consent</a:t>
            </a:r>
            <a:endParaRPr lang="en-US" sz="1450" dirty="0"/>
          </a:p>
        </p:txBody>
      </p:sp>
      <p:sp>
        <p:nvSpPr>
          <p:cNvPr id="27" name="Shape 25"/>
          <p:cNvSpPr/>
          <p:nvPr/>
        </p:nvSpPr>
        <p:spPr>
          <a:xfrm>
            <a:off x="8275320" y="4496432"/>
            <a:ext cx="73152" cy="73152"/>
          </a:xfrm>
          <a:prstGeom prst="ellipse">
            <a:avLst/>
          </a:prstGeom>
          <a:solidFill>
            <a:srgbClr val="A1A1A6"/>
          </a:solidFill>
          <a:ln/>
        </p:spPr>
      </p:sp>
      <p:sp>
        <p:nvSpPr>
          <p:cNvPr id="28" name="Text 26"/>
          <p:cNvSpPr txBox="1"/>
          <p:nvPr/>
        </p:nvSpPr>
        <p:spPr>
          <a:xfrm>
            <a:off x="8503920" y="4402074"/>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Ethics approval (human subject) before any test</a:t>
            </a:r>
            <a:endParaRPr lang="en-US" sz="1450" dirty="0"/>
          </a:p>
        </p:txBody>
      </p:sp>
      <p:sp>
        <p:nvSpPr>
          <p:cNvPr id="29" name="Text 2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30" name="Text 2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The app</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The companion app measures real data.</a:t>
            </a:r>
            <a:endParaRPr lang="en-US" sz="4000" dirty="0"/>
          </a:p>
        </p:txBody>
      </p:sp>
      <p:sp>
        <p:nvSpPr>
          <p:cNvPr id="4" name="Shape 2"/>
          <p:cNvSpPr/>
          <p:nvPr/>
        </p:nvSpPr>
        <p:spPr>
          <a:xfrm>
            <a:off x="877824" y="1792224"/>
            <a:ext cx="2130552" cy="4197330"/>
          </a:xfrm>
          <a:prstGeom prst="roundRect">
            <a:avLst>
              <a:gd name="adj" fmla="val 12017"/>
            </a:avLst>
          </a:prstGeom>
          <a:solidFill>
            <a:srgbClr val="1D1D1F"/>
          </a:solidFill>
          <a:ln/>
        </p:spPr>
      </p:sp>
      <p:pic>
        <p:nvPicPr>
          <p:cNvPr id="5" name="Image 0" descr="/home/user/teetomivV2/science-fair/night-signal/slides/assets/phone_sleep.png">    </p:cNvPr>
          <p:cNvPicPr>
            <a:picLocks noChangeAspect="1"/>
          </p:cNvPicPr>
          <p:nvPr/>
        </p:nvPicPr>
        <p:blipFill>
          <a:blip r:embed="rId1"/>
          <a:stretch>
            <a:fillRect/>
          </a:stretch>
        </p:blipFill>
        <p:spPr>
          <a:xfrm>
            <a:off x="960120" y="1874520"/>
            <a:ext cx="1965960" cy="4032738"/>
          </a:xfrm>
          <a:prstGeom prst="rect">
            <a:avLst/>
          </a:prstGeom>
        </p:spPr>
      </p:pic>
      <p:sp>
        <p:nvSpPr>
          <p:cNvPr id="6" name="Shape 3"/>
          <p:cNvSpPr/>
          <p:nvPr/>
        </p:nvSpPr>
        <p:spPr>
          <a:xfrm>
            <a:off x="3346704" y="1792224"/>
            <a:ext cx="2130552" cy="4197330"/>
          </a:xfrm>
          <a:prstGeom prst="roundRect">
            <a:avLst>
              <a:gd name="adj" fmla="val 12017"/>
            </a:avLst>
          </a:prstGeom>
          <a:solidFill>
            <a:srgbClr val="1D1D1F"/>
          </a:solidFill>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874520"/>
            <a:ext cx="1965960" cy="4032738"/>
          </a:xfrm>
          <a:prstGeom prst="rect">
            <a:avLst/>
          </a:prstGeom>
        </p:spPr>
      </p:pic>
      <p:sp>
        <p:nvSpPr>
          <p:cNvPr id="8" name="Text 4"/>
          <p:cNvSpPr txBox="1"/>
          <p:nvPr/>
        </p:nvSpPr>
        <p:spPr>
          <a:xfrm>
            <a:off x="96012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Sleep report</a:t>
            </a:r>
            <a:endParaRPr lang="en-US" sz="1200" dirty="0"/>
          </a:p>
        </p:txBody>
      </p:sp>
      <p:sp>
        <p:nvSpPr>
          <p:cNvPr id="9" name="Text 5"/>
          <p:cNvSpPr txBox="1"/>
          <p:nvPr/>
        </p:nvSpPr>
        <p:spPr>
          <a:xfrm>
            <a:off x="342900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Live + device health</a:t>
            </a:r>
            <a:endParaRPr lang="en-US" sz="1200" dirty="0"/>
          </a:p>
        </p:txBody>
      </p:sp>
      <p:sp>
        <p:nvSpPr>
          <p:cNvPr id="10" name="Shape 6"/>
          <p:cNvSpPr/>
          <p:nvPr/>
        </p:nvSpPr>
        <p:spPr>
          <a:xfrm>
            <a:off x="6355080" y="2066826"/>
            <a:ext cx="73152" cy="73152"/>
          </a:xfrm>
          <a:prstGeom prst="ellipse">
            <a:avLst/>
          </a:prstGeom>
          <a:solidFill>
            <a:srgbClr val="A1A1A6"/>
          </a:solidFill>
          <a:ln/>
        </p:spPr>
      </p:sp>
      <p:sp>
        <p:nvSpPr>
          <p:cNvPr id="11" name="Text 7"/>
          <p:cNvSpPr txBox="1"/>
          <p:nvPr/>
        </p:nvSpPr>
        <p:spPr>
          <a:xfrm>
            <a:off x="6583680" y="1965960"/>
            <a:ext cx="493776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The Live tab connects straight to the wearable (USB or Bluetooth) and shows oxygen, heart rate and position every second.</a:t>
            </a:r>
            <a:endParaRPr lang="en-US" sz="1550" dirty="0"/>
          </a:p>
        </p:txBody>
      </p:sp>
      <p:sp>
        <p:nvSpPr>
          <p:cNvPr id="12" name="Shape 8"/>
          <p:cNvSpPr/>
          <p:nvPr/>
        </p:nvSpPr>
        <p:spPr>
          <a:xfrm>
            <a:off x="6355080" y="2988465"/>
            <a:ext cx="73152" cy="73152"/>
          </a:xfrm>
          <a:prstGeom prst="ellipse">
            <a:avLst/>
          </a:prstGeom>
          <a:solidFill>
            <a:srgbClr val="A1A1A6"/>
          </a:solidFill>
          <a:ln/>
        </p:spPr>
      </p:sp>
      <p:sp>
        <p:nvSpPr>
          <p:cNvPr id="13" name="Text 9"/>
          <p:cNvSpPr txBox="1"/>
          <p:nvPr/>
        </p:nvSpPr>
        <p:spPr>
          <a:xfrm>
            <a:off x="6583680" y="2887599"/>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Device health checks run the whole time: data flowing, self-test, finger on, power.</a:t>
            </a:r>
            <a:endParaRPr lang="en-US" sz="1550" dirty="0"/>
          </a:p>
        </p:txBody>
      </p:sp>
      <p:sp>
        <p:nvSpPr>
          <p:cNvPr id="14" name="Shape 10"/>
          <p:cNvSpPr/>
          <p:nvPr/>
        </p:nvSpPr>
        <p:spPr>
          <a:xfrm>
            <a:off x="6355080" y="3669947"/>
            <a:ext cx="73152" cy="73152"/>
          </a:xfrm>
          <a:prstGeom prst="ellipse">
            <a:avLst/>
          </a:prstGeom>
          <a:solidFill>
            <a:srgbClr val="A1A1A6"/>
          </a:solidFill>
          <a:ln/>
        </p:spPr>
      </p:sp>
      <p:sp>
        <p:nvSpPr>
          <p:cNvPr id="15" name="Text 11"/>
          <p:cNvSpPr txBox="1"/>
          <p:nvPr/>
        </p:nvSpPr>
        <p:spPr>
          <a:xfrm>
            <a:off x="6583680" y="3569081"/>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Saving a session gives the same CSV the analysis uses, so every number is traceable.</a:t>
            </a:r>
            <a:endParaRPr lang="en-US" sz="1550" dirty="0"/>
          </a:p>
        </p:txBody>
      </p:sp>
      <p:sp>
        <p:nvSpPr>
          <p:cNvPr id="16" name="Shape 12"/>
          <p:cNvSpPr/>
          <p:nvPr/>
        </p:nvSpPr>
        <p:spPr>
          <a:xfrm>
            <a:off x="6355080" y="4351429"/>
            <a:ext cx="73152" cy="73152"/>
          </a:xfrm>
          <a:prstGeom prst="ellipse">
            <a:avLst/>
          </a:prstGeom>
          <a:solidFill>
            <a:srgbClr val="A1A1A6"/>
          </a:solidFill>
          <a:ln/>
        </p:spPr>
      </p:sp>
      <p:sp>
        <p:nvSpPr>
          <p:cNvPr id="17" name="Text 13"/>
          <p:cNvSpPr txBox="1"/>
          <p:nvPr/>
        </p:nvSpPr>
        <p:spPr>
          <a:xfrm>
            <a:off x="6583680" y="4250563"/>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Heart, Asthma and Progress tabs for the spin-offs and my build log.</a:t>
            </a:r>
            <a:endParaRPr lang="en-US" sz="1550" dirty="0"/>
          </a:p>
        </p:txBody>
      </p:sp>
      <p:sp>
        <p:nvSpPr>
          <p:cNvPr id="18" name="Shape 14"/>
          <p:cNvSpPr/>
          <p:nvPr/>
        </p:nvSpPr>
        <p:spPr>
          <a:xfrm>
            <a:off x="6373368" y="5047488"/>
            <a:ext cx="1106424" cy="1106424"/>
          </a:xfrm>
          <a:prstGeom prst="roundRect">
            <a:avLst>
              <a:gd name="adj" fmla="val 18182"/>
            </a:avLst>
          </a:prstGeom>
          <a:solidFill>
            <a:srgbClr val="FFFFFF"/>
          </a:solidFill>
          <a:ln/>
        </p:spPr>
      </p:sp>
      <p:pic>
        <p:nvPicPr>
          <p:cNvPr id="19" name="Image 2" descr="/home/user/teetomivV2/science-fair/night-signal/slides/assets/qr_app.png">
            <a:hlinkClick r:id="rId4" tooltip="https://gabrielamamanestudent-wq.github.io/teetomivV2/science-fair/night-signal/app/"/>
          </p:cNvPr>
          <p:cNvPicPr>
            <a:picLocks noChangeAspect="1"/>
          </p:cNvPicPr>
          <p:nvPr/>
        </p:nvPicPr>
        <p:blipFill>
          <a:blip r:embed="rId3"/>
          <a:stretch>
            <a:fillRect/>
          </a:stretch>
        </p:blipFill>
        <p:spPr>
          <a:xfrm>
            <a:off x="6446520" y="5120640"/>
            <a:ext cx="960120" cy="960120"/>
          </a:xfrm>
          <a:prstGeom prst="rect">
            <a:avLst/>
          </a:prstGeom>
        </p:spPr>
      </p:pic>
      <p:sp>
        <p:nvSpPr>
          <p:cNvPr id="20" name="Text 15"/>
          <p:cNvSpPr txBox="1"/>
          <p:nvPr/>
        </p:nvSpPr>
        <p:spPr>
          <a:xfrm>
            <a:off x="7680960" y="5285232"/>
            <a:ext cx="2743200" cy="310896"/>
          </a:xfrm>
          <a:prstGeom prst="rect">
            <a:avLst/>
          </a:prstGeom>
          <a:noFill/>
          <a:ln/>
        </p:spPr>
        <p:txBody>
          <a:bodyPr wrap="square" lIns="0" tIns="0" rIns="0" bIns="0" rtlCol="0" anchor="ctr"/>
          <a:lstStyle/>
          <a:p>
            <a:pPr algn="l" indent="0" marL="0">
              <a:buNone/>
            </a:pPr>
            <a:r>
              <a:rPr lang="en-US" sz="1600" u="sng" dirty="0">
                <a:solidFill>
                  <a:srgbClr val="0071E3"/>
                </a:solidFill>
                <a:latin typeface="Helvetica Neue" pitchFamily="34" charset="0"/>
                <a:ea typeface="Helvetica Neue" pitchFamily="34" charset="-122"/>
                <a:cs typeface="Helvetica Neue" pitchFamily="34" charset="-120"/>
                <a:hlinkClick r:id="rId5" invalidUrl="" action="" tgtFrame="" tooltip="https://gabrielamamanestudent-wq.github.io/teetomivV2/science-fair/night-signal/app/" history="1" highlightClick="0" endSnd="0">
                  <a:extLst>
                    <a:ext uri="{A12FA001-AC4F-418D-AE19-62706E023703}">
                      <ahyp:hlinkClr xmlns:ahyp="http://schemas.microsoft.com/office/drawing/2018/hyperlinkcolor" val="tx"/>
                    </a:ext>
                  </a:extLst>
                </a:hlinkClick>
              </a:rPr>
              <a:t>Open the app ›</a:t>
            </a:r>
            <a:endParaRPr lang="en-US" sz="1600" dirty="0"/>
          </a:p>
        </p:txBody>
      </p:sp>
      <p:sp>
        <p:nvSpPr>
          <p:cNvPr id="21" name="Text 16"/>
          <p:cNvSpPr txBox="1"/>
          <p:nvPr/>
        </p:nvSpPr>
        <p:spPr>
          <a:xfrm>
            <a:off x="7680960" y="5650992"/>
            <a:ext cx="3840480" cy="2743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Scan to try it. A demo device is built in.</a:t>
            </a:r>
            <a:endParaRPr lang="en-US" sz="1250" dirty="0"/>
          </a:p>
        </p:txBody>
      </p:sp>
      <p:sp>
        <p:nvSpPr>
          <p:cNvPr id="22"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3"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What one night showed.</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28800"/>
            <a:ext cx="2587752" cy="1261872"/>
          </a:xfrm>
          <a:prstGeom prst="roundRect">
            <a:avLst>
              <a:gd name="adj" fmla="val 15942"/>
            </a:avLst>
          </a:prstGeom>
          <a:solidFill>
            <a:srgbClr val="F5F5F7"/>
          </a:solidFill>
          <a:ln/>
        </p:spPr>
      </p:sp>
      <p:sp>
        <p:nvSpPr>
          <p:cNvPr id="7" name="Text 5"/>
          <p:cNvSpPr txBox="1"/>
          <p:nvPr/>
        </p:nvSpPr>
        <p:spPr>
          <a:xfrm>
            <a:off x="960120" y="2029968"/>
            <a:ext cx="2130552" cy="594360"/>
          </a:xfrm>
          <a:prstGeom prst="rect">
            <a:avLst/>
          </a:prstGeom>
          <a:noFill/>
          <a:ln/>
        </p:spPr>
        <p:txBody>
          <a:bodyPr wrap="square" lIns="0" tIns="0" rIns="0" bIns="0" rtlCol="0" anchor="t"/>
          <a:lstStyle/>
          <a:p>
            <a:pPr indent="0" marL="0">
              <a:buNone/>
            </a:pPr>
            <a:r>
              <a:rPr lang="en-US" sz="3200" b="1" dirty="0">
                <a:solidFill>
                  <a:srgbClr val="248A3D"/>
                </a:solidFill>
                <a:latin typeface="Helvetica Neue" pitchFamily="34" charset="0"/>
                <a:ea typeface="Helvetica Neue" pitchFamily="34" charset="-122"/>
                <a:cs typeface="Helvetica Neue" pitchFamily="34" charset="-120"/>
              </a:rPr>
              <a:t>2.7</a:t>
            </a:r>
            <a:endParaRPr lang="en-US" sz="3200" dirty="0"/>
          </a:p>
        </p:txBody>
      </p:sp>
      <p:sp>
        <p:nvSpPr>
          <p:cNvPr id="8" name="Text 6"/>
          <p:cNvSpPr txBox="1"/>
          <p:nvPr/>
        </p:nvSpPr>
        <p:spPr>
          <a:xfrm>
            <a:off x="9601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events per hour (AHI): Normal</a:t>
            </a:r>
            <a:endParaRPr lang="en-US" sz="1250" dirty="0"/>
          </a:p>
        </p:txBody>
      </p:sp>
      <p:sp>
        <p:nvSpPr>
          <p:cNvPr id="9" name="Shape 7"/>
          <p:cNvSpPr/>
          <p:nvPr/>
        </p:nvSpPr>
        <p:spPr>
          <a:xfrm>
            <a:off x="3429000" y="1828800"/>
            <a:ext cx="2587752" cy="1261872"/>
          </a:xfrm>
          <a:prstGeom prst="roundRect">
            <a:avLst>
              <a:gd name="adj" fmla="val 15942"/>
            </a:avLst>
          </a:prstGeom>
          <a:solidFill>
            <a:srgbClr val="F5F5F7"/>
          </a:solidFill>
          <a:ln/>
        </p:spPr>
      </p:sp>
      <p:sp>
        <p:nvSpPr>
          <p:cNvPr id="10" name="Text 8"/>
          <p:cNvSpPr txBox="1"/>
          <p:nvPr/>
        </p:nvSpPr>
        <p:spPr>
          <a:xfrm>
            <a:off x="3703320" y="2029968"/>
            <a:ext cx="2130552" cy="594360"/>
          </a:xfrm>
          <a:prstGeom prst="rect">
            <a:avLst/>
          </a:prstGeom>
          <a:noFill/>
          <a:ln/>
        </p:spPr>
        <p:txBody>
          <a:bodyPr wrap="square" lIns="0" tIns="0" rIns="0" bIns="0" rtlCol="0" anchor="t"/>
          <a:lstStyle/>
          <a:p>
            <a:pPr indent="0" marL="0">
              <a:buNone/>
            </a:pPr>
            <a:r>
              <a:rPr lang="en-US" sz="3200" b="1" dirty="0">
                <a:solidFill>
                  <a:srgbClr val="0071E3"/>
                </a:solidFill>
                <a:latin typeface="Helvetica Neue" pitchFamily="34" charset="0"/>
                <a:ea typeface="Helvetica Neue" pitchFamily="34" charset="-122"/>
                <a:cs typeface="Helvetica Neue" pitchFamily="34" charset="-120"/>
              </a:rPr>
              <a:t>± 0.56 %</a:t>
            </a:r>
            <a:endParaRPr lang="en-US" sz="3200" dirty="0"/>
          </a:p>
        </p:txBody>
      </p:sp>
      <p:sp>
        <p:nvSpPr>
          <p:cNvPr id="11" name="Text 9"/>
          <p:cNvSpPr txBox="1"/>
          <p:nvPr/>
        </p:nvSpPr>
        <p:spPr>
          <a:xfrm>
            <a:off x="37033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agreement with the reference</a:t>
            </a:r>
            <a:endParaRPr lang="en-US" sz="1250" dirty="0"/>
          </a:p>
        </p:txBody>
      </p:sp>
      <p:sp>
        <p:nvSpPr>
          <p:cNvPr id="12" name="Shape 10"/>
          <p:cNvSpPr/>
          <p:nvPr/>
        </p:nvSpPr>
        <p:spPr>
          <a:xfrm>
            <a:off x="6172200" y="1828800"/>
            <a:ext cx="2587752" cy="1261872"/>
          </a:xfrm>
          <a:prstGeom prst="roundRect">
            <a:avLst>
              <a:gd name="adj" fmla="val 15942"/>
            </a:avLst>
          </a:prstGeom>
          <a:solidFill>
            <a:srgbClr val="F5F5F7"/>
          </a:solidFill>
          <a:ln/>
        </p:spPr>
      </p:sp>
      <p:sp>
        <p:nvSpPr>
          <p:cNvPr id="13" name="Text 11"/>
          <p:cNvSpPr txBox="1"/>
          <p:nvPr/>
        </p:nvSpPr>
        <p:spPr>
          <a:xfrm>
            <a:off x="6446520" y="2029968"/>
            <a:ext cx="2130552" cy="594360"/>
          </a:xfrm>
          <a:prstGeom prst="rect">
            <a:avLst/>
          </a:prstGeom>
          <a:noFill/>
          <a:ln/>
        </p:spPr>
        <p:txBody>
          <a:bodyPr wrap="square" lIns="0" tIns="0" rIns="0" bIns="0" rtlCol="0" anchor="t"/>
          <a:lstStyle/>
          <a:p>
            <a:pPr indent="0" marL="0">
              <a:buNone/>
            </a:pPr>
            <a:r>
              <a:rPr lang="en-US" sz="3200" b="1" dirty="0">
                <a:solidFill>
                  <a:srgbClr val="E3254B"/>
                </a:solidFill>
                <a:latin typeface="Helvetica Neue" pitchFamily="34" charset="0"/>
                <a:ea typeface="Helvetica Neue" pitchFamily="34" charset="-122"/>
                <a:cs typeface="Helvetica Neue" pitchFamily="34" charset="-120"/>
              </a:rPr>
              <a:t>84 %</a:t>
            </a:r>
            <a:endParaRPr lang="en-US" sz="3200" dirty="0"/>
          </a:p>
        </p:txBody>
      </p:sp>
      <p:sp>
        <p:nvSpPr>
          <p:cNvPr id="14" name="Text 12"/>
          <p:cNvSpPr txBox="1"/>
          <p:nvPr/>
        </p:nvSpPr>
        <p:spPr>
          <a:xfrm>
            <a:off x="64465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lowest blood oxygen</a:t>
            </a:r>
            <a:endParaRPr lang="en-US" sz="1250" dirty="0"/>
          </a:p>
        </p:txBody>
      </p:sp>
      <p:sp>
        <p:nvSpPr>
          <p:cNvPr id="15" name="Shape 13"/>
          <p:cNvSpPr/>
          <p:nvPr/>
        </p:nvSpPr>
        <p:spPr>
          <a:xfrm>
            <a:off x="8915400" y="1828800"/>
            <a:ext cx="2587752" cy="1261872"/>
          </a:xfrm>
          <a:prstGeom prst="roundRect">
            <a:avLst>
              <a:gd name="adj" fmla="val 15942"/>
            </a:avLst>
          </a:prstGeom>
          <a:solidFill>
            <a:srgbClr val="F5F5F7"/>
          </a:solidFill>
          <a:ln/>
        </p:spPr>
      </p:sp>
      <p:sp>
        <p:nvSpPr>
          <p:cNvPr id="16" name="Text 14"/>
          <p:cNvSpPr txBox="1"/>
          <p:nvPr/>
        </p:nvSpPr>
        <p:spPr>
          <a:xfrm>
            <a:off x="9189720" y="2029968"/>
            <a:ext cx="2130552" cy="594360"/>
          </a:xfrm>
          <a:prstGeom prst="rect">
            <a:avLst/>
          </a:prstGeom>
          <a:noFill/>
          <a:ln/>
        </p:spPr>
        <p:txBody>
          <a:bodyPr wrap="square" lIns="0" tIns="0" rIns="0" bIns="0" rtlCol="0" anchor="t"/>
          <a:lstStyle/>
          <a:p>
            <a:pPr indent="0" marL="0">
              <a:buNone/>
            </a:pPr>
            <a:r>
              <a:rPr lang="en-US" sz="3200" b="1" dirty="0">
                <a:solidFill>
                  <a:srgbClr val="C45500"/>
                </a:solidFill>
                <a:latin typeface="Helvetica Neue" pitchFamily="34" charset="0"/>
                <a:ea typeface="Helvetica Neue" pitchFamily="34" charset="-122"/>
                <a:cs typeface="Helvetica Neue" pitchFamily="34" charset="-120"/>
              </a:rPr>
              <a:t>3 ×</a:t>
            </a:r>
            <a:endParaRPr lang="en-US" sz="3200" dirty="0"/>
          </a:p>
        </p:txBody>
      </p:sp>
      <p:sp>
        <p:nvSpPr>
          <p:cNvPr id="17" name="Text 15"/>
          <p:cNvSpPr txBox="1"/>
          <p:nvPr/>
        </p:nvSpPr>
        <p:spPr>
          <a:xfrm>
            <a:off x="91897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more events on the back</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3310128"/>
          <a:ext cx="10817352" cy="914400"/>
        </p:xfrm>
        <a:graphic>
          <a:graphicData uri="http://schemas.openxmlformats.org/drawingml/2006/table">
            <a:tbl>
              <a:tblPr/>
              <a:tblGrid>
                <a:gridCol w="3200400"/>
                <a:gridCol w="4023360"/>
                <a:gridCol w="3593592"/>
              </a:tblGrid>
              <a:tr h="338328">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Measure</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Result</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Meaning</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Recording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7.0 h · 25,200 readings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 full night captured</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Apnea events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19  →  AHI 2.7 / hour</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Normal range (&lt; 5)</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Blood oxygen (avg / lowest)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97.5 % / 84 %</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lowest point during an event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Accuracy vs reference</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 0.56 %  (r = 0.88)</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210 paired readings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Events caught: rule / ML</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63 % / 63 %</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precision 1.00 / 0.92</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Sleep position</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back 3.8 / h  vs  sides 1.1–1.3 / h</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 3 × more events on the back</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Spin-offs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3 heart episodes · breathing 13 → 22 / min</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patterns flagged correctly</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19" name="Text 16"/>
          <p:cNvSpPr txBox="1"/>
          <p:nvPr/>
        </p:nvSpPr>
        <p:spPr>
          <a:xfrm>
            <a:off x="685800" y="6144768"/>
            <a:ext cx="10789920" cy="256032"/>
          </a:xfrm>
          <a:prstGeom prst="rect">
            <a:avLst/>
          </a:prstGeom>
          <a:noFill/>
          <a:ln/>
        </p:spPr>
        <p:txBody>
          <a:bodyPr wrap="square" lIns="0" tIns="0" rIns="0" bIns="0" rtlCol="0" anchor="t"/>
          <a:lstStyle/>
          <a:p>
            <a:pPr indent="0" marL="0">
              <a:buNone/>
            </a:pPr>
            <a:r>
              <a:rPr lang="en-US" sz="1100" dirty="0">
                <a:solidFill>
                  <a:srgbClr val="6E6E73"/>
                </a:solidFill>
                <a:latin typeface="Helvetica Neue" pitchFamily="34" charset="0"/>
                <a:ea typeface="Helvetica Neue" pitchFamily="34" charset="-122"/>
                <a:cs typeface="Helvetica Neue" pitchFamily="34" charset="-120"/>
              </a:rPr>
              <a:t>Example data from my simulator, replaced with my own recorded nights before the final submission.</a:t>
            </a:r>
            <a:endParaRPr lang="en-US" sz="1100" dirty="0"/>
          </a:p>
        </p:txBody>
      </p:sp>
      <p:sp>
        <p:nvSpPr>
          <p:cNvPr id="20"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1"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Every dip found. And the readings agree.</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74520"/>
            <a:ext cx="6583680" cy="3840480"/>
          </a:xfrm>
          <a:prstGeom prst="roundRect">
            <a:avLst>
              <a:gd name="adj" fmla="val 5238"/>
            </a:avLst>
          </a:prstGeom>
          <a:solidFill>
            <a:srgbClr val="FFFFFF"/>
          </a:solidFill>
          <a:ln/>
        </p:spPr>
      </p:sp>
      <p:pic>
        <p:nvPicPr>
          <p:cNvPr id="7" name="Image 0" descr="/home/user/teetomivV2/science-fair/night-signal/slides/assets/oxygen.png">    </p:cNvPr>
          <p:cNvPicPr>
            <a:picLocks noChangeAspect="1"/>
          </p:cNvPicPr>
          <p:nvPr/>
        </p:nvPicPr>
        <p:blipFill>
          <a:blip r:embed="rId1"/>
          <a:stretch>
            <a:fillRect/>
          </a:stretch>
        </p:blipFill>
        <p:spPr>
          <a:xfrm>
            <a:off x="886968" y="2208757"/>
            <a:ext cx="6181344" cy="3172005"/>
          </a:xfrm>
          <a:prstGeom prst="rect">
            <a:avLst/>
          </a:prstGeom>
        </p:spPr>
      </p:pic>
      <p:sp>
        <p:nvSpPr>
          <p:cNvPr id="8" name="Shape 5"/>
          <p:cNvSpPr/>
          <p:nvPr/>
        </p:nvSpPr>
        <p:spPr>
          <a:xfrm>
            <a:off x="7452360" y="1874520"/>
            <a:ext cx="4050792" cy="3840480"/>
          </a:xfrm>
          <a:prstGeom prst="roundRect">
            <a:avLst>
              <a:gd name="adj" fmla="val 5238"/>
            </a:avLst>
          </a:prstGeom>
          <a:solidFill>
            <a:srgbClr val="FFFFFF"/>
          </a:solidFill>
          <a:ln/>
        </p:spPr>
      </p:sp>
      <p:pic>
        <p:nvPicPr>
          <p:cNvPr id="9" name="Image 1" descr="/home/user/teetomivV2/science-fair/night-signal/slides/assets/validation.png">    </p:cNvPr>
          <p:cNvPicPr>
            <a:picLocks noChangeAspect="1"/>
          </p:cNvPicPr>
          <p:nvPr/>
        </p:nvPicPr>
        <p:blipFill>
          <a:blip r:embed="rId2"/>
          <a:stretch>
            <a:fillRect/>
          </a:stretch>
        </p:blipFill>
        <p:spPr>
          <a:xfrm>
            <a:off x="7653528" y="2473767"/>
            <a:ext cx="3648456" cy="2641985"/>
          </a:xfrm>
          <a:prstGeom prst="rect">
            <a:avLst/>
          </a:prstGeom>
        </p:spPr>
      </p:pic>
      <p:sp>
        <p:nvSpPr>
          <p:cNvPr id="10" name="Text 6"/>
          <p:cNvSpPr txBox="1"/>
          <p:nvPr/>
        </p:nvSpPr>
        <p:spPr>
          <a:xfrm>
            <a:off x="7452360" y="5870448"/>
            <a:ext cx="405079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95% of readings within −1.5 to +1.7 % of the reference</a:t>
            </a:r>
            <a:endParaRPr lang="en-US" sz="1200" dirty="0"/>
          </a:p>
        </p:txBody>
      </p:sp>
      <p:sp>
        <p:nvSpPr>
          <p:cNvPr id="11" name="Text 7"/>
          <p:cNvSpPr txBox="1"/>
          <p:nvPr/>
        </p:nvSpPr>
        <p:spPr>
          <a:xfrm>
            <a:off x="685800" y="5870448"/>
            <a:ext cx="658368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Every red band is an apnea event the software found on its own</a:t>
            </a:r>
            <a:endParaRPr lang="en-US" sz="1200" dirty="0"/>
          </a:p>
        </p:txBody>
      </p:sp>
      <p:sp>
        <p:nvSpPr>
          <p:cNvPr id="12" name="Text 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3" name="Text 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Back-sleeping, and two detectors.</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74520"/>
            <a:ext cx="5312664" cy="4069080"/>
          </a:xfrm>
          <a:prstGeom prst="roundRect">
            <a:avLst>
              <a:gd name="adj" fmla="val 4944"/>
            </a:avLst>
          </a:prstGeom>
          <a:solidFill>
            <a:srgbClr val="FFFFFF"/>
          </a:solidFill>
          <a:ln/>
        </p:spPr>
      </p:sp>
      <p:pic>
        <p:nvPicPr>
          <p:cNvPr id="7" name="Image 0" descr="/home/user/teetomivV2/science-fair/night-signal/slides/assets/position.png">    </p:cNvPr>
          <p:cNvPicPr>
            <a:picLocks noChangeAspect="1"/>
          </p:cNvPicPr>
          <p:nvPr/>
        </p:nvPicPr>
        <p:blipFill>
          <a:blip r:embed="rId1"/>
          <a:stretch>
            <a:fillRect/>
          </a:stretch>
        </p:blipFill>
        <p:spPr>
          <a:xfrm>
            <a:off x="886968" y="2108606"/>
            <a:ext cx="4910328" cy="3600907"/>
          </a:xfrm>
          <a:prstGeom prst="rect">
            <a:avLst/>
          </a:prstGeom>
        </p:spPr>
      </p:pic>
      <p:sp>
        <p:nvSpPr>
          <p:cNvPr id="8" name="Shape 5"/>
          <p:cNvSpPr/>
          <p:nvPr/>
        </p:nvSpPr>
        <p:spPr>
          <a:xfrm>
            <a:off x="6190488" y="1874520"/>
            <a:ext cx="5312664" cy="4069080"/>
          </a:xfrm>
          <a:prstGeom prst="roundRect">
            <a:avLst>
              <a:gd name="adj" fmla="val 4944"/>
            </a:avLst>
          </a:prstGeom>
          <a:solidFill>
            <a:srgbClr val="FFFFFF"/>
          </a:solidFill>
          <a:ln/>
        </p:spPr>
      </p:sp>
      <p:graphicFrame>
        <p:nvGraphicFramePr>
          <p:cNvPr id="9" name="Chart 0" descr=""/>
          <p:cNvGraphicFramePr/>
          <p:nvPr/>
        </p:nvGraphicFramePr>
        <p:xfrm>
          <a:off x="6400800" y="2057400"/>
          <a:ext cx="4892040" cy="370332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1" name="Text 7"/>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the results mean.</a:t>
            </a:r>
            <a:endParaRPr lang="en-US" sz="4000" dirty="0"/>
          </a:p>
        </p:txBody>
      </p:sp>
      <p:sp>
        <p:nvSpPr>
          <p:cNvPr id="4" name="Shape 2"/>
          <p:cNvSpPr/>
          <p:nvPr/>
        </p:nvSpPr>
        <p:spPr>
          <a:xfrm>
            <a:off x="685800" y="192024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5" name="Text 3"/>
          <p:cNvSpPr txBox="1"/>
          <p:nvPr/>
        </p:nvSpPr>
        <p:spPr>
          <a:xfrm>
            <a:off x="1005840" y="2176272"/>
            <a:ext cx="4663440" cy="41148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Accurate enough to trust</a:t>
            </a:r>
            <a:endParaRPr lang="en-US" sz="1900" dirty="0"/>
          </a:p>
        </p:txBody>
      </p:sp>
      <p:sp>
        <p:nvSpPr>
          <p:cNvPr id="6" name="Text 4"/>
          <p:cNvSpPr txBox="1"/>
          <p:nvPr/>
        </p:nvSpPr>
        <p:spPr>
          <a:xfrm>
            <a:off x="1005840"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Agreement within about ±1.6 % is in line with commercial fingertip oximeters (about ±2–3 %), so the drops it sees are real, not sensor noise.</a:t>
            </a:r>
            <a:endParaRPr lang="en-US" sz="1450" dirty="0"/>
          </a:p>
        </p:txBody>
      </p:sp>
      <p:sp>
        <p:nvSpPr>
          <p:cNvPr id="7" name="Shape 5"/>
          <p:cNvSpPr/>
          <p:nvPr/>
        </p:nvSpPr>
        <p:spPr>
          <a:xfrm>
            <a:off x="6190488" y="192024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8" name="Text 6"/>
          <p:cNvSpPr txBox="1"/>
          <p:nvPr/>
        </p:nvSpPr>
        <p:spPr>
          <a:xfrm>
            <a:off x="6510528" y="2176272"/>
            <a:ext cx="4663440" cy="411480"/>
          </a:xfrm>
          <a:prstGeom prst="rect">
            <a:avLst/>
          </a:prstGeom>
          <a:noFill/>
          <a:ln/>
        </p:spPr>
        <p:txBody>
          <a:bodyPr wrap="square" lIns="0" tIns="0" rIns="0" bIns="0" rtlCol="0" anchor="t"/>
          <a:lstStyle/>
          <a:p>
            <a:pPr indent="0" marL="0">
              <a:buNone/>
            </a:pPr>
            <a:r>
              <a:rPr lang="en-US" sz="1900" b="1" dirty="0">
                <a:solidFill>
                  <a:srgbClr val="30D158"/>
                </a:solidFill>
                <a:latin typeface="Helvetica Neue" pitchFamily="34" charset="0"/>
                <a:ea typeface="Helvetica Neue" pitchFamily="34" charset="-122"/>
                <a:cs typeface="Helvetica Neue" pitchFamily="34" charset="-120"/>
              </a:rPr>
              <a:t>Cautious, not over-eager</a:t>
            </a:r>
            <a:endParaRPr lang="en-US" sz="1900" dirty="0"/>
          </a:p>
        </p:txBody>
      </p:sp>
      <p:sp>
        <p:nvSpPr>
          <p:cNvPr id="9" name="Text 7"/>
          <p:cNvSpPr txBox="1"/>
          <p:nvPr/>
        </p:nvSpPr>
        <p:spPr>
          <a:xfrm>
            <a:off x="6510528"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Perfect precision but 63 % recall means it misses shallow events. My AHI is probably an under-estimate: the safe direction for a screening tool.</a:t>
            </a:r>
            <a:endParaRPr lang="en-US" sz="1450" dirty="0"/>
          </a:p>
        </p:txBody>
      </p:sp>
      <p:sp>
        <p:nvSpPr>
          <p:cNvPr id="10" name="Shape 8"/>
          <p:cNvSpPr/>
          <p:nvPr/>
        </p:nvSpPr>
        <p:spPr>
          <a:xfrm>
            <a:off x="685800" y="411480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11" name="Text 9"/>
          <p:cNvSpPr txBox="1"/>
          <p:nvPr/>
        </p:nvSpPr>
        <p:spPr>
          <a:xfrm>
            <a:off x="1005840" y="4370832"/>
            <a:ext cx="4663440" cy="411480"/>
          </a:xfrm>
          <a:prstGeom prst="rect">
            <a:avLst/>
          </a:prstGeom>
          <a:noFill/>
          <a:ln/>
        </p:spPr>
        <p:txBody>
          <a:bodyPr wrap="square" lIns="0" tIns="0" rIns="0" bIns="0" rtlCol="0" anchor="t"/>
          <a:lstStyle/>
          <a:p>
            <a:pPr indent="0" marL="0">
              <a:buNone/>
            </a:pPr>
            <a:r>
              <a:rPr lang="en-US" sz="1900" b="1" dirty="0">
                <a:solidFill>
                  <a:srgbClr val="FF9F0A"/>
                </a:solidFill>
                <a:latin typeface="Helvetica Neue" pitchFamily="34" charset="0"/>
                <a:ea typeface="Helvetica Neue" pitchFamily="34" charset="-122"/>
                <a:cs typeface="Helvetica Neue" pitchFamily="34" charset="-120"/>
              </a:rPr>
              <a:t>Position matters</a:t>
            </a:r>
            <a:endParaRPr lang="en-US" sz="1900" dirty="0"/>
          </a:p>
        </p:txBody>
      </p:sp>
      <p:sp>
        <p:nvSpPr>
          <p:cNvPr id="12" name="Text 10"/>
          <p:cNvSpPr txBox="1"/>
          <p:nvPr/>
        </p:nvSpPr>
        <p:spPr>
          <a:xfrm>
            <a:off x="1005840"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Three times more events on the back matches “positional” sleep apnea in the literature. A simple, free change (side-sleeping) could help.</a:t>
            </a:r>
            <a:endParaRPr lang="en-US" sz="1450" dirty="0"/>
          </a:p>
        </p:txBody>
      </p:sp>
      <p:sp>
        <p:nvSpPr>
          <p:cNvPr id="13" name="Shape 11"/>
          <p:cNvSpPr/>
          <p:nvPr/>
        </p:nvSpPr>
        <p:spPr>
          <a:xfrm>
            <a:off x="6190488" y="411480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14" name="Text 12"/>
          <p:cNvSpPr txBox="1"/>
          <p:nvPr/>
        </p:nvSpPr>
        <p:spPr>
          <a:xfrm>
            <a:off x="6510528" y="4370832"/>
            <a:ext cx="4663440" cy="41148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More data beats fancier code</a:t>
            </a:r>
            <a:endParaRPr lang="en-US" sz="1900" dirty="0"/>
          </a:p>
        </p:txBody>
      </p:sp>
      <p:sp>
        <p:nvSpPr>
          <p:cNvPr id="15" name="Text 13"/>
          <p:cNvSpPr txBox="1"/>
          <p:nvPr/>
        </p:nvSpPr>
        <p:spPr>
          <a:xfrm>
            <a:off x="6510528"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Machine learning only tied the rule because it trained on one night. It needs many labeled nights to learn more than a rule.</a:t>
            </a:r>
            <a:endParaRPr lang="en-US" sz="1450" dirty="0"/>
          </a:p>
        </p:txBody>
      </p:sp>
      <p:sp>
        <p:nvSpPr>
          <p:cNvPr id="16"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17"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could make it wrong.</a:t>
            </a:r>
            <a:endParaRPr lang="en-US" sz="4000" dirty="0"/>
          </a:p>
        </p:txBody>
      </p:sp>
      <p:sp>
        <p:nvSpPr>
          <p:cNvPr id="4" name="Text 2"/>
          <p:cNvSpPr txBox="1"/>
          <p:nvPr/>
        </p:nvSpPr>
        <p:spPr>
          <a:xfrm>
            <a:off x="685800" y="1920240"/>
            <a:ext cx="5120640" cy="36576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Measurement</a:t>
            </a:r>
            <a:endParaRPr lang="en-US" sz="1900" dirty="0"/>
          </a:p>
        </p:txBody>
      </p:sp>
      <p:sp>
        <p:nvSpPr>
          <p:cNvPr id="5" name="Shape 3"/>
          <p:cNvSpPr/>
          <p:nvPr/>
        </p:nvSpPr>
        <p:spPr>
          <a:xfrm>
            <a:off x="685800" y="2520772"/>
            <a:ext cx="73152" cy="73152"/>
          </a:xfrm>
          <a:prstGeom prst="ellipse">
            <a:avLst/>
          </a:prstGeom>
          <a:solidFill>
            <a:srgbClr val="86868B"/>
          </a:solidFill>
          <a:ln/>
        </p:spPr>
      </p:sp>
      <p:sp>
        <p:nvSpPr>
          <p:cNvPr id="6" name="Text 4"/>
          <p:cNvSpPr txBox="1"/>
          <p:nvPr/>
        </p:nvSpPr>
        <p:spPr>
          <a:xfrm>
            <a:off x="914400" y="2423160"/>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Finger movement, pressure and cold hands distort the light signal</a:t>
            </a:r>
            <a:endParaRPr lang="en-US" sz="1500" dirty="0"/>
          </a:p>
        </p:txBody>
      </p:sp>
      <p:sp>
        <p:nvSpPr>
          <p:cNvPr id="7" name="Shape 5"/>
          <p:cNvSpPr/>
          <p:nvPr/>
        </p:nvSpPr>
        <p:spPr>
          <a:xfrm>
            <a:off x="685800" y="3131896"/>
            <a:ext cx="73152" cy="73152"/>
          </a:xfrm>
          <a:prstGeom prst="ellipse">
            <a:avLst/>
          </a:prstGeom>
          <a:solidFill>
            <a:srgbClr val="86868B"/>
          </a:solidFill>
          <a:ln/>
        </p:spPr>
      </p:sp>
      <p:sp>
        <p:nvSpPr>
          <p:cNvPr id="8" name="Text 6"/>
          <p:cNvSpPr txBox="1"/>
          <p:nvPr/>
        </p:nvSpPr>
        <p:spPr>
          <a:xfrm>
            <a:off x="914400" y="3034284"/>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4-second averaging window smooths very short dips</a:t>
            </a:r>
            <a:endParaRPr lang="en-US" sz="1500" dirty="0"/>
          </a:p>
        </p:txBody>
      </p:sp>
      <p:sp>
        <p:nvSpPr>
          <p:cNvPr id="9" name="Shape 7"/>
          <p:cNvSpPr/>
          <p:nvPr/>
        </p:nvSpPr>
        <p:spPr>
          <a:xfrm>
            <a:off x="685800" y="3743020"/>
            <a:ext cx="73152" cy="73152"/>
          </a:xfrm>
          <a:prstGeom prst="ellipse">
            <a:avLst/>
          </a:prstGeom>
          <a:solidFill>
            <a:srgbClr val="86868B"/>
          </a:solidFill>
          <a:ln/>
        </p:spPr>
      </p:sp>
      <p:sp>
        <p:nvSpPr>
          <p:cNvPr id="10" name="Text 8"/>
          <p:cNvSpPr txBox="1"/>
          <p:nvPr/>
        </p:nvSpPr>
        <p:spPr>
          <a:xfrm>
            <a:off x="914400" y="3645408"/>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reference oximeter itself is only ±2 %</a:t>
            </a:r>
            <a:endParaRPr lang="en-US" sz="1500" dirty="0"/>
          </a:p>
        </p:txBody>
      </p:sp>
      <p:sp>
        <p:nvSpPr>
          <p:cNvPr id="11" name="Shape 9"/>
          <p:cNvSpPr/>
          <p:nvPr/>
        </p:nvSpPr>
        <p:spPr>
          <a:xfrm>
            <a:off x="685800" y="4121734"/>
            <a:ext cx="73152" cy="73152"/>
          </a:xfrm>
          <a:prstGeom prst="ellipse">
            <a:avLst/>
          </a:prstGeom>
          <a:solidFill>
            <a:srgbClr val="86868B"/>
          </a:solidFill>
          <a:ln/>
        </p:spPr>
      </p:sp>
      <p:sp>
        <p:nvSpPr>
          <p:cNvPr id="12" name="Text 10"/>
          <p:cNvSpPr txBox="1"/>
          <p:nvPr/>
        </p:nvSpPr>
        <p:spPr>
          <a:xfrm>
            <a:off x="914400" y="4024122"/>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Arm angle only approximates body position</a:t>
            </a:r>
            <a:endParaRPr lang="en-US" sz="1500" dirty="0"/>
          </a:p>
        </p:txBody>
      </p:sp>
      <p:sp>
        <p:nvSpPr>
          <p:cNvPr id="13" name="Text 11"/>
          <p:cNvSpPr txBox="1"/>
          <p:nvPr/>
        </p:nvSpPr>
        <p:spPr>
          <a:xfrm>
            <a:off x="6190488" y="1920240"/>
            <a:ext cx="5120640" cy="36576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Method</a:t>
            </a:r>
            <a:endParaRPr lang="en-US" sz="1900" dirty="0"/>
          </a:p>
        </p:txBody>
      </p:sp>
      <p:sp>
        <p:nvSpPr>
          <p:cNvPr id="14" name="Shape 12"/>
          <p:cNvSpPr/>
          <p:nvPr/>
        </p:nvSpPr>
        <p:spPr>
          <a:xfrm>
            <a:off x="6190488" y="2520772"/>
            <a:ext cx="73152" cy="73152"/>
          </a:xfrm>
          <a:prstGeom prst="ellipse">
            <a:avLst/>
          </a:prstGeom>
          <a:solidFill>
            <a:srgbClr val="86868B"/>
          </a:solidFill>
          <a:ln/>
        </p:spPr>
      </p:sp>
      <p:sp>
        <p:nvSpPr>
          <p:cNvPr id="15" name="Text 13"/>
          <p:cNvSpPr txBox="1"/>
          <p:nvPr/>
        </p:nvSpPr>
        <p:spPr>
          <a:xfrm>
            <a:off x="6419088" y="2423160"/>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Awake breath-holds aren’t the same as real obstructive apnea</a:t>
            </a:r>
            <a:endParaRPr lang="en-US" sz="1500" dirty="0"/>
          </a:p>
        </p:txBody>
      </p:sp>
      <p:sp>
        <p:nvSpPr>
          <p:cNvPr id="16" name="Shape 14"/>
          <p:cNvSpPr/>
          <p:nvPr/>
        </p:nvSpPr>
        <p:spPr>
          <a:xfrm>
            <a:off x="6190488" y="3131896"/>
            <a:ext cx="73152" cy="73152"/>
          </a:xfrm>
          <a:prstGeom prst="ellipse">
            <a:avLst/>
          </a:prstGeom>
          <a:solidFill>
            <a:srgbClr val="86868B"/>
          </a:solidFill>
          <a:ln/>
        </p:spPr>
      </p:sp>
      <p:sp>
        <p:nvSpPr>
          <p:cNvPr id="17" name="Text 15"/>
          <p:cNvSpPr txBox="1"/>
          <p:nvPr/>
        </p:nvSpPr>
        <p:spPr>
          <a:xfrm>
            <a:off x="6419088" y="3034284"/>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Oxygen only: no airflow or brain-wave sensors like a lab study</a:t>
            </a:r>
            <a:endParaRPr lang="en-US" sz="1500" dirty="0"/>
          </a:p>
        </p:txBody>
      </p:sp>
      <p:sp>
        <p:nvSpPr>
          <p:cNvPr id="18" name="Shape 16"/>
          <p:cNvSpPr/>
          <p:nvPr/>
        </p:nvSpPr>
        <p:spPr>
          <a:xfrm>
            <a:off x="6190488" y="3743020"/>
            <a:ext cx="73152" cy="73152"/>
          </a:xfrm>
          <a:prstGeom prst="ellipse">
            <a:avLst/>
          </a:prstGeom>
          <a:solidFill>
            <a:srgbClr val="86868B"/>
          </a:solidFill>
          <a:ln/>
        </p:spPr>
      </p:sp>
      <p:sp>
        <p:nvSpPr>
          <p:cNvPr id="19" name="Text 17"/>
          <p:cNvSpPr txBox="1"/>
          <p:nvPr/>
        </p:nvSpPr>
        <p:spPr>
          <a:xfrm>
            <a:off x="6419088" y="3645408"/>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One person, few nights: can’t generalize yet</a:t>
            </a:r>
            <a:endParaRPr lang="en-US" sz="1500" dirty="0"/>
          </a:p>
        </p:txBody>
      </p:sp>
      <p:sp>
        <p:nvSpPr>
          <p:cNvPr id="20" name="Shape 18"/>
          <p:cNvSpPr/>
          <p:nvPr/>
        </p:nvSpPr>
        <p:spPr>
          <a:xfrm>
            <a:off x="6190488" y="4121734"/>
            <a:ext cx="73152" cy="73152"/>
          </a:xfrm>
          <a:prstGeom prst="ellipse">
            <a:avLst/>
          </a:prstGeom>
          <a:solidFill>
            <a:srgbClr val="86868B"/>
          </a:solidFill>
          <a:ln/>
        </p:spPr>
      </p:sp>
      <p:sp>
        <p:nvSpPr>
          <p:cNvPr id="21" name="Text 19"/>
          <p:cNvSpPr txBox="1"/>
          <p:nvPr/>
        </p:nvSpPr>
        <p:spPr>
          <a:xfrm>
            <a:off x="6419088" y="4024122"/>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Results so far use simulated example data</a:t>
            </a:r>
            <a:endParaRPr lang="en-US" sz="1500" dirty="0"/>
          </a:p>
        </p:txBody>
      </p:sp>
      <p:sp>
        <p:nvSpPr>
          <p:cNvPr id="22" name="Shape 20"/>
          <p:cNvSpPr/>
          <p:nvPr/>
        </p:nvSpPr>
        <p:spPr>
          <a:xfrm>
            <a:off x="685800" y="4846320"/>
            <a:ext cx="10817352" cy="1325880"/>
          </a:xfrm>
          <a:prstGeom prst="roundRect">
            <a:avLst>
              <a:gd name="adj" fmla="val 15172"/>
            </a:avLst>
          </a:prstGeom>
          <a:solidFill>
            <a:srgbClr val="FFFFFF">
              <a:alpha val="9000"/>
            </a:srgbClr>
          </a:solidFill>
          <a:ln w="9525">
            <a:solidFill>
              <a:srgbClr val="FFFFFF">
                <a:alpha val="16000"/>
              </a:srgbClr>
            </a:solidFill>
            <a:prstDash val="solid"/>
          </a:ln>
        </p:spPr>
      </p:sp>
      <p:sp>
        <p:nvSpPr>
          <p:cNvPr id="23" name="Text 21"/>
          <p:cNvSpPr txBox="1"/>
          <p:nvPr/>
        </p:nvSpPr>
        <p:spPr>
          <a:xfrm>
            <a:off x="1005840" y="5074920"/>
            <a:ext cx="10195560" cy="960120"/>
          </a:xfrm>
          <a:prstGeom prst="rect">
            <a:avLst/>
          </a:prstGeom>
          <a:noFill/>
          <a:ln/>
        </p:spPr>
        <p:txBody>
          <a:bodyPr wrap="square" lIns="0" tIns="0" rIns="0" bIns="0" rtlCol="0" anchor="t"/>
          <a:lstStyle/>
          <a:p>
            <a:pPr indent="0" marL="0">
              <a:lnSpc>
                <a:spcPct val="105000"/>
              </a:lnSpc>
              <a:buNone/>
            </a:pPr>
            <a:r>
              <a:rPr lang="en-US" sz="1550" b="1" dirty="0">
                <a:solidFill>
                  <a:srgbClr val="FF9F0A"/>
                </a:solidFill>
                <a:latin typeface="Helvetica Neue" pitchFamily="34" charset="0"/>
                <a:ea typeface="Helvetica Neue" pitchFamily="34" charset="-122"/>
                <a:cs typeface="Helvetica Neue" pitchFamily="34" charset="-120"/>
              </a:rPr>
              <a:t>Engineering finding.  </a:t>
            </a:r>
            <a:pPr indent="0" marL="0">
              <a:lnSpc>
                <a:spcPct val="105000"/>
              </a:lnSpc>
              <a:buNone/>
            </a:pPr>
            <a:r>
              <a:rPr lang="en-US" sz="1550" dirty="0">
                <a:solidFill>
                  <a:srgbClr val="FFFFFF"/>
                </a:solidFill>
                <a:latin typeface="Helvetica Neue" pitchFamily="34" charset="0"/>
                <a:ea typeface="Helvetica Neue" pitchFamily="34" charset="-122"/>
                <a:cs typeface="Helvetica Neue" pitchFamily="34" charset="-120"/>
              </a:rPr>
              <a:t>Bluetooth draws about 100 mA, so a 500 mAh battery would last only 4–5 hours: not a full night. So prototype v1 runs on USB power, and the sealed v2 case needs a bigger battery or Bluetooth Low Energy.</a:t>
            </a:r>
            <a:endParaRPr lang="en-US" sz="155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Further considerations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Same sensor. Two more uses.</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74520"/>
            <a:ext cx="5312664" cy="3017520"/>
          </a:xfrm>
          <a:prstGeom prst="roundRect">
            <a:avLst>
              <a:gd name="adj" fmla="val 6667"/>
            </a:avLst>
          </a:prstGeom>
          <a:solidFill>
            <a:srgbClr val="FFFFFF"/>
          </a:solidFill>
          <a:ln/>
        </p:spPr>
      </p:sp>
      <p:pic>
        <p:nvPicPr>
          <p:cNvPr id="7" name="Image 0" descr="/home/user/teetomivV2/science-fair/night-signal/slides/assets/heart.png">    </p:cNvPr>
          <p:cNvPicPr>
            <a:picLocks noChangeAspect="1"/>
          </p:cNvPicPr>
          <p:nvPr/>
        </p:nvPicPr>
        <p:blipFill>
          <a:blip r:embed="rId1"/>
          <a:stretch>
            <a:fillRect/>
          </a:stretch>
        </p:blipFill>
        <p:spPr>
          <a:xfrm>
            <a:off x="886968" y="2089342"/>
            <a:ext cx="4910328" cy="2587876"/>
          </a:xfrm>
          <a:prstGeom prst="rect">
            <a:avLst/>
          </a:prstGeom>
        </p:spPr>
      </p:pic>
      <p:sp>
        <p:nvSpPr>
          <p:cNvPr id="8" name="Shape 5"/>
          <p:cNvSpPr/>
          <p:nvPr/>
        </p:nvSpPr>
        <p:spPr>
          <a:xfrm>
            <a:off x="6190488" y="1874520"/>
            <a:ext cx="5312664" cy="3017520"/>
          </a:xfrm>
          <a:prstGeom prst="roundRect">
            <a:avLst>
              <a:gd name="adj" fmla="val 6667"/>
            </a:avLst>
          </a:prstGeom>
          <a:solidFill>
            <a:srgbClr val="FFFFFF"/>
          </a:solidFill>
          <a:ln/>
        </p:spPr>
      </p:sp>
      <p:pic>
        <p:nvPicPr>
          <p:cNvPr id="9" name="Image 1" descr="/home/user/teetomivV2/science-fair/night-signal/slides/assets/asthma.png">    </p:cNvPr>
          <p:cNvPicPr>
            <a:picLocks noChangeAspect="1"/>
          </p:cNvPicPr>
          <p:nvPr/>
        </p:nvPicPr>
        <p:blipFill>
          <a:blip r:embed="rId2"/>
          <a:stretch>
            <a:fillRect/>
          </a:stretch>
        </p:blipFill>
        <p:spPr>
          <a:xfrm>
            <a:off x="6391656" y="2089342"/>
            <a:ext cx="4910328" cy="2587876"/>
          </a:xfrm>
          <a:prstGeom prst="rect">
            <a:avLst/>
          </a:prstGeom>
        </p:spPr>
      </p:pic>
      <p:sp>
        <p:nvSpPr>
          <p:cNvPr id="10" name="Text 6"/>
          <p:cNvSpPr txBox="1"/>
          <p:nvPr/>
        </p:nvSpPr>
        <p:spPr>
          <a:xfrm>
            <a:off x="868680" y="5120640"/>
            <a:ext cx="5029200" cy="914400"/>
          </a:xfrm>
          <a:prstGeom prst="rect">
            <a:avLst/>
          </a:prstGeom>
          <a:noFill/>
          <a:ln/>
        </p:spPr>
        <p:txBody>
          <a:bodyPr wrap="square" lIns="0" tIns="0" rIns="0" bIns="0" rtlCol="0" anchor="t"/>
          <a:lstStyle/>
          <a:p>
            <a:pPr indent="0" marL="0">
              <a:buNone/>
            </a:pPr>
            <a:r>
              <a:rPr lang="en-US" sz="1450" b="1" dirty="0">
                <a:solidFill>
                  <a:srgbClr val="E3254B"/>
                </a:solidFill>
                <a:latin typeface="Helvetica Neue" pitchFamily="34" charset="0"/>
                <a:ea typeface="Helvetica Neue" pitchFamily="34" charset="-122"/>
                <a:cs typeface="Helvetica Neue" pitchFamily="34" charset="-120"/>
              </a:rPr>
              <a:t>Heart.  </a:t>
            </a:r>
            <a:pPr indent="0" marL="0">
              <a:buNone/>
            </a:pPr>
            <a:r>
              <a:rPr lang="en-US" sz="1450" dirty="0">
                <a:solidFill>
                  <a:srgbClr val="6E6E73"/>
                </a:solidFill>
                <a:latin typeface="Helvetica Neue" pitchFamily="34" charset="0"/>
                <a:ea typeface="Helvetica Neue" pitchFamily="34" charset="-122"/>
                <a:cs typeface="Helvetica Neue" pitchFamily="34" charset="-120"/>
              </a:rPr>
              <a:t>Flags racing (&gt;100 bpm), very slow (&lt;40 bpm) and irregular-rhythm episodes, plus resting heart rate and HRV.</a:t>
            </a:r>
            <a:endParaRPr lang="en-US" sz="1450" dirty="0"/>
          </a:p>
        </p:txBody>
      </p:sp>
      <p:sp>
        <p:nvSpPr>
          <p:cNvPr id="11" name="Text 7"/>
          <p:cNvSpPr txBox="1"/>
          <p:nvPr/>
        </p:nvSpPr>
        <p:spPr>
          <a:xfrm>
            <a:off x="6373368" y="5120640"/>
            <a:ext cx="5029200" cy="914400"/>
          </a:xfrm>
          <a:prstGeom prst="rect">
            <a:avLst/>
          </a:prstGeom>
          <a:noFill/>
          <a:ln/>
        </p:spPr>
        <p:txBody>
          <a:bodyPr wrap="square" lIns="0" tIns="0" rIns="0" bIns="0" rtlCol="0" anchor="t"/>
          <a:lstStyle/>
          <a:p>
            <a:pPr indent="0" marL="0">
              <a:buNone/>
            </a:pPr>
            <a:r>
              <a:rPr lang="en-US" sz="1450" b="1" dirty="0">
                <a:solidFill>
                  <a:srgbClr val="0071E3"/>
                </a:solidFill>
                <a:latin typeface="Helvetica Neue" pitchFamily="34" charset="0"/>
                <a:ea typeface="Helvetica Neue" pitchFamily="34" charset="-122"/>
                <a:cs typeface="Helvetica Neue" pitchFamily="34" charset="-120"/>
              </a:rPr>
              <a:t>Asthma.  </a:t>
            </a:r>
            <a:pPr indent="0" marL="0">
              <a:buNone/>
            </a:pPr>
            <a:r>
              <a:rPr lang="en-US" sz="1450" dirty="0">
                <a:solidFill>
                  <a:srgbClr val="6E6E73"/>
                </a:solidFill>
                <a:latin typeface="Helvetica Neue" pitchFamily="34" charset="0"/>
                <a:ea typeface="Helvetica Neue" pitchFamily="34" charset="-122"/>
                <a:cs typeface="Helvetica Neue" pitchFamily="34" charset="-120"/>
              </a:rPr>
              <a:t>Tracks breathing rate from the heart’s rhythm and coughs from the motion sensor, catching early-morning worsening (13 → 22 breaths/min).</a:t>
            </a:r>
            <a:endParaRPr lang="en-US" sz="1450" dirty="0"/>
          </a:p>
        </p:txBody>
      </p:sp>
      <p:sp>
        <p:nvSpPr>
          <p:cNvPr id="12" name="Text 8"/>
          <p:cNvSpPr txBox="1"/>
          <p:nvPr/>
        </p:nvSpPr>
        <p:spPr>
          <a:xfrm>
            <a:off x="685800" y="6053328"/>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Screening ideas only. Confirming an arrhythmia or asthma needs a doctor.</a:t>
            </a:r>
            <a:endParaRPr lang="en-US" sz="1200" dirty="0"/>
          </a:p>
        </p:txBody>
      </p:sp>
      <p:sp>
        <p:nvSpPr>
          <p:cNvPr id="13" name="Text 9"/>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4" name="Text 10"/>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Conclusion</a:t>
            </a:r>
            <a:endParaRPr lang="en-US" sz="1600" dirty="0"/>
          </a:p>
        </p:txBody>
      </p:sp>
      <p:sp>
        <p:nvSpPr>
          <p:cNvPr id="3" name="Text 1"/>
          <p:cNvSpPr txBox="1"/>
          <p:nvPr/>
        </p:nvSpPr>
        <p:spPr>
          <a:xfrm>
            <a:off x="685800" y="841248"/>
            <a:ext cx="10789920" cy="1005840"/>
          </a:xfrm>
          <a:prstGeom prst="rect">
            <a:avLst/>
          </a:prstGeom>
          <a:noFill/>
          <a:ln/>
        </p:spPr>
        <p:txBody>
          <a:bodyPr wrap="square" lIns="0" tIns="0" rIns="0" bIns="0" rtlCol="0" anchor="t"/>
          <a:lstStyle/>
          <a:p>
            <a:pPr indent="0" marL="0">
              <a:lnSpc>
                <a:spcPct val="92000"/>
              </a:lnSpc>
              <a:buNone/>
            </a:pPr>
            <a:r>
              <a:rPr lang="en-US" sz="5400" b="1" dirty="0">
                <a:solidFill>
                  <a:srgbClr val="FFFFFF"/>
                </a:solidFill>
                <a:latin typeface="Helvetica Neue" pitchFamily="34" charset="0"/>
                <a:ea typeface="Helvetica Neue" pitchFamily="34" charset="-122"/>
                <a:cs typeface="Helvetica Neue" pitchFamily="34" charset="-120"/>
              </a:rPr>
              <a:t>Supported. So far.</a:t>
            </a:r>
            <a:endParaRPr lang="en-US" sz="5400" dirty="0"/>
          </a:p>
        </p:txBody>
      </p:sp>
      <p:sp>
        <p:nvSpPr>
          <p:cNvPr id="4" name="Text 2"/>
          <p:cNvSpPr txBox="1"/>
          <p:nvPr/>
        </p:nvSpPr>
        <p:spPr>
          <a:xfrm>
            <a:off x="685800" y="1965960"/>
            <a:ext cx="10789920" cy="1005840"/>
          </a:xfrm>
          <a:prstGeom prst="rect">
            <a:avLst/>
          </a:prstGeom>
          <a:noFill/>
          <a:ln/>
        </p:spPr>
        <p:txBody>
          <a:bodyPr wrap="square" lIns="0" tIns="0" rIns="0" bIns="0" rtlCol="0" anchor="t"/>
          <a:lstStyle/>
          <a:p>
            <a:pPr indent="0" marL="0">
              <a:lnSpc>
                <a:spcPct val="108000"/>
              </a:lnSpc>
              <a:buNone/>
            </a:pPr>
            <a:r>
              <a:rPr lang="en-US" sz="1900" dirty="0">
                <a:solidFill>
                  <a:srgbClr val="A1A1A6"/>
                </a:solidFill>
                <a:latin typeface="Helvetica Neue" pitchFamily="34" charset="0"/>
                <a:ea typeface="Helvetica Neue" pitchFamily="34" charset="-122"/>
                <a:cs typeface="Helvetica Neue" pitchFamily="34" charset="-120"/>
              </a:rPr>
              <a:t>A low-cost wearable measured blood oxygen within about half a percent of a reference, found apnea events on its own, scored the night’s severity, and showed back-sleeping triples events.</a:t>
            </a:r>
            <a:endParaRPr lang="en-US" sz="1900" dirty="0"/>
          </a:p>
        </p:txBody>
      </p:sp>
      <p:sp>
        <p:nvSpPr>
          <p:cNvPr id="5" name="Text 3"/>
          <p:cNvSpPr txBox="1"/>
          <p:nvPr/>
        </p:nvSpPr>
        <p:spPr>
          <a:xfrm>
            <a:off x="685800" y="3246120"/>
            <a:ext cx="5486400" cy="365760"/>
          </a:xfrm>
          <a:prstGeom prst="rect">
            <a:avLst/>
          </a:prstGeom>
          <a:noFill/>
          <a:ln/>
        </p:spPr>
        <p:txBody>
          <a:bodyPr wrap="square" lIns="0" tIns="0" rIns="0" bIns="0" rtlCol="0" anchor="t"/>
          <a:lstStyle/>
          <a:p>
            <a:pPr indent="0" marL="0">
              <a:buNone/>
            </a:pPr>
            <a:r>
              <a:rPr lang="en-US" sz="1900" b="1" dirty="0">
                <a:solidFill>
                  <a:srgbClr val="FFFFFF"/>
                </a:solidFill>
                <a:latin typeface="Helvetica Neue" pitchFamily="34" charset="0"/>
                <a:ea typeface="Helvetica Neue" pitchFamily="34" charset="-122"/>
                <a:cs typeface="Helvetica Neue" pitchFamily="34" charset="-120"/>
              </a:rPr>
              <a:t>Next</a:t>
            </a:r>
            <a:endParaRPr lang="en-US" sz="1900" dirty="0"/>
          </a:p>
        </p:txBody>
      </p:sp>
      <p:sp>
        <p:nvSpPr>
          <p:cNvPr id="6" name="Shape 4"/>
          <p:cNvSpPr/>
          <p:nvPr/>
        </p:nvSpPr>
        <p:spPr>
          <a:xfrm>
            <a:off x="685800" y="3804186"/>
            <a:ext cx="73152" cy="73152"/>
          </a:xfrm>
          <a:prstGeom prst="ellipse">
            <a:avLst/>
          </a:prstGeom>
          <a:solidFill>
            <a:srgbClr val="86868B"/>
          </a:solidFill>
          <a:ln/>
        </p:spPr>
      </p:sp>
      <p:sp>
        <p:nvSpPr>
          <p:cNvPr id="7" name="Text 5"/>
          <p:cNvSpPr txBox="1"/>
          <p:nvPr/>
        </p:nvSpPr>
        <p:spPr>
          <a:xfrm>
            <a:off x="914400" y="3703320"/>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Record more people and many more nights</a:t>
            </a:r>
            <a:endParaRPr lang="en-US" sz="1550" dirty="0"/>
          </a:p>
        </p:txBody>
      </p:sp>
      <p:sp>
        <p:nvSpPr>
          <p:cNvPr id="8" name="Shape 6"/>
          <p:cNvSpPr/>
          <p:nvPr/>
        </p:nvSpPr>
        <p:spPr>
          <a:xfrm>
            <a:off x="685800" y="4172359"/>
            <a:ext cx="73152" cy="73152"/>
          </a:xfrm>
          <a:prstGeom prst="ellipse">
            <a:avLst/>
          </a:prstGeom>
          <a:solidFill>
            <a:srgbClr val="86868B"/>
          </a:solidFill>
          <a:ln/>
        </p:spPr>
      </p:sp>
      <p:sp>
        <p:nvSpPr>
          <p:cNvPr id="9" name="Text 7"/>
          <p:cNvSpPr txBox="1"/>
          <p:nvPr/>
        </p:nvSpPr>
        <p:spPr>
          <a:xfrm>
            <a:off x="914400" y="4071493"/>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Add a nasal airflow sensor to separate apnea from hypopnea</a:t>
            </a:r>
            <a:endParaRPr lang="en-US" sz="1550" dirty="0"/>
          </a:p>
        </p:txBody>
      </p:sp>
      <p:sp>
        <p:nvSpPr>
          <p:cNvPr id="10" name="Shape 8"/>
          <p:cNvSpPr/>
          <p:nvPr/>
        </p:nvSpPr>
        <p:spPr>
          <a:xfrm>
            <a:off x="685800" y="4540532"/>
            <a:ext cx="73152" cy="73152"/>
          </a:xfrm>
          <a:prstGeom prst="ellipse">
            <a:avLst/>
          </a:prstGeom>
          <a:solidFill>
            <a:srgbClr val="86868B"/>
          </a:solidFill>
          <a:ln/>
        </p:spPr>
      </p:sp>
      <p:sp>
        <p:nvSpPr>
          <p:cNvPr id="11" name="Text 9"/>
          <p:cNvSpPr txBox="1"/>
          <p:nvPr/>
        </p:nvSpPr>
        <p:spPr>
          <a:xfrm>
            <a:off x="914400" y="4439666"/>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Bigger battery or Bluetooth Low Energy for full nights</a:t>
            </a:r>
            <a:endParaRPr lang="en-US" sz="1550" dirty="0"/>
          </a:p>
        </p:txBody>
      </p:sp>
      <p:sp>
        <p:nvSpPr>
          <p:cNvPr id="12" name="Shape 10"/>
          <p:cNvSpPr/>
          <p:nvPr/>
        </p:nvSpPr>
        <p:spPr>
          <a:xfrm>
            <a:off x="685800" y="4908705"/>
            <a:ext cx="73152" cy="73152"/>
          </a:xfrm>
          <a:prstGeom prst="ellipse">
            <a:avLst/>
          </a:prstGeom>
          <a:solidFill>
            <a:srgbClr val="86868B"/>
          </a:solidFill>
          <a:ln/>
        </p:spPr>
      </p:sp>
      <p:sp>
        <p:nvSpPr>
          <p:cNvPr id="13" name="Text 11"/>
          <p:cNvSpPr txBox="1"/>
          <p:nvPr/>
        </p:nvSpPr>
        <p:spPr>
          <a:xfrm>
            <a:off x="914400" y="4807839"/>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Shrink it into a finger ring and compare with a real sleep lab</a:t>
            </a:r>
            <a:endParaRPr lang="en-US" sz="1550" dirty="0"/>
          </a:p>
        </p:txBody>
      </p:sp>
      <p:sp>
        <p:nvSpPr>
          <p:cNvPr id="14" name="Shape 12"/>
          <p:cNvSpPr/>
          <p:nvPr/>
        </p:nvSpPr>
        <p:spPr>
          <a:xfrm>
            <a:off x="8110728" y="3355848"/>
            <a:ext cx="1472184" cy="1472184"/>
          </a:xfrm>
          <a:prstGeom prst="roundRect">
            <a:avLst>
              <a:gd name="adj" fmla="val 13665"/>
            </a:avLst>
          </a:prstGeom>
          <a:solidFill>
            <a:srgbClr val="FFFFFF"/>
          </a:solidFill>
          <a:ln/>
        </p:spPr>
      </p:sp>
      <p:pic>
        <p:nvPicPr>
          <p:cNvPr id="15" name="Image 0" descr="/home/user/teetomivV2/science-fair/night-signal/slides/assets/qr_app.png">
            <a:hlinkClick r:id="rId3" tooltip="https://gabrielamamanestudent-wq.github.io/teetomivV2/science-fair/night-signal/app/"/>
          </p:cNvPr>
          <p:cNvPicPr>
            <a:picLocks noChangeAspect="1"/>
          </p:cNvPicPr>
          <p:nvPr/>
        </p:nvPicPr>
        <p:blipFill>
          <a:blip r:embed="rId2"/>
          <a:stretch>
            <a:fillRect/>
          </a:stretch>
        </p:blipFill>
        <p:spPr>
          <a:xfrm>
            <a:off x="8183880" y="3429000"/>
            <a:ext cx="1325880" cy="1325880"/>
          </a:xfrm>
          <a:prstGeom prst="rect">
            <a:avLst/>
          </a:prstGeom>
        </p:spPr>
      </p:pic>
      <p:sp>
        <p:nvSpPr>
          <p:cNvPr id="16" name="Shape 13"/>
          <p:cNvSpPr/>
          <p:nvPr/>
        </p:nvSpPr>
        <p:spPr>
          <a:xfrm>
            <a:off x="9966960" y="3355848"/>
            <a:ext cx="1472184" cy="1472184"/>
          </a:xfrm>
          <a:prstGeom prst="roundRect">
            <a:avLst>
              <a:gd name="adj" fmla="val 13665"/>
            </a:avLst>
          </a:prstGeom>
          <a:solidFill>
            <a:srgbClr val="FFFFFF"/>
          </a:solidFill>
          <a:ln/>
        </p:spPr>
      </p:sp>
      <p:pic>
        <p:nvPicPr>
          <p:cNvPr id="17" name="Image 1"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040112" y="3429000"/>
            <a:ext cx="1325880" cy="1325880"/>
          </a:xfrm>
          <a:prstGeom prst="rect">
            <a:avLst/>
          </a:prstGeom>
        </p:spPr>
      </p:pic>
      <p:sp>
        <p:nvSpPr>
          <p:cNvPr id="18" name="Text 14"/>
          <p:cNvSpPr txBox="1"/>
          <p:nvPr/>
        </p:nvSpPr>
        <p:spPr>
          <a:xfrm>
            <a:off x="8183880"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App</a:t>
            </a:r>
            <a:endParaRPr lang="en-US" sz="1300" dirty="0"/>
          </a:p>
        </p:txBody>
      </p:sp>
      <p:sp>
        <p:nvSpPr>
          <p:cNvPr id="19" name="Text 15"/>
          <p:cNvSpPr txBox="1"/>
          <p:nvPr/>
        </p:nvSpPr>
        <p:spPr>
          <a:xfrm>
            <a:off x="10040112"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3D model</a:t>
            </a:r>
            <a:endParaRPr lang="en-US" sz="1300" dirty="0"/>
          </a:p>
        </p:txBody>
      </p:sp>
      <p:sp>
        <p:nvSpPr>
          <p:cNvPr id="20" name="Text 16"/>
          <p:cNvSpPr txBox="1"/>
          <p:nvPr/>
        </p:nvSpPr>
        <p:spPr>
          <a:xfrm>
            <a:off x="685800" y="5760720"/>
            <a:ext cx="10789920" cy="548640"/>
          </a:xfrm>
          <a:prstGeom prst="rect">
            <a:avLst/>
          </a:prstGeom>
          <a:noFill/>
          <a:ln/>
        </p:spPr>
        <p:txBody>
          <a:bodyPr wrap="square" lIns="0" tIns="0" rIns="0" bIns="0" rtlCol="0" anchor="t"/>
          <a:lstStyle/>
          <a:p>
            <a:pPr indent="0" marL="0">
              <a:buNone/>
            </a:pPr>
            <a:r>
              <a:rPr lang="en-US" sz="2800" b="1" dirty="0">
                <a:solidFill>
                  <a:srgbClr val="FFFFFF"/>
                </a:solidFill>
                <a:latin typeface="Helvetica Neue" pitchFamily="34" charset="0"/>
                <a:ea typeface="Helvetica Neue" pitchFamily="34" charset="-122"/>
                <a:cs typeface="Helvetica Neue" pitchFamily="34" charset="-120"/>
              </a:rPr>
              <a:t>Thank you. Questions?</a:t>
            </a:r>
            <a:endParaRPr lang="en-US" sz="2800" dirty="0"/>
          </a:p>
        </p:txBody>
      </p:sp>
      <p:sp>
        <p:nvSpPr>
          <p:cNvPr id="21"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2"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A · Materials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Parts, exact sizes and where to buy.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4023360"/>
                <a:gridCol w="3017520"/>
                <a:gridCol w="2587752"/>
                <a:gridCol w="1188720"/>
              </a:tblGrid>
              <a:tr h="393192">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Part</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Size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Purpose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Buy</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AITRIP ESP32 ESP-WROOM-32 (30-pin, CP2102, USB-C)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52 × 28 mm · pins pre-soldered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Processor + Bluetooth Classic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HiLetgo MAX30102 sensor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14 × 14 mm · 4 pins to solder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SpO₂ + heart rate (finger clip)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SHILLEHTEK GY-521 MPU-6050, pre-soldered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21 × 16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Sleep position + cough jolts</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ELEGOO 120 Dupont jumper wires (F-F, M-F,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20 cm each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Plug-in wiring, no soldering</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Running armband phone pouch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fits phones up to 6.9 in</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Holds the ESP32 on the forearm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Powerline+ USB-A to USB-C cable</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3 m (10 ft)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All-night power from a phone charger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USB-C to USB-A adapter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USB-C → USB-A</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 the cable into a MacBook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VELCRO Brand 1 in × 30 ft roll</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25 mm wide · cut ≈ 80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Finger loop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Elite Medica fingertip pulse oximeter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Health Canada authorized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Reference for the accuracy test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5897880"/>
            <a:ext cx="10789920" cy="457200"/>
          </a:xfrm>
          <a:prstGeom prst="rect">
            <a:avLst/>
          </a:prstGeom>
          <a:noFill/>
          <a:ln/>
        </p:spPr>
        <p:txBody>
          <a:bodyPr wrap="square" lIns="0" tIns="0" rIns="0" bIns="0" rtlCol="0" anchor="t"/>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Every part is on Amazon.ca (click Buy). Prices change and several items are multi-packs. Only the MAX30102’s 4 header pins need soldering (about 5 minutes); everything else plugs 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B · Full protocol</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Full experimental protocol.</a:t>
            </a:r>
            <a:endParaRPr lang="en-US" sz="3000" dirty="0"/>
          </a:p>
        </p:txBody>
      </p:sp>
      <p:sp>
        <p:nvSpPr>
          <p:cNvPr id="6" name="Text 4"/>
          <p:cNvSpPr txBox="1"/>
          <p:nvPr/>
        </p:nvSpPr>
        <p:spPr>
          <a:xfrm>
            <a:off x="685800" y="164592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1</a:t>
            </a:r>
            <a:endParaRPr lang="en-US" sz="1400" dirty="0"/>
          </a:p>
        </p:txBody>
      </p:sp>
      <p:sp>
        <p:nvSpPr>
          <p:cNvPr id="7" name="Text 5"/>
          <p:cNvSpPr txBox="1"/>
          <p:nvPr/>
        </p:nvSpPr>
        <p:spPr>
          <a:xfrm>
            <a:off x="1097280" y="164592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Build: plug the MAX30102 into 3V3 / GND / GPIO 21 / 22 and the GY-521 into VIN / GND / SDA→GPIO 33 / SCL→GPIO 32 (two separate I²C buses, no splices); ESP32 in the armband, USB power. Flash firmware v3.1.</a:t>
            </a:r>
            <a:endParaRPr lang="en-US" sz="1250" dirty="0"/>
          </a:p>
        </p:txBody>
      </p:sp>
      <p:sp>
        <p:nvSpPr>
          <p:cNvPr id="8" name="Text 6"/>
          <p:cNvSpPr txBox="1"/>
          <p:nvPr/>
        </p:nvSpPr>
        <p:spPr>
          <a:xfrm>
            <a:off x="685800" y="221284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2</a:t>
            </a:r>
            <a:endParaRPr lang="en-US" sz="1400" dirty="0"/>
          </a:p>
        </p:txBody>
      </p:sp>
      <p:sp>
        <p:nvSpPr>
          <p:cNvPr id="9" name="Text 7"/>
          <p:cNvSpPr txBox="1"/>
          <p:nvPr/>
        </p:nvSpPr>
        <p:spPr>
          <a:xfrm>
            <a:off x="1097280" y="221284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Device check: run check_device.py; record the result. Do not continue unless it says READY.</a:t>
            </a:r>
            <a:endParaRPr lang="en-US" sz="1250" dirty="0"/>
          </a:p>
        </p:txBody>
      </p:sp>
      <p:sp>
        <p:nvSpPr>
          <p:cNvPr id="10" name="Text 8"/>
          <p:cNvSpPr txBox="1"/>
          <p:nvPr/>
        </p:nvSpPr>
        <p:spPr>
          <a:xfrm>
            <a:off x="685800" y="277977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3</a:t>
            </a:r>
            <a:endParaRPr lang="en-US" sz="1400" dirty="0"/>
          </a:p>
        </p:txBody>
      </p:sp>
      <p:sp>
        <p:nvSpPr>
          <p:cNvPr id="11" name="Text 9"/>
          <p:cNvSpPr txBox="1"/>
          <p:nvPr/>
        </p:nvSpPr>
        <p:spPr>
          <a:xfrm>
            <a:off x="1097280" y="277977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Full-night power test: on USB power, stream with a finger on the sensor for 8 h; confirm there are no gaps in the data.</a:t>
            </a:r>
            <a:endParaRPr lang="en-US" sz="1250" dirty="0"/>
          </a:p>
        </p:txBody>
      </p:sp>
      <p:sp>
        <p:nvSpPr>
          <p:cNvPr id="12" name="Text 10"/>
          <p:cNvSpPr txBox="1"/>
          <p:nvPr/>
        </p:nvSpPr>
        <p:spPr>
          <a:xfrm>
            <a:off x="685800" y="3346704"/>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4</a:t>
            </a:r>
            <a:endParaRPr lang="en-US" sz="1400" dirty="0"/>
          </a:p>
        </p:txBody>
      </p:sp>
      <p:sp>
        <p:nvSpPr>
          <p:cNvPr id="13" name="Text 11"/>
          <p:cNvSpPr txBox="1"/>
          <p:nvPr/>
        </p:nvSpPr>
        <p:spPr>
          <a:xfrm>
            <a:off x="1097280" y="3346704"/>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85800" y="3913632"/>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5</a:t>
            </a:r>
            <a:endParaRPr lang="en-US" sz="1400" dirty="0"/>
          </a:p>
        </p:txBody>
      </p:sp>
      <p:sp>
        <p:nvSpPr>
          <p:cNvPr id="15" name="Text 13"/>
          <p:cNvSpPr txBox="1"/>
          <p:nvPr/>
        </p:nvSpPr>
        <p:spPr>
          <a:xfrm>
            <a:off x="1097280" y="3913632"/>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Detection test: supervised, awake, seated; 5 breath-holds each of 10, 15 and 20 s after a normal breath out, 2 min apart; log start/end times as ground-truth labels. Score with train_model.py.</a:t>
            </a:r>
            <a:endParaRPr lang="en-US" sz="1250" dirty="0"/>
          </a:p>
        </p:txBody>
      </p:sp>
      <p:sp>
        <p:nvSpPr>
          <p:cNvPr id="16" name="Text 14"/>
          <p:cNvSpPr txBox="1"/>
          <p:nvPr/>
        </p:nvSpPr>
        <p:spPr>
          <a:xfrm>
            <a:off x="685800" y="448056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6</a:t>
            </a:r>
            <a:endParaRPr lang="en-US" sz="1400" dirty="0"/>
          </a:p>
        </p:txBody>
      </p:sp>
      <p:sp>
        <p:nvSpPr>
          <p:cNvPr id="17" name="Text 15"/>
          <p:cNvSpPr txBox="1"/>
          <p:nvPr/>
        </p:nvSpPr>
        <p:spPr>
          <a:xfrm>
            <a:off x="1097280" y="448056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Recorded nights: at least 5 nights; armband on the forearm, finger clip on the index finger; record.py logs all night; note bedtime and wake time.</a:t>
            </a:r>
            <a:endParaRPr lang="en-US" sz="1250" dirty="0"/>
          </a:p>
        </p:txBody>
      </p:sp>
      <p:sp>
        <p:nvSpPr>
          <p:cNvPr id="18" name="Text 16"/>
          <p:cNvSpPr txBox="1"/>
          <p:nvPr/>
        </p:nvSpPr>
        <p:spPr>
          <a:xfrm>
            <a:off x="685800" y="504748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7</a:t>
            </a:r>
            <a:endParaRPr lang="en-US" sz="1400" dirty="0"/>
          </a:p>
        </p:txBody>
      </p:sp>
      <p:sp>
        <p:nvSpPr>
          <p:cNvPr id="19" name="Text 17"/>
          <p:cNvSpPr txBox="1"/>
          <p:nvPr/>
        </p:nvSpPr>
        <p:spPr>
          <a:xfrm>
            <a:off x="1097280" y="504748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85800" y="561441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8</a:t>
            </a:r>
            <a:endParaRPr lang="en-US" sz="1400" dirty="0"/>
          </a:p>
        </p:txBody>
      </p:sp>
      <p:sp>
        <p:nvSpPr>
          <p:cNvPr id="21" name="Text 19"/>
          <p:cNvSpPr txBox="1"/>
          <p:nvPr/>
        </p:nvSpPr>
        <p:spPr>
          <a:xfrm>
            <a:off x="1097280" y="561441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Controls: same finger, cuff tightness, room temperature, firmware v3.1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C · Design plans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Wiring (v1) and case layout (v2).</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035040" cy="914400"/>
        </p:xfrm>
        <a:graphic>
          <a:graphicData uri="http://schemas.openxmlformats.org/drawingml/2006/table">
            <a:tbl>
              <a:tblPr/>
              <a:tblGrid>
                <a:gridCol w="2468880"/>
                <a:gridCol w="1737360"/>
                <a:gridCol w="1828800"/>
              </a:tblGrid>
              <a:tr h="365760">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From</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To (ESP32)</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Notes</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3V3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never 5 V</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21 / 22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0</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VCC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5 V from USB</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33 / 32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1, 100 kHz</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Power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USB-C port</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3 m cable to charger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Status LED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blinks each reading</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463040" y="4343400"/>
            <a:ext cx="3657600" cy="2115239"/>
          </a:xfrm>
          <a:prstGeom prst="rect">
            <a:avLst/>
          </a:prstGeom>
        </p:spPr>
      </p:pic>
      <p:sp>
        <p:nvSpPr>
          <p:cNvPr id="8" name="Shape 4"/>
          <p:cNvSpPr/>
          <p:nvPr/>
        </p:nvSpPr>
        <p:spPr>
          <a:xfrm>
            <a:off x="7040880" y="1600200"/>
            <a:ext cx="4462272" cy="3291840"/>
          </a:xfrm>
          <a:prstGeom prst="roundRect">
            <a:avLst>
              <a:gd name="adj" fmla="val 6111"/>
            </a:avLst>
          </a:prstGeom>
          <a:solidFill>
            <a:srgbClr val="000000"/>
          </a:solidFill>
          <a:ln/>
        </p:spPr>
      </p:sp>
      <p:pic>
        <p:nvPicPr>
          <p:cNvPr id="9" name="Image 1" descr="/home/user/teetomivV2/science-fair/night-signal/slides/assets/exploded_black.jpg">    </p:cNvPr>
          <p:cNvPicPr>
            <a:picLocks noChangeAspect="1"/>
          </p:cNvPicPr>
          <p:nvPr/>
        </p:nvPicPr>
        <p:blipFill>
          <a:blip r:embed="rId2"/>
          <a:stretch>
            <a:fillRect/>
          </a:stretch>
        </p:blipFill>
        <p:spPr>
          <a:xfrm>
            <a:off x="7745124" y="1783080"/>
            <a:ext cx="3053784" cy="2926080"/>
          </a:xfrm>
          <a:prstGeom prst="rect">
            <a:avLst/>
          </a:prstGeom>
        </p:spPr>
      </p:pic>
      <p:sp>
        <p:nvSpPr>
          <p:cNvPr id="10" name="Text 5"/>
          <p:cNvSpPr txBox="1"/>
          <p:nvPr/>
        </p:nvSpPr>
        <p:spPr>
          <a:xfrm>
            <a:off x="7040880" y="4983480"/>
            <a:ext cx="44622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v2: the stack inside the 25 mm-tall case</a:t>
            </a:r>
            <a:endParaRPr lang="en-US" sz="1200" dirty="0"/>
          </a:p>
        </p:txBody>
      </p:sp>
      <p:sp>
        <p:nvSpPr>
          <p:cNvPr id="11" name="Text 6"/>
          <p:cNvSpPr txBox="1"/>
          <p:nvPr/>
        </p:nvSpPr>
        <p:spPr>
          <a:xfrm>
            <a:off x="7040880" y="5349240"/>
            <a:ext cx="4462272" cy="109728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D · Data and pictures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More data and pictures.</a:t>
            </a:r>
            <a:endParaRPr lang="en-US" sz="3000" dirty="0"/>
          </a:p>
        </p:txBody>
      </p:sp>
      <p:sp>
        <p:nvSpPr>
          <p:cNvPr id="6" name="Shape 4"/>
          <p:cNvSpPr/>
          <p:nvPr/>
        </p:nvSpPr>
        <p:spPr>
          <a:xfrm>
            <a:off x="786384" y="1609344"/>
            <a:ext cx="2221992" cy="4384900"/>
          </a:xfrm>
          <a:prstGeom prst="roundRect">
            <a:avLst>
              <a:gd name="adj" fmla="val 11523"/>
            </a:avLst>
          </a:prstGeom>
          <a:solidFill>
            <a:srgbClr val="1D1D1F"/>
          </a:solidFill>
          <a:ln/>
        </p:spPr>
      </p:sp>
      <p:pic>
        <p:nvPicPr>
          <p:cNvPr id="7" name="Image 0" descr="/home/user/teetomivV2/science-fair/night-signal/slides/assets/phone_heart.png">    </p:cNvPr>
          <p:cNvPicPr>
            <a:picLocks noChangeAspect="1"/>
          </p:cNvPicPr>
          <p:nvPr/>
        </p:nvPicPr>
        <p:blipFill>
          <a:blip r:embed="rId1"/>
          <a:stretch>
            <a:fillRect/>
          </a:stretch>
        </p:blipFill>
        <p:spPr>
          <a:xfrm>
            <a:off x="868680" y="1691640"/>
            <a:ext cx="2057400" cy="4220308"/>
          </a:xfrm>
          <a:prstGeom prst="rect">
            <a:avLst/>
          </a:prstGeom>
        </p:spPr>
      </p:pic>
      <p:sp>
        <p:nvSpPr>
          <p:cNvPr id="8" name="Text 5"/>
          <p:cNvSpPr txBox="1"/>
          <p:nvPr/>
        </p:nvSpPr>
        <p:spPr>
          <a:xfrm>
            <a:off x="868680" y="6049108"/>
            <a:ext cx="205740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App · Heart tab</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383280" y="1645920"/>
          <a:ext cx="8119872" cy="914400"/>
        </p:xfrm>
        <a:graphic>
          <a:graphicData uri="http://schemas.openxmlformats.org/drawingml/2006/table">
            <a:tbl>
              <a:tblPr/>
              <a:tblGrid>
                <a:gridCol w="2743200"/>
                <a:gridCol w="5376672"/>
              </a:tblGrid>
              <a:tr h="420624">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Analysis</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Result (example data)</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Breathing rate (signals.py)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13.5 breaths/min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HRV (SDNN / RMSSD)</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69 / 50 ms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Lowest heart rate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46 bpm</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Heart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racing 3.3 min (106–118 bpm) · slow 2.5 min (34–39) · irregular 5.9 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Asthma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normal 13.4 → early morning 21.6 /min · 85 min fast · 24 cough-like jolts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ML model relies on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heart-rate swing and jitter, then oxygen swing</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Device check (simulated device)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healthy → READY · broken motion sensor → NOT READY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10" name="Text 6"/>
          <p:cNvSpPr txBox="1"/>
          <p:nvPr/>
        </p:nvSpPr>
        <p:spPr>
          <a:xfrm>
            <a:off x="3383280" y="544068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50" dirty="0"/>
          </a:p>
        </p:txBody>
      </p:sp>
      <p:sp>
        <p:nvSpPr>
          <p:cNvPr id="11" name="Text 7"/>
          <p:cNvSpPr txBox="1"/>
          <p:nvPr/>
        </p:nvSpPr>
        <p:spPr>
          <a:xfrm>
            <a:off x="3383280" y="580644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3" invalidUrl="" action="" tgtFrame="" tooltip="https://gabrielamamanestudent-wq.github.io/teetomivV2/science-fair/night-signal/build-kit.html" history="1" highlightClick="0" endSnd="0">
                  <a:extLst>
                    <a:ext uri="{A12FA001-AC4F-418D-AE19-62706E023703}">
                      <ahyp:hlinkClr xmlns:ahyp="http://schemas.microsoft.com/office/drawing/2018/hyperlinkcolor" val="tx"/>
                    </a:ext>
                  </a:extLst>
                </a:hlinkClick>
              </a:rPr>
              <a:t>Build guide: buy, build, connect ›</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Bibliography · APA</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References.</a:t>
            </a:r>
            <a:endParaRPr lang="en-US" sz="3000" dirty="0"/>
          </a:p>
        </p:txBody>
      </p:sp>
      <p:sp>
        <p:nvSpPr>
          <p:cNvPr id="6" name="Text 4"/>
          <p:cNvSpPr txBox="1"/>
          <p:nvPr/>
        </p:nvSpPr>
        <p:spPr>
          <a:xfrm>
            <a:off x="685800" y="164592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American Academy of Sleep Medicine. (2014). International classification of sleep disorders (3rd ed.).</a:t>
            </a:r>
            <a:endParaRPr lang="en-US" sz="1300" dirty="0"/>
          </a:p>
        </p:txBody>
      </p:sp>
      <p:sp>
        <p:nvSpPr>
          <p:cNvPr id="7" name="Text 5"/>
          <p:cNvSpPr txBox="1"/>
          <p:nvPr/>
        </p:nvSpPr>
        <p:spPr>
          <a:xfrm>
            <a:off x="685800" y="221284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85800" y="277977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85800" y="3346704"/>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85800" y="3913632"/>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Global Initiative for Asthma. (2024). Global strategy for asthma management and prevention.</a:t>
            </a:r>
            <a:endParaRPr lang="en-US" sz="1300" dirty="0"/>
          </a:p>
        </p:txBody>
      </p:sp>
      <p:sp>
        <p:nvSpPr>
          <p:cNvPr id="11" name="Text 9"/>
          <p:cNvSpPr txBox="1"/>
          <p:nvPr/>
        </p:nvSpPr>
        <p:spPr>
          <a:xfrm>
            <a:off x="685800" y="448056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Jubran, A. (2015). Pulse oximetry. Critical Care, 19, 272.</a:t>
            </a:r>
            <a:endParaRPr lang="en-US" sz="1300" dirty="0"/>
          </a:p>
        </p:txBody>
      </p:sp>
      <p:sp>
        <p:nvSpPr>
          <p:cNvPr id="12" name="Text 10"/>
          <p:cNvSpPr txBox="1"/>
          <p:nvPr/>
        </p:nvSpPr>
        <p:spPr>
          <a:xfrm>
            <a:off x="685800" y="504748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Maxim Integrated. (2020). MAX30102 high-sensitivity pulse oximeter and heart-rate sensor [Datasheet].</a:t>
            </a:r>
            <a:endParaRPr lang="en-US" sz="1300" dirty="0"/>
          </a:p>
        </p:txBody>
      </p:sp>
      <p:sp>
        <p:nvSpPr>
          <p:cNvPr id="13" name="Text 11"/>
          <p:cNvSpPr txBox="1"/>
          <p:nvPr/>
        </p:nvSpPr>
        <p:spPr>
          <a:xfrm>
            <a:off x="685800" y="561441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2026-10-06T18:30:53Z</dcterms:created>
  <dcterms:modified xsi:type="dcterms:W3CDTF">2026-10-06T18:30:53Z</dcterms:modified>
</cp:coreProperties>
</file>