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Good morning. My name is Gabriel Mamane. My project, Night Signal, asks how accurately a low-cost wearable can measure blood oxygen and heart rate, and whether software can flag drops in oxygen. It is not a test for sleep apnea.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My question is how closely my wearable's oxygen and heart-rate readings agree with a Health Canada-authorized fingertip oximeter, and whether software can reliably flag oxygen desaturation events. My hypothesis is that, when it is worn properly and only good-quality readings are used, it will agree within about three percentage points, because both devices measure how blood absorbs red and infrared light. What I change is the measuring device and the test condition; what I measure is the difference between the two devices, the events flagged, and how much of the signal is valid.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A pulse oximeter shines red and infrared light through the fingertip; oxygen-rich and oxygen-poor blood absorb them differently, which gives the oxygen saturation, SpO2. A desaturation is a short drop in SpO2, and sleep studies count drops of three percent or more, but only together with other signals. Sleep apnea is diagnosed with a sleep study that measures airflow, breathing effort and sleep itself. My device measures only oxygen and heart rate, so it cannot tell an apnea from other causes of a dip, and it would miss apneas that cause little or no drop. That is why my project is about measurement accuracy and oxygen dips, not about diagnosing sleep apnea.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This is the design. The first prototype keeps things simple: an ESP32 board in a running armband, a MAX30102 sensor in a velcro finger cuff, and a USB cable for power, with every wire plugged in. It reads oxygen and heart rate once per second. The 3D model shows a possible later version in a sealed case. The prototype has not been built yet; the parts list and build guide are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The finger sensor's light readings go to the ESP32, which calculates oxygen and pulse once per second and sends each reading over Bluetooth or USB to my app and analysis code. Every session will start with a device check that must say READY. So far I have tested this check only on a simulated device, where it also correctly reported a broken sensor; it still has to be tested on the real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This is my planned protocol. Nothing will be tested on anyone, including me, until my teacher accepts this revised proposal, the ethics committee approves, and consent is signed. The main test is accuracy: seated at rest, I wear my device on one finger and the reference oximeter on the other hand, and I record both oxygen and heart rate every two minutes for thirty minutes, over several sessions. Every reading must pass signal-quality checks. If approved, overnight recordings will measure signal quality and desaturation events, but those events cannot be verified because the reference oximeter does not record overnight. An optional breath-hold test, only if approved, would check whether short, awake dips are flagged; it does not test sleep apnea.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This is my companion app. The Night tab shows the oxygen chart, the desaturation events it flagged, the event rate per hour of valid recording and how much of the signal was valid. The Live tab connects to the wearable and runs the device checks. Everything you see so far is clearly labelled demonstration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These are the results I will collect. I have not collected any real data yet. The table shows each measure, how it is calculated, and a demonstration value from simulated data, which only proves that my analysis code runs; they are not findings. The event rate is the number of desaturation events divided by the hours of valid signal, not hours in bed, and it is not an apnea-hypopnea index. The last column will be filled in with real results before January eleventh.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These two charts show how the results will be presented, using simulated data. On the left, the oxygen line with each flagged desaturation event as a red band. On the right, a Bland-Altman chart, the standard way to compare two measuring devices: each dot is a pair of readings, and the dashed lines show the range that ninety-five percent of differences fall in. With real data, that range is what tests my hypothesis.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Only good readings count. A reading is used only if a finger is on the sensor, the sensor marks it valid, it is in a believable range, and there was no sudden movement within five seconds. The event rate is the number of flagged events divided by the hours of valid signal. It is not per hour of sleep, because my device cannot measure sleep, and every report states how much of the signal was valid.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This is how I will interpret the results. If ninety-five percent of the oxygen differences fall within three points of the reference at rest, my hypothesis is supported for those conditions, keeping in mind that the reference is itself accurate to about two points. A flagged event means an oxygen dip, not an apnea, and overnight events cannot be checked because the reference does not record overnight. The breath-hold test, if approved, shows only whether awake dips are flagged. Wider limits, a consistent bias, too little valid signal, or missed dips would count against my hypothesis.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Sources of error in measurement: movement, finger pressure, cold hands and room light can distort the light signal; research has shown pulse oximeters can be less accurate on darker skin; and the reference is only accurate to about two points. In the method: my device measures only oxygen and heart rate, so it cannot identify apnea; sitting awake is not the same as sleep, and a breath-hold is not an apnea; there is only one participant; and overnight events cannot be verified. I also estimated that a small battery would last only four to five hours, which is why the first prototype is planned to use USB power; I still have to measure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To be clear about where the project stands: the design, firmware, analysis software, app and 3D model are done, and the software has been tested only on simulated data. My teacher agreed to this revised scope on October ninth. Still pending are her review of the revised proposal, ethics approval and consent, building the prototype, and all of the real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I do not have a conclusion yet, because no real data has been collected. After the accuracy sessions, this project will show how closely the wearable agrees with a reference oximeter at rest, how much of a recording gives a valid signal, and, if approved, whether flagged dips match logged ones. It cannot show whether anyone has sleep apnea.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Appendix — not presented. Full parts list with exact dimensions and 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Appendix — not presented. Planned step-by-step protocol, including approvals, signal-quality checks and controls. None of these steps has been carried out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Appendix — not presented. Prototype v1 wiring table, and the planned v2 case layout with layer heights. Neither has been built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Appendix — not presented. Exploratory analyses shown only on simulated demonstration data. None of these numbers is a finding, and none of these ideas is part of the revised research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Appendix — not presented. References in APA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5" Type="http://schemas.openxmlformats.org/officeDocument/2006/relationships/hyperlink" Target="https://gabrielamamanestudent-wq.github.io/teetomivV2/science-fair/night-signal/app/3d.html" TargetMode="External"/><Relationship Id="rId6" Type="http://schemas.openxmlformats.org/officeDocument/2006/relationships/hyperlink" Target="https://gabrielamamanestudent-wq.github.io/teetomivV2/science-fair/night-signal/app/3d.html" TargetMode="External"/><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4" Type="http://schemas.openxmlformats.org/officeDocument/2006/relationships/hyperlink" Target="https://gabrielamamanestudent-wq.github.io/teetomivV2/science-fair/night-signal/app/" TargetMode="External"/><Relationship Id="rId5" Type="http://schemas.openxmlformats.org/officeDocument/2006/relationships/hyperlink" Target="https://gabrielamamanestudent-wq.github.io/teetomivV2/science-fair/night-signal/app/" TargetMode="External"/><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hyperlink" Target="https://gabrielamamanestudent-wq.github.io/teetomivV2/science-fair/night-signal/app/" TargetMode="External"/><Relationship Id="rId5" Type="http://schemas.openxmlformats.org/officeDocument/2006/relationships/hyperlink" Target="https://gabrielamamanestudent-wq.github.io/teetomivV2/science-fair/night-signal/app/3d.html" TargetMode="External"/><Relationship Id="rId1" Type="http://schemas.openxmlformats.org/officeDocument/2006/relationships/image" Target="../media/Slide-14-image-1.jpeg"/><Relationship Id="rId2" Type="http://schemas.openxmlformats.org/officeDocument/2006/relationships/image" Target="../media/image-14-2.png"/><Relationship Id="rId4" Type="http://schemas.openxmlformats.org/officeDocument/2006/relationships/image" Target="../media/image-14-3.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www.amazon.ca/AITRIP-ESP-WROOM-32-Development-Microcontroller-Compatible/dp/B0DF2YJSHN" TargetMode="External"/><Relationship Id="rId2" Type="http://schemas.openxmlformats.org/officeDocument/2006/relationships/hyperlink" Target="https://www.amazon.ca/HiLetgo-MAX30102-Breakout-Oximetry-Solution/dp/B07QC67KMQ" TargetMode="External"/><Relationship Id="rId3" Type="http://schemas.openxmlformats.org/officeDocument/2006/relationships/hyperlink" Target="https://www.amazon.ca/Pre-Soldered-Accelerometer-Raspberry-Compatible-Arduino/dp/B0BMY15TC4" TargetMode="External"/><Relationship Id="rId4" Type="http://schemas.openxmlformats.org/officeDocument/2006/relationships/hyperlink" Target="https://www.amazon.ca/Elegoo-120pcs-Multicolored-Breadboard-arduino/dp/B01EV70C78" TargetMode="External"/><Relationship Id="rId5" Type="http://schemas.openxmlformats.org/officeDocument/2006/relationships/hyperlink" Target="https://www.amazon.ca/Running-Armband-Samsung-Resistant-Emergency/dp/B08HZ3BPK4" TargetMode="External"/><Relationship Id="rId6" Type="http://schemas.openxmlformats.org/officeDocument/2006/relationships/hyperlink" Target="https://www.amazon.ca/Anker-Powerline-Double-Braided-Charging-Samsung/dp/B07G148YMS" TargetMode="External"/><Relationship Id="rId7" Type="http://schemas.openxmlformats.org/officeDocument/2006/relationships/hyperlink" Target="https://www.amazon.ca/Adapter-Anker-High-Speed-Transfer-Notebook/dp/B08HZ6PS61" TargetMode="External"/><Relationship Id="rId8" Type="http://schemas.openxmlformats.org/officeDocument/2006/relationships/hyperlink" Target="https://www.amazon.ca/VELCRO-Brand-VEL-30768-AMS-Self-Gripping-Organization/dp/B09QH2NVM1" TargetMode="External"/><Relationship Id="rId9" Type="http://schemas.openxmlformats.org/officeDocument/2006/relationships/hyperlink" Target="https://www.amazon.ca/Elite-Medica-Fingertip-Saturation-Batteries/dp/B0DSGP91PB" TargetMode="External"/><Relationship Id="rId10" Type="http://schemas.openxmlformats.org/officeDocument/2006/relationships/slideLayout" Target="../slideLayouts/slideLayout1.xml"/><Relationship Id="rId11"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jp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github.com/gabrielamamanestudent-wq/teetomivV2/tree/claude/science-fair-medical-project-7k0wk4/science-fair/night-signal" TargetMode="External"/><Relationship Id="rId2" Type="http://schemas.openxmlformats.org/officeDocument/2006/relationships/hyperlink" Target="https://gabrielamamanestudent-wq.github.io/teetomivV2/science-fair/night-signal/build-kit.html" TargetMode="External"/><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85800" y="457200"/>
            <a:ext cx="10817352" cy="292608"/>
          </a:xfrm>
          <a:prstGeom prst="rect">
            <a:avLst/>
          </a:prstGeom>
          <a:noFill/>
          <a:ln/>
        </p:spPr>
        <p:txBody>
          <a:bodyPr wrap="square" lIns="0" tIns="0" rIns="0" bIns="0" rtlCol="0" anchor="t"/>
          <a:lstStyle/>
          <a:p>
            <a:pPr algn="ctr" indent="0" marL="0">
              <a:buNone/>
            </a:pPr>
            <a:r>
              <a:rPr lang="en-US" sz="1400" b="1" dirty="0">
                <a:solidFill>
                  <a:srgbClr val="86868B"/>
                </a:solidFill>
                <a:latin typeface="Helvetica Neue" pitchFamily="34" charset="0"/>
                <a:ea typeface="Helvetica Neue" pitchFamily="34" charset="-122"/>
                <a:cs typeface="Helvetica Neue" pitchFamily="34" charset="-120"/>
              </a:rPr>
              <a:t>Health and Medical Sciences · Experimental project</a:t>
            </a:r>
            <a:endParaRPr lang="en-US" sz="1400" dirty="0"/>
          </a:p>
        </p:txBody>
      </p:sp>
      <p:sp>
        <p:nvSpPr>
          <p:cNvPr id="3" name="Text 1"/>
          <p:cNvSpPr txBox="1"/>
          <p:nvPr/>
        </p:nvSpPr>
        <p:spPr>
          <a:xfrm>
            <a:off x="685800" y="804672"/>
            <a:ext cx="10817352" cy="1005840"/>
          </a:xfrm>
          <a:prstGeom prst="rect">
            <a:avLst/>
          </a:prstGeom>
          <a:noFill/>
          <a:ln/>
        </p:spPr>
        <p:txBody>
          <a:bodyPr wrap="square" lIns="0" tIns="0" rIns="0" bIns="0" rtlCol="0" anchor="t"/>
          <a:lstStyle/>
          <a:p>
            <a:pPr algn="ctr" indent="0" marL="0">
              <a:buNone/>
            </a:pPr>
            <a:r>
              <a:rPr lang="en-US" sz="6600" b="1" dirty="0">
                <a:solidFill>
                  <a:srgbClr val="FFFFFF"/>
                </a:solidFill>
                <a:latin typeface="Helvetica Neue" pitchFamily="34" charset="0"/>
                <a:ea typeface="Helvetica Neue" pitchFamily="34" charset="-122"/>
                <a:cs typeface="Helvetica Neue" pitchFamily="34" charset="-120"/>
              </a:rPr>
              <a:t>Night Signal.</a:t>
            </a:r>
            <a:endParaRPr lang="en-US" sz="6600" dirty="0"/>
          </a:p>
        </p:txBody>
      </p:sp>
      <p:sp>
        <p:nvSpPr>
          <p:cNvPr id="4" name="Text 2"/>
          <p:cNvSpPr txBox="1"/>
          <p:nvPr/>
        </p:nvSpPr>
        <p:spPr>
          <a:xfrm>
            <a:off x="685800" y="1810512"/>
            <a:ext cx="10817352" cy="457200"/>
          </a:xfrm>
          <a:prstGeom prst="rect">
            <a:avLst/>
          </a:prstGeom>
          <a:noFill/>
          <a:ln/>
        </p:spPr>
        <p:txBody>
          <a:bodyPr wrap="square" lIns="0" tIns="0" rIns="0" bIns="0" rtlCol="0" anchor="t"/>
          <a:lstStyle/>
          <a:p>
            <a:pPr algn="ctr" indent="0" marL="0">
              <a:buNone/>
            </a:pPr>
            <a:r>
              <a:rPr lang="en-US" sz="2400" dirty="0">
                <a:solidFill>
                  <a:srgbClr val="86868B"/>
                </a:solidFill>
                <a:latin typeface="Helvetica Neue" pitchFamily="34" charset="0"/>
                <a:ea typeface="Helvetica Neue" pitchFamily="34" charset="-122"/>
                <a:cs typeface="Helvetica Neue" pitchFamily="34" charset="-120"/>
              </a:rPr>
              <a:t>How accurately can a low-cost wearable measure blood oxygen?</a:t>
            </a:r>
            <a:endParaRPr lang="en-US" sz="2400" dirty="0"/>
          </a:p>
        </p:txBody>
      </p:sp>
      <p:pic>
        <p:nvPicPr>
          <p:cNvPr id="5" name="Image 0" descr="/home/user/teetomivV2/science-fair/night-signal/slides/assets/hero_alpha.png">    </p:cNvPr>
          <p:cNvPicPr>
            <a:picLocks noChangeAspect="1"/>
          </p:cNvPicPr>
          <p:nvPr/>
        </p:nvPicPr>
        <p:blipFill>
          <a:blip r:embed="rId2"/>
          <a:stretch>
            <a:fillRect/>
          </a:stretch>
        </p:blipFill>
        <p:spPr>
          <a:xfrm>
            <a:off x="4292286" y="2395728"/>
            <a:ext cx="3607123" cy="3520440"/>
          </a:xfrm>
          <a:prstGeom prst="rect">
            <a:avLst/>
          </a:prstGeom>
        </p:spPr>
      </p:pic>
      <p:sp>
        <p:nvSpPr>
          <p:cNvPr id="6" name="Text 3"/>
          <p:cNvSpPr txBox="1"/>
          <p:nvPr/>
        </p:nvSpPr>
        <p:spPr>
          <a:xfrm>
            <a:off x="685800" y="6053328"/>
            <a:ext cx="10817352" cy="320040"/>
          </a:xfrm>
          <a:prstGeom prst="rect">
            <a:avLst/>
          </a:prstGeom>
          <a:noFill/>
          <a:ln/>
        </p:spPr>
        <p:txBody>
          <a:bodyPr wrap="square" lIns="0" tIns="0" rIns="0" bIns="0" rtlCol="0" anchor="t"/>
          <a:lstStyle/>
          <a:p>
            <a:pPr algn="ctr" indent="0" marL="0">
              <a:buNone/>
            </a:pPr>
            <a:r>
              <a:rPr lang="en-US" sz="1500" b="1" dirty="0">
                <a:solidFill>
                  <a:srgbClr val="FFFFFF"/>
                </a:solidFill>
                <a:latin typeface="Helvetica Neue" pitchFamily="34" charset="0"/>
                <a:ea typeface="Helvetica Neue" pitchFamily="34" charset="-122"/>
                <a:cs typeface="Helvetica Neue" pitchFamily="34" charset="-120"/>
              </a:rPr>
              <a:t>Gabriel Mamane</a:t>
            </a:r>
            <a:pPr algn="ctr" indent="0" marL="0">
              <a:buNone/>
            </a:pPr>
            <a:r>
              <a:rPr lang="en-US" sz="1500" dirty="0">
                <a:solidFill>
                  <a:srgbClr val="86868B"/>
                </a:solidFill>
                <a:latin typeface="Helvetica Neue" pitchFamily="34" charset="0"/>
                <a:ea typeface="Helvetica Neue" pitchFamily="34" charset="-122"/>
                <a:cs typeface="Helvetica Neue" pitchFamily="34" charset="-120"/>
              </a:rPr>
              <a:t>   ·   Grade ___</a:t>
            </a:r>
            <a:endParaRPr lang="en-US" sz="1500" dirty="0"/>
          </a:p>
        </p:txBody>
      </p:sp>
      <p:sp>
        <p:nvSpPr>
          <p:cNvPr id="7" name="Text 4"/>
          <p:cNvSpPr txBox="1"/>
          <p:nvPr/>
        </p:nvSpPr>
        <p:spPr>
          <a:xfrm>
            <a:off x="685800" y="6382512"/>
            <a:ext cx="10817352" cy="256032"/>
          </a:xfrm>
          <a:prstGeom prst="rect">
            <a:avLst/>
          </a:prstGeom>
          <a:noFill/>
          <a:ln/>
        </p:spPr>
        <p:txBody>
          <a:bodyPr wrap="square" lIns="0" tIns="0" rIns="0" bIns="0" rtlCol="0" anchor="t"/>
          <a:lstStyle/>
          <a:p>
            <a:pPr algn="ctr" indent="0" marL="0">
              <a:buNone/>
            </a:pPr>
            <a:r>
              <a:rPr lang="en-US" sz="1050" dirty="0">
                <a:solidFill>
                  <a:srgbClr val="6E6E73"/>
                </a:solidFill>
                <a:latin typeface="Helvetica Neue" pitchFamily="34" charset="0"/>
                <a:ea typeface="Helvetica Neue" pitchFamily="34" charset="-122"/>
                <a:cs typeface="Helvetica Neue" pitchFamily="34" charset="-120"/>
              </a:rPr>
              <a:t>Educational prototype. It measures SpO₂ and heart rate; it does not diagnose sleep apnea.</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320040"/>
          </a:xfrm>
          <a:prstGeom prst="rect">
            <a:avLst/>
          </a:prstGeom>
          <a:noFill/>
          <a:ln/>
        </p:spPr>
        <p:txBody>
          <a:bodyPr wrap="square" lIns="0" tIns="0" rIns="0" bIns="0" rtlCol="0" anchor="t"/>
          <a:lstStyle/>
          <a:p>
            <a:pPr indent="0" marL="0">
              <a:buNone/>
            </a:pPr>
            <a:r>
              <a:rPr lang="en-US" sz="1600" b="1" dirty="0">
                <a:solidFill>
                  <a:srgbClr val="E3254B"/>
                </a:solidFill>
                <a:latin typeface="Helvetica Neue" pitchFamily="34" charset="0"/>
                <a:ea typeface="Helvetica Neue" pitchFamily="34" charset="-122"/>
                <a:cs typeface="Helvetica Neue" pitchFamily="34" charset="-120"/>
              </a:rPr>
              <a:t>Purpose and hypothesis</a:t>
            </a:r>
            <a:endParaRPr lang="en-US" sz="1600" dirty="0"/>
          </a:p>
        </p:txBody>
      </p:sp>
      <p:sp>
        <p:nvSpPr>
          <p:cNvPr id="3" name="Text 1"/>
          <p:cNvSpPr txBox="1"/>
          <p:nvPr/>
        </p:nvSpPr>
        <p:spPr>
          <a:xfrm>
            <a:off x="685800" y="841248"/>
            <a:ext cx="10789920" cy="868680"/>
          </a:xfrm>
          <a:prstGeom prst="rect">
            <a:avLst/>
          </a:prstGeom>
          <a:noFill/>
          <a:ln/>
        </p:spPr>
        <p:txBody>
          <a:bodyPr wrap="square" lIns="0" tIns="0" rIns="0" bIns="0" rtlCol="0" anchor="t"/>
          <a:lstStyle/>
          <a:p>
            <a:pPr indent="0" marL="0">
              <a:lnSpc>
                <a:spcPct val="92000"/>
              </a:lnSpc>
              <a:buNone/>
            </a:pPr>
            <a:r>
              <a:rPr lang="en-US" sz="4000" b="1" dirty="0">
                <a:solidFill>
                  <a:srgbClr val="1D1D1F"/>
                </a:solidFill>
                <a:latin typeface="Helvetica Neue" pitchFamily="34" charset="0"/>
                <a:ea typeface="Helvetica Neue" pitchFamily="34" charset="-122"/>
                <a:cs typeface="Helvetica Neue" pitchFamily="34" charset="-120"/>
              </a:rPr>
              <a:t>Is a low-cost oxygen wearable accurate?</a:t>
            </a:r>
            <a:endParaRPr lang="en-US" sz="4000" dirty="0"/>
          </a:p>
        </p:txBody>
      </p:sp>
      <p:sp>
        <p:nvSpPr>
          <p:cNvPr id="4" name="Shape 2"/>
          <p:cNvSpPr/>
          <p:nvPr/>
        </p:nvSpPr>
        <p:spPr>
          <a:xfrm>
            <a:off x="685800" y="1920240"/>
            <a:ext cx="5303520" cy="2423160"/>
          </a:xfrm>
          <a:prstGeom prst="roundRect">
            <a:avLst>
              <a:gd name="adj" fmla="val 8302"/>
            </a:avLst>
          </a:prstGeom>
          <a:solidFill>
            <a:srgbClr val="F5F5F7"/>
          </a:solidFill>
          <a:ln/>
        </p:spPr>
      </p:sp>
      <p:sp>
        <p:nvSpPr>
          <p:cNvPr id="5" name="Shape 3"/>
          <p:cNvSpPr/>
          <p:nvPr/>
        </p:nvSpPr>
        <p:spPr>
          <a:xfrm>
            <a:off x="6199632" y="1920240"/>
            <a:ext cx="5303520" cy="2423160"/>
          </a:xfrm>
          <a:prstGeom prst="roundRect">
            <a:avLst>
              <a:gd name="adj" fmla="val 8302"/>
            </a:avLst>
          </a:prstGeom>
          <a:solidFill>
            <a:srgbClr val="F5F5F7"/>
          </a:solidFill>
          <a:ln/>
        </p:spPr>
      </p:sp>
      <p:sp>
        <p:nvSpPr>
          <p:cNvPr id="6" name="Shape 4"/>
          <p:cNvSpPr/>
          <p:nvPr/>
        </p:nvSpPr>
        <p:spPr>
          <a:xfrm>
            <a:off x="1005840" y="2194560"/>
            <a:ext cx="457200" cy="64008"/>
          </a:xfrm>
          <a:prstGeom prst="roundRect">
            <a:avLst>
              <a:gd name="adj" fmla="val 50000"/>
            </a:avLst>
          </a:prstGeom>
          <a:solidFill>
            <a:srgbClr val="E3254B"/>
          </a:solidFill>
          <a:ln/>
        </p:spPr>
      </p:sp>
      <p:sp>
        <p:nvSpPr>
          <p:cNvPr id="7" name="Shape 5"/>
          <p:cNvSpPr/>
          <p:nvPr/>
        </p:nvSpPr>
        <p:spPr>
          <a:xfrm>
            <a:off x="6519672" y="2194560"/>
            <a:ext cx="457200" cy="64008"/>
          </a:xfrm>
          <a:prstGeom prst="roundRect">
            <a:avLst>
              <a:gd name="adj" fmla="val 50000"/>
            </a:avLst>
          </a:prstGeom>
          <a:solidFill>
            <a:srgbClr val="0071E3"/>
          </a:solidFill>
          <a:ln/>
        </p:spPr>
      </p:sp>
      <p:sp>
        <p:nvSpPr>
          <p:cNvPr id="8" name="Text 6"/>
          <p:cNvSpPr txBox="1"/>
          <p:nvPr/>
        </p:nvSpPr>
        <p:spPr>
          <a:xfrm>
            <a:off x="1005840" y="2331720"/>
            <a:ext cx="4663440" cy="320040"/>
          </a:xfrm>
          <a:prstGeom prst="rect">
            <a:avLst/>
          </a:prstGeom>
          <a:noFill/>
          <a:ln/>
        </p:spPr>
        <p:txBody>
          <a:bodyPr wrap="square" lIns="0" tIns="0" rIns="0" bIns="0" rtlCol="0" anchor="t"/>
          <a:lstStyle/>
          <a:p>
            <a:pPr indent="0" marL="0">
              <a:buNone/>
            </a:pPr>
            <a:r>
              <a:rPr lang="en-US" sz="1500" b="1" dirty="0">
                <a:solidFill>
                  <a:srgbClr val="E3254B"/>
                </a:solidFill>
                <a:latin typeface="Helvetica Neue" pitchFamily="34" charset="0"/>
                <a:ea typeface="Helvetica Neue" pitchFamily="34" charset="-122"/>
                <a:cs typeface="Helvetica Neue" pitchFamily="34" charset="-120"/>
              </a:rPr>
              <a:t>Question</a:t>
            </a:r>
            <a:endParaRPr lang="en-US" sz="1500" dirty="0"/>
          </a:p>
        </p:txBody>
      </p:sp>
      <p:sp>
        <p:nvSpPr>
          <p:cNvPr id="9" name="Text 7"/>
          <p:cNvSpPr txBox="1"/>
          <p:nvPr/>
        </p:nvSpPr>
        <p:spPr>
          <a:xfrm>
            <a:off x="1005840" y="2724912"/>
            <a:ext cx="4663440" cy="1508760"/>
          </a:xfrm>
          <a:prstGeom prst="rect">
            <a:avLst/>
          </a:prstGeom>
          <a:noFill/>
          <a:ln/>
        </p:spPr>
        <p:txBody>
          <a:bodyPr wrap="square" lIns="0" tIns="0" rIns="0" bIns="0" rtlCol="0" anchor="t"/>
          <a:lstStyle/>
          <a:p>
            <a:pPr indent="0" marL="0">
              <a:buNone/>
            </a:pPr>
            <a:r>
              <a:rPr lang="en-US" sz="1500" dirty="0">
                <a:solidFill>
                  <a:srgbClr val="1D1D1F"/>
                </a:solidFill>
                <a:latin typeface="Helvetica Neue" pitchFamily="34" charset="0"/>
                <a:ea typeface="Helvetica Neue" pitchFamily="34" charset="-122"/>
                <a:cs typeface="Helvetica Neue" pitchFamily="34" charset="-120"/>
              </a:rPr>
              <a:t>How closely do SpO₂ and heart-rate readings from a MAX30102 + ESP32 wearable agree with a Health Canada-authorized fingertip pulse oximeter, and can software reliably flag oxygen desaturation events (≥ 3 points for ≥ 10 s)?</a:t>
            </a:r>
            <a:endParaRPr lang="en-US" sz="1500" dirty="0"/>
          </a:p>
        </p:txBody>
      </p:sp>
      <p:sp>
        <p:nvSpPr>
          <p:cNvPr id="10" name="Text 8"/>
          <p:cNvSpPr txBox="1"/>
          <p:nvPr/>
        </p:nvSpPr>
        <p:spPr>
          <a:xfrm>
            <a:off x="6519672" y="2331720"/>
            <a:ext cx="4663440" cy="320040"/>
          </a:xfrm>
          <a:prstGeom prst="rect">
            <a:avLst/>
          </a:prstGeom>
          <a:noFill/>
          <a:ln/>
        </p:spPr>
        <p:txBody>
          <a:bodyPr wrap="square" lIns="0" tIns="0" rIns="0" bIns="0" rtlCol="0" anchor="t"/>
          <a:lstStyle/>
          <a:p>
            <a:pPr indent="0" marL="0">
              <a:buNone/>
            </a:pPr>
            <a:r>
              <a:rPr lang="en-US" sz="1500" b="1" dirty="0">
                <a:solidFill>
                  <a:srgbClr val="0071E3"/>
                </a:solidFill>
                <a:latin typeface="Helvetica Neue" pitchFamily="34" charset="0"/>
                <a:ea typeface="Helvetica Neue" pitchFamily="34" charset="-122"/>
                <a:cs typeface="Helvetica Neue" pitchFamily="34" charset="-120"/>
              </a:rPr>
              <a:t>Hypothesis</a:t>
            </a:r>
            <a:endParaRPr lang="en-US" sz="1500" dirty="0"/>
          </a:p>
        </p:txBody>
      </p:sp>
      <p:sp>
        <p:nvSpPr>
          <p:cNvPr id="11" name="Text 9"/>
          <p:cNvSpPr txBox="1"/>
          <p:nvPr/>
        </p:nvSpPr>
        <p:spPr>
          <a:xfrm>
            <a:off x="6519672" y="2724912"/>
            <a:ext cx="4663440" cy="1508760"/>
          </a:xfrm>
          <a:prstGeom prst="rect">
            <a:avLst/>
          </a:prstGeom>
          <a:noFill/>
          <a:ln/>
        </p:spPr>
        <p:txBody>
          <a:bodyPr wrap="square" lIns="0" tIns="0" rIns="0" bIns="0" rtlCol="0" anchor="t"/>
          <a:lstStyle/>
          <a:p>
            <a:pPr indent="0" marL="0">
              <a:buNone/>
            </a:pPr>
            <a:r>
              <a:rPr lang="en-US" sz="1500" dirty="0">
                <a:solidFill>
                  <a:srgbClr val="1D1D1F"/>
                </a:solidFill>
                <a:latin typeface="Helvetica Neue" pitchFamily="34" charset="0"/>
                <a:ea typeface="Helvetica Neue" pitchFamily="34" charset="-122"/>
                <a:cs typeface="Helvetica Neue" pitchFamily="34" charset="-120"/>
              </a:rPr>
              <a:t>If the wearable is worn correctly and only good-quality readings are used, its SpO₂ will agree with the reference within about ±3 percentage points (95% limits of agreement), because both measure red/infrared light absorption.</a:t>
            </a:r>
            <a:endParaRPr lang="en-US" sz="1500" dirty="0"/>
          </a:p>
        </p:txBody>
      </p:sp>
      <p:sp>
        <p:nvSpPr>
          <p:cNvPr id="12" name="Shape 10"/>
          <p:cNvSpPr/>
          <p:nvPr/>
        </p:nvSpPr>
        <p:spPr>
          <a:xfrm>
            <a:off x="685800" y="4553712"/>
            <a:ext cx="3502152" cy="1600200"/>
          </a:xfrm>
          <a:prstGeom prst="roundRect">
            <a:avLst>
              <a:gd name="adj" fmla="val 12571"/>
            </a:avLst>
          </a:prstGeom>
          <a:solidFill>
            <a:srgbClr val="F5F5F7"/>
          </a:solidFill>
          <a:ln/>
        </p:spPr>
      </p:sp>
      <p:sp>
        <p:nvSpPr>
          <p:cNvPr id="13" name="Shape 11"/>
          <p:cNvSpPr/>
          <p:nvPr/>
        </p:nvSpPr>
        <p:spPr>
          <a:xfrm>
            <a:off x="960120" y="4773168"/>
            <a:ext cx="457200" cy="64008"/>
          </a:xfrm>
          <a:prstGeom prst="roundRect">
            <a:avLst>
              <a:gd name="adj" fmla="val 50000"/>
            </a:avLst>
          </a:prstGeom>
          <a:solidFill>
            <a:srgbClr val="C45500"/>
          </a:solidFill>
          <a:ln/>
        </p:spPr>
      </p:sp>
      <p:sp>
        <p:nvSpPr>
          <p:cNvPr id="14" name="Text 12"/>
          <p:cNvSpPr txBox="1"/>
          <p:nvPr/>
        </p:nvSpPr>
        <p:spPr>
          <a:xfrm>
            <a:off x="960120" y="4919472"/>
            <a:ext cx="3017520" cy="320040"/>
          </a:xfrm>
          <a:prstGeom prst="rect">
            <a:avLst/>
          </a:prstGeom>
          <a:noFill/>
          <a:ln/>
        </p:spPr>
        <p:txBody>
          <a:bodyPr wrap="square" lIns="0" tIns="0" rIns="0" bIns="0" rtlCol="0" anchor="t"/>
          <a:lstStyle/>
          <a:p>
            <a:pPr indent="0" marL="0">
              <a:buNone/>
            </a:pPr>
            <a:r>
              <a:rPr lang="en-US" sz="1550" b="1" dirty="0">
                <a:solidFill>
                  <a:srgbClr val="1D1D1F"/>
                </a:solidFill>
                <a:latin typeface="Helvetica Neue" pitchFamily="34" charset="0"/>
                <a:ea typeface="Helvetica Neue" pitchFamily="34" charset="-122"/>
                <a:cs typeface="Helvetica Neue" pitchFamily="34" charset="-120"/>
              </a:rPr>
              <a:t>Independent variables</a:t>
            </a:r>
            <a:endParaRPr lang="en-US" sz="1550" dirty="0"/>
          </a:p>
        </p:txBody>
      </p:sp>
      <p:sp>
        <p:nvSpPr>
          <p:cNvPr id="15" name="Text 13"/>
          <p:cNvSpPr txBox="1"/>
          <p:nvPr/>
        </p:nvSpPr>
        <p:spPr>
          <a:xfrm>
            <a:off x="960120" y="5285232"/>
            <a:ext cx="3017520" cy="777240"/>
          </a:xfrm>
          <a:prstGeom prst="rect">
            <a:avLst/>
          </a:prstGeom>
          <a:noFill/>
          <a:ln/>
        </p:spPr>
        <p:txBody>
          <a:bodyPr wrap="square" lIns="0" tIns="0" rIns="0" bIns="0" rtlCol="0" anchor="t"/>
          <a:lstStyle/>
          <a:p>
            <a:pPr indent="0" marL="0">
              <a:buNone/>
            </a:pPr>
            <a:r>
              <a:rPr lang="en-US" sz="1250" dirty="0">
                <a:solidFill>
                  <a:srgbClr val="6E6E73"/>
                </a:solidFill>
                <a:latin typeface="Helvetica Neue" pitchFamily="34" charset="0"/>
                <a:ea typeface="Helvetica Neue" pitchFamily="34" charset="-122"/>
                <a:cs typeface="Helvetica Neue" pitchFamily="34" charset="-120"/>
              </a:rPr>
              <a:t>Measuring device (wearable vs reference); test condition (seated rest; optional breath-holds only if approved)</a:t>
            </a:r>
            <a:endParaRPr lang="en-US" sz="1250" dirty="0"/>
          </a:p>
        </p:txBody>
      </p:sp>
      <p:sp>
        <p:nvSpPr>
          <p:cNvPr id="16" name="Shape 14"/>
          <p:cNvSpPr/>
          <p:nvPr/>
        </p:nvSpPr>
        <p:spPr>
          <a:xfrm>
            <a:off x="4343400" y="4553712"/>
            <a:ext cx="3502152" cy="1600200"/>
          </a:xfrm>
          <a:prstGeom prst="roundRect">
            <a:avLst>
              <a:gd name="adj" fmla="val 12571"/>
            </a:avLst>
          </a:prstGeom>
          <a:solidFill>
            <a:srgbClr val="F5F5F7"/>
          </a:solidFill>
          <a:ln/>
        </p:spPr>
      </p:sp>
      <p:sp>
        <p:nvSpPr>
          <p:cNvPr id="17" name="Shape 15"/>
          <p:cNvSpPr/>
          <p:nvPr/>
        </p:nvSpPr>
        <p:spPr>
          <a:xfrm>
            <a:off x="4617720" y="4773168"/>
            <a:ext cx="457200" cy="64008"/>
          </a:xfrm>
          <a:prstGeom prst="roundRect">
            <a:avLst>
              <a:gd name="adj" fmla="val 50000"/>
            </a:avLst>
          </a:prstGeom>
          <a:solidFill>
            <a:srgbClr val="248A3D"/>
          </a:solidFill>
          <a:ln/>
        </p:spPr>
      </p:sp>
      <p:sp>
        <p:nvSpPr>
          <p:cNvPr id="18" name="Text 16"/>
          <p:cNvSpPr txBox="1"/>
          <p:nvPr/>
        </p:nvSpPr>
        <p:spPr>
          <a:xfrm>
            <a:off x="4617720" y="4919472"/>
            <a:ext cx="3017520" cy="320040"/>
          </a:xfrm>
          <a:prstGeom prst="rect">
            <a:avLst/>
          </a:prstGeom>
          <a:noFill/>
          <a:ln/>
        </p:spPr>
        <p:txBody>
          <a:bodyPr wrap="square" lIns="0" tIns="0" rIns="0" bIns="0" rtlCol="0" anchor="t"/>
          <a:lstStyle/>
          <a:p>
            <a:pPr indent="0" marL="0">
              <a:buNone/>
            </a:pPr>
            <a:r>
              <a:rPr lang="en-US" sz="1550" b="1" dirty="0">
                <a:solidFill>
                  <a:srgbClr val="1D1D1F"/>
                </a:solidFill>
                <a:latin typeface="Helvetica Neue" pitchFamily="34" charset="0"/>
                <a:ea typeface="Helvetica Neue" pitchFamily="34" charset="-122"/>
                <a:cs typeface="Helvetica Neue" pitchFamily="34" charset="-120"/>
              </a:rPr>
              <a:t>Dependent variables</a:t>
            </a:r>
            <a:endParaRPr lang="en-US" sz="1550" dirty="0"/>
          </a:p>
        </p:txBody>
      </p:sp>
      <p:sp>
        <p:nvSpPr>
          <p:cNvPr id="19" name="Text 17"/>
          <p:cNvSpPr txBox="1"/>
          <p:nvPr/>
        </p:nvSpPr>
        <p:spPr>
          <a:xfrm>
            <a:off x="4617720" y="5285232"/>
            <a:ext cx="3017520" cy="777240"/>
          </a:xfrm>
          <a:prstGeom prst="rect">
            <a:avLst/>
          </a:prstGeom>
          <a:noFill/>
          <a:ln/>
        </p:spPr>
        <p:txBody>
          <a:bodyPr wrap="square" lIns="0" tIns="0" rIns="0" bIns="0" rtlCol="0" anchor="t"/>
          <a:lstStyle/>
          <a:p>
            <a:pPr indent="0" marL="0">
              <a:buNone/>
            </a:pPr>
            <a:r>
              <a:rPr lang="en-US" sz="1250" dirty="0">
                <a:solidFill>
                  <a:srgbClr val="6E6E73"/>
                </a:solidFill>
                <a:latin typeface="Helvetica Neue" pitchFamily="34" charset="0"/>
                <a:ea typeface="Helvetica Neue" pitchFamily="34" charset="-122"/>
                <a:cs typeface="Helvetica Neue" pitchFamily="34" charset="-120"/>
              </a:rPr>
              <a:t>Device − reference difference (bias, 95% limits, mean error); desaturation events flagged; % valid signal</a:t>
            </a:r>
            <a:endParaRPr lang="en-US" sz="1250" dirty="0"/>
          </a:p>
        </p:txBody>
      </p:sp>
      <p:sp>
        <p:nvSpPr>
          <p:cNvPr id="20" name="Shape 18"/>
          <p:cNvSpPr/>
          <p:nvPr/>
        </p:nvSpPr>
        <p:spPr>
          <a:xfrm>
            <a:off x="8001000" y="4553712"/>
            <a:ext cx="3502152" cy="1600200"/>
          </a:xfrm>
          <a:prstGeom prst="roundRect">
            <a:avLst>
              <a:gd name="adj" fmla="val 12571"/>
            </a:avLst>
          </a:prstGeom>
          <a:solidFill>
            <a:srgbClr val="F5F5F7"/>
          </a:solidFill>
          <a:ln/>
        </p:spPr>
      </p:sp>
      <p:sp>
        <p:nvSpPr>
          <p:cNvPr id="21" name="Shape 19"/>
          <p:cNvSpPr/>
          <p:nvPr/>
        </p:nvSpPr>
        <p:spPr>
          <a:xfrm>
            <a:off x="8275320" y="4773168"/>
            <a:ext cx="457200" cy="64008"/>
          </a:xfrm>
          <a:prstGeom prst="roundRect">
            <a:avLst>
              <a:gd name="adj" fmla="val 50000"/>
            </a:avLst>
          </a:prstGeom>
          <a:solidFill>
            <a:srgbClr val="A1A1A6"/>
          </a:solidFill>
          <a:ln/>
        </p:spPr>
      </p:sp>
      <p:sp>
        <p:nvSpPr>
          <p:cNvPr id="22" name="Text 20"/>
          <p:cNvSpPr txBox="1"/>
          <p:nvPr/>
        </p:nvSpPr>
        <p:spPr>
          <a:xfrm>
            <a:off x="8275320" y="4919472"/>
            <a:ext cx="3017520" cy="320040"/>
          </a:xfrm>
          <a:prstGeom prst="rect">
            <a:avLst/>
          </a:prstGeom>
          <a:noFill/>
          <a:ln/>
        </p:spPr>
        <p:txBody>
          <a:bodyPr wrap="square" lIns="0" tIns="0" rIns="0" bIns="0" rtlCol="0" anchor="t"/>
          <a:lstStyle/>
          <a:p>
            <a:pPr indent="0" marL="0">
              <a:buNone/>
            </a:pPr>
            <a:r>
              <a:rPr lang="en-US" sz="1550" b="1" dirty="0">
                <a:solidFill>
                  <a:srgbClr val="1D1D1F"/>
                </a:solidFill>
                <a:latin typeface="Helvetica Neue" pitchFamily="34" charset="0"/>
                <a:ea typeface="Helvetica Neue" pitchFamily="34" charset="-122"/>
                <a:cs typeface="Helvetica Neue" pitchFamily="34" charset="-120"/>
              </a:rPr>
              <a:t>Controls</a:t>
            </a:r>
            <a:endParaRPr lang="en-US" sz="1550" dirty="0"/>
          </a:p>
        </p:txBody>
      </p:sp>
      <p:sp>
        <p:nvSpPr>
          <p:cNvPr id="23" name="Text 21"/>
          <p:cNvSpPr txBox="1"/>
          <p:nvPr/>
        </p:nvSpPr>
        <p:spPr>
          <a:xfrm>
            <a:off x="8275320" y="5285232"/>
            <a:ext cx="3017520" cy="777240"/>
          </a:xfrm>
          <a:prstGeom prst="rect">
            <a:avLst/>
          </a:prstGeom>
          <a:noFill/>
          <a:ln/>
        </p:spPr>
        <p:txBody>
          <a:bodyPr wrap="square" lIns="0" tIns="0" rIns="0" bIns="0" rtlCol="0" anchor="t"/>
          <a:lstStyle/>
          <a:p>
            <a:pPr indent="0" marL="0">
              <a:buNone/>
            </a:pPr>
            <a:r>
              <a:rPr lang="en-US" sz="1250" dirty="0">
                <a:solidFill>
                  <a:srgbClr val="6E6E73"/>
                </a:solidFill>
                <a:latin typeface="Helvetica Neue" pitchFamily="34" charset="0"/>
                <a:ea typeface="Helvetica Neue" pitchFamily="34" charset="-122"/>
                <a:cs typeface="Helvetica Neue" pitchFamily="34" charset="-120"/>
              </a:rPr>
              <a:t>Same participant, finger, cuff tightness, room and lighting; paired readings every 2 min; same settings</a:t>
            </a:r>
            <a:endParaRPr lang="en-US" sz="1250" dirty="0"/>
          </a:p>
        </p:txBody>
      </p:sp>
      <p:sp>
        <p:nvSpPr>
          <p:cNvPr id="24" name="Text 22"/>
          <p:cNvSpPr txBox="1"/>
          <p:nvPr/>
        </p:nvSpPr>
        <p:spPr>
          <a:xfrm>
            <a:off x="685800" y="6473952"/>
            <a:ext cx="3657600" cy="228600"/>
          </a:xfrm>
          <a:prstGeom prst="rect">
            <a:avLst/>
          </a:prstGeom>
          <a:noFill/>
          <a:ln/>
        </p:spPr>
        <p:txBody>
          <a:bodyPr wrap="square" lIns="0" tIns="0" rIns="0" bIns="0" rtlCol="0" anchor="t"/>
          <a:lstStyle/>
          <a:p>
            <a:pPr indent="0" marL="0">
              <a:buNone/>
            </a:pPr>
            <a:r>
              <a:rPr lang="en-US" sz="950" b="1" dirty="0">
                <a:solidFill>
                  <a:srgbClr val="A1A1A6"/>
                </a:solidFill>
                <a:latin typeface="Helvetica Neue" pitchFamily="34" charset="0"/>
                <a:ea typeface="Helvetica Neue" pitchFamily="34" charset="-122"/>
                <a:cs typeface="Helvetica Neue" pitchFamily="34" charset="-120"/>
              </a:rPr>
              <a:t>Night Signal</a:t>
            </a:r>
            <a:endParaRPr lang="en-US" sz="950" dirty="0"/>
          </a:p>
        </p:txBody>
      </p:sp>
      <p:sp>
        <p:nvSpPr>
          <p:cNvPr id="25" name="Text 23"/>
          <p:cNvSpPr txBox="1"/>
          <p:nvPr/>
        </p:nvSpPr>
        <p:spPr>
          <a:xfrm>
            <a:off x="10588752" y="6473952"/>
            <a:ext cx="914400" cy="228600"/>
          </a:xfrm>
          <a:prstGeom prst="rect">
            <a:avLst/>
          </a:prstGeom>
          <a:noFill/>
          <a:ln/>
        </p:spPr>
        <p:txBody>
          <a:bodyPr wrap="square" lIns="0" tIns="0" rIns="0" bIns="0" rtlCol="0" anchor="t"/>
          <a:lstStyle/>
          <a:p>
            <a:pPr algn="r" indent="0" marL="0">
              <a:buNone/>
            </a:pPr>
            <a:r>
              <a:rPr lang="en-US" sz="950" dirty="0">
                <a:solidFill>
                  <a:srgbClr val="A1A1A6"/>
                </a:solidFill>
                <a:latin typeface="Helvetica Neue" pitchFamily="34" charset="0"/>
                <a:ea typeface="Helvetica Neue" pitchFamily="34" charset="-122"/>
                <a:cs typeface="Helvetica Neue"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320040"/>
          </a:xfrm>
          <a:prstGeom prst="rect">
            <a:avLst/>
          </a:prstGeom>
          <a:noFill/>
          <a:ln/>
        </p:spPr>
        <p:txBody>
          <a:bodyPr wrap="square" lIns="0" tIns="0" rIns="0" bIns="0" rtlCol="0" anchor="t"/>
          <a:lstStyle/>
          <a:p>
            <a:pPr indent="0" marL="0">
              <a:buNone/>
            </a:pPr>
            <a:r>
              <a:rPr lang="en-US" sz="1600" b="1" dirty="0">
                <a:solidFill>
                  <a:srgbClr val="E3254B"/>
                </a:solidFill>
                <a:latin typeface="Helvetica Neue" pitchFamily="34" charset="0"/>
                <a:ea typeface="Helvetica Neue" pitchFamily="34" charset="-122"/>
                <a:cs typeface="Helvetica Neue" pitchFamily="34" charset="-120"/>
              </a:rPr>
              <a:t>Scientific background</a:t>
            </a:r>
            <a:endParaRPr lang="en-US" sz="1600" dirty="0"/>
          </a:p>
        </p:txBody>
      </p:sp>
      <p:sp>
        <p:nvSpPr>
          <p:cNvPr id="3" name="Text 1"/>
          <p:cNvSpPr txBox="1"/>
          <p:nvPr/>
        </p:nvSpPr>
        <p:spPr>
          <a:xfrm>
            <a:off x="685800" y="841248"/>
            <a:ext cx="10789920" cy="868680"/>
          </a:xfrm>
          <a:prstGeom prst="rect">
            <a:avLst/>
          </a:prstGeom>
          <a:noFill/>
          <a:ln/>
        </p:spPr>
        <p:txBody>
          <a:bodyPr wrap="square" lIns="0" tIns="0" rIns="0" bIns="0" rtlCol="0" anchor="t"/>
          <a:lstStyle/>
          <a:p>
            <a:pPr indent="0" marL="0">
              <a:lnSpc>
                <a:spcPct val="92000"/>
              </a:lnSpc>
              <a:buNone/>
            </a:pPr>
            <a:r>
              <a:rPr lang="en-US" sz="4000" b="1" dirty="0">
                <a:solidFill>
                  <a:srgbClr val="1D1D1F"/>
                </a:solidFill>
                <a:latin typeface="Helvetica Neue" pitchFamily="34" charset="0"/>
                <a:ea typeface="Helvetica Neue" pitchFamily="34" charset="-122"/>
                <a:cs typeface="Helvetica Neue" pitchFamily="34" charset="-120"/>
              </a:rPr>
              <a:t>An oxygen dip is a clue, not a diagnosis.</a:t>
            </a:r>
            <a:endParaRPr lang="en-US" sz="4000" dirty="0"/>
          </a:p>
        </p:txBody>
      </p:sp>
      <p:sp>
        <p:nvSpPr>
          <p:cNvPr id="4" name="Shape 2"/>
          <p:cNvSpPr/>
          <p:nvPr/>
        </p:nvSpPr>
        <p:spPr>
          <a:xfrm>
            <a:off x="685800" y="2063572"/>
            <a:ext cx="73152" cy="73152"/>
          </a:xfrm>
          <a:prstGeom prst="ellipse">
            <a:avLst/>
          </a:prstGeom>
          <a:solidFill>
            <a:srgbClr val="A1A1A6"/>
          </a:solidFill>
          <a:ln/>
        </p:spPr>
      </p:sp>
      <p:sp>
        <p:nvSpPr>
          <p:cNvPr id="5" name="Text 3"/>
          <p:cNvSpPr txBox="1"/>
          <p:nvPr/>
        </p:nvSpPr>
        <p:spPr>
          <a:xfrm>
            <a:off x="914400" y="1965960"/>
            <a:ext cx="6446520" cy="770382"/>
          </a:xfrm>
          <a:prstGeom prst="rect">
            <a:avLst/>
          </a:prstGeom>
          <a:noFill/>
          <a:ln/>
        </p:spPr>
        <p:txBody>
          <a:bodyPr wrap="square" lIns="0" tIns="0" rIns="0" bIns="0" rtlCol="0" anchor="t"/>
          <a:lstStyle/>
          <a:p>
            <a:pPr indent="0" marL="0">
              <a:buNone/>
            </a:pPr>
            <a:r>
              <a:rPr lang="en-US" sz="1500" dirty="0">
                <a:solidFill>
                  <a:srgbClr val="1D1D1F"/>
                </a:solidFill>
                <a:latin typeface="Helvetica Neue" pitchFamily="34" charset="0"/>
                <a:ea typeface="Helvetica Neue" pitchFamily="34" charset="-122"/>
                <a:cs typeface="Helvetica Neue" pitchFamily="34" charset="-120"/>
              </a:rPr>
              <a:t>Pulse oximetry: red (660 nm) and infrared (880 nm) light shine through the fingertip. Oxygen-rich and oxygen-poor blood absorb them differently, giving SpO₂.</a:t>
            </a:r>
            <a:endParaRPr lang="en-US" sz="1500" dirty="0"/>
          </a:p>
        </p:txBody>
      </p:sp>
      <p:sp>
        <p:nvSpPr>
          <p:cNvPr id="6" name="Shape 4"/>
          <p:cNvSpPr/>
          <p:nvPr/>
        </p:nvSpPr>
        <p:spPr>
          <a:xfrm>
            <a:off x="685800" y="2925394"/>
            <a:ext cx="73152" cy="73152"/>
          </a:xfrm>
          <a:prstGeom prst="ellipse">
            <a:avLst/>
          </a:prstGeom>
          <a:solidFill>
            <a:srgbClr val="A1A1A6"/>
          </a:solidFill>
          <a:ln/>
        </p:spPr>
      </p:sp>
      <p:sp>
        <p:nvSpPr>
          <p:cNvPr id="7" name="Text 5"/>
          <p:cNvSpPr txBox="1"/>
          <p:nvPr/>
        </p:nvSpPr>
        <p:spPr>
          <a:xfrm>
            <a:off x="914400" y="2827782"/>
            <a:ext cx="6446520" cy="537972"/>
          </a:xfrm>
          <a:prstGeom prst="rect">
            <a:avLst/>
          </a:prstGeom>
          <a:noFill/>
          <a:ln/>
        </p:spPr>
        <p:txBody>
          <a:bodyPr wrap="square" lIns="0" tIns="0" rIns="0" bIns="0" rtlCol="0" anchor="t"/>
          <a:lstStyle/>
          <a:p>
            <a:pPr indent="0" marL="0">
              <a:buNone/>
            </a:pPr>
            <a:r>
              <a:rPr lang="en-US" sz="1500" dirty="0">
                <a:solidFill>
                  <a:srgbClr val="1D1D1F"/>
                </a:solidFill>
                <a:latin typeface="Helvetica Neue" pitchFamily="34" charset="0"/>
                <a:ea typeface="Helvetica Neue" pitchFamily="34" charset="-122"/>
                <a:cs typeface="Helvetica Neue" pitchFamily="34" charset="-120"/>
              </a:rPr>
              <a:t>A desaturation is a short drop in SpO₂. Sleep studies count drops of 3% or more, alongside other signals.</a:t>
            </a:r>
            <a:endParaRPr lang="en-US" sz="1500" dirty="0"/>
          </a:p>
        </p:txBody>
      </p:sp>
      <p:sp>
        <p:nvSpPr>
          <p:cNvPr id="8" name="Shape 6"/>
          <p:cNvSpPr/>
          <p:nvPr/>
        </p:nvSpPr>
        <p:spPr>
          <a:xfrm>
            <a:off x="685800" y="3554806"/>
            <a:ext cx="73152" cy="73152"/>
          </a:xfrm>
          <a:prstGeom prst="ellipse">
            <a:avLst/>
          </a:prstGeom>
          <a:solidFill>
            <a:srgbClr val="A1A1A6"/>
          </a:solidFill>
          <a:ln/>
        </p:spPr>
      </p:sp>
      <p:sp>
        <p:nvSpPr>
          <p:cNvPr id="9" name="Text 7"/>
          <p:cNvSpPr txBox="1"/>
          <p:nvPr/>
        </p:nvSpPr>
        <p:spPr>
          <a:xfrm>
            <a:off x="914400" y="3457194"/>
            <a:ext cx="6446520" cy="537972"/>
          </a:xfrm>
          <a:prstGeom prst="rect">
            <a:avLst/>
          </a:prstGeom>
          <a:noFill/>
          <a:ln/>
        </p:spPr>
        <p:txBody>
          <a:bodyPr wrap="square" lIns="0" tIns="0" rIns="0" bIns="0" rtlCol="0" anchor="t"/>
          <a:lstStyle/>
          <a:p>
            <a:pPr indent="0" marL="0">
              <a:buNone/>
            </a:pPr>
            <a:r>
              <a:rPr lang="en-US" sz="1500" dirty="0">
                <a:solidFill>
                  <a:srgbClr val="1D1D1F"/>
                </a:solidFill>
                <a:latin typeface="Helvetica Neue" pitchFamily="34" charset="0"/>
                <a:ea typeface="Helvetica Neue" pitchFamily="34" charset="-122"/>
                <a:cs typeface="Helvetica Neue" pitchFamily="34" charset="-120"/>
              </a:rPr>
              <a:t>Sleep apnea is diagnosed with a sleep study that also measures airflow, breathing effort and sleep. Oxygen alone cannot do this.</a:t>
            </a:r>
            <a:endParaRPr lang="en-US" sz="1500" dirty="0"/>
          </a:p>
        </p:txBody>
      </p:sp>
      <p:sp>
        <p:nvSpPr>
          <p:cNvPr id="10" name="Shape 8"/>
          <p:cNvSpPr/>
          <p:nvPr/>
        </p:nvSpPr>
        <p:spPr>
          <a:xfrm>
            <a:off x="685800" y="4184218"/>
            <a:ext cx="73152" cy="73152"/>
          </a:xfrm>
          <a:prstGeom prst="ellipse">
            <a:avLst/>
          </a:prstGeom>
          <a:solidFill>
            <a:srgbClr val="A1A1A6"/>
          </a:solidFill>
          <a:ln/>
        </p:spPr>
      </p:sp>
      <p:sp>
        <p:nvSpPr>
          <p:cNvPr id="11" name="Text 9"/>
          <p:cNvSpPr txBox="1"/>
          <p:nvPr/>
        </p:nvSpPr>
        <p:spPr>
          <a:xfrm>
            <a:off x="914400" y="4086606"/>
            <a:ext cx="6446520" cy="537972"/>
          </a:xfrm>
          <a:prstGeom prst="rect">
            <a:avLst/>
          </a:prstGeom>
          <a:noFill/>
          <a:ln/>
        </p:spPr>
        <p:txBody>
          <a:bodyPr wrap="square" lIns="0" tIns="0" rIns="0" bIns="0" rtlCol="0" anchor="t"/>
          <a:lstStyle/>
          <a:p>
            <a:pPr indent="0" marL="0">
              <a:buNone/>
            </a:pPr>
            <a:r>
              <a:rPr lang="en-US" sz="1500" dirty="0">
                <a:solidFill>
                  <a:srgbClr val="1D1D1F"/>
                </a:solidFill>
                <a:latin typeface="Helvetica Neue" pitchFamily="34" charset="0"/>
                <a:ea typeface="Helvetica Neue" pitchFamily="34" charset="-122"/>
                <a:cs typeface="Helvetica Neue" pitchFamily="34" charset="-120"/>
              </a:rPr>
              <a:t>Not every oxygen drop is an apnea (movement, poor contact, other causes), and not every apnea causes a large drop.</a:t>
            </a:r>
            <a:endParaRPr lang="en-US" sz="1500" dirty="0"/>
          </a:p>
        </p:txBody>
      </p:sp>
      <p:sp>
        <p:nvSpPr>
          <p:cNvPr id="12" name="Shape 10"/>
          <p:cNvSpPr/>
          <p:nvPr/>
        </p:nvSpPr>
        <p:spPr>
          <a:xfrm>
            <a:off x="7726680" y="1920240"/>
            <a:ext cx="3776472" cy="2514600"/>
          </a:xfrm>
          <a:prstGeom prst="roundRect">
            <a:avLst>
              <a:gd name="adj" fmla="val 8000"/>
            </a:avLst>
          </a:prstGeom>
          <a:solidFill>
            <a:srgbClr val="000000"/>
          </a:solidFill>
          <a:ln/>
        </p:spPr>
      </p:sp>
      <p:sp>
        <p:nvSpPr>
          <p:cNvPr id="13" name="Text 11"/>
          <p:cNvSpPr txBox="1"/>
          <p:nvPr/>
        </p:nvSpPr>
        <p:spPr>
          <a:xfrm>
            <a:off x="8001000" y="2194560"/>
            <a:ext cx="3291840" cy="685800"/>
          </a:xfrm>
          <a:prstGeom prst="rect">
            <a:avLst/>
          </a:prstGeom>
          <a:noFill/>
          <a:ln/>
        </p:spPr>
        <p:txBody>
          <a:bodyPr wrap="square" lIns="0" tIns="0" rIns="0" bIns="0" rtlCol="0" anchor="t"/>
          <a:lstStyle/>
          <a:p>
            <a:pPr indent="0" marL="0">
              <a:buNone/>
            </a:pPr>
            <a:r>
              <a:rPr lang="en-US" sz="4000" b="1" dirty="0">
                <a:solidFill>
                  <a:srgbClr val="FFFFFF"/>
                </a:solidFill>
                <a:latin typeface="Helvetica Neue" pitchFamily="34" charset="0"/>
                <a:ea typeface="Helvetica Neue" pitchFamily="34" charset="-122"/>
                <a:cs typeface="Helvetica Neue" pitchFamily="34" charset="-120"/>
              </a:rPr>
              <a:t>936 million</a:t>
            </a:r>
            <a:endParaRPr lang="en-US" sz="4000" dirty="0"/>
          </a:p>
        </p:txBody>
      </p:sp>
      <p:sp>
        <p:nvSpPr>
          <p:cNvPr id="14" name="Text 12"/>
          <p:cNvSpPr txBox="1"/>
          <p:nvPr/>
        </p:nvSpPr>
        <p:spPr>
          <a:xfrm>
            <a:off x="8001000" y="2971800"/>
            <a:ext cx="3291840" cy="1280160"/>
          </a:xfrm>
          <a:prstGeom prst="rect">
            <a:avLst/>
          </a:prstGeom>
          <a:noFill/>
          <a:ln/>
        </p:spPr>
        <p:txBody>
          <a:bodyPr wrap="square" lIns="0" tIns="0" rIns="0" bIns="0" rtlCol="0" anchor="t"/>
          <a:lstStyle/>
          <a:p>
            <a:pPr indent="0" marL="0">
              <a:buNone/>
            </a:pPr>
            <a:r>
              <a:rPr lang="en-US" sz="1400" dirty="0">
                <a:solidFill>
                  <a:srgbClr val="86868B"/>
                </a:solidFill>
                <a:latin typeface="Helvetica Neue" pitchFamily="34" charset="0"/>
                <a:ea typeface="Helvetica Neue" pitchFamily="34" charset="-122"/>
                <a:cs typeface="Helvetica Neue" pitchFamily="34" charset="-120"/>
              </a:rPr>
              <a:t>adults worldwide are estimated to have obstructive sleep apnea, and most are undiagnosed (Benjafield et al., 2019).</a:t>
            </a:r>
            <a:endParaRPr lang="en-US" sz="1400" dirty="0"/>
          </a:p>
        </p:txBody>
      </p:sp>
      <p:sp>
        <p:nvSpPr>
          <p:cNvPr id="15" name="Shape 13"/>
          <p:cNvSpPr/>
          <p:nvPr/>
        </p:nvSpPr>
        <p:spPr>
          <a:xfrm>
            <a:off x="685800" y="4983480"/>
            <a:ext cx="3502152" cy="1234440"/>
          </a:xfrm>
          <a:prstGeom prst="roundRect">
            <a:avLst>
              <a:gd name="adj" fmla="val 16296"/>
            </a:avLst>
          </a:prstGeom>
          <a:solidFill>
            <a:srgbClr val="F5F5F7"/>
          </a:solidFill>
          <a:ln/>
        </p:spPr>
      </p:sp>
      <p:sp>
        <p:nvSpPr>
          <p:cNvPr id="16" name="Text 14"/>
          <p:cNvSpPr txBox="1"/>
          <p:nvPr/>
        </p:nvSpPr>
        <p:spPr>
          <a:xfrm>
            <a:off x="960120" y="5138928"/>
            <a:ext cx="3017520" cy="457200"/>
          </a:xfrm>
          <a:prstGeom prst="rect">
            <a:avLst/>
          </a:prstGeom>
          <a:noFill/>
          <a:ln/>
        </p:spPr>
        <p:txBody>
          <a:bodyPr wrap="square" lIns="0" tIns="0" rIns="0" bIns="0" rtlCol="0" anchor="t"/>
          <a:lstStyle/>
          <a:p>
            <a:pPr indent="0" marL="0">
              <a:buNone/>
            </a:pPr>
            <a:r>
              <a:rPr lang="en-US" sz="2200" b="1" dirty="0">
                <a:solidFill>
                  <a:srgbClr val="0071E3"/>
                </a:solidFill>
                <a:latin typeface="Helvetica Neue" pitchFamily="34" charset="0"/>
                <a:ea typeface="Helvetica Neue" pitchFamily="34" charset="-122"/>
                <a:cs typeface="Helvetica Neue" pitchFamily="34" charset="-120"/>
              </a:rPr>
              <a:t>SpO₂</a:t>
            </a:r>
            <a:endParaRPr lang="en-US" sz="2200" dirty="0"/>
          </a:p>
        </p:txBody>
      </p:sp>
      <p:sp>
        <p:nvSpPr>
          <p:cNvPr id="17" name="Text 15"/>
          <p:cNvSpPr txBox="1"/>
          <p:nvPr/>
        </p:nvSpPr>
        <p:spPr>
          <a:xfrm>
            <a:off x="960120" y="5669280"/>
            <a:ext cx="3017520" cy="365760"/>
          </a:xfrm>
          <a:prstGeom prst="rect">
            <a:avLst/>
          </a:prstGeom>
          <a:noFill/>
          <a:ln/>
        </p:spPr>
        <p:txBody>
          <a:bodyPr wrap="square" lIns="0" tIns="0" rIns="0" bIns="0" rtlCol="0" anchor="t"/>
          <a:lstStyle/>
          <a:p>
            <a:pPr indent="0" marL="0">
              <a:buNone/>
            </a:pPr>
            <a:r>
              <a:rPr lang="en-US" sz="1300" dirty="0">
                <a:solidFill>
                  <a:srgbClr val="6E6E73"/>
                </a:solidFill>
                <a:latin typeface="Helvetica Neue" pitchFamily="34" charset="0"/>
                <a:ea typeface="Helvetica Neue" pitchFamily="34" charset="-122"/>
                <a:cs typeface="Helvetica Neue" pitchFamily="34" charset="-120"/>
              </a:rPr>
              <a:t>can show oxygen dips</a:t>
            </a:r>
            <a:endParaRPr lang="en-US" sz="1300" dirty="0"/>
          </a:p>
        </p:txBody>
      </p:sp>
      <p:sp>
        <p:nvSpPr>
          <p:cNvPr id="18" name="Shape 16"/>
          <p:cNvSpPr/>
          <p:nvPr/>
        </p:nvSpPr>
        <p:spPr>
          <a:xfrm>
            <a:off x="4343400" y="4983480"/>
            <a:ext cx="3502152" cy="1234440"/>
          </a:xfrm>
          <a:prstGeom prst="roundRect">
            <a:avLst>
              <a:gd name="adj" fmla="val 16296"/>
            </a:avLst>
          </a:prstGeom>
          <a:solidFill>
            <a:srgbClr val="F5F5F7"/>
          </a:solidFill>
          <a:ln/>
        </p:spPr>
      </p:sp>
      <p:sp>
        <p:nvSpPr>
          <p:cNvPr id="19" name="Text 17"/>
          <p:cNvSpPr txBox="1"/>
          <p:nvPr/>
        </p:nvSpPr>
        <p:spPr>
          <a:xfrm>
            <a:off x="4617720" y="5138928"/>
            <a:ext cx="3017520" cy="457200"/>
          </a:xfrm>
          <a:prstGeom prst="rect">
            <a:avLst/>
          </a:prstGeom>
          <a:noFill/>
          <a:ln/>
        </p:spPr>
        <p:txBody>
          <a:bodyPr wrap="square" lIns="0" tIns="0" rIns="0" bIns="0" rtlCol="0" anchor="t"/>
          <a:lstStyle/>
          <a:p>
            <a:pPr indent="0" marL="0">
              <a:buNone/>
            </a:pPr>
            <a:r>
              <a:rPr lang="en-US" sz="2200" b="1" dirty="0">
                <a:solidFill>
                  <a:srgbClr val="E3254B"/>
                </a:solidFill>
                <a:latin typeface="Helvetica Neue" pitchFamily="34" charset="0"/>
                <a:ea typeface="Helvetica Neue" pitchFamily="34" charset="-122"/>
                <a:cs typeface="Helvetica Neue" pitchFamily="34" charset="-120"/>
              </a:rPr>
              <a:t>Heart rate</a:t>
            </a:r>
            <a:endParaRPr lang="en-US" sz="2200" dirty="0"/>
          </a:p>
        </p:txBody>
      </p:sp>
      <p:sp>
        <p:nvSpPr>
          <p:cNvPr id="20" name="Text 18"/>
          <p:cNvSpPr txBox="1"/>
          <p:nvPr/>
        </p:nvSpPr>
        <p:spPr>
          <a:xfrm>
            <a:off x="4617720" y="5669280"/>
            <a:ext cx="3017520" cy="365760"/>
          </a:xfrm>
          <a:prstGeom prst="rect">
            <a:avLst/>
          </a:prstGeom>
          <a:noFill/>
          <a:ln/>
        </p:spPr>
        <p:txBody>
          <a:bodyPr wrap="square" lIns="0" tIns="0" rIns="0" bIns="0" rtlCol="0" anchor="t"/>
          <a:lstStyle/>
          <a:p>
            <a:pPr indent="0" marL="0">
              <a:buNone/>
            </a:pPr>
            <a:r>
              <a:rPr lang="en-US" sz="1300" dirty="0">
                <a:solidFill>
                  <a:srgbClr val="6E6E73"/>
                </a:solidFill>
                <a:latin typeface="Helvetica Neue" pitchFamily="34" charset="0"/>
                <a:ea typeface="Helvetica Neue" pitchFamily="34" charset="-122"/>
                <a:cs typeface="Helvetica Neue" pitchFamily="34" charset="-120"/>
              </a:rPr>
              <a:t>can show pulse changes</a:t>
            </a:r>
            <a:endParaRPr lang="en-US" sz="1300" dirty="0"/>
          </a:p>
        </p:txBody>
      </p:sp>
      <p:sp>
        <p:nvSpPr>
          <p:cNvPr id="21" name="Shape 19"/>
          <p:cNvSpPr/>
          <p:nvPr/>
        </p:nvSpPr>
        <p:spPr>
          <a:xfrm>
            <a:off x="8001000" y="4983480"/>
            <a:ext cx="3502152" cy="1234440"/>
          </a:xfrm>
          <a:prstGeom prst="roundRect">
            <a:avLst>
              <a:gd name="adj" fmla="val 16296"/>
            </a:avLst>
          </a:prstGeom>
          <a:solidFill>
            <a:srgbClr val="F5F5F7"/>
          </a:solidFill>
          <a:ln/>
        </p:spPr>
      </p:sp>
      <p:sp>
        <p:nvSpPr>
          <p:cNvPr id="22" name="Text 20"/>
          <p:cNvSpPr txBox="1"/>
          <p:nvPr/>
        </p:nvSpPr>
        <p:spPr>
          <a:xfrm>
            <a:off x="8275320" y="5138928"/>
            <a:ext cx="3017520" cy="457200"/>
          </a:xfrm>
          <a:prstGeom prst="rect">
            <a:avLst/>
          </a:prstGeom>
          <a:noFill/>
          <a:ln/>
        </p:spPr>
        <p:txBody>
          <a:bodyPr wrap="square" lIns="0" tIns="0" rIns="0" bIns="0" rtlCol="0" anchor="t"/>
          <a:lstStyle/>
          <a:p>
            <a:pPr indent="0" marL="0">
              <a:buNone/>
            </a:pPr>
            <a:r>
              <a:rPr lang="en-US" sz="2200" b="1" dirty="0">
                <a:solidFill>
                  <a:srgbClr val="6E6E73"/>
                </a:solidFill>
                <a:latin typeface="Helvetica Neue" pitchFamily="34" charset="0"/>
                <a:ea typeface="Helvetica Neue" pitchFamily="34" charset="-122"/>
                <a:cs typeface="Helvetica Neue" pitchFamily="34" charset="-120"/>
              </a:rPr>
              <a:t>Not measured</a:t>
            </a:r>
            <a:endParaRPr lang="en-US" sz="2200" dirty="0"/>
          </a:p>
        </p:txBody>
      </p:sp>
      <p:sp>
        <p:nvSpPr>
          <p:cNvPr id="23" name="Text 21"/>
          <p:cNvSpPr txBox="1"/>
          <p:nvPr/>
        </p:nvSpPr>
        <p:spPr>
          <a:xfrm>
            <a:off x="8275320" y="5669280"/>
            <a:ext cx="3017520" cy="365760"/>
          </a:xfrm>
          <a:prstGeom prst="rect">
            <a:avLst/>
          </a:prstGeom>
          <a:noFill/>
          <a:ln/>
        </p:spPr>
        <p:txBody>
          <a:bodyPr wrap="square" lIns="0" tIns="0" rIns="0" bIns="0" rtlCol="0" anchor="t"/>
          <a:lstStyle/>
          <a:p>
            <a:pPr indent="0" marL="0">
              <a:buNone/>
            </a:pPr>
            <a:r>
              <a:rPr lang="en-US" sz="1300" dirty="0">
                <a:solidFill>
                  <a:srgbClr val="6E6E73"/>
                </a:solidFill>
                <a:latin typeface="Helvetica Neue" pitchFamily="34" charset="0"/>
                <a:ea typeface="Helvetica Neue" pitchFamily="34" charset="-122"/>
                <a:cs typeface="Helvetica Neue" pitchFamily="34" charset="-120"/>
              </a:rPr>
              <a:t>airflow · breathing effort · sleep stage</a:t>
            </a:r>
            <a:endParaRPr lang="en-US" sz="1300" dirty="0"/>
          </a:p>
        </p:txBody>
      </p:sp>
      <p:sp>
        <p:nvSpPr>
          <p:cNvPr id="24" name="Text 22"/>
          <p:cNvSpPr txBox="1"/>
          <p:nvPr/>
        </p:nvSpPr>
        <p:spPr>
          <a:xfrm>
            <a:off x="685800" y="6473952"/>
            <a:ext cx="3657600" cy="228600"/>
          </a:xfrm>
          <a:prstGeom prst="rect">
            <a:avLst/>
          </a:prstGeom>
          <a:noFill/>
          <a:ln/>
        </p:spPr>
        <p:txBody>
          <a:bodyPr wrap="square" lIns="0" tIns="0" rIns="0" bIns="0" rtlCol="0" anchor="t"/>
          <a:lstStyle/>
          <a:p>
            <a:pPr indent="0" marL="0">
              <a:buNone/>
            </a:pPr>
            <a:r>
              <a:rPr lang="en-US" sz="950" b="1" dirty="0">
                <a:solidFill>
                  <a:srgbClr val="A1A1A6"/>
                </a:solidFill>
                <a:latin typeface="Helvetica Neue" pitchFamily="34" charset="0"/>
                <a:ea typeface="Helvetica Neue" pitchFamily="34" charset="-122"/>
                <a:cs typeface="Helvetica Neue" pitchFamily="34" charset="-120"/>
              </a:rPr>
              <a:t>Night Signal</a:t>
            </a:r>
            <a:endParaRPr lang="en-US" sz="950" dirty="0"/>
          </a:p>
        </p:txBody>
      </p:sp>
      <p:sp>
        <p:nvSpPr>
          <p:cNvPr id="25" name="Text 23"/>
          <p:cNvSpPr txBox="1"/>
          <p:nvPr/>
        </p:nvSpPr>
        <p:spPr>
          <a:xfrm>
            <a:off x="10588752" y="6473952"/>
            <a:ext cx="914400" cy="228600"/>
          </a:xfrm>
          <a:prstGeom prst="rect">
            <a:avLst/>
          </a:prstGeom>
          <a:noFill/>
          <a:ln/>
        </p:spPr>
        <p:txBody>
          <a:bodyPr wrap="square" lIns="0" tIns="0" rIns="0" bIns="0" rtlCol="0" anchor="t"/>
          <a:lstStyle/>
          <a:p>
            <a:pPr algn="r" indent="0" marL="0">
              <a:buNone/>
            </a:pPr>
            <a:r>
              <a:rPr lang="en-US" sz="950" dirty="0">
                <a:solidFill>
                  <a:srgbClr val="A1A1A6"/>
                </a:solidFill>
                <a:latin typeface="Helvetica Neue" pitchFamily="34" charset="0"/>
                <a:ea typeface="Helvetica Neue" pitchFamily="34" charset="-122"/>
                <a:cs typeface="Helvetica Neue"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85800" y="502920"/>
            <a:ext cx="10789920" cy="320040"/>
          </a:xfrm>
          <a:prstGeom prst="rect">
            <a:avLst/>
          </a:prstGeom>
          <a:noFill/>
          <a:ln/>
        </p:spPr>
        <p:txBody>
          <a:bodyPr wrap="square" lIns="0" tIns="0" rIns="0" bIns="0" rtlCol="0" anchor="t"/>
          <a:lstStyle/>
          <a:p>
            <a:pPr algn="ctr" indent="0" marL="0">
              <a:buNone/>
            </a:pPr>
            <a:r>
              <a:rPr lang="en-US" sz="1600" b="1" dirty="0">
                <a:solidFill>
                  <a:srgbClr val="FF375F"/>
                </a:solidFill>
                <a:latin typeface="Helvetica Neue" pitchFamily="34" charset="0"/>
                <a:ea typeface="Helvetica Neue" pitchFamily="34" charset="-122"/>
                <a:cs typeface="Helvetica Neue" pitchFamily="34" charset="-120"/>
              </a:rPr>
              <a:t>Design</a:t>
            </a:r>
            <a:endParaRPr lang="en-US" sz="1600" dirty="0"/>
          </a:p>
        </p:txBody>
      </p:sp>
      <p:sp>
        <p:nvSpPr>
          <p:cNvPr id="3" name="Text 1"/>
          <p:cNvSpPr txBox="1"/>
          <p:nvPr/>
        </p:nvSpPr>
        <p:spPr>
          <a:xfrm>
            <a:off x="685800" y="822960"/>
            <a:ext cx="10789920" cy="868680"/>
          </a:xfrm>
          <a:prstGeom prst="rect">
            <a:avLst/>
          </a:prstGeom>
          <a:noFill/>
          <a:ln/>
        </p:spPr>
        <p:txBody>
          <a:bodyPr wrap="square" lIns="0" tIns="0" rIns="0" bIns="0" rtlCol="0" anchor="t"/>
          <a:lstStyle/>
          <a:p>
            <a:pPr algn="ctr" indent="0" marL="0">
              <a:lnSpc>
                <a:spcPct val="92000"/>
              </a:lnSpc>
              <a:buNone/>
            </a:pPr>
            <a:r>
              <a:rPr lang="en-US" sz="4800" b="1" dirty="0">
                <a:solidFill>
                  <a:srgbClr val="FFFFFF"/>
                </a:solidFill>
                <a:latin typeface="Helvetica Neue" pitchFamily="34" charset="0"/>
                <a:ea typeface="Helvetica Neue" pitchFamily="34" charset="-122"/>
                <a:cs typeface="Helvetica Neue" pitchFamily="34" charset="-120"/>
              </a:rPr>
              <a:t>The wearable.</a:t>
            </a:r>
            <a:endParaRPr lang="en-US" sz="4800" dirty="0"/>
          </a:p>
        </p:txBody>
      </p:sp>
      <p:pic>
        <p:nvPicPr>
          <p:cNvPr id="4" name="Image 0" descr="/home/user/teetomivV2/science-fair/night-signal/slides/assets/hero_alpha.png">    </p:cNvPr>
          <p:cNvPicPr>
            <a:picLocks noChangeAspect="1"/>
          </p:cNvPicPr>
          <p:nvPr/>
        </p:nvPicPr>
        <p:blipFill>
          <a:blip r:embed="rId2"/>
          <a:stretch>
            <a:fillRect/>
          </a:stretch>
        </p:blipFill>
        <p:spPr>
          <a:xfrm>
            <a:off x="2333411" y="1737360"/>
            <a:ext cx="3279203" cy="3200400"/>
          </a:xfrm>
          <a:prstGeom prst="rect">
            <a:avLst/>
          </a:prstGeom>
        </p:spPr>
      </p:pic>
      <p:pic>
        <p:nvPicPr>
          <p:cNvPr id="5" name="Image 1" descr="/home/user/teetomivV2/science-fair/night-signal/slides/assets/exploded_alpha.png">    </p:cNvPr>
          <p:cNvPicPr>
            <a:picLocks noChangeAspect="1"/>
          </p:cNvPicPr>
          <p:nvPr/>
        </p:nvPicPr>
        <p:blipFill>
          <a:blip r:embed="rId3"/>
          <a:stretch>
            <a:fillRect/>
          </a:stretch>
        </p:blipFill>
        <p:spPr>
          <a:xfrm>
            <a:off x="6527013" y="1737360"/>
            <a:ext cx="3331271" cy="3200400"/>
          </a:xfrm>
          <a:prstGeom prst="rect">
            <a:avLst/>
          </a:prstGeom>
        </p:spPr>
      </p:pic>
      <p:sp>
        <p:nvSpPr>
          <p:cNvPr id="6" name="Text 2"/>
          <p:cNvSpPr txBox="1"/>
          <p:nvPr/>
        </p:nvSpPr>
        <p:spPr>
          <a:xfrm>
            <a:off x="2059091" y="4983480"/>
            <a:ext cx="3827843" cy="274320"/>
          </a:xfrm>
          <a:prstGeom prst="rect">
            <a:avLst/>
          </a:prstGeom>
          <a:noFill/>
          <a:ln/>
        </p:spPr>
        <p:txBody>
          <a:bodyPr wrap="square" lIns="0" tIns="0" rIns="0" bIns="0" rtlCol="0" anchor="t"/>
          <a:lstStyle/>
          <a:p>
            <a:pPr algn="ctr" indent="0" marL="0">
              <a:buNone/>
            </a:pPr>
            <a:r>
              <a:rPr lang="en-US" sz="1200" dirty="0">
                <a:solidFill>
                  <a:srgbClr val="86868B"/>
                </a:solidFill>
                <a:latin typeface="Helvetica Neue" pitchFamily="34" charset="0"/>
                <a:ea typeface="Helvetica Neue" pitchFamily="34" charset="-122"/>
                <a:cs typeface="Helvetica Neue" pitchFamily="34" charset="-120"/>
              </a:rPr>
              <a:t>3D design of a later version (v2): sealed case</a:t>
            </a:r>
            <a:endParaRPr lang="en-US" sz="1200" dirty="0"/>
          </a:p>
        </p:txBody>
      </p:sp>
      <p:sp>
        <p:nvSpPr>
          <p:cNvPr id="7" name="Text 3"/>
          <p:cNvSpPr txBox="1"/>
          <p:nvPr/>
        </p:nvSpPr>
        <p:spPr>
          <a:xfrm>
            <a:off x="6252693" y="4983480"/>
            <a:ext cx="3879911" cy="274320"/>
          </a:xfrm>
          <a:prstGeom prst="rect">
            <a:avLst/>
          </a:prstGeom>
          <a:noFill/>
          <a:ln/>
        </p:spPr>
        <p:txBody>
          <a:bodyPr wrap="square" lIns="0" tIns="0" rIns="0" bIns="0" rtlCol="0" anchor="t"/>
          <a:lstStyle/>
          <a:p>
            <a:pPr algn="ctr" indent="0" marL="0">
              <a:buNone/>
            </a:pPr>
            <a:r>
              <a:rPr lang="en-US" sz="1200" dirty="0">
                <a:solidFill>
                  <a:srgbClr val="86868B"/>
                </a:solidFill>
                <a:latin typeface="Helvetica Neue" pitchFamily="34" charset="0"/>
                <a:ea typeface="Helvetica Neue" pitchFamily="34" charset="-122"/>
                <a:cs typeface="Helvetica Neue" pitchFamily="34" charset="-120"/>
              </a:rPr>
              <a:t>Exploded: every v2 part at its real size</a:t>
            </a:r>
            <a:endParaRPr lang="en-US" sz="1200" dirty="0"/>
          </a:p>
        </p:txBody>
      </p:sp>
      <p:sp>
        <p:nvSpPr>
          <p:cNvPr id="8" name="Text 4"/>
          <p:cNvSpPr txBox="1"/>
          <p:nvPr/>
        </p:nvSpPr>
        <p:spPr>
          <a:xfrm>
            <a:off x="685800" y="5486400"/>
            <a:ext cx="2148840" cy="411480"/>
          </a:xfrm>
          <a:prstGeom prst="rect">
            <a:avLst/>
          </a:prstGeom>
          <a:noFill/>
          <a:ln/>
        </p:spPr>
        <p:txBody>
          <a:bodyPr wrap="square" lIns="0" tIns="0" rIns="0" bIns="0" rtlCol="0" anchor="t"/>
          <a:lstStyle/>
          <a:p>
            <a:pPr indent="0" marL="0">
              <a:buNone/>
            </a:pPr>
            <a:r>
              <a:rPr lang="en-US" sz="2200" b="1" dirty="0">
                <a:solidFill>
                  <a:srgbClr val="FFFFFF"/>
                </a:solidFill>
                <a:latin typeface="Helvetica Neue" pitchFamily="34" charset="0"/>
                <a:ea typeface="Helvetica Neue" pitchFamily="34" charset="-122"/>
                <a:cs typeface="Helvetica Neue" pitchFamily="34" charset="-120"/>
              </a:rPr>
              <a:t>Prototype v1</a:t>
            </a:r>
            <a:endParaRPr lang="en-US" sz="2200" dirty="0"/>
          </a:p>
        </p:txBody>
      </p:sp>
      <p:sp>
        <p:nvSpPr>
          <p:cNvPr id="9" name="Text 5"/>
          <p:cNvSpPr txBox="1"/>
          <p:nvPr/>
        </p:nvSpPr>
        <p:spPr>
          <a:xfrm>
            <a:off x="685800" y="5916168"/>
            <a:ext cx="2148840" cy="274320"/>
          </a:xfrm>
          <a:prstGeom prst="rect">
            <a:avLst/>
          </a:prstGeom>
          <a:noFill/>
          <a:ln/>
        </p:spPr>
        <p:txBody>
          <a:bodyPr wrap="square" lIns="0" tIns="0" rIns="0" bIns="0" rtlCol="0" anchor="t"/>
          <a:lstStyle/>
          <a:p>
            <a:pPr indent="0" marL="0">
              <a:buNone/>
            </a:pPr>
            <a:r>
              <a:rPr lang="en-US" sz="1300" dirty="0">
                <a:solidFill>
                  <a:srgbClr val="86868B"/>
                </a:solidFill>
                <a:latin typeface="Helvetica Neue" pitchFamily="34" charset="0"/>
                <a:ea typeface="Helvetica Neue" pitchFamily="34" charset="-122"/>
                <a:cs typeface="Helvetica Neue" pitchFamily="34" charset="-120"/>
              </a:rPr>
              <a:t>armband + plug-in wires</a:t>
            </a:r>
            <a:endParaRPr lang="en-US" sz="1300" dirty="0"/>
          </a:p>
        </p:txBody>
      </p:sp>
      <p:sp>
        <p:nvSpPr>
          <p:cNvPr id="10" name="Text 6"/>
          <p:cNvSpPr txBox="1"/>
          <p:nvPr/>
        </p:nvSpPr>
        <p:spPr>
          <a:xfrm>
            <a:off x="2926080" y="5486400"/>
            <a:ext cx="2148840" cy="411480"/>
          </a:xfrm>
          <a:prstGeom prst="rect">
            <a:avLst/>
          </a:prstGeom>
          <a:noFill/>
          <a:ln/>
        </p:spPr>
        <p:txBody>
          <a:bodyPr wrap="square" lIns="0" tIns="0" rIns="0" bIns="0" rtlCol="0" anchor="t"/>
          <a:lstStyle/>
          <a:p>
            <a:pPr indent="0" marL="0">
              <a:buNone/>
            </a:pPr>
            <a:r>
              <a:rPr lang="en-US" sz="2200" b="1" dirty="0">
                <a:solidFill>
                  <a:srgbClr val="FFFFFF"/>
                </a:solidFill>
                <a:latin typeface="Helvetica Neue" pitchFamily="34" charset="0"/>
                <a:ea typeface="Helvetica Neue" pitchFamily="34" charset="-122"/>
                <a:cs typeface="Helvetica Neue" pitchFamily="34" charset="-120"/>
              </a:rPr>
              <a:t>Not built yet</a:t>
            </a:r>
            <a:endParaRPr lang="en-US" sz="2200" dirty="0"/>
          </a:p>
        </p:txBody>
      </p:sp>
      <p:sp>
        <p:nvSpPr>
          <p:cNvPr id="11" name="Text 7"/>
          <p:cNvSpPr txBox="1"/>
          <p:nvPr/>
        </p:nvSpPr>
        <p:spPr>
          <a:xfrm>
            <a:off x="2926080" y="5916168"/>
            <a:ext cx="2148840" cy="274320"/>
          </a:xfrm>
          <a:prstGeom prst="rect">
            <a:avLst/>
          </a:prstGeom>
          <a:noFill/>
          <a:ln/>
        </p:spPr>
        <p:txBody>
          <a:bodyPr wrap="square" lIns="0" tIns="0" rIns="0" bIns="0" rtlCol="0" anchor="t"/>
          <a:lstStyle/>
          <a:p>
            <a:pPr indent="0" marL="0">
              <a:buNone/>
            </a:pPr>
            <a:r>
              <a:rPr lang="en-US" sz="1300" dirty="0">
                <a:solidFill>
                  <a:srgbClr val="86868B"/>
                </a:solidFill>
                <a:latin typeface="Helvetica Neue" pitchFamily="34" charset="0"/>
                <a:ea typeface="Helvetica Neue" pitchFamily="34" charset="-122"/>
                <a:cs typeface="Helvetica Neue" pitchFamily="34" charset="-120"/>
              </a:rPr>
              <a:t>parts list ready</a:t>
            </a:r>
            <a:endParaRPr lang="en-US" sz="1300" dirty="0"/>
          </a:p>
        </p:txBody>
      </p:sp>
      <p:sp>
        <p:nvSpPr>
          <p:cNvPr id="12" name="Text 8"/>
          <p:cNvSpPr txBox="1"/>
          <p:nvPr/>
        </p:nvSpPr>
        <p:spPr>
          <a:xfrm>
            <a:off x="5166360" y="5486400"/>
            <a:ext cx="2148840" cy="411480"/>
          </a:xfrm>
          <a:prstGeom prst="rect">
            <a:avLst/>
          </a:prstGeom>
          <a:noFill/>
          <a:ln/>
        </p:spPr>
        <p:txBody>
          <a:bodyPr wrap="square" lIns="0" tIns="0" rIns="0" bIns="0" rtlCol="0" anchor="t"/>
          <a:lstStyle/>
          <a:p>
            <a:pPr indent="0" marL="0">
              <a:buNone/>
            </a:pPr>
            <a:r>
              <a:rPr lang="en-US" sz="2200" b="1" dirty="0">
                <a:solidFill>
                  <a:srgbClr val="FFFFFF"/>
                </a:solidFill>
                <a:latin typeface="Helvetica Neue" pitchFamily="34" charset="0"/>
                <a:ea typeface="Helvetica Neue" pitchFamily="34" charset="-122"/>
                <a:cs typeface="Helvetica Neue" pitchFamily="34" charset="-120"/>
              </a:rPr>
              <a:t>MAX30102</a:t>
            </a:r>
            <a:endParaRPr lang="en-US" sz="2200" dirty="0"/>
          </a:p>
        </p:txBody>
      </p:sp>
      <p:sp>
        <p:nvSpPr>
          <p:cNvPr id="13" name="Text 9"/>
          <p:cNvSpPr txBox="1"/>
          <p:nvPr/>
        </p:nvSpPr>
        <p:spPr>
          <a:xfrm>
            <a:off x="5166360" y="5916168"/>
            <a:ext cx="2148840" cy="274320"/>
          </a:xfrm>
          <a:prstGeom prst="rect">
            <a:avLst/>
          </a:prstGeom>
          <a:noFill/>
          <a:ln/>
        </p:spPr>
        <p:txBody>
          <a:bodyPr wrap="square" lIns="0" tIns="0" rIns="0" bIns="0" rtlCol="0" anchor="t"/>
          <a:lstStyle/>
          <a:p>
            <a:pPr indent="0" marL="0">
              <a:buNone/>
            </a:pPr>
            <a:r>
              <a:rPr lang="en-US" sz="1300" dirty="0">
                <a:solidFill>
                  <a:srgbClr val="86868B"/>
                </a:solidFill>
                <a:latin typeface="Helvetica Neue" pitchFamily="34" charset="0"/>
                <a:ea typeface="Helvetica Neue" pitchFamily="34" charset="-122"/>
                <a:cs typeface="Helvetica Neue" pitchFamily="34" charset="-120"/>
              </a:rPr>
              <a:t>red + infrared finger sensor</a:t>
            </a:r>
            <a:endParaRPr lang="en-US" sz="1300" dirty="0"/>
          </a:p>
        </p:txBody>
      </p:sp>
      <p:sp>
        <p:nvSpPr>
          <p:cNvPr id="14" name="Text 10"/>
          <p:cNvSpPr txBox="1"/>
          <p:nvPr/>
        </p:nvSpPr>
        <p:spPr>
          <a:xfrm>
            <a:off x="7406640" y="5486400"/>
            <a:ext cx="2148840" cy="411480"/>
          </a:xfrm>
          <a:prstGeom prst="rect">
            <a:avLst/>
          </a:prstGeom>
          <a:noFill/>
          <a:ln/>
        </p:spPr>
        <p:txBody>
          <a:bodyPr wrap="square" lIns="0" tIns="0" rIns="0" bIns="0" rtlCol="0" anchor="t"/>
          <a:lstStyle/>
          <a:p>
            <a:pPr indent="0" marL="0">
              <a:buNone/>
            </a:pPr>
            <a:r>
              <a:rPr lang="en-US" sz="2200" b="1" dirty="0">
                <a:solidFill>
                  <a:srgbClr val="FFFFFF"/>
                </a:solidFill>
                <a:latin typeface="Helvetica Neue" pitchFamily="34" charset="0"/>
                <a:ea typeface="Helvetica Neue" pitchFamily="34" charset="-122"/>
                <a:cs typeface="Helvetica Neue" pitchFamily="34" charset="-120"/>
              </a:rPr>
              <a:t>1 / second</a:t>
            </a:r>
            <a:endParaRPr lang="en-US" sz="2200" dirty="0"/>
          </a:p>
        </p:txBody>
      </p:sp>
      <p:sp>
        <p:nvSpPr>
          <p:cNvPr id="15" name="Text 11"/>
          <p:cNvSpPr txBox="1"/>
          <p:nvPr/>
        </p:nvSpPr>
        <p:spPr>
          <a:xfrm>
            <a:off x="7406640" y="5916168"/>
            <a:ext cx="2148840" cy="274320"/>
          </a:xfrm>
          <a:prstGeom prst="rect">
            <a:avLst/>
          </a:prstGeom>
          <a:noFill/>
          <a:ln/>
        </p:spPr>
        <p:txBody>
          <a:bodyPr wrap="square" lIns="0" tIns="0" rIns="0" bIns="0" rtlCol="0" anchor="t"/>
          <a:lstStyle/>
          <a:p>
            <a:pPr indent="0" marL="0">
              <a:buNone/>
            </a:pPr>
            <a:r>
              <a:rPr lang="en-US" sz="1300" dirty="0">
                <a:solidFill>
                  <a:srgbClr val="86868B"/>
                </a:solidFill>
                <a:latin typeface="Helvetica Neue" pitchFamily="34" charset="0"/>
                <a:ea typeface="Helvetica Neue" pitchFamily="34" charset="-122"/>
                <a:cs typeface="Helvetica Neue" pitchFamily="34" charset="-120"/>
              </a:rPr>
              <a:t>SpO₂ + heart rate</a:t>
            </a:r>
            <a:endParaRPr lang="en-US" sz="1300" dirty="0"/>
          </a:p>
        </p:txBody>
      </p:sp>
      <p:sp>
        <p:nvSpPr>
          <p:cNvPr id="16" name="Shape 12"/>
          <p:cNvSpPr/>
          <p:nvPr/>
        </p:nvSpPr>
        <p:spPr>
          <a:xfrm>
            <a:off x="10552176" y="5367528"/>
            <a:ext cx="1014984" cy="1014984"/>
          </a:xfrm>
          <a:prstGeom prst="roundRect">
            <a:avLst>
              <a:gd name="adj" fmla="val 19820"/>
            </a:avLst>
          </a:prstGeom>
          <a:solidFill>
            <a:srgbClr val="FFFFFF"/>
          </a:solidFill>
          <a:ln/>
        </p:spPr>
      </p:sp>
      <p:pic>
        <p:nvPicPr>
          <p:cNvPr id="17" name="Image 2" descr="/home/user/teetomivV2/science-fair/night-signal/slides/assets/qr_3d.png">
            <a:hlinkClick r:id="rId5" tooltip="https://gabrielamamanestudent-wq.github.io/teetomivV2/science-fair/night-signal/app/3d.html"/>
          </p:cNvPr>
          <p:cNvPicPr>
            <a:picLocks noChangeAspect="1"/>
          </p:cNvPicPr>
          <p:nvPr/>
        </p:nvPicPr>
        <p:blipFill>
          <a:blip r:embed="rId4"/>
          <a:stretch>
            <a:fillRect/>
          </a:stretch>
        </p:blipFill>
        <p:spPr>
          <a:xfrm>
            <a:off x="10625328" y="5440680"/>
            <a:ext cx="868680" cy="868680"/>
          </a:xfrm>
          <a:prstGeom prst="rect">
            <a:avLst/>
          </a:prstGeom>
        </p:spPr>
      </p:pic>
      <p:sp>
        <p:nvSpPr>
          <p:cNvPr id="18" name="Text 13"/>
          <p:cNvSpPr txBox="1"/>
          <p:nvPr/>
        </p:nvSpPr>
        <p:spPr>
          <a:xfrm>
            <a:off x="9235440" y="5715000"/>
            <a:ext cx="1280160" cy="310896"/>
          </a:xfrm>
          <a:prstGeom prst="rect">
            <a:avLst/>
          </a:prstGeom>
          <a:noFill/>
          <a:ln/>
        </p:spPr>
        <p:txBody>
          <a:bodyPr wrap="square" lIns="0" tIns="0" rIns="0" bIns="0" rtlCol="0" anchor="ctr"/>
          <a:lstStyle/>
          <a:p>
            <a:pPr algn="r" indent="0" marL="0">
              <a:buNone/>
            </a:pPr>
            <a:r>
              <a:rPr lang="en-US" sz="1300" u="sng" dirty="0">
                <a:solidFill>
                  <a:srgbClr val="2997FF"/>
                </a:solidFill>
                <a:latin typeface="Helvetica Neue" pitchFamily="34" charset="0"/>
                <a:ea typeface="Helvetica Neue" pitchFamily="34" charset="-122"/>
                <a:cs typeface="Helvetica Neue" pitchFamily="34" charset="-120"/>
                <a:hlinkClick r:id="rId6" invalidUrl="" action="" tgtFrame="" tooltip="https://gabrielamamanestudent-wq.github.io/teetomivV2/science-fair/night-signal/app/3d.html" history="1" highlightClick="0" endSnd="0">
                  <a:extLst>
                    <a:ext uri="{A12FA001-AC4F-418D-AE19-62706E023703}">
                      <ahyp:hlinkClr xmlns:ahyp="http://schemas.microsoft.com/office/drawing/2018/hyperlinkcolor" val="tx"/>
                    </a:ext>
                  </a:extLst>
                </a:hlinkClick>
              </a:rPr>
              <a:t>Interactive 3D ›</a:t>
            </a:r>
            <a:endParaRPr lang="en-US" sz="1300" dirty="0"/>
          </a:p>
        </p:txBody>
      </p:sp>
      <p:sp>
        <p:nvSpPr>
          <p:cNvPr id="19" name="Text 14"/>
          <p:cNvSpPr txBox="1"/>
          <p:nvPr/>
        </p:nvSpPr>
        <p:spPr>
          <a:xfrm>
            <a:off x="685800" y="6473952"/>
            <a:ext cx="3657600" cy="228600"/>
          </a:xfrm>
          <a:prstGeom prst="rect">
            <a:avLst/>
          </a:prstGeom>
          <a:noFill/>
          <a:ln/>
        </p:spPr>
        <p:txBody>
          <a:bodyPr wrap="square" lIns="0" tIns="0" rIns="0" bIns="0" rtlCol="0" anchor="t"/>
          <a:lstStyle/>
          <a:p>
            <a:pPr indent="0" marL="0">
              <a:buNone/>
            </a:pPr>
            <a:r>
              <a:rPr lang="en-US" sz="950" b="1" dirty="0">
                <a:solidFill>
                  <a:srgbClr val="6E6E73"/>
                </a:solidFill>
                <a:latin typeface="Helvetica Neue" pitchFamily="34" charset="0"/>
                <a:ea typeface="Helvetica Neue" pitchFamily="34" charset="-122"/>
                <a:cs typeface="Helvetica Neue" pitchFamily="34" charset="-120"/>
              </a:rPr>
              <a:t>Night Signal</a:t>
            </a:r>
            <a:endParaRPr lang="en-US" sz="950" dirty="0"/>
          </a:p>
        </p:txBody>
      </p:sp>
      <p:sp>
        <p:nvSpPr>
          <p:cNvPr id="20" name="Text 15"/>
          <p:cNvSpPr txBox="1"/>
          <p:nvPr/>
        </p:nvSpPr>
        <p:spPr>
          <a:xfrm>
            <a:off x="10588752" y="6473952"/>
            <a:ext cx="914400" cy="228600"/>
          </a:xfrm>
          <a:prstGeom prst="rect">
            <a:avLst/>
          </a:prstGeom>
          <a:noFill/>
          <a:ln/>
        </p:spPr>
        <p:txBody>
          <a:bodyPr wrap="square" lIns="0" tIns="0" rIns="0" bIns="0" rtlCol="0" anchor="t"/>
          <a:lstStyle/>
          <a:p>
            <a:pPr algn="r" indent="0" marL="0">
              <a:buNone/>
            </a:pPr>
            <a:r>
              <a:rPr lang="en-US" sz="950" dirty="0">
                <a:solidFill>
                  <a:srgbClr val="6E6E73"/>
                </a:solidFill>
                <a:latin typeface="Helvetica Neue" pitchFamily="34" charset="0"/>
                <a:ea typeface="Helvetica Neue" pitchFamily="34" charset="-122"/>
                <a:cs typeface="Helvetica Neue"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320040"/>
          </a:xfrm>
          <a:prstGeom prst="rect">
            <a:avLst/>
          </a:prstGeom>
          <a:noFill/>
          <a:ln/>
        </p:spPr>
        <p:txBody>
          <a:bodyPr wrap="square" lIns="0" tIns="0" rIns="0" bIns="0" rtlCol="0" anchor="t"/>
          <a:lstStyle/>
          <a:p>
            <a:pPr indent="0" marL="0">
              <a:buNone/>
            </a:pPr>
            <a:r>
              <a:rPr lang="en-US" sz="1600" b="1" dirty="0">
                <a:solidFill>
                  <a:srgbClr val="E3254B"/>
                </a:solidFill>
                <a:latin typeface="Helvetica Neue" pitchFamily="34" charset="0"/>
                <a:ea typeface="Helvetica Neue" pitchFamily="34" charset="-122"/>
                <a:cs typeface="Helvetica Neue" pitchFamily="34" charset="-120"/>
              </a:rPr>
              <a:t>How it works</a:t>
            </a:r>
            <a:endParaRPr lang="en-US" sz="1600" dirty="0"/>
          </a:p>
        </p:txBody>
      </p:sp>
      <p:sp>
        <p:nvSpPr>
          <p:cNvPr id="3" name="Text 1"/>
          <p:cNvSpPr txBox="1"/>
          <p:nvPr/>
        </p:nvSpPr>
        <p:spPr>
          <a:xfrm>
            <a:off x="685800" y="841248"/>
            <a:ext cx="10789920" cy="868680"/>
          </a:xfrm>
          <a:prstGeom prst="rect">
            <a:avLst/>
          </a:prstGeom>
          <a:noFill/>
          <a:ln/>
        </p:spPr>
        <p:txBody>
          <a:bodyPr wrap="square" lIns="0" tIns="0" rIns="0" bIns="0" rtlCol="0" anchor="t"/>
          <a:lstStyle/>
          <a:p>
            <a:pPr indent="0" marL="0">
              <a:lnSpc>
                <a:spcPct val="92000"/>
              </a:lnSpc>
              <a:buNone/>
            </a:pPr>
            <a:r>
              <a:rPr lang="en-US" sz="4000" b="1" dirty="0">
                <a:solidFill>
                  <a:srgbClr val="1D1D1F"/>
                </a:solidFill>
                <a:latin typeface="Helvetica Neue" pitchFamily="34" charset="0"/>
                <a:ea typeface="Helvetica Neue" pitchFamily="34" charset="-122"/>
                <a:cs typeface="Helvetica Neue" pitchFamily="34" charset="-120"/>
              </a:rPr>
              <a:t>From fingertip to data file.</a:t>
            </a:r>
            <a:endParaRPr lang="en-US" sz="4000" dirty="0"/>
          </a:p>
        </p:txBody>
      </p:sp>
      <p:sp>
        <p:nvSpPr>
          <p:cNvPr id="4" name="Shape 2"/>
          <p:cNvSpPr/>
          <p:nvPr/>
        </p:nvSpPr>
        <p:spPr>
          <a:xfrm>
            <a:off x="685800" y="1920240"/>
            <a:ext cx="2542032" cy="1417320"/>
          </a:xfrm>
          <a:prstGeom prst="roundRect">
            <a:avLst>
              <a:gd name="adj" fmla="val 14194"/>
            </a:avLst>
          </a:prstGeom>
          <a:solidFill>
            <a:srgbClr val="F5F5F7"/>
          </a:solidFill>
          <a:ln/>
        </p:spPr>
      </p:sp>
      <p:sp>
        <p:nvSpPr>
          <p:cNvPr id="5" name="Text 3"/>
          <p:cNvSpPr txBox="1"/>
          <p:nvPr/>
        </p:nvSpPr>
        <p:spPr>
          <a:xfrm>
            <a:off x="941832" y="2103120"/>
            <a:ext cx="2103120" cy="274320"/>
          </a:xfrm>
          <a:prstGeom prst="rect">
            <a:avLst/>
          </a:prstGeom>
          <a:noFill/>
          <a:ln/>
        </p:spPr>
        <p:txBody>
          <a:bodyPr wrap="square" lIns="0" tIns="0" rIns="0" bIns="0" rtlCol="0" anchor="t"/>
          <a:lstStyle/>
          <a:p>
            <a:pPr indent="0" marL="0">
              <a:buNone/>
            </a:pPr>
            <a:r>
              <a:rPr lang="en-US" sz="1300" b="1" dirty="0">
                <a:solidFill>
                  <a:srgbClr val="0071E3"/>
                </a:solidFill>
                <a:latin typeface="Helvetica Neue" pitchFamily="34" charset="0"/>
                <a:ea typeface="Helvetica Neue" pitchFamily="34" charset="-122"/>
                <a:cs typeface="Helvetica Neue" pitchFamily="34" charset="-120"/>
              </a:rPr>
              <a:t>01</a:t>
            </a:r>
            <a:endParaRPr lang="en-US" sz="1300" dirty="0"/>
          </a:p>
        </p:txBody>
      </p:sp>
      <p:sp>
        <p:nvSpPr>
          <p:cNvPr id="6" name="Text 4"/>
          <p:cNvSpPr txBox="1"/>
          <p:nvPr/>
        </p:nvSpPr>
        <p:spPr>
          <a:xfrm>
            <a:off x="941832" y="2395728"/>
            <a:ext cx="2103120" cy="365760"/>
          </a:xfrm>
          <a:prstGeom prst="rect">
            <a:avLst/>
          </a:prstGeom>
          <a:noFill/>
          <a:ln/>
        </p:spPr>
        <p:txBody>
          <a:bodyPr wrap="square" lIns="0" tIns="0" rIns="0" bIns="0" rtlCol="0" anchor="t"/>
          <a:lstStyle/>
          <a:p>
            <a:pPr indent="0" marL="0">
              <a:buNone/>
            </a:pPr>
            <a:r>
              <a:rPr lang="en-US" sz="1700" b="1" dirty="0">
                <a:solidFill>
                  <a:srgbClr val="1D1D1F"/>
                </a:solidFill>
                <a:latin typeface="Helvetica Neue" pitchFamily="34" charset="0"/>
                <a:ea typeface="Helvetica Neue" pitchFamily="34" charset="-122"/>
                <a:cs typeface="Helvetica Neue" pitchFamily="34" charset="-120"/>
              </a:rPr>
              <a:t>Finger sensor</a:t>
            </a:r>
            <a:endParaRPr lang="en-US" sz="1700" dirty="0"/>
          </a:p>
        </p:txBody>
      </p:sp>
      <p:sp>
        <p:nvSpPr>
          <p:cNvPr id="7" name="Text 5"/>
          <p:cNvSpPr txBox="1"/>
          <p:nvPr/>
        </p:nvSpPr>
        <p:spPr>
          <a:xfrm>
            <a:off x="941832" y="2770632"/>
            <a:ext cx="2103120" cy="502920"/>
          </a:xfrm>
          <a:prstGeom prst="rect">
            <a:avLst/>
          </a:prstGeom>
          <a:noFill/>
          <a:ln/>
        </p:spPr>
        <p:txBody>
          <a:bodyPr wrap="square" lIns="0" tIns="0" rIns="0" bIns="0" rtlCol="0" anchor="t"/>
          <a:lstStyle/>
          <a:p>
            <a:pPr indent="0" marL="0">
              <a:buNone/>
            </a:pPr>
            <a:r>
              <a:rPr lang="en-US" sz="1250" dirty="0">
                <a:solidFill>
                  <a:srgbClr val="6E6E73"/>
                </a:solidFill>
                <a:latin typeface="Helvetica Neue" pitchFamily="34" charset="0"/>
                <a:ea typeface="Helvetica Neue" pitchFamily="34" charset="-122"/>
                <a:cs typeface="Helvetica Neue" pitchFamily="34" charset="-120"/>
              </a:rPr>
              <a:t>MAX30102 · red + infrared light</a:t>
            </a:r>
            <a:endParaRPr lang="en-US" sz="1250" dirty="0"/>
          </a:p>
        </p:txBody>
      </p:sp>
      <p:sp>
        <p:nvSpPr>
          <p:cNvPr id="8" name="Shape 6"/>
          <p:cNvSpPr/>
          <p:nvPr/>
        </p:nvSpPr>
        <p:spPr>
          <a:xfrm>
            <a:off x="3429000" y="1920240"/>
            <a:ext cx="2542032" cy="1417320"/>
          </a:xfrm>
          <a:prstGeom prst="roundRect">
            <a:avLst>
              <a:gd name="adj" fmla="val 14194"/>
            </a:avLst>
          </a:prstGeom>
          <a:solidFill>
            <a:srgbClr val="F5F5F7"/>
          </a:solidFill>
          <a:ln/>
        </p:spPr>
      </p:sp>
      <p:sp>
        <p:nvSpPr>
          <p:cNvPr id="9" name="Text 7"/>
          <p:cNvSpPr txBox="1"/>
          <p:nvPr/>
        </p:nvSpPr>
        <p:spPr>
          <a:xfrm>
            <a:off x="3685032" y="2103120"/>
            <a:ext cx="2103120" cy="274320"/>
          </a:xfrm>
          <a:prstGeom prst="rect">
            <a:avLst/>
          </a:prstGeom>
          <a:noFill/>
          <a:ln/>
        </p:spPr>
        <p:txBody>
          <a:bodyPr wrap="square" lIns="0" tIns="0" rIns="0" bIns="0" rtlCol="0" anchor="t"/>
          <a:lstStyle/>
          <a:p>
            <a:pPr indent="0" marL="0">
              <a:buNone/>
            </a:pPr>
            <a:r>
              <a:rPr lang="en-US" sz="1300" b="1" dirty="0">
                <a:solidFill>
                  <a:srgbClr val="0071E3"/>
                </a:solidFill>
                <a:latin typeface="Helvetica Neue" pitchFamily="34" charset="0"/>
                <a:ea typeface="Helvetica Neue" pitchFamily="34" charset="-122"/>
                <a:cs typeface="Helvetica Neue" pitchFamily="34" charset="-120"/>
              </a:rPr>
              <a:t>02</a:t>
            </a:r>
            <a:endParaRPr lang="en-US" sz="1300" dirty="0"/>
          </a:p>
        </p:txBody>
      </p:sp>
      <p:sp>
        <p:nvSpPr>
          <p:cNvPr id="10" name="Text 8"/>
          <p:cNvSpPr txBox="1"/>
          <p:nvPr/>
        </p:nvSpPr>
        <p:spPr>
          <a:xfrm>
            <a:off x="3685032" y="2395728"/>
            <a:ext cx="2103120" cy="365760"/>
          </a:xfrm>
          <a:prstGeom prst="rect">
            <a:avLst/>
          </a:prstGeom>
          <a:noFill/>
          <a:ln/>
        </p:spPr>
        <p:txBody>
          <a:bodyPr wrap="square" lIns="0" tIns="0" rIns="0" bIns="0" rtlCol="0" anchor="t"/>
          <a:lstStyle/>
          <a:p>
            <a:pPr indent="0" marL="0">
              <a:buNone/>
            </a:pPr>
            <a:r>
              <a:rPr lang="en-US" sz="1700" b="1" dirty="0">
                <a:solidFill>
                  <a:srgbClr val="1D1D1F"/>
                </a:solidFill>
                <a:latin typeface="Helvetica Neue" pitchFamily="34" charset="0"/>
                <a:ea typeface="Helvetica Neue" pitchFamily="34" charset="-122"/>
                <a:cs typeface="Helvetica Neue" pitchFamily="34" charset="-120"/>
              </a:rPr>
              <a:t>ESP32 on the arm</a:t>
            </a:r>
            <a:endParaRPr lang="en-US" sz="1700" dirty="0"/>
          </a:p>
        </p:txBody>
      </p:sp>
      <p:sp>
        <p:nvSpPr>
          <p:cNvPr id="11" name="Text 9"/>
          <p:cNvSpPr txBox="1"/>
          <p:nvPr/>
        </p:nvSpPr>
        <p:spPr>
          <a:xfrm>
            <a:off x="3685032" y="2770632"/>
            <a:ext cx="2103120" cy="502920"/>
          </a:xfrm>
          <a:prstGeom prst="rect">
            <a:avLst/>
          </a:prstGeom>
          <a:noFill/>
          <a:ln/>
        </p:spPr>
        <p:txBody>
          <a:bodyPr wrap="square" lIns="0" tIns="0" rIns="0" bIns="0" rtlCol="0" anchor="t"/>
          <a:lstStyle/>
          <a:p>
            <a:pPr indent="0" marL="0">
              <a:buNone/>
            </a:pPr>
            <a:r>
              <a:rPr lang="en-US" sz="1250" dirty="0">
                <a:solidFill>
                  <a:srgbClr val="6E6E73"/>
                </a:solidFill>
                <a:latin typeface="Helvetica Neue" pitchFamily="34" charset="0"/>
                <a:ea typeface="Helvetica Neue" pitchFamily="34" charset="-122"/>
                <a:cs typeface="Helvetica Neue" pitchFamily="34" charset="-120"/>
              </a:rPr>
              <a:t>computes SpO₂ and pulse once per second</a:t>
            </a:r>
            <a:endParaRPr lang="en-US" sz="1250" dirty="0"/>
          </a:p>
        </p:txBody>
      </p:sp>
      <p:sp>
        <p:nvSpPr>
          <p:cNvPr id="12" name="Shape 10"/>
          <p:cNvSpPr/>
          <p:nvPr/>
        </p:nvSpPr>
        <p:spPr>
          <a:xfrm>
            <a:off x="6172200" y="1920240"/>
            <a:ext cx="2542032" cy="1417320"/>
          </a:xfrm>
          <a:prstGeom prst="roundRect">
            <a:avLst>
              <a:gd name="adj" fmla="val 14194"/>
            </a:avLst>
          </a:prstGeom>
          <a:solidFill>
            <a:srgbClr val="F5F5F7"/>
          </a:solidFill>
          <a:ln/>
        </p:spPr>
      </p:sp>
      <p:sp>
        <p:nvSpPr>
          <p:cNvPr id="13" name="Text 11"/>
          <p:cNvSpPr txBox="1"/>
          <p:nvPr/>
        </p:nvSpPr>
        <p:spPr>
          <a:xfrm>
            <a:off x="6428232" y="2103120"/>
            <a:ext cx="2103120" cy="274320"/>
          </a:xfrm>
          <a:prstGeom prst="rect">
            <a:avLst/>
          </a:prstGeom>
          <a:noFill/>
          <a:ln/>
        </p:spPr>
        <p:txBody>
          <a:bodyPr wrap="square" lIns="0" tIns="0" rIns="0" bIns="0" rtlCol="0" anchor="t"/>
          <a:lstStyle/>
          <a:p>
            <a:pPr indent="0" marL="0">
              <a:buNone/>
            </a:pPr>
            <a:r>
              <a:rPr lang="en-US" sz="1300" b="1" dirty="0">
                <a:solidFill>
                  <a:srgbClr val="0071E3"/>
                </a:solidFill>
                <a:latin typeface="Helvetica Neue" pitchFamily="34" charset="0"/>
                <a:ea typeface="Helvetica Neue" pitchFamily="34" charset="-122"/>
                <a:cs typeface="Helvetica Neue" pitchFamily="34" charset="-120"/>
              </a:rPr>
              <a:t>03</a:t>
            </a:r>
            <a:endParaRPr lang="en-US" sz="1300" dirty="0"/>
          </a:p>
        </p:txBody>
      </p:sp>
      <p:sp>
        <p:nvSpPr>
          <p:cNvPr id="14" name="Text 12"/>
          <p:cNvSpPr txBox="1"/>
          <p:nvPr/>
        </p:nvSpPr>
        <p:spPr>
          <a:xfrm>
            <a:off x="6428232" y="2395728"/>
            <a:ext cx="2103120" cy="365760"/>
          </a:xfrm>
          <a:prstGeom prst="rect">
            <a:avLst/>
          </a:prstGeom>
          <a:noFill/>
          <a:ln/>
        </p:spPr>
        <p:txBody>
          <a:bodyPr wrap="square" lIns="0" tIns="0" rIns="0" bIns="0" rtlCol="0" anchor="t"/>
          <a:lstStyle/>
          <a:p>
            <a:pPr indent="0" marL="0">
              <a:buNone/>
            </a:pPr>
            <a:r>
              <a:rPr lang="en-US" sz="1700" b="1" dirty="0">
                <a:solidFill>
                  <a:srgbClr val="1D1D1F"/>
                </a:solidFill>
                <a:latin typeface="Helvetica Neue" pitchFamily="34" charset="0"/>
                <a:ea typeface="Helvetica Neue" pitchFamily="34" charset="-122"/>
                <a:cs typeface="Helvetica Neue" pitchFamily="34" charset="-120"/>
              </a:rPr>
              <a:t>Bluetooth or USB</a:t>
            </a:r>
            <a:endParaRPr lang="en-US" sz="1700" dirty="0"/>
          </a:p>
        </p:txBody>
      </p:sp>
      <p:sp>
        <p:nvSpPr>
          <p:cNvPr id="15" name="Text 13"/>
          <p:cNvSpPr txBox="1"/>
          <p:nvPr/>
        </p:nvSpPr>
        <p:spPr>
          <a:xfrm>
            <a:off x="6428232" y="2770632"/>
            <a:ext cx="2103120" cy="502920"/>
          </a:xfrm>
          <a:prstGeom prst="rect">
            <a:avLst/>
          </a:prstGeom>
          <a:noFill/>
          <a:ln/>
        </p:spPr>
        <p:txBody>
          <a:bodyPr wrap="square" lIns="0" tIns="0" rIns="0" bIns="0" rtlCol="0" anchor="t"/>
          <a:lstStyle/>
          <a:p>
            <a:pPr indent="0" marL="0">
              <a:buNone/>
            </a:pPr>
            <a:r>
              <a:rPr lang="en-US" sz="1250" dirty="0">
                <a:solidFill>
                  <a:srgbClr val="6E6E73"/>
                </a:solidFill>
                <a:latin typeface="Helvetica Neue" pitchFamily="34" charset="0"/>
                <a:ea typeface="Helvetica Neue" pitchFamily="34" charset="-122"/>
                <a:cs typeface="Helvetica Neue" pitchFamily="34" charset="-120"/>
              </a:rPr>
              <a:t>one line of data every second</a:t>
            </a:r>
            <a:endParaRPr lang="en-US" sz="1250" dirty="0"/>
          </a:p>
        </p:txBody>
      </p:sp>
      <p:sp>
        <p:nvSpPr>
          <p:cNvPr id="16" name="Shape 14"/>
          <p:cNvSpPr/>
          <p:nvPr/>
        </p:nvSpPr>
        <p:spPr>
          <a:xfrm>
            <a:off x="8915400" y="1920240"/>
            <a:ext cx="2542032" cy="1417320"/>
          </a:xfrm>
          <a:prstGeom prst="roundRect">
            <a:avLst>
              <a:gd name="adj" fmla="val 14194"/>
            </a:avLst>
          </a:prstGeom>
          <a:solidFill>
            <a:srgbClr val="F5F5F7"/>
          </a:solidFill>
          <a:ln/>
        </p:spPr>
      </p:sp>
      <p:sp>
        <p:nvSpPr>
          <p:cNvPr id="17" name="Text 15"/>
          <p:cNvSpPr txBox="1"/>
          <p:nvPr/>
        </p:nvSpPr>
        <p:spPr>
          <a:xfrm>
            <a:off x="9171432" y="2103120"/>
            <a:ext cx="2103120" cy="274320"/>
          </a:xfrm>
          <a:prstGeom prst="rect">
            <a:avLst/>
          </a:prstGeom>
          <a:noFill/>
          <a:ln/>
        </p:spPr>
        <p:txBody>
          <a:bodyPr wrap="square" lIns="0" tIns="0" rIns="0" bIns="0" rtlCol="0" anchor="t"/>
          <a:lstStyle/>
          <a:p>
            <a:pPr indent="0" marL="0">
              <a:buNone/>
            </a:pPr>
            <a:r>
              <a:rPr lang="en-US" sz="1300" b="1" dirty="0">
                <a:solidFill>
                  <a:srgbClr val="0071E3"/>
                </a:solidFill>
                <a:latin typeface="Helvetica Neue" pitchFamily="34" charset="0"/>
                <a:ea typeface="Helvetica Neue" pitchFamily="34" charset="-122"/>
                <a:cs typeface="Helvetica Neue" pitchFamily="34" charset="-120"/>
              </a:rPr>
              <a:t>04</a:t>
            </a:r>
            <a:endParaRPr lang="en-US" sz="1300" dirty="0"/>
          </a:p>
        </p:txBody>
      </p:sp>
      <p:sp>
        <p:nvSpPr>
          <p:cNvPr id="18" name="Text 16"/>
          <p:cNvSpPr txBox="1"/>
          <p:nvPr/>
        </p:nvSpPr>
        <p:spPr>
          <a:xfrm>
            <a:off x="9171432" y="2395728"/>
            <a:ext cx="2103120" cy="365760"/>
          </a:xfrm>
          <a:prstGeom prst="rect">
            <a:avLst/>
          </a:prstGeom>
          <a:noFill/>
          <a:ln/>
        </p:spPr>
        <p:txBody>
          <a:bodyPr wrap="square" lIns="0" tIns="0" rIns="0" bIns="0" rtlCol="0" anchor="t"/>
          <a:lstStyle/>
          <a:p>
            <a:pPr indent="0" marL="0">
              <a:buNone/>
            </a:pPr>
            <a:r>
              <a:rPr lang="en-US" sz="1700" b="1" dirty="0">
                <a:solidFill>
                  <a:srgbClr val="1D1D1F"/>
                </a:solidFill>
                <a:latin typeface="Helvetica Neue" pitchFamily="34" charset="0"/>
                <a:ea typeface="Helvetica Neue" pitchFamily="34" charset="-122"/>
                <a:cs typeface="Helvetica Neue" pitchFamily="34" charset="-120"/>
              </a:rPr>
              <a:t>App + analysis</a:t>
            </a:r>
            <a:endParaRPr lang="en-US" sz="1700" dirty="0"/>
          </a:p>
        </p:txBody>
      </p:sp>
      <p:sp>
        <p:nvSpPr>
          <p:cNvPr id="19" name="Text 17"/>
          <p:cNvSpPr txBox="1"/>
          <p:nvPr/>
        </p:nvSpPr>
        <p:spPr>
          <a:xfrm>
            <a:off x="9171432" y="2770632"/>
            <a:ext cx="2103120" cy="502920"/>
          </a:xfrm>
          <a:prstGeom prst="rect">
            <a:avLst/>
          </a:prstGeom>
          <a:noFill/>
          <a:ln/>
        </p:spPr>
        <p:txBody>
          <a:bodyPr wrap="square" lIns="0" tIns="0" rIns="0" bIns="0" rtlCol="0" anchor="t"/>
          <a:lstStyle/>
          <a:p>
            <a:pPr indent="0" marL="0">
              <a:buNone/>
            </a:pPr>
            <a:r>
              <a:rPr lang="en-US" sz="1250" dirty="0">
                <a:solidFill>
                  <a:srgbClr val="6E6E73"/>
                </a:solidFill>
                <a:latin typeface="Helvetica Neue" pitchFamily="34" charset="0"/>
                <a:ea typeface="Helvetica Neue" pitchFamily="34" charset="-122"/>
                <a:cs typeface="Helvetica Neue" pitchFamily="34" charset="-120"/>
              </a:rPr>
              <a:t>signal quality, desaturation events, agreement</a:t>
            </a:r>
            <a:endParaRPr lang="en-US" sz="1250" dirty="0"/>
          </a:p>
        </p:txBody>
      </p:sp>
      <p:sp>
        <p:nvSpPr>
          <p:cNvPr id="20" name="Text 18"/>
          <p:cNvSpPr txBox="1"/>
          <p:nvPr/>
        </p:nvSpPr>
        <p:spPr>
          <a:xfrm>
            <a:off x="685800" y="3657600"/>
            <a:ext cx="10789920" cy="365760"/>
          </a:xfrm>
          <a:prstGeom prst="rect">
            <a:avLst/>
          </a:prstGeom>
          <a:noFill/>
          <a:ln/>
        </p:spPr>
        <p:txBody>
          <a:bodyPr wrap="square" lIns="0" tIns="0" rIns="0" bIns="0" rtlCol="0" anchor="t"/>
          <a:lstStyle/>
          <a:p>
            <a:pPr indent="0" marL="0">
              <a:buNone/>
            </a:pPr>
            <a:r>
              <a:rPr lang="en-US" sz="1700" b="1" dirty="0">
                <a:solidFill>
                  <a:srgbClr val="1D1D1F"/>
                </a:solidFill>
                <a:latin typeface="Helvetica Neue" pitchFamily="34" charset="0"/>
                <a:ea typeface="Helvetica Neue" pitchFamily="34" charset="-122"/>
                <a:cs typeface="Helvetica Neue" pitchFamily="34" charset="-120"/>
              </a:rPr>
              <a:t>A device check runs before every session (tested so far on a simulated device).</a:t>
            </a:r>
            <a:endParaRPr lang="en-US" sz="1700" dirty="0"/>
          </a:p>
        </p:txBody>
      </p:sp>
      <p:sp>
        <p:nvSpPr>
          <p:cNvPr id="21" name="Shape 19"/>
          <p:cNvSpPr/>
          <p:nvPr/>
        </p:nvSpPr>
        <p:spPr>
          <a:xfrm>
            <a:off x="685800" y="4133088"/>
            <a:ext cx="6400800" cy="2194560"/>
          </a:xfrm>
          <a:prstGeom prst="roundRect">
            <a:avLst>
              <a:gd name="adj" fmla="val 9167"/>
            </a:avLst>
          </a:prstGeom>
          <a:solidFill>
            <a:srgbClr val="000000"/>
          </a:solidFill>
          <a:ln/>
        </p:spPr>
      </p:sp>
      <p:sp>
        <p:nvSpPr>
          <p:cNvPr id="22" name="Text 20"/>
          <p:cNvSpPr txBox="1"/>
          <p:nvPr/>
        </p:nvSpPr>
        <p:spPr>
          <a:xfrm>
            <a:off x="960120" y="4315968"/>
            <a:ext cx="5943600" cy="1920240"/>
          </a:xfrm>
          <a:prstGeom prst="rect">
            <a:avLst/>
          </a:prstGeom>
          <a:noFill/>
          <a:ln/>
        </p:spPr>
        <p:txBody>
          <a:bodyPr wrap="square" lIns="0" tIns="0" rIns="0" bIns="0" rtlCol="0" anchor="t"/>
          <a:lstStyle/>
          <a:p>
            <a:pPr indent="0" marL="0">
              <a:spcAft>
                <a:spcPts val="300"/>
              </a:spcAft>
              <a:buNone/>
            </a:pPr>
            <a:r>
              <a:rPr lang="en-US" sz="1250" dirty="0">
                <a:solidFill>
                  <a:srgbClr val="86868B"/>
                </a:solidFill>
                <a:latin typeface="Menlo" pitchFamily="34" charset="0"/>
                <a:ea typeface="Menlo" pitchFamily="34" charset="-122"/>
                <a:cs typeface="Menlo" pitchFamily="34" charset="-120"/>
              </a:rPr>
              <a:t>$ python check_device.py --port /dev/pts/3   (simulated device)</a:t>
            </a:r>
            <a:endParaRPr lang="en-US" sz="1250" dirty="0"/>
          </a:p>
          <a:p>
            <a:pPr indent="0" marL="0">
              <a:spcAft>
                <a:spcPts val="300"/>
              </a:spcAft>
              <a:buNone/>
            </a:pPr>
            <a:r>
              <a:rPr lang="en-US" sz="1250" dirty="0">
                <a:solidFill>
                  <a:srgbClr val="30D158"/>
                </a:solidFill>
                <a:latin typeface="Menlo" pitchFamily="34" charset="0"/>
                <a:ea typeface="Menlo" pitchFamily="34" charset="-122"/>
                <a:cs typeface="Menlo" pitchFamily="34" charset="-120"/>
              </a:rPr>
              <a:t>[PASS] Data arriving        1 reading/s</a:t>
            </a:r>
            <a:endParaRPr lang="en-US" sz="1250" dirty="0"/>
          </a:p>
          <a:p>
            <a:pPr indent="0" marL="0">
              <a:spcAft>
                <a:spcPts val="300"/>
              </a:spcAft>
              <a:buNone/>
            </a:pPr>
            <a:r>
              <a:rPr lang="en-US" sz="1250" dirty="0">
                <a:solidFill>
                  <a:srgbClr val="30D158"/>
                </a:solidFill>
                <a:latin typeface="Menlo" pitchFamily="34" charset="0"/>
                <a:ea typeface="Menlo" pitchFamily="34" charset="-122"/>
                <a:cs typeface="Menlo" pitchFamily="34" charset="-120"/>
              </a:rPr>
              <a:t>[PASS] Self-test            oxygen OK · motion OK</a:t>
            </a:r>
            <a:endParaRPr lang="en-US" sz="1250" dirty="0"/>
          </a:p>
          <a:p>
            <a:pPr indent="0" marL="0">
              <a:spcAft>
                <a:spcPts val="300"/>
              </a:spcAft>
              <a:buNone/>
            </a:pPr>
            <a:r>
              <a:rPr lang="en-US" sz="1250" dirty="0">
                <a:solidFill>
                  <a:srgbClr val="30D158"/>
                </a:solidFill>
                <a:latin typeface="Menlo" pitchFamily="34" charset="0"/>
                <a:ea typeface="Menlo" pitchFamily="34" charset="-122"/>
                <a:cs typeface="Menlo" pitchFamily="34" charset="-120"/>
              </a:rPr>
              <a:t>[PASS] Finger on sensor     100%</a:t>
            </a:r>
            <a:endParaRPr lang="en-US" sz="1250" dirty="0"/>
          </a:p>
          <a:p>
            <a:pPr indent="0" marL="0">
              <a:spcAft>
                <a:spcPts val="300"/>
              </a:spcAft>
              <a:buNone/>
            </a:pPr>
            <a:r>
              <a:rPr lang="en-US" sz="1250" dirty="0">
                <a:solidFill>
                  <a:srgbClr val="30D158"/>
                </a:solidFill>
                <a:latin typeface="Menlo" pitchFamily="34" charset="0"/>
                <a:ea typeface="Menlo" pitchFamily="34" charset="-122"/>
                <a:cs typeface="Menlo" pitchFamily="34" charset="-120"/>
              </a:rPr>
              <a:t>[PASS] Believable values    SpO2 97–98%, HR 60–64</a:t>
            </a:r>
            <a:endParaRPr lang="en-US" sz="1250" dirty="0"/>
          </a:p>
          <a:p>
            <a:pPr indent="0" marL="0">
              <a:spcAft>
                <a:spcPts val="300"/>
              </a:spcAft>
              <a:buNone/>
            </a:pPr>
            <a:r>
              <a:rPr lang="en-US" sz="1250" b="1" dirty="0">
                <a:solidFill>
                  <a:srgbClr val="FFFFFF"/>
                </a:solidFill>
                <a:latin typeface="Menlo" pitchFamily="34" charset="0"/>
                <a:ea typeface="Menlo" pitchFamily="34" charset="-122"/>
                <a:cs typeface="Menlo" pitchFamily="34" charset="-120"/>
              </a:rPr>
              <a:t>RESULT: READY</a:t>
            </a:r>
            <a:endParaRPr lang="en-US" sz="1250" dirty="0"/>
          </a:p>
        </p:txBody>
      </p:sp>
      <p:sp>
        <p:nvSpPr>
          <p:cNvPr id="23" name="Shape 21"/>
          <p:cNvSpPr/>
          <p:nvPr/>
        </p:nvSpPr>
        <p:spPr>
          <a:xfrm>
            <a:off x="7452360" y="4303852"/>
            <a:ext cx="73152" cy="73152"/>
          </a:xfrm>
          <a:prstGeom prst="ellipse">
            <a:avLst/>
          </a:prstGeom>
          <a:solidFill>
            <a:srgbClr val="A1A1A6"/>
          </a:solidFill>
          <a:ln/>
        </p:spPr>
      </p:sp>
      <p:sp>
        <p:nvSpPr>
          <p:cNvPr id="24" name="Text 22"/>
          <p:cNvSpPr txBox="1"/>
          <p:nvPr/>
        </p:nvSpPr>
        <p:spPr>
          <a:xfrm>
            <a:off x="7680960" y="4206240"/>
            <a:ext cx="3840480" cy="537972"/>
          </a:xfrm>
          <a:prstGeom prst="rect">
            <a:avLst/>
          </a:prstGeom>
          <a:noFill/>
          <a:ln/>
        </p:spPr>
        <p:txBody>
          <a:bodyPr wrap="square" lIns="0" tIns="0" rIns="0" bIns="0" rtlCol="0" anchor="t"/>
          <a:lstStyle/>
          <a:p>
            <a:pPr indent="0" marL="0">
              <a:buNone/>
            </a:pPr>
            <a:r>
              <a:rPr lang="en-US" sz="1500" dirty="0">
                <a:solidFill>
                  <a:srgbClr val="1D1D1F"/>
                </a:solidFill>
                <a:latin typeface="Helvetica Neue" pitchFamily="34" charset="0"/>
                <a:ea typeface="Helvetica Neue" pitchFamily="34" charset="-122"/>
                <a:cs typeface="Helvetica Neue" pitchFamily="34" charset="-120"/>
              </a:rPr>
              <a:t>Firmware re-checks both sensors every 30 s.</a:t>
            </a:r>
            <a:endParaRPr lang="en-US" sz="1500" dirty="0"/>
          </a:p>
        </p:txBody>
      </p:sp>
      <p:sp>
        <p:nvSpPr>
          <p:cNvPr id="25" name="Shape 23"/>
          <p:cNvSpPr/>
          <p:nvPr/>
        </p:nvSpPr>
        <p:spPr>
          <a:xfrm>
            <a:off x="7452360" y="4914976"/>
            <a:ext cx="73152" cy="73152"/>
          </a:xfrm>
          <a:prstGeom prst="ellipse">
            <a:avLst/>
          </a:prstGeom>
          <a:solidFill>
            <a:srgbClr val="A1A1A6"/>
          </a:solidFill>
          <a:ln/>
        </p:spPr>
      </p:sp>
      <p:sp>
        <p:nvSpPr>
          <p:cNvPr id="26" name="Text 24"/>
          <p:cNvSpPr txBox="1"/>
          <p:nvPr/>
        </p:nvSpPr>
        <p:spPr>
          <a:xfrm>
            <a:off x="7680960" y="4817364"/>
            <a:ext cx="3840480" cy="537972"/>
          </a:xfrm>
          <a:prstGeom prst="rect">
            <a:avLst/>
          </a:prstGeom>
          <a:noFill/>
          <a:ln/>
        </p:spPr>
        <p:txBody>
          <a:bodyPr wrap="square" lIns="0" tIns="0" rIns="0" bIns="0" rtlCol="0" anchor="t"/>
          <a:lstStyle/>
          <a:p>
            <a:pPr indent="0" marL="0">
              <a:buNone/>
            </a:pPr>
            <a:r>
              <a:rPr lang="en-US" sz="1500" dirty="0">
                <a:solidFill>
                  <a:srgbClr val="1D1D1F"/>
                </a:solidFill>
                <a:latin typeface="Helvetica Neue" pitchFamily="34" charset="0"/>
                <a:ea typeface="Helvetica Neue" pitchFamily="34" charset="-122"/>
                <a:cs typeface="Helvetica Neue" pitchFamily="34" charset="-120"/>
              </a:rPr>
              <a:t>No finger: readings are marked invalid and excluded.</a:t>
            </a:r>
            <a:endParaRPr lang="en-US" sz="1500" dirty="0"/>
          </a:p>
        </p:txBody>
      </p:sp>
      <p:sp>
        <p:nvSpPr>
          <p:cNvPr id="27" name="Shape 25"/>
          <p:cNvSpPr/>
          <p:nvPr/>
        </p:nvSpPr>
        <p:spPr>
          <a:xfrm>
            <a:off x="7452360" y="5526100"/>
            <a:ext cx="73152" cy="73152"/>
          </a:xfrm>
          <a:prstGeom prst="ellipse">
            <a:avLst/>
          </a:prstGeom>
          <a:solidFill>
            <a:srgbClr val="A1A1A6"/>
          </a:solidFill>
          <a:ln/>
        </p:spPr>
      </p:sp>
      <p:sp>
        <p:nvSpPr>
          <p:cNvPr id="28" name="Text 26"/>
          <p:cNvSpPr txBox="1"/>
          <p:nvPr/>
        </p:nvSpPr>
        <p:spPr>
          <a:xfrm>
            <a:off x="7680960" y="5428488"/>
            <a:ext cx="3840480" cy="537972"/>
          </a:xfrm>
          <a:prstGeom prst="rect">
            <a:avLst/>
          </a:prstGeom>
          <a:noFill/>
          <a:ln/>
        </p:spPr>
        <p:txBody>
          <a:bodyPr wrap="square" lIns="0" tIns="0" rIns="0" bIns="0" rtlCol="0" anchor="t"/>
          <a:lstStyle/>
          <a:p>
            <a:pPr indent="0" marL="0">
              <a:buNone/>
            </a:pPr>
            <a:r>
              <a:rPr lang="en-US" sz="1500" dirty="0">
                <a:solidFill>
                  <a:srgbClr val="1D1D1F"/>
                </a:solidFill>
                <a:latin typeface="Helvetica Neue" pitchFamily="34" charset="0"/>
                <a:ea typeface="Helvetica Neue" pitchFamily="34" charset="-122"/>
                <a:cs typeface="Helvetica Neue" pitchFamily="34" charset="-120"/>
              </a:rPr>
              <a:t>A broken sensor gives “NOT READY” (checked with the simulated device).</a:t>
            </a:r>
            <a:endParaRPr lang="en-US" sz="1500" dirty="0"/>
          </a:p>
        </p:txBody>
      </p:sp>
      <p:sp>
        <p:nvSpPr>
          <p:cNvPr id="29" name="Shape 27"/>
          <p:cNvSpPr/>
          <p:nvPr/>
        </p:nvSpPr>
        <p:spPr>
          <a:xfrm>
            <a:off x="7452360" y="6137224"/>
            <a:ext cx="73152" cy="73152"/>
          </a:xfrm>
          <a:prstGeom prst="ellipse">
            <a:avLst/>
          </a:prstGeom>
          <a:solidFill>
            <a:srgbClr val="A1A1A6"/>
          </a:solidFill>
          <a:ln/>
        </p:spPr>
      </p:sp>
      <p:sp>
        <p:nvSpPr>
          <p:cNvPr id="30" name="Text 28"/>
          <p:cNvSpPr txBox="1"/>
          <p:nvPr/>
        </p:nvSpPr>
        <p:spPr>
          <a:xfrm>
            <a:off x="7680960" y="6039612"/>
            <a:ext cx="3840480" cy="305562"/>
          </a:xfrm>
          <a:prstGeom prst="rect">
            <a:avLst/>
          </a:prstGeom>
          <a:noFill/>
          <a:ln/>
        </p:spPr>
        <p:txBody>
          <a:bodyPr wrap="square" lIns="0" tIns="0" rIns="0" bIns="0" rtlCol="0" anchor="t"/>
          <a:lstStyle/>
          <a:p>
            <a:pPr indent="0" marL="0">
              <a:buNone/>
            </a:pPr>
            <a:r>
              <a:rPr lang="en-US" sz="1500" dirty="0">
                <a:solidFill>
                  <a:srgbClr val="1D1D1F"/>
                </a:solidFill>
                <a:latin typeface="Helvetica Neue" pitchFamily="34" charset="0"/>
                <a:ea typeface="Helvetica Neue" pitchFamily="34" charset="-122"/>
                <a:cs typeface="Helvetica Neue" pitchFamily="34" charset="-120"/>
              </a:rPr>
              <a:t>Real hardware has not been tested yet.</a:t>
            </a:r>
            <a:endParaRPr lang="en-US" sz="1500" dirty="0"/>
          </a:p>
        </p:txBody>
      </p:sp>
      <p:sp>
        <p:nvSpPr>
          <p:cNvPr id="31" name="Text 29"/>
          <p:cNvSpPr txBox="1"/>
          <p:nvPr/>
        </p:nvSpPr>
        <p:spPr>
          <a:xfrm>
            <a:off x="685800" y="6473952"/>
            <a:ext cx="3657600" cy="228600"/>
          </a:xfrm>
          <a:prstGeom prst="rect">
            <a:avLst/>
          </a:prstGeom>
          <a:noFill/>
          <a:ln/>
        </p:spPr>
        <p:txBody>
          <a:bodyPr wrap="square" lIns="0" tIns="0" rIns="0" bIns="0" rtlCol="0" anchor="t"/>
          <a:lstStyle/>
          <a:p>
            <a:pPr indent="0" marL="0">
              <a:buNone/>
            </a:pPr>
            <a:r>
              <a:rPr lang="en-US" sz="950" b="1" dirty="0">
                <a:solidFill>
                  <a:srgbClr val="A1A1A6"/>
                </a:solidFill>
                <a:latin typeface="Helvetica Neue" pitchFamily="34" charset="0"/>
                <a:ea typeface="Helvetica Neue" pitchFamily="34" charset="-122"/>
                <a:cs typeface="Helvetica Neue" pitchFamily="34" charset="-120"/>
              </a:rPr>
              <a:t>Night Signal</a:t>
            </a:r>
            <a:endParaRPr lang="en-US" sz="950" dirty="0"/>
          </a:p>
        </p:txBody>
      </p:sp>
      <p:sp>
        <p:nvSpPr>
          <p:cNvPr id="32" name="Text 30"/>
          <p:cNvSpPr txBox="1"/>
          <p:nvPr/>
        </p:nvSpPr>
        <p:spPr>
          <a:xfrm>
            <a:off x="10588752" y="6473952"/>
            <a:ext cx="914400" cy="228600"/>
          </a:xfrm>
          <a:prstGeom prst="rect">
            <a:avLst/>
          </a:prstGeom>
          <a:noFill/>
          <a:ln/>
        </p:spPr>
        <p:txBody>
          <a:bodyPr wrap="square" lIns="0" tIns="0" rIns="0" bIns="0" rtlCol="0" anchor="t"/>
          <a:lstStyle/>
          <a:p>
            <a:pPr algn="r" indent="0" marL="0">
              <a:buNone/>
            </a:pPr>
            <a:r>
              <a:rPr lang="en-US" sz="950" dirty="0">
                <a:solidFill>
                  <a:srgbClr val="A1A1A6"/>
                </a:solidFill>
                <a:latin typeface="Helvetica Neue" pitchFamily="34" charset="0"/>
                <a:ea typeface="Helvetica Neue" pitchFamily="34" charset="-122"/>
                <a:cs typeface="Helvetica Neue"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320040"/>
          </a:xfrm>
          <a:prstGeom prst="rect">
            <a:avLst/>
          </a:prstGeom>
          <a:noFill/>
          <a:ln/>
        </p:spPr>
        <p:txBody>
          <a:bodyPr wrap="square" lIns="0" tIns="0" rIns="0" bIns="0" rtlCol="0" anchor="t"/>
          <a:lstStyle/>
          <a:p>
            <a:pPr indent="0" marL="0">
              <a:buNone/>
            </a:pPr>
            <a:r>
              <a:rPr lang="en-US" sz="1600" b="1" dirty="0">
                <a:solidFill>
                  <a:srgbClr val="E3254B"/>
                </a:solidFill>
                <a:latin typeface="Helvetica Neue" pitchFamily="34" charset="0"/>
                <a:ea typeface="Helvetica Neue" pitchFamily="34" charset="-122"/>
                <a:cs typeface="Helvetica Neue" pitchFamily="34" charset="-120"/>
              </a:rPr>
              <a:t>Experimental protocol · planned</a:t>
            </a:r>
            <a:endParaRPr lang="en-US" sz="1600" dirty="0"/>
          </a:p>
        </p:txBody>
      </p:sp>
      <p:sp>
        <p:nvSpPr>
          <p:cNvPr id="3" name="Text 1"/>
          <p:cNvSpPr txBox="1"/>
          <p:nvPr/>
        </p:nvSpPr>
        <p:spPr>
          <a:xfrm>
            <a:off x="685800" y="841248"/>
            <a:ext cx="10789920" cy="868680"/>
          </a:xfrm>
          <a:prstGeom prst="rect">
            <a:avLst/>
          </a:prstGeom>
          <a:noFill/>
          <a:ln/>
        </p:spPr>
        <p:txBody>
          <a:bodyPr wrap="square" lIns="0" tIns="0" rIns="0" bIns="0" rtlCol="0" anchor="t"/>
          <a:lstStyle/>
          <a:p>
            <a:pPr indent="0" marL="0">
              <a:lnSpc>
                <a:spcPct val="92000"/>
              </a:lnSpc>
              <a:buNone/>
            </a:pPr>
            <a:r>
              <a:rPr lang="en-US" sz="4000" b="1" dirty="0">
                <a:solidFill>
                  <a:srgbClr val="1D1D1F"/>
                </a:solidFill>
                <a:latin typeface="Helvetica Neue" pitchFamily="34" charset="0"/>
                <a:ea typeface="Helvetica Neue" pitchFamily="34" charset="-122"/>
                <a:cs typeface="Helvetica Neue" pitchFamily="34" charset="-120"/>
              </a:rPr>
              <a:t>How I will test it.</a:t>
            </a:r>
            <a:endParaRPr lang="en-US" sz="4000" dirty="0"/>
          </a:p>
        </p:txBody>
      </p:sp>
      <p:sp>
        <p:nvSpPr>
          <p:cNvPr id="4" name="Shape 2"/>
          <p:cNvSpPr/>
          <p:nvPr/>
        </p:nvSpPr>
        <p:spPr>
          <a:xfrm>
            <a:off x="685800" y="1874520"/>
            <a:ext cx="475488" cy="475488"/>
          </a:xfrm>
          <a:prstGeom prst="ellipse">
            <a:avLst/>
          </a:prstGeom>
          <a:solidFill>
            <a:srgbClr val="D70015"/>
          </a:solidFill>
          <a:ln/>
        </p:spPr>
      </p:sp>
      <p:sp>
        <p:nvSpPr>
          <p:cNvPr id="5" name="Text 3"/>
          <p:cNvSpPr txBox="1"/>
          <p:nvPr/>
        </p:nvSpPr>
        <p:spPr>
          <a:xfrm>
            <a:off x="685800" y="1874520"/>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Helvetica Neue" pitchFamily="34" charset="0"/>
                <a:ea typeface="Helvetica Neue" pitchFamily="34" charset="-122"/>
                <a:cs typeface="Helvetica Neue" pitchFamily="34" charset="-120"/>
              </a:rPr>
              <a:t>1</a:t>
            </a:r>
            <a:endParaRPr lang="en-US" sz="1700" dirty="0"/>
          </a:p>
        </p:txBody>
      </p:sp>
      <p:sp>
        <p:nvSpPr>
          <p:cNvPr id="6" name="Text 4"/>
          <p:cNvSpPr txBox="1"/>
          <p:nvPr/>
        </p:nvSpPr>
        <p:spPr>
          <a:xfrm>
            <a:off x="1371600" y="1892808"/>
            <a:ext cx="6355080" cy="731520"/>
          </a:xfrm>
          <a:prstGeom prst="rect">
            <a:avLst/>
          </a:prstGeom>
          <a:noFill/>
          <a:ln/>
        </p:spPr>
        <p:txBody>
          <a:bodyPr wrap="square" lIns="0" tIns="0" rIns="0" bIns="0" rtlCol="0" anchor="t"/>
          <a:lstStyle/>
          <a:p>
            <a:pPr indent="0" marL="0">
              <a:buNone/>
            </a:pPr>
            <a:r>
              <a:rPr lang="en-US" sz="1400" b="1" dirty="0">
                <a:solidFill>
                  <a:srgbClr val="1D1D1F"/>
                </a:solidFill>
                <a:latin typeface="Helvetica Neue" pitchFamily="34" charset="0"/>
                <a:ea typeface="Helvetica Neue" pitchFamily="34" charset="-122"/>
                <a:cs typeface="Helvetica Neue" pitchFamily="34" charset="-120"/>
              </a:rPr>
              <a:t>Approvals first   </a:t>
            </a:r>
            <a:pPr indent="0" marL="0">
              <a:buNone/>
            </a:pPr>
            <a:r>
              <a:rPr lang="en-US" sz="1400" dirty="0">
                <a:solidFill>
                  <a:srgbClr val="6E6E73"/>
                </a:solidFill>
                <a:latin typeface="Helvetica Neue" pitchFamily="34" charset="0"/>
                <a:ea typeface="Helvetica Neue" pitchFamily="34" charset="-122"/>
                <a:cs typeface="Helvetica Neue" pitchFamily="34" charset="-120"/>
              </a:rPr>
              <a:t>Ms. Ireland, the ethics committee and signed consent, before any data</a:t>
            </a:r>
            <a:endParaRPr lang="en-US" sz="1400" dirty="0"/>
          </a:p>
        </p:txBody>
      </p:sp>
      <p:sp>
        <p:nvSpPr>
          <p:cNvPr id="7" name="Shape 5"/>
          <p:cNvSpPr/>
          <p:nvPr/>
        </p:nvSpPr>
        <p:spPr>
          <a:xfrm>
            <a:off x="685800" y="2724912"/>
            <a:ext cx="475488" cy="475488"/>
          </a:xfrm>
          <a:prstGeom prst="ellipse">
            <a:avLst/>
          </a:prstGeom>
          <a:solidFill>
            <a:srgbClr val="0071E3"/>
          </a:solidFill>
          <a:ln/>
        </p:spPr>
      </p:sp>
      <p:sp>
        <p:nvSpPr>
          <p:cNvPr id="8" name="Text 6"/>
          <p:cNvSpPr txBox="1"/>
          <p:nvPr/>
        </p:nvSpPr>
        <p:spPr>
          <a:xfrm>
            <a:off x="685800" y="272491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Helvetica Neue" pitchFamily="34" charset="0"/>
                <a:ea typeface="Helvetica Neue" pitchFamily="34" charset="-122"/>
                <a:cs typeface="Helvetica Neue" pitchFamily="34" charset="-120"/>
              </a:rPr>
              <a:t>2</a:t>
            </a:r>
            <a:endParaRPr lang="en-US" sz="1700" dirty="0"/>
          </a:p>
        </p:txBody>
      </p:sp>
      <p:sp>
        <p:nvSpPr>
          <p:cNvPr id="9" name="Text 7"/>
          <p:cNvSpPr txBox="1"/>
          <p:nvPr/>
        </p:nvSpPr>
        <p:spPr>
          <a:xfrm>
            <a:off x="1371600" y="2743200"/>
            <a:ext cx="6355080" cy="731520"/>
          </a:xfrm>
          <a:prstGeom prst="rect">
            <a:avLst/>
          </a:prstGeom>
          <a:noFill/>
          <a:ln/>
        </p:spPr>
        <p:txBody>
          <a:bodyPr wrap="square" lIns="0" tIns="0" rIns="0" bIns="0" rtlCol="0" anchor="t"/>
          <a:lstStyle/>
          <a:p>
            <a:pPr indent="0" marL="0">
              <a:buNone/>
            </a:pPr>
            <a:r>
              <a:rPr lang="en-US" sz="1400" b="1" dirty="0">
                <a:solidFill>
                  <a:srgbClr val="1D1D1F"/>
                </a:solidFill>
                <a:latin typeface="Helvetica Neue" pitchFamily="34" charset="0"/>
                <a:ea typeface="Helvetica Neue" pitchFamily="34" charset="-122"/>
                <a:cs typeface="Helvetica Neue" pitchFamily="34" charset="-120"/>
              </a:rPr>
              <a:t>Accuracy sessions (main)   </a:t>
            </a:r>
            <a:pPr indent="0" marL="0">
              <a:buNone/>
            </a:pPr>
            <a:r>
              <a:rPr lang="en-US" sz="1400" dirty="0">
                <a:solidFill>
                  <a:srgbClr val="6E6E73"/>
                </a:solidFill>
                <a:latin typeface="Helvetica Neue" pitchFamily="34" charset="0"/>
                <a:ea typeface="Helvetica Neue" pitchFamily="34" charset="-122"/>
                <a:cs typeface="Helvetica Neue" pitchFamily="34" charset="-120"/>
              </a:rPr>
              <a:t>seated; wearable on one finger, reference on the other; SpO₂ + heart rate every 2 min for 30 min; several sessions</a:t>
            </a:r>
            <a:endParaRPr lang="en-US" sz="1400" dirty="0"/>
          </a:p>
        </p:txBody>
      </p:sp>
      <p:sp>
        <p:nvSpPr>
          <p:cNvPr id="10" name="Shape 8"/>
          <p:cNvSpPr/>
          <p:nvPr/>
        </p:nvSpPr>
        <p:spPr>
          <a:xfrm>
            <a:off x="685800" y="3575304"/>
            <a:ext cx="475488" cy="475488"/>
          </a:xfrm>
          <a:prstGeom prst="ellipse">
            <a:avLst/>
          </a:prstGeom>
          <a:solidFill>
            <a:srgbClr val="0071E3"/>
          </a:solidFill>
          <a:ln/>
        </p:spPr>
      </p:sp>
      <p:sp>
        <p:nvSpPr>
          <p:cNvPr id="11" name="Text 9"/>
          <p:cNvSpPr txBox="1"/>
          <p:nvPr/>
        </p:nvSpPr>
        <p:spPr>
          <a:xfrm>
            <a:off x="685800" y="3575304"/>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Helvetica Neue" pitchFamily="34" charset="0"/>
                <a:ea typeface="Helvetica Neue" pitchFamily="34" charset="-122"/>
                <a:cs typeface="Helvetica Neue" pitchFamily="34" charset="-120"/>
              </a:rPr>
              <a:t>3</a:t>
            </a:r>
            <a:endParaRPr lang="en-US" sz="1700" dirty="0"/>
          </a:p>
        </p:txBody>
      </p:sp>
      <p:sp>
        <p:nvSpPr>
          <p:cNvPr id="12" name="Text 10"/>
          <p:cNvSpPr txBox="1"/>
          <p:nvPr/>
        </p:nvSpPr>
        <p:spPr>
          <a:xfrm>
            <a:off x="1371600" y="3593592"/>
            <a:ext cx="6355080" cy="731520"/>
          </a:xfrm>
          <a:prstGeom prst="rect">
            <a:avLst/>
          </a:prstGeom>
          <a:noFill/>
          <a:ln/>
        </p:spPr>
        <p:txBody>
          <a:bodyPr wrap="square" lIns="0" tIns="0" rIns="0" bIns="0" rtlCol="0" anchor="t"/>
          <a:lstStyle/>
          <a:p>
            <a:pPr indent="0" marL="0">
              <a:buNone/>
            </a:pPr>
            <a:r>
              <a:rPr lang="en-US" sz="1400" b="1" dirty="0">
                <a:solidFill>
                  <a:srgbClr val="1D1D1F"/>
                </a:solidFill>
                <a:latin typeface="Helvetica Neue" pitchFamily="34" charset="0"/>
                <a:ea typeface="Helvetica Neue" pitchFamily="34" charset="-122"/>
                <a:cs typeface="Helvetica Neue" pitchFamily="34" charset="-120"/>
              </a:rPr>
              <a:t>Signal-quality checks   </a:t>
            </a:r>
            <a:pPr indent="0" marL="0">
              <a:buNone/>
            </a:pPr>
            <a:r>
              <a:rPr lang="en-US" sz="1400" dirty="0">
                <a:solidFill>
                  <a:srgbClr val="6E6E73"/>
                </a:solidFill>
                <a:latin typeface="Helvetica Neue" pitchFamily="34" charset="0"/>
                <a:ea typeface="Helvetica Neue" pitchFamily="34" charset="-122"/>
                <a:cs typeface="Helvetica Neue" pitchFamily="34" charset="-120"/>
              </a:rPr>
              <a:t>finger on, sensor-valid flag, believable range, movement excluded</a:t>
            </a:r>
            <a:endParaRPr lang="en-US" sz="1400" dirty="0"/>
          </a:p>
        </p:txBody>
      </p:sp>
      <p:sp>
        <p:nvSpPr>
          <p:cNvPr id="13" name="Shape 11"/>
          <p:cNvSpPr/>
          <p:nvPr/>
        </p:nvSpPr>
        <p:spPr>
          <a:xfrm>
            <a:off x="685800" y="4425696"/>
            <a:ext cx="475488" cy="475488"/>
          </a:xfrm>
          <a:prstGeom prst="ellipse">
            <a:avLst/>
          </a:prstGeom>
          <a:solidFill>
            <a:srgbClr val="0071E3"/>
          </a:solidFill>
          <a:ln/>
        </p:spPr>
      </p:sp>
      <p:sp>
        <p:nvSpPr>
          <p:cNvPr id="14" name="Text 12"/>
          <p:cNvSpPr txBox="1"/>
          <p:nvPr/>
        </p:nvSpPr>
        <p:spPr>
          <a:xfrm>
            <a:off x="685800" y="4425696"/>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Helvetica Neue" pitchFamily="34" charset="0"/>
                <a:ea typeface="Helvetica Neue" pitchFamily="34" charset="-122"/>
                <a:cs typeface="Helvetica Neue" pitchFamily="34" charset="-120"/>
              </a:rPr>
              <a:t>4</a:t>
            </a:r>
            <a:endParaRPr lang="en-US" sz="1700" dirty="0"/>
          </a:p>
        </p:txBody>
      </p:sp>
      <p:sp>
        <p:nvSpPr>
          <p:cNvPr id="15" name="Text 13"/>
          <p:cNvSpPr txBox="1"/>
          <p:nvPr/>
        </p:nvSpPr>
        <p:spPr>
          <a:xfrm>
            <a:off x="1371600" y="4443984"/>
            <a:ext cx="6355080" cy="731520"/>
          </a:xfrm>
          <a:prstGeom prst="rect">
            <a:avLst/>
          </a:prstGeom>
          <a:noFill/>
          <a:ln/>
        </p:spPr>
        <p:txBody>
          <a:bodyPr wrap="square" lIns="0" tIns="0" rIns="0" bIns="0" rtlCol="0" anchor="t"/>
          <a:lstStyle/>
          <a:p>
            <a:pPr indent="0" marL="0">
              <a:buNone/>
            </a:pPr>
            <a:r>
              <a:rPr lang="en-US" sz="1400" b="1" dirty="0">
                <a:solidFill>
                  <a:srgbClr val="1D1D1F"/>
                </a:solidFill>
                <a:latin typeface="Helvetica Neue" pitchFamily="34" charset="0"/>
                <a:ea typeface="Helvetica Neue" pitchFamily="34" charset="-122"/>
                <a:cs typeface="Helvetica Neue" pitchFamily="34" charset="-120"/>
              </a:rPr>
              <a:t>Overnight recordings (if approved)   </a:t>
            </a:r>
            <a:pPr indent="0" marL="0">
              <a:buNone/>
            </a:pPr>
            <a:r>
              <a:rPr lang="en-US" sz="1400" dirty="0">
                <a:solidFill>
                  <a:srgbClr val="6E6E73"/>
                </a:solidFill>
                <a:latin typeface="Helvetica Neue" pitchFamily="34" charset="0"/>
                <a:ea typeface="Helvetica Neue" pitchFamily="34" charset="-122"/>
                <a:cs typeface="Helvetica Neue" pitchFamily="34" charset="-120"/>
              </a:rPr>
              <a:t>signal quality and desaturation events per valid hour; not verifiable overnight</a:t>
            </a:r>
            <a:endParaRPr lang="en-US" sz="1400" dirty="0"/>
          </a:p>
        </p:txBody>
      </p:sp>
      <p:sp>
        <p:nvSpPr>
          <p:cNvPr id="16" name="Shape 14"/>
          <p:cNvSpPr/>
          <p:nvPr/>
        </p:nvSpPr>
        <p:spPr>
          <a:xfrm>
            <a:off x="685800" y="5276088"/>
            <a:ext cx="475488" cy="475488"/>
          </a:xfrm>
          <a:prstGeom prst="ellipse">
            <a:avLst/>
          </a:prstGeom>
          <a:solidFill>
            <a:srgbClr val="0071E3"/>
          </a:solidFill>
          <a:ln/>
        </p:spPr>
      </p:sp>
      <p:sp>
        <p:nvSpPr>
          <p:cNvPr id="17" name="Text 15"/>
          <p:cNvSpPr txBox="1"/>
          <p:nvPr/>
        </p:nvSpPr>
        <p:spPr>
          <a:xfrm>
            <a:off x="685800" y="527608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Helvetica Neue" pitchFamily="34" charset="0"/>
                <a:ea typeface="Helvetica Neue" pitchFamily="34" charset="-122"/>
                <a:cs typeface="Helvetica Neue" pitchFamily="34" charset="-120"/>
              </a:rPr>
              <a:t>5</a:t>
            </a:r>
            <a:endParaRPr lang="en-US" sz="1700" dirty="0"/>
          </a:p>
        </p:txBody>
      </p:sp>
      <p:sp>
        <p:nvSpPr>
          <p:cNvPr id="18" name="Text 16"/>
          <p:cNvSpPr txBox="1"/>
          <p:nvPr/>
        </p:nvSpPr>
        <p:spPr>
          <a:xfrm>
            <a:off x="1371600" y="5294376"/>
            <a:ext cx="6355080" cy="731520"/>
          </a:xfrm>
          <a:prstGeom prst="rect">
            <a:avLst/>
          </a:prstGeom>
          <a:noFill/>
          <a:ln/>
        </p:spPr>
        <p:txBody>
          <a:bodyPr wrap="square" lIns="0" tIns="0" rIns="0" bIns="0" rtlCol="0" anchor="t"/>
          <a:lstStyle/>
          <a:p>
            <a:pPr indent="0" marL="0">
              <a:buNone/>
            </a:pPr>
            <a:r>
              <a:rPr lang="en-US" sz="1400" b="1" dirty="0">
                <a:solidFill>
                  <a:srgbClr val="1D1D1F"/>
                </a:solidFill>
                <a:latin typeface="Helvetica Neue" pitchFamily="34" charset="0"/>
                <a:ea typeface="Helvetica Neue" pitchFamily="34" charset="-122"/>
                <a:cs typeface="Helvetica Neue" pitchFamily="34" charset="-120"/>
              </a:rPr>
              <a:t>Breath-hold test (optional, if approved)   </a:t>
            </a:r>
            <a:pPr indent="0" marL="0">
              <a:buNone/>
            </a:pPr>
            <a:r>
              <a:rPr lang="en-US" sz="1400" dirty="0">
                <a:solidFill>
                  <a:srgbClr val="6E6E73"/>
                </a:solidFill>
                <a:latin typeface="Helvetica Neue" pitchFamily="34" charset="0"/>
                <a:ea typeface="Helvetica Neue" pitchFamily="34" charset="-122"/>
                <a:cs typeface="Helvetica Neue" pitchFamily="34" charset="-120"/>
              </a:rPr>
              <a:t>awake and supervised; are induced dips flagged? Not a test of sleep apnea</a:t>
            </a:r>
            <a:endParaRPr lang="en-US" sz="1400" dirty="0"/>
          </a:p>
        </p:txBody>
      </p:sp>
      <p:sp>
        <p:nvSpPr>
          <p:cNvPr id="19" name="Shape 17"/>
          <p:cNvSpPr/>
          <p:nvPr/>
        </p:nvSpPr>
        <p:spPr>
          <a:xfrm>
            <a:off x="8001000" y="1874520"/>
            <a:ext cx="3502152" cy="4160520"/>
          </a:xfrm>
          <a:prstGeom prst="roundRect">
            <a:avLst>
              <a:gd name="adj" fmla="val 5744"/>
            </a:avLst>
          </a:prstGeom>
          <a:solidFill>
            <a:srgbClr val="F5F5F7"/>
          </a:solidFill>
          <a:ln/>
        </p:spPr>
      </p:sp>
      <p:sp>
        <p:nvSpPr>
          <p:cNvPr id="20" name="Text 18"/>
          <p:cNvSpPr txBox="1"/>
          <p:nvPr/>
        </p:nvSpPr>
        <p:spPr>
          <a:xfrm>
            <a:off x="8275320" y="2103120"/>
            <a:ext cx="3017520" cy="320040"/>
          </a:xfrm>
          <a:prstGeom prst="rect">
            <a:avLst/>
          </a:prstGeom>
          <a:noFill/>
          <a:ln/>
        </p:spPr>
        <p:txBody>
          <a:bodyPr wrap="square" lIns="0" tIns="0" rIns="0" bIns="0" rtlCol="0" anchor="t"/>
          <a:lstStyle/>
          <a:p>
            <a:pPr indent="0" marL="0">
              <a:buNone/>
            </a:pPr>
            <a:r>
              <a:rPr lang="en-US" sz="1700" b="1" dirty="0">
                <a:solidFill>
                  <a:srgbClr val="D70015"/>
                </a:solidFill>
                <a:latin typeface="Helvetica Neue" pitchFamily="34" charset="0"/>
                <a:ea typeface="Helvetica Neue" pitchFamily="34" charset="-122"/>
                <a:cs typeface="Helvetica Neue" pitchFamily="34" charset="-120"/>
              </a:rPr>
              <a:t>Safety</a:t>
            </a:r>
            <a:endParaRPr lang="en-US" sz="1700" dirty="0"/>
          </a:p>
        </p:txBody>
      </p:sp>
      <p:sp>
        <p:nvSpPr>
          <p:cNvPr id="21" name="Shape 19"/>
          <p:cNvSpPr/>
          <p:nvPr/>
        </p:nvSpPr>
        <p:spPr>
          <a:xfrm>
            <a:off x="8275320" y="2651425"/>
            <a:ext cx="73152" cy="73152"/>
          </a:xfrm>
          <a:prstGeom prst="ellipse">
            <a:avLst/>
          </a:prstGeom>
          <a:solidFill>
            <a:srgbClr val="A1A1A6"/>
          </a:solidFill>
          <a:ln/>
        </p:spPr>
      </p:sp>
      <p:sp>
        <p:nvSpPr>
          <p:cNvPr id="22" name="Text 20"/>
          <p:cNvSpPr txBox="1"/>
          <p:nvPr/>
        </p:nvSpPr>
        <p:spPr>
          <a:xfrm>
            <a:off x="8503920" y="2560320"/>
            <a:ext cx="2788920" cy="723900"/>
          </a:xfrm>
          <a:prstGeom prst="rect">
            <a:avLst/>
          </a:prstGeom>
          <a:noFill/>
          <a:ln/>
        </p:spPr>
        <p:txBody>
          <a:bodyPr wrap="square" lIns="0" tIns="0" rIns="0" bIns="0" rtlCol="0" anchor="t"/>
          <a:lstStyle/>
          <a:p>
            <a:pPr indent="0" marL="0">
              <a:buNone/>
            </a:pPr>
            <a:r>
              <a:rPr lang="en-US" sz="1400" dirty="0">
                <a:solidFill>
                  <a:srgbClr val="1D1D1F"/>
                </a:solidFill>
                <a:latin typeface="Helvetica Neue" pitchFamily="34" charset="0"/>
                <a:ea typeface="Helvetica Neue" pitchFamily="34" charset="-122"/>
                <a:cs typeface="Helvetica Neue" pitchFamily="34" charset="-120"/>
              </a:rPr>
              <a:t>No testing on anyone, including me, before approval and consent</a:t>
            </a:r>
            <a:endParaRPr lang="en-US" sz="1400" dirty="0"/>
          </a:p>
        </p:txBody>
      </p:sp>
      <p:sp>
        <p:nvSpPr>
          <p:cNvPr id="23" name="Shape 21"/>
          <p:cNvSpPr/>
          <p:nvPr/>
        </p:nvSpPr>
        <p:spPr>
          <a:xfrm>
            <a:off x="8275320" y="3466765"/>
            <a:ext cx="73152" cy="73152"/>
          </a:xfrm>
          <a:prstGeom prst="ellipse">
            <a:avLst/>
          </a:prstGeom>
          <a:solidFill>
            <a:srgbClr val="A1A1A6"/>
          </a:solidFill>
          <a:ln/>
        </p:spPr>
      </p:sp>
      <p:sp>
        <p:nvSpPr>
          <p:cNvPr id="24" name="Text 22"/>
          <p:cNvSpPr txBox="1"/>
          <p:nvPr/>
        </p:nvSpPr>
        <p:spPr>
          <a:xfrm>
            <a:off x="8503920" y="3375660"/>
            <a:ext cx="2788920" cy="723900"/>
          </a:xfrm>
          <a:prstGeom prst="rect">
            <a:avLst/>
          </a:prstGeom>
          <a:noFill/>
          <a:ln/>
        </p:spPr>
        <p:txBody>
          <a:bodyPr wrap="square" lIns="0" tIns="0" rIns="0" bIns="0" rtlCol="0" anchor="t"/>
          <a:lstStyle/>
          <a:p>
            <a:pPr indent="0" marL="0">
              <a:buNone/>
            </a:pPr>
            <a:r>
              <a:rPr lang="en-US" sz="1400" dirty="0">
                <a:solidFill>
                  <a:srgbClr val="1D1D1F"/>
                </a:solidFill>
                <a:latin typeface="Helvetica Neue" pitchFamily="34" charset="0"/>
                <a:ea typeface="Helvetica Neue" pitchFamily="34" charset="-122"/>
                <a:cs typeface="Helvetica Neue" pitchFamily="34" charset="-120"/>
              </a:rPr>
              <a:t>Breath-holds only if approved: awake, seated, supervised, 20 s at most, never asleep</a:t>
            </a:r>
            <a:endParaRPr lang="en-US" sz="1400" dirty="0"/>
          </a:p>
        </p:txBody>
      </p:sp>
      <p:sp>
        <p:nvSpPr>
          <p:cNvPr id="25" name="Shape 23"/>
          <p:cNvSpPr/>
          <p:nvPr/>
        </p:nvSpPr>
        <p:spPr>
          <a:xfrm>
            <a:off x="8275320" y="4282105"/>
            <a:ext cx="73152" cy="73152"/>
          </a:xfrm>
          <a:prstGeom prst="ellipse">
            <a:avLst/>
          </a:prstGeom>
          <a:solidFill>
            <a:srgbClr val="A1A1A6"/>
          </a:solidFill>
          <a:ln/>
        </p:spPr>
      </p:sp>
      <p:sp>
        <p:nvSpPr>
          <p:cNvPr id="26" name="Text 24"/>
          <p:cNvSpPr txBox="1"/>
          <p:nvPr/>
        </p:nvSpPr>
        <p:spPr>
          <a:xfrm>
            <a:off x="8503920" y="4191000"/>
            <a:ext cx="2788920" cy="506984"/>
          </a:xfrm>
          <a:prstGeom prst="rect">
            <a:avLst/>
          </a:prstGeom>
          <a:noFill/>
          <a:ln/>
        </p:spPr>
        <p:txBody>
          <a:bodyPr wrap="square" lIns="0" tIns="0" rIns="0" bIns="0" rtlCol="0" anchor="t"/>
          <a:lstStyle/>
          <a:p>
            <a:pPr indent="0" marL="0">
              <a:buNone/>
            </a:pPr>
            <a:r>
              <a:rPr lang="en-US" sz="1400" dirty="0">
                <a:solidFill>
                  <a:srgbClr val="1D1D1F"/>
                </a:solidFill>
                <a:latin typeface="Helvetica Neue" pitchFamily="34" charset="0"/>
                <a:ea typeface="Helvetica Neue" pitchFamily="34" charset="-122"/>
                <a:cs typeface="Helvetica Neue" pitchFamily="34" charset="-120"/>
              </a:rPr>
              <a:t>Stop at any dizziness or discomfort</a:t>
            </a:r>
            <a:endParaRPr lang="en-US" sz="1400" dirty="0"/>
          </a:p>
        </p:txBody>
      </p:sp>
      <p:sp>
        <p:nvSpPr>
          <p:cNvPr id="27" name="Shape 25"/>
          <p:cNvSpPr/>
          <p:nvPr/>
        </p:nvSpPr>
        <p:spPr>
          <a:xfrm>
            <a:off x="8275320" y="4880529"/>
            <a:ext cx="73152" cy="73152"/>
          </a:xfrm>
          <a:prstGeom prst="ellipse">
            <a:avLst/>
          </a:prstGeom>
          <a:solidFill>
            <a:srgbClr val="A1A1A6"/>
          </a:solidFill>
          <a:ln/>
        </p:spPr>
      </p:sp>
      <p:sp>
        <p:nvSpPr>
          <p:cNvPr id="28" name="Text 26"/>
          <p:cNvSpPr txBox="1"/>
          <p:nvPr/>
        </p:nvSpPr>
        <p:spPr>
          <a:xfrm>
            <a:off x="8503920" y="4789424"/>
            <a:ext cx="2788920" cy="506984"/>
          </a:xfrm>
          <a:prstGeom prst="rect">
            <a:avLst/>
          </a:prstGeom>
          <a:noFill/>
          <a:ln/>
        </p:spPr>
        <p:txBody>
          <a:bodyPr wrap="square" lIns="0" tIns="0" rIns="0" bIns="0" rtlCol="0" anchor="t"/>
          <a:lstStyle/>
          <a:p>
            <a:pPr indent="0" marL="0">
              <a:buNone/>
            </a:pPr>
            <a:r>
              <a:rPr lang="en-US" sz="1400" dirty="0">
                <a:solidFill>
                  <a:srgbClr val="1D1D1F"/>
                </a:solidFill>
                <a:latin typeface="Helvetica Neue" pitchFamily="34" charset="0"/>
                <a:ea typeface="Helvetica Neue" pitchFamily="34" charset="-122"/>
                <a:cs typeface="Helvetica Neue" pitchFamily="34" charset="-120"/>
              </a:rPr>
              <a:t>Not a medical device; no diagnosis</a:t>
            </a:r>
            <a:endParaRPr lang="en-US" sz="1400" dirty="0"/>
          </a:p>
        </p:txBody>
      </p:sp>
      <p:sp>
        <p:nvSpPr>
          <p:cNvPr id="29" name="Text 27"/>
          <p:cNvSpPr txBox="1"/>
          <p:nvPr/>
        </p:nvSpPr>
        <p:spPr>
          <a:xfrm>
            <a:off x="685800" y="6473952"/>
            <a:ext cx="3657600" cy="228600"/>
          </a:xfrm>
          <a:prstGeom prst="rect">
            <a:avLst/>
          </a:prstGeom>
          <a:noFill/>
          <a:ln/>
        </p:spPr>
        <p:txBody>
          <a:bodyPr wrap="square" lIns="0" tIns="0" rIns="0" bIns="0" rtlCol="0" anchor="t"/>
          <a:lstStyle/>
          <a:p>
            <a:pPr indent="0" marL="0">
              <a:buNone/>
            </a:pPr>
            <a:r>
              <a:rPr lang="en-US" sz="950" b="1" dirty="0">
                <a:solidFill>
                  <a:srgbClr val="A1A1A6"/>
                </a:solidFill>
                <a:latin typeface="Helvetica Neue" pitchFamily="34" charset="0"/>
                <a:ea typeface="Helvetica Neue" pitchFamily="34" charset="-122"/>
                <a:cs typeface="Helvetica Neue" pitchFamily="34" charset="-120"/>
              </a:rPr>
              <a:t>Night Signal</a:t>
            </a:r>
            <a:endParaRPr lang="en-US" sz="950" dirty="0"/>
          </a:p>
        </p:txBody>
      </p:sp>
      <p:sp>
        <p:nvSpPr>
          <p:cNvPr id="30" name="Text 28"/>
          <p:cNvSpPr txBox="1"/>
          <p:nvPr/>
        </p:nvSpPr>
        <p:spPr>
          <a:xfrm>
            <a:off x="10588752" y="6473952"/>
            <a:ext cx="914400" cy="228600"/>
          </a:xfrm>
          <a:prstGeom prst="rect">
            <a:avLst/>
          </a:prstGeom>
          <a:noFill/>
          <a:ln/>
        </p:spPr>
        <p:txBody>
          <a:bodyPr wrap="square" lIns="0" tIns="0" rIns="0" bIns="0" rtlCol="0" anchor="t"/>
          <a:lstStyle/>
          <a:p>
            <a:pPr algn="r" indent="0" marL="0">
              <a:buNone/>
            </a:pPr>
            <a:r>
              <a:rPr lang="en-US" sz="950" dirty="0">
                <a:solidFill>
                  <a:srgbClr val="A1A1A6"/>
                </a:solidFill>
                <a:latin typeface="Helvetica Neue" pitchFamily="34" charset="0"/>
                <a:ea typeface="Helvetica Neue" pitchFamily="34" charset="-122"/>
                <a:cs typeface="Helvetica Neue"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320040"/>
          </a:xfrm>
          <a:prstGeom prst="rect">
            <a:avLst/>
          </a:prstGeom>
          <a:noFill/>
          <a:ln/>
        </p:spPr>
        <p:txBody>
          <a:bodyPr wrap="square" lIns="0" tIns="0" rIns="0" bIns="0" rtlCol="0" anchor="t"/>
          <a:lstStyle/>
          <a:p>
            <a:pPr indent="0" marL="0">
              <a:buNone/>
            </a:pPr>
            <a:r>
              <a:rPr lang="en-US" sz="1600" b="1" dirty="0">
                <a:solidFill>
                  <a:srgbClr val="E3254B"/>
                </a:solidFill>
                <a:latin typeface="Helvetica Neue" pitchFamily="34" charset="0"/>
                <a:ea typeface="Helvetica Neue" pitchFamily="34" charset="-122"/>
                <a:cs typeface="Helvetica Neue" pitchFamily="34" charset="-120"/>
              </a:rPr>
              <a:t>The app</a:t>
            </a:r>
            <a:endParaRPr lang="en-US" sz="1600" dirty="0"/>
          </a:p>
        </p:txBody>
      </p:sp>
      <p:sp>
        <p:nvSpPr>
          <p:cNvPr id="3" name="Text 1"/>
          <p:cNvSpPr txBox="1"/>
          <p:nvPr/>
        </p:nvSpPr>
        <p:spPr>
          <a:xfrm>
            <a:off x="685800" y="841248"/>
            <a:ext cx="10789920" cy="868680"/>
          </a:xfrm>
          <a:prstGeom prst="rect">
            <a:avLst/>
          </a:prstGeom>
          <a:noFill/>
          <a:ln/>
        </p:spPr>
        <p:txBody>
          <a:bodyPr wrap="square" lIns="0" tIns="0" rIns="0" bIns="0" rtlCol="0" anchor="t"/>
          <a:lstStyle/>
          <a:p>
            <a:pPr indent="0" marL="0">
              <a:lnSpc>
                <a:spcPct val="92000"/>
              </a:lnSpc>
              <a:buNone/>
            </a:pPr>
            <a:r>
              <a:rPr lang="en-US" sz="4000" b="1" dirty="0">
                <a:solidFill>
                  <a:srgbClr val="1D1D1F"/>
                </a:solidFill>
                <a:latin typeface="Helvetica Neue" pitchFamily="34" charset="0"/>
                <a:ea typeface="Helvetica Neue" pitchFamily="34" charset="-122"/>
                <a:cs typeface="Helvetica Neue" pitchFamily="34" charset="-120"/>
              </a:rPr>
              <a:t>The companion app.</a:t>
            </a:r>
            <a:endParaRPr lang="en-US" sz="4000" dirty="0"/>
          </a:p>
        </p:txBody>
      </p:sp>
      <p:sp>
        <p:nvSpPr>
          <p:cNvPr id="4" name="Shape 2"/>
          <p:cNvSpPr/>
          <p:nvPr/>
        </p:nvSpPr>
        <p:spPr>
          <a:xfrm>
            <a:off x="877824" y="1792224"/>
            <a:ext cx="2130552" cy="4197330"/>
          </a:xfrm>
          <a:prstGeom prst="roundRect">
            <a:avLst>
              <a:gd name="adj" fmla="val 12017"/>
            </a:avLst>
          </a:prstGeom>
          <a:solidFill>
            <a:srgbClr val="1D1D1F"/>
          </a:solidFill>
          <a:ln/>
        </p:spPr>
      </p:sp>
      <p:pic>
        <p:nvPicPr>
          <p:cNvPr id="5" name="Image 0" descr="/home/user/teetomivV2/science-fair/night-signal/slides/assets/phone_sleep.png">    </p:cNvPr>
          <p:cNvPicPr>
            <a:picLocks noChangeAspect="1"/>
          </p:cNvPicPr>
          <p:nvPr/>
        </p:nvPicPr>
        <p:blipFill>
          <a:blip r:embed="rId1"/>
          <a:stretch>
            <a:fillRect/>
          </a:stretch>
        </p:blipFill>
        <p:spPr>
          <a:xfrm>
            <a:off x="960120" y="1874520"/>
            <a:ext cx="1965960" cy="4032738"/>
          </a:xfrm>
          <a:prstGeom prst="rect">
            <a:avLst/>
          </a:prstGeom>
        </p:spPr>
      </p:pic>
      <p:sp>
        <p:nvSpPr>
          <p:cNvPr id="6" name="Shape 3"/>
          <p:cNvSpPr/>
          <p:nvPr/>
        </p:nvSpPr>
        <p:spPr>
          <a:xfrm>
            <a:off x="3346704" y="1792224"/>
            <a:ext cx="2130552" cy="4197330"/>
          </a:xfrm>
          <a:prstGeom prst="roundRect">
            <a:avLst>
              <a:gd name="adj" fmla="val 12017"/>
            </a:avLst>
          </a:prstGeom>
          <a:solidFill>
            <a:srgbClr val="1D1D1F"/>
          </a:solidFill>
          <a:ln/>
        </p:spPr>
      </p:sp>
      <p:pic>
        <p:nvPicPr>
          <p:cNvPr id="7" name="Image 1" descr="/home/user/teetomivV2/science-fair/night-signal/slides/assets/phone_live.png">    </p:cNvPr>
          <p:cNvPicPr>
            <a:picLocks noChangeAspect="1"/>
          </p:cNvPicPr>
          <p:nvPr/>
        </p:nvPicPr>
        <p:blipFill>
          <a:blip r:embed="rId2"/>
          <a:stretch>
            <a:fillRect/>
          </a:stretch>
        </p:blipFill>
        <p:spPr>
          <a:xfrm>
            <a:off x="3429000" y="1874520"/>
            <a:ext cx="1965960" cy="4032738"/>
          </a:xfrm>
          <a:prstGeom prst="rect">
            <a:avLst/>
          </a:prstGeom>
        </p:spPr>
      </p:pic>
      <p:sp>
        <p:nvSpPr>
          <p:cNvPr id="8" name="Text 4"/>
          <p:cNvSpPr txBox="1"/>
          <p:nvPr/>
        </p:nvSpPr>
        <p:spPr>
          <a:xfrm>
            <a:off x="777240" y="6044418"/>
            <a:ext cx="2331720" cy="274320"/>
          </a:xfrm>
          <a:prstGeom prst="rect">
            <a:avLst/>
          </a:prstGeom>
          <a:noFill/>
          <a:ln/>
        </p:spPr>
        <p:txBody>
          <a:bodyPr wrap="square" lIns="0" tIns="0" rIns="0" bIns="0" rtlCol="0" anchor="t"/>
          <a:lstStyle/>
          <a:p>
            <a:pPr algn="ctr" indent="0" marL="0">
              <a:buNone/>
            </a:pPr>
            <a:r>
              <a:rPr lang="en-US" sz="1200" dirty="0">
                <a:solidFill>
                  <a:srgbClr val="6E6E73"/>
                </a:solidFill>
                <a:latin typeface="Helvetica Neue" pitchFamily="34" charset="0"/>
                <a:ea typeface="Helvetica Neue" pitchFamily="34" charset="-122"/>
                <a:cs typeface="Helvetica Neue" pitchFamily="34" charset="-120"/>
              </a:rPr>
              <a:t>Night report (demo data)</a:t>
            </a:r>
            <a:endParaRPr lang="en-US" sz="1200" dirty="0"/>
          </a:p>
        </p:txBody>
      </p:sp>
      <p:sp>
        <p:nvSpPr>
          <p:cNvPr id="9" name="Text 5"/>
          <p:cNvSpPr txBox="1"/>
          <p:nvPr/>
        </p:nvSpPr>
        <p:spPr>
          <a:xfrm>
            <a:off x="3246120" y="6044418"/>
            <a:ext cx="2331720" cy="274320"/>
          </a:xfrm>
          <a:prstGeom prst="rect">
            <a:avLst/>
          </a:prstGeom>
          <a:noFill/>
          <a:ln/>
        </p:spPr>
        <p:txBody>
          <a:bodyPr wrap="square" lIns="0" tIns="0" rIns="0" bIns="0" rtlCol="0" anchor="t"/>
          <a:lstStyle/>
          <a:p>
            <a:pPr algn="ctr" indent="0" marL="0">
              <a:buNone/>
            </a:pPr>
            <a:r>
              <a:rPr lang="en-US" sz="1200" dirty="0">
                <a:solidFill>
                  <a:srgbClr val="6E6E73"/>
                </a:solidFill>
                <a:latin typeface="Helvetica Neue" pitchFamily="34" charset="0"/>
                <a:ea typeface="Helvetica Neue" pitchFamily="34" charset="-122"/>
                <a:cs typeface="Helvetica Neue" pitchFamily="34" charset="-120"/>
              </a:rPr>
              <a:t>Live + device health (demo)</a:t>
            </a:r>
            <a:endParaRPr lang="en-US" sz="1200" dirty="0"/>
          </a:p>
        </p:txBody>
      </p:sp>
      <p:sp>
        <p:nvSpPr>
          <p:cNvPr id="10" name="Shape 6"/>
          <p:cNvSpPr/>
          <p:nvPr/>
        </p:nvSpPr>
        <p:spPr>
          <a:xfrm>
            <a:off x="6355080" y="2063572"/>
            <a:ext cx="73152" cy="73152"/>
          </a:xfrm>
          <a:prstGeom prst="ellipse">
            <a:avLst/>
          </a:prstGeom>
          <a:solidFill>
            <a:srgbClr val="A1A1A6"/>
          </a:solidFill>
          <a:ln/>
        </p:spPr>
      </p:sp>
      <p:sp>
        <p:nvSpPr>
          <p:cNvPr id="11" name="Text 7"/>
          <p:cNvSpPr txBox="1"/>
          <p:nvPr/>
        </p:nvSpPr>
        <p:spPr>
          <a:xfrm>
            <a:off x="6583680" y="1965960"/>
            <a:ext cx="4937760" cy="770382"/>
          </a:xfrm>
          <a:prstGeom prst="rect">
            <a:avLst/>
          </a:prstGeom>
          <a:noFill/>
          <a:ln/>
        </p:spPr>
        <p:txBody>
          <a:bodyPr wrap="square" lIns="0" tIns="0" rIns="0" bIns="0" rtlCol="0" anchor="t"/>
          <a:lstStyle/>
          <a:p>
            <a:pPr indent="0" marL="0">
              <a:buNone/>
            </a:pPr>
            <a:r>
              <a:rPr lang="en-US" sz="1500" dirty="0">
                <a:solidFill>
                  <a:srgbClr val="1D1D1F"/>
                </a:solidFill>
                <a:latin typeface="Helvetica Neue" pitchFamily="34" charset="0"/>
                <a:ea typeface="Helvetica Neue" pitchFamily="34" charset="-122"/>
                <a:cs typeface="Helvetica Neue" pitchFamily="34" charset="-120"/>
              </a:rPr>
              <a:t>Night tab: oxygen chart, flagged desaturation events, events per hour of valid recording, and % valid signal.</a:t>
            </a:r>
            <a:endParaRPr lang="en-US" sz="1500" dirty="0"/>
          </a:p>
        </p:txBody>
      </p:sp>
      <p:sp>
        <p:nvSpPr>
          <p:cNvPr id="12" name="Shape 8"/>
          <p:cNvSpPr/>
          <p:nvPr/>
        </p:nvSpPr>
        <p:spPr>
          <a:xfrm>
            <a:off x="6355080" y="2961970"/>
            <a:ext cx="73152" cy="73152"/>
          </a:xfrm>
          <a:prstGeom prst="ellipse">
            <a:avLst/>
          </a:prstGeom>
          <a:solidFill>
            <a:srgbClr val="A1A1A6"/>
          </a:solidFill>
          <a:ln/>
        </p:spPr>
      </p:sp>
      <p:sp>
        <p:nvSpPr>
          <p:cNvPr id="13" name="Text 9"/>
          <p:cNvSpPr txBox="1"/>
          <p:nvPr/>
        </p:nvSpPr>
        <p:spPr>
          <a:xfrm>
            <a:off x="6583680" y="2864358"/>
            <a:ext cx="4937760" cy="537972"/>
          </a:xfrm>
          <a:prstGeom prst="rect">
            <a:avLst/>
          </a:prstGeom>
          <a:noFill/>
          <a:ln/>
        </p:spPr>
        <p:txBody>
          <a:bodyPr wrap="square" lIns="0" tIns="0" rIns="0" bIns="0" rtlCol="0" anchor="t"/>
          <a:lstStyle/>
          <a:p>
            <a:pPr indent="0" marL="0">
              <a:buNone/>
            </a:pPr>
            <a:r>
              <a:rPr lang="en-US" sz="1500" dirty="0">
                <a:solidFill>
                  <a:srgbClr val="1D1D1F"/>
                </a:solidFill>
                <a:latin typeface="Helvetica Neue" pitchFamily="34" charset="0"/>
                <a:ea typeface="Helvetica Neue" pitchFamily="34" charset="-122"/>
                <a:cs typeface="Helvetica Neue" pitchFamily="34" charset="-120"/>
              </a:rPr>
              <a:t>Live tab connects to the wearable (USB or Bluetooth) and runs the device checks every second.</a:t>
            </a:r>
            <a:endParaRPr lang="en-US" sz="1500" dirty="0"/>
          </a:p>
        </p:txBody>
      </p:sp>
      <p:sp>
        <p:nvSpPr>
          <p:cNvPr id="14" name="Shape 10"/>
          <p:cNvSpPr/>
          <p:nvPr/>
        </p:nvSpPr>
        <p:spPr>
          <a:xfrm>
            <a:off x="6355080" y="3627958"/>
            <a:ext cx="73152" cy="73152"/>
          </a:xfrm>
          <a:prstGeom prst="ellipse">
            <a:avLst/>
          </a:prstGeom>
          <a:solidFill>
            <a:srgbClr val="A1A1A6"/>
          </a:solidFill>
          <a:ln/>
        </p:spPr>
      </p:sp>
      <p:sp>
        <p:nvSpPr>
          <p:cNvPr id="15" name="Text 11"/>
          <p:cNvSpPr txBox="1"/>
          <p:nvPr/>
        </p:nvSpPr>
        <p:spPr>
          <a:xfrm>
            <a:off x="6583680" y="3530346"/>
            <a:ext cx="4937760" cy="537972"/>
          </a:xfrm>
          <a:prstGeom prst="rect">
            <a:avLst/>
          </a:prstGeom>
          <a:noFill/>
          <a:ln/>
        </p:spPr>
        <p:txBody>
          <a:bodyPr wrap="square" lIns="0" tIns="0" rIns="0" bIns="0" rtlCol="0" anchor="t"/>
          <a:lstStyle/>
          <a:p>
            <a:pPr indent="0" marL="0">
              <a:buNone/>
            </a:pPr>
            <a:r>
              <a:rPr lang="en-US" sz="1500" dirty="0">
                <a:solidFill>
                  <a:srgbClr val="1D1D1F"/>
                </a:solidFill>
                <a:latin typeface="Helvetica Neue" pitchFamily="34" charset="0"/>
                <a:ea typeface="Helvetica Neue" pitchFamily="34" charset="-122"/>
                <a:cs typeface="Helvetica Neue" pitchFamily="34" charset="-120"/>
              </a:rPr>
              <a:t>Saving a session gives the same CSV the analysis uses, so every number can be traced.</a:t>
            </a:r>
            <a:endParaRPr lang="en-US" sz="1500" dirty="0"/>
          </a:p>
        </p:txBody>
      </p:sp>
      <p:sp>
        <p:nvSpPr>
          <p:cNvPr id="16" name="Shape 12"/>
          <p:cNvSpPr/>
          <p:nvPr/>
        </p:nvSpPr>
        <p:spPr>
          <a:xfrm>
            <a:off x="6355080" y="4293946"/>
            <a:ext cx="73152" cy="73152"/>
          </a:xfrm>
          <a:prstGeom prst="ellipse">
            <a:avLst/>
          </a:prstGeom>
          <a:solidFill>
            <a:srgbClr val="A1A1A6"/>
          </a:solidFill>
          <a:ln/>
        </p:spPr>
      </p:sp>
      <p:sp>
        <p:nvSpPr>
          <p:cNvPr id="17" name="Text 13"/>
          <p:cNvSpPr txBox="1"/>
          <p:nvPr/>
        </p:nvSpPr>
        <p:spPr>
          <a:xfrm>
            <a:off x="6583680" y="4196334"/>
            <a:ext cx="4937760" cy="770382"/>
          </a:xfrm>
          <a:prstGeom prst="rect">
            <a:avLst/>
          </a:prstGeom>
          <a:noFill/>
          <a:ln/>
        </p:spPr>
        <p:txBody>
          <a:bodyPr wrap="square" lIns="0" tIns="0" rIns="0" bIns="0" rtlCol="0" anchor="t"/>
          <a:lstStyle/>
          <a:p>
            <a:pPr indent="0" marL="0">
              <a:buNone/>
            </a:pPr>
            <a:r>
              <a:rPr lang="en-US" sz="1500" dirty="0">
                <a:solidFill>
                  <a:srgbClr val="1D1D1F"/>
                </a:solidFill>
                <a:latin typeface="Helvetica Neue" pitchFamily="34" charset="0"/>
                <a:ea typeface="Helvetica Neue" pitchFamily="34" charset="-122"/>
                <a:cs typeface="Helvetica Neue" pitchFamily="34" charset="-120"/>
              </a:rPr>
              <a:t>Everything shown so far is labelled demonstration data. Heart and breathing tabs are exploratory ideas.</a:t>
            </a:r>
            <a:endParaRPr lang="en-US" sz="1500" dirty="0"/>
          </a:p>
        </p:txBody>
      </p:sp>
      <p:sp>
        <p:nvSpPr>
          <p:cNvPr id="18" name="Shape 14"/>
          <p:cNvSpPr/>
          <p:nvPr/>
        </p:nvSpPr>
        <p:spPr>
          <a:xfrm>
            <a:off x="6373368" y="5047488"/>
            <a:ext cx="1106424" cy="1106424"/>
          </a:xfrm>
          <a:prstGeom prst="roundRect">
            <a:avLst>
              <a:gd name="adj" fmla="val 18182"/>
            </a:avLst>
          </a:prstGeom>
          <a:solidFill>
            <a:srgbClr val="FFFFFF"/>
          </a:solidFill>
          <a:ln/>
        </p:spPr>
      </p:sp>
      <p:pic>
        <p:nvPicPr>
          <p:cNvPr id="19" name="Image 2" descr="/home/user/teetomivV2/science-fair/night-signal/slides/assets/qr_app.png">
            <a:hlinkClick r:id="rId4" tooltip="https://gabrielamamanestudent-wq.github.io/teetomivV2/science-fair/night-signal/app/"/>
          </p:cNvPr>
          <p:cNvPicPr>
            <a:picLocks noChangeAspect="1"/>
          </p:cNvPicPr>
          <p:nvPr/>
        </p:nvPicPr>
        <p:blipFill>
          <a:blip r:embed="rId3"/>
          <a:stretch>
            <a:fillRect/>
          </a:stretch>
        </p:blipFill>
        <p:spPr>
          <a:xfrm>
            <a:off x="6446520" y="5120640"/>
            <a:ext cx="960120" cy="960120"/>
          </a:xfrm>
          <a:prstGeom prst="rect">
            <a:avLst/>
          </a:prstGeom>
        </p:spPr>
      </p:pic>
      <p:sp>
        <p:nvSpPr>
          <p:cNvPr id="20" name="Text 15"/>
          <p:cNvSpPr txBox="1"/>
          <p:nvPr/>
        </p:nvSpPr>
        <p:spPr>
          <a:xfrm>
            <a:off x="7680960" y="5285232"/>
            <a:ext cx="2743200" cy="310896"/>
          </a:xfrm>
          <a:prstGeom prst="rect">
            <a:avLst/>
          </a:prstGeom>
          <a:noFill/>
          <a:ln/>
        </p:spPr>
        <p:txBody>
          <a:bodyPr wrap="square" lIns="0" tIns="0" rIns="0" bIns="0" rtlCol="0" anchor="ctr"/>
          <a:lstStyle/>
          <a:p>
            <a:pPr algn="l" indent="0" marL="0">
              <a:buNone/>
            </a:pPr>
            <a:r>
              <a:rPr lang="en-US" sz="1600" u="sng" dirty="0">
                <a:solidFill>
                  <a:srgbClr val="0071E3"/>
                </a:solidFill>
                <a:latin typeface="Helvetica Neue" pitchFamily="34" charset="0"/>
                <a:ea typeface="Helvetica Neue" pitchFamily="34" charset="-122"/>
                <a:cs typeface="Helvetica Neue" pitchFamily="34" charset="-120"/>
                <a:hlinkClick r:id="rId5" invalidUrl="" action="" tgtFrame="" tooltip="https://gabrielamamanestudent-wq.github.io/teetomivV2/science-fair/night-signal/app/" history="1" highlightClick="0" endSnd="0">
                  <a:extLst>
                    <a:ext uri="{A12FA001-AC4F-418D-AE19-62706E023703}">
                      <ahyp:hlinkClr xmlns:ahyp="http://schemas.microsoft.com/office/drawing/2018/hyperlinkcolor" val="tx"/>
                    </a:ext>
                  </a:extLst>
                </a:hlinkClick>
              </a:rPr>
              <a:t>Open the app ›</a:t>
            </a:r>
            <a:endParaRPr lang="en-US" sz="1600" dirty="0"/>
          </a:p>
        </p:txBody>
      </p:sp>
      <p:sp>
        <p:nvSpPr>
          <p:cNvPr id="21" name="Text 16"/>
          <p:cNvSpPr txBox="1"/>
          <p:nvPr/>
        </p:nvSpPr>
        <p:spPr>
          <a:xfrm>
            <a:off x="7680960" y="5650992"/>
            <a:ext cx="3840480" cy="274320"/>
          </a:xfrm>
          <a:prstGeom prst="rect">
            <a:avLst/>
          </a:prstGeom>
          <a:noFill/>
          <a:ln/>
        </p:spPr>
        <p:txBody>
          <a:bodyPr wrap="square" lIns="0" tIns="0" rIns="0" bIns="0" rtlCol="0" anchor="t"/>
          <a:lstStyle/>
          <a:p>
            <a:pPr indent="0" marL="0">
              <a:buNone/>
            </a:pPr>
            <a:r>
              <a:rPr lang="en-US" sz="1250" dirty="0">
                <a:solidFill>
                  <a:srgbClr val="6E6E73"/>
                </a:solidFill>
                <a:latin typeface="Helvetica Neue" pitchFamily="34" charset="0"/>
                <a:ea typeface="Helvetica Neue" pitchFamily="34" charset="-122"/>
                <a:cs typeface="Helvetica Neue" pitchFamily="34" charset="-120"/>
              </a:rPr>
              <a:t>Scan to try it. A demo device is built in.</a:t>
            </a:r>
            <a:endParaRPr lang="en-US" sz="1250" dirty="0"/>
          </a:p>
        </p:txBody>
      </p:sp>
      <p:sp>
        <p:nvSpPr>
          <p:cNvPr id="22" name="Text 17"/>
          <p:cNvSpPr txBox="1"/>
          <p:nvPr/>
        </p:nvSpPr>
        <p:spPr>
          <a:xfrm>
            <a:off x="685800" y="6473952"/>
            <a:ext cx="3657600" cy="228600"/>
          </a:xfrm>
          <a:prstGeom prst="rect">
            <a:avLst/>
          </a:prstGeom>
          <a:noFill/>
          <a:ln/>
        </p:spPr>
        <p:txBody>
          <a:bodyPr wrap="square" lIns="0" tIns="0" rIns="0" bIns="0" rtlCol="0" anchor="t"/>
          <a:lstStyle/>
          <a:p>
            <a:pPr indent="0" marL="0">
              <a:buNone/>
            </a:pPr>
            <a:r>
              <a:rPr lang="en-US" sz="950" b="1" dirty="0">
                <a:solidFill>
                  <a:srgbClr val="A1A1A6"/>
                </a:solidFill>
                <a:latin typeface="Helvetica Neue" pitchFamily="34" charset="0"/>
                <a:ea typeface="Helvetica Neue" pitchFamily="34" charset="-122"/>
                <a:cs typeface="Helvetica Neue" pitchFamily="34" charset="-120"/>
              </a:rPr>
              <a:t>Night Signal</a:t>
            </a:r>
            <a:endParaRPr lang="en-US" sz="950" dirty="0"/>
          </a:p>
        </p:txBody>
      </p:sp>
      <p:sp>
        <p:nvSpPr>
          <p:cNvPr id="23" name="Text 18"/>
          <p:cNvSpPr txBox="1"/>
          <p:nvPr/>
        </p:nvSpPr>
        <p:spPr>
          <a:xfrm>
            <a:off x="10588752" y="6473952"/>
            <a:ext cx="914400" cy="228600"/>
          </a:xfrm>
          <a:prstGeom prst="rect">
            <a:avLst/>
          </a:prstGeom>
          <a:noFill/>
          <a:ln/>
        </p:spPr>
        <p:txBody>
          <a:bodyPr wrap="square" lIns="0" tIns="0" rIns="0" bIns="0" rtlCol="0" anchor="t"/>
          <a:lstStyle/>
          <a:p>
            <a:pPr algn="r" indent="0" marL="0">
              <a:buNone/>
            </a:pPr>
            <a:r>
              <a:rPr lang="en-US" sz="950" dirty="0">
                <a:solidFill>
                  <a:srgbClr val="A1A1A6"/>
                </a:solidFill>
                <a:latin typeface="Helvetica Neue" pitchFamily="34" charset="0"/>
                <a:ea typeface="Helvetica Neue" pitchFamily="34" charset="-122"/>
                <a:cs typeface="Helvetica Neue"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320040"/>
          </a:xfrm>
          <a:prstGeom prst="rect">
            <a:avLst/>
          </a:prstGeom>
          <a:noFill/>
          <a:ln/>
        </p:spPr>
        <p:txBody>
          <a:bodyPr wrap="square" lIns="0" tIns="0" rIns="0" bIns="0" rtlCol="0" anchor="t"/>
          <a:lstStyle/>
          <a:p>
            <a:pPr indent="0" marL="0">
              <a:buNone/>
            </a:pPr>
            <a:r>
              <a:rPr lang="en-US" sz="1600" b="1" dirty="0">
                <a:solidFill>
                  <a:srgbClr val="E3254B"/>
                </a:solidFill>
                <a:latin typeface="Helvetica Neue" pitchFamily="34" charset="0"/>
                <a:ea typeface="Helvetica Neue" pitchFamily="34" charset="-122"/>
                <a:cs typeface="Helvetica Neue" pitchFamily="34" charset="-120"/>
              </a:rPr>
              <a:t>Results · not yet collected</a:t>
            </a:r>
            <a:endParaRPr lang="en-US" sz="1600" dirty="0"/>
          </a:p>
        </p:txBody>
      </p:sp>
      <p:sp>
        <p:nvSpPr>
          <p:cNvPr id="3" name="Text 1"/>
          <p:cNvSpPr txBox="1"/>
          <p:nvPr/>
        </p:nvSpPr>
        <p:spPr>
          <a:xfrm>
            <a:off x="685800" y="841248"/>
            <a:ext cx="10789920" cy="868680"/>
          </a:xfrm>
          <a:prstGeom prst="rect">
            <a:avLst/>
          </a:prstGeom>
          <a:noFill/>
          <a:ln/>
        </p:spPr>
        <p:txBody>
          <a:bodyPr wrap="square" lIns="0" tIns="0" rIns="0" bIns="0" rtlCol="0" anchor="t"/>
          <a:lstStyle/>
          <a:p>
            <a:pPr indent="0" marL="0">
              <a:lnSpc>
                <a:spcPct val="92000"/>
              </a:lnSpc>
              <a:buNone/>
            </a:pPr>
            <a:r>
              <a:rPr lang="en-US" sz="4000" b="1" dirty="0">
                <a:solidFill>
                  <a:srgbClr val="1D1D1F"/>
                </a:solidFill>
                <a:latin typeface="Helvetica Neue" pitchFamily="34" charset="0"/>
                <a:ea typeface="Helvetica Neue" pitchFamily="34" charset="-122"/>
                <a:cs typeface="Helvetica Neue" pitchFamily="34" charset="-120"/>
              </a:rPr>
              <a:t>What will be measured.</a:t>
            </a:r>
            <a:endParaRPr lang="en-US" sz="4000" dirty="0"/>
          </a:p>
        </p:txBody>
      </p:sp>
      <p:sp>
        <p:nvSpPr>
          <p:cNvPr id="4" name="Shape 2"/>
          <p:cNvSpPr/>
          <p:nvPr/>
        </p:nvSpPr>
        <p:spPr>
          <a:xfrm>
            <a:off x="9464040" y="502920"/>
            <a:ext cx="2057400" cy="329184"/>
          </a:xfrm>
          <a:prstGeom prst="roundRect">
            <a:avLst>
              <a:gd name="adj" fmla="val 50000"/>
            </a:avLst>
          </a:prstGeom>
          <a:solidFill>
            <a:srgbClr val="F5F5F7"/>
          </a:solidFill>
          <a:ln/>
        </p:spPr>
      </p:sp>
      <p:sp>
        <p:nvSpPr>
          <p:cNvPr id="5" name="Text 3"/>
          <p:cNvSpPr txBox="1"/>
          <p:nvPr/>
        </p:nvSpPr>
        <p:spPr>
          <a:xfrm>
            <a:off x="9464040" y="502920"/>
            <a:ext cx="2057400" cy="329184"/>
          </a:xfrm>
          <a:prstGeom prst="rect">
            <a:avLst/>
          </a:prstGeom>
          <a:noFill/>
          <a:ln/>
        </p:spPr>
        <p:txBody>
          <a:bodyPr wrap="square" lIns="0" tIns="0" rIns="0" bIns="0" rtlCol="0" anchor="ctr"/>
          <a:lstStyle/>
          <a:p>
            <a:pPr algn="ctr" indent="0" marL="0">
              <a:buNone/>
            </a:pPr>
            <a:r>
              <a:rPr lang="en-US" sz="1050" b="1" dirty="0">
                <a:solidFill>
                  <a:srgbClr val="6E6E73"/>
                </a:solidFill>
                <a:latin typeface="Helvetica Neue" pitchFamily="34" charset="0"/>
                <a:ea typeface="Helvetica Neue" pitchFamily="34" charset="-122"/>
                <a:cs typeface="Helvetica Neue" pitchFamily="34" charset="-120"/>
              </a:rPr>
              <a:t>No real data yet</a:t>
            </a:r>
            <a:endParaRPr lang="en-US" sz="10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85800" y="1874520"/>
          <a:ext cx="10817352" cy="914400"/>
        </p:xfrm>
        <a:graphic>
          <a:graphicData uri="http://schemas.openxmlformats.org/drawingml/2006/table">
            <a:tbl>
              <a:tblPr/>
              <a:tblGrid>
                <a:gridCol w="2514600"/>
                <a:gridCol w="3794760"/>
                <a:gridCol w="3044952"/>
                <a:gridCol w="1463040"/>
              </a:tblGrid>
              <a:tr h="475488">
                <a:tc>
                  <a:txBody>
                    <a:bodyPr/>
                    <a:lstStyle/>
                    <a:p>
                      <a:pPr indent="0" marL="0">
                        <a:buNone/>
                      </a:pPr>
                      <a:r>
                        <a:rPr lang="en-US" sz="1100" b="1" dirty="0">
                          <a:solidFill>
                            <a:srgbClr val="6E6E73"/>
                          </a:solidFill>
                          <a:latin typeface="Helvetica Neue" pitchFamily="34" charset="0"/>
                          <a:ea typeface="Helvetica Neue" pitchFamily="34" charset="-122"/>
                          <a:cs typeface="Helvetica Neue" pitchFamily="34" charset="-120"/>
                        </a:rPr>
                        <a:t>Measure</a:t>
                      </a:r>
                      <a:endParaRPr lang="en-US" sz="11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15875" cap="flat" cmpd="sng" algn="ctr">
                      <a:solidFill>
                        <a:srgbClr val="1D1D1F"/>
                      </a:solidFill>
                      <a:prstDash val="solid"/>
                      <a:round/>
                      <a:headEnd type="none" w="med" len="med"/>
                      <a:tailEnd type="none" w="med" len="med"/>
                    </a:lnB>
                  </a:tcPr>
                </a:tc>
                <a:tc>
                  <a:txBody>
                    <a:bodyPr/>
                    <a:lstStyle/>
                    <a:p>
                      <a:pPr indent="0" marL="0">
                        <a:buNone/>
                      </a:pPr>
                      <a:r>
                        <a:rPr lang="en-US" sz="1100" b="1" dirty="0">
                          <a:solidFill>
                            <a:srgbClr val="6E6E73"/>
                          </a:solidFill>
                          <a:latin typeface="Helvetica Neue" pitchFamily="34" charset="0"/>
                          <a:ea typeface="Helvetica Neue" pitchFamily="34" charset="-122"/>
                          <a:cs typeface="Helvetica Neue" pitchFamily="34" charset="-120"/>
                        </a:rPr>
                        <a:t>How it is calculated</a:t>
                      </a:r>
                      <a:endParaRPr lang="en-US" sz="11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15875" cap="flat" cmpd="sng" algn="ctr">
                      <a:solidFill>
                        <a:srgbClr val="1D1D1F"/>
                      </a:solidFill>
                      <a:prstDash val="solid"/>
                      <a:round/>
                      <a:headEnd type="none" w="med" len="med"/>
                      <a:tailEnd type="none" w="med" len="med"/>
                    </a:lnB>
                  </a:tcPr>
                </a:tc>
                <a:tc>
                  <a:txBody>
                    <a:bodyPr/>
                    <a:lstStyle/>
                    <a:p>
                      <a:pPr indent="0" marL="0">
                        <a:buNone/>
                      </a:pPr>
                      <a:r>
                        <a:rPr lang="en-US" sz="1100" b="1" dirty="0">
                          <a:solidFill>
                            <a:srgbClr val="6E6E73"/>
                          </a:solidFill>
                          <a:latin typeface="Helvetica Neue" pitchFamily="34" charset="0"/>
                          <a:ea typeface="Helvetica Neue" pitchFamily="34" charset="-122"/>
                          <a:cs typeface="Helvetica Neue" pitchFamily="34" charset="-120"/>
                        </a:rPr>
                        <a:t>Demonstration (simulated)</a:t>
                      </a:r>
                      <a:endParaRPr lang="en-US" sz="11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15875" cap="flat" cmpd="sng" algn="ctr">
                      <a:solidFill>
                        <a:srgbClr val="1D1D1F"/>
                      </a:solidFill>
                      <a:prstDash val="solid"/>
                      <a:round/>
                      <a:headEnd type="none" w="med" len="med"/>
                      <a:tailEnd type="none" w="med" len="med"/>
                    </a:lnB>
                  </a:tcPr>
                </a:tc>
                <a:tc>
                  <a:txBody>
                    <a:bodyPr/>
                    <a:lstStyle/>
                    <a:p>
                      <a:pPr indent="0" marL="0">
                        <a:buNone/>
                      </a:pPr>
                      <a:r>
                        <a:rPr lang="en-US" sz="1100" b="1" dirty="0">
                          <a:solidFill>
                            <a:srgbClr val="6E6E73"/>
                          </a:solidFill>
                          <a:latin typeface="Helvetica Neue" pitchFamily="34" charset="0"/>
                          <a:ea typeface="Helvetica Neue" pitchFamily="34" charset="-122"/>
                          <a:cs typeface="Helvetica Neue" pitchFamily="34" charset="-120"/>
                        </a:rPr>
                        <a:t>Real result</a:t>
                      </a:r>
                      <a:endParaRPr lang="en-US" sz="11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15875" cap="flat" cmpd="sng" algn="ctr">
                      <a:solidFill>
                        <a:srgbClr val="1D1D1F"/>
                      </a:solidFill>
                      <a:prstDash val="solid"/>
                      <a:round/>
                      <a:headEnd type="none" w="med" len="med"/>
                      <a:tailEnd type="none" w="med" len="med"/>
                    </a:lnB>
                  </a:tcPr>
                </a:tc>
              </a:tr>
              <a:tr h="475488">
                <a:tc>
                  <a:txBody>
                    <a:bodyPr/>
                    <a:lstStyle/>
                    <a:p>
                      <a:pPr indent="0" marL="0">
                        <a:buNone/>
                      </a:pPr>
                      <a:r>
                        <a:rPr lang="en-US" sz="1300" b="1" dirty="0">
                          <a:solidFill>
                            <a:srgbClr val="1D1D1F"/>
                          </a:solidFill>
                          <a:latin typeface="Helvetica Neue" pitchFamily="34" charset="0"/>
                          <a:ea typeface="Helvetica Neue" pitchFamily="34" charset="-122"/>
                          <a:cs typeface="Helvetica Neue" pitchFamily="34" charset="-120"/>
                        </a:rPr>
                        <a:t>SpO₂ agreement</a:t>
                      </a:r>
                      <a:endParaRPr lang="en-US" sz="13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300" dirty="0">
                          <a:solidFill>
                            <a:srgbClr val="6E6E73"/>
                          </a:solidFill>
                          <a:latin typeface="Helvetica Neue" pitchFamily="34" charset="0"/>
                          <a:ea typeface="Helvetica Neue" pitchFamily="34" charset="-122"/>
                          <a:cs typeface="Helvetica Neue" pitchFamily="34" charset="-120"/>
                        </a:rPr>
                        <a:t>device − reference, paired every 2 min: bias, 95% limits</a:t>
                      </a:r>
                      <a:endParaRPr lang="en-US" sz="13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300" dirty="0">
                          <a:solidFill>
                            <a:srgbClr val="1D1D1F"/>
                          </a:solidFill>
                          <a:latin typeface="Helvetica Neue" pitchFamily="34" charset="0"/>
                          <a:ea typeface="Helvetica Neue" pitchFamily="34" charset="-122"/>
                          <a:cs typeface="Helvetica Neue" pitchFamily="34" charset="-120"/>
                        </a:rPr>
                        <a:t>+0.07 (−1.47 to +1.61) points</a:t>
                      </a:r>
                      <a:endParaRPr lang="en-US" sz="13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300" dirty="0">
                          <a:solidFill>
                            <a:srgbClr val="1D1D1F"/>
                          </a:solidFill>
                          <a:latin typeface="Helvetica Neue" pitchFamily="34" charset="0"/>
                          <a:ea typeface="Helvetica Neue" pitchFamily="34" charset="-122"/>
                          <a:cs typeface="Helvetica Neue" pitchFamily="34" charset="-120"/>
                        </a:rPr>
                        <a:t>pending</a:t>
                      </a:r>
                      <a:endParaRPr lang="en-US" sz="13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475488">
                <a:tc>
                  <a:txBody>
                    <a:bodyPr/>
                    <a:lstStyle/>
                    <a:p>
                      <a:pPr indent="0" marL="0">
                        <a:buNone/>
                      </a:pPr>
                      <a:r>
                        <a:rPr lang="en-US" sz="1300" b="1" dirty="0">
                          <a:solidFill>
                            <a:srgbClr val="1D1D1F"/>
                          </a:solidFill>
                          <a:latin typeface="Helvetica Neue" pitchFamily="34" charset="0"/>
                          <a:ea typeface="Helvetica Neue" pitchFamily="34" charset="-122"/>
                          <a:cs typeface="Helvetica Neue" pitchFamily="34" charset="-120"/>
                        </a:rPr>
                        <a:t>Heart-rate agreement</a:t>
                      </a:r>
                      <a:endParaRPr lang="en-US" sz="13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300" dirty="0">
                          <a:solidFill>
                            <a:srgbClr val="6E6E73"/>
                          </a:solidFill>
                          <a:latin typeface="Helvetica Neue" pitchFamily="34" charset="0"/>
                          <a:ea typeface="Helvetica Neue" pitchFamily="34" charset="-122"/>
                          <a:cs typeface="Helvetica Neue" pitchFamily="34" charset="-120"/>
                        </a:rPr>
                        <a:t>same pairing, in beats per minute</a:t>
                      </a:r>
                      <a:endParaRPr lang="en-US" sz="13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300" dirty="0">
                          <a:solidFill>
                            <a:srgbClr val="1D1D1F"/>
                          </a:solidFill>
                          <a:latin typeface="Helvetica Neue" pitchFamily="34" charset="0"/>
                          <a:ea typeface="Helvetica Neue" pitchFamily="34" charset="-122"/>
                          <a:cs typeface="Helvetica Neue" pitchFamily="34" charset="-120"/>
                        </a:rPr>
                        <a:t>−0.0 (−2.3 to +2.3) bpm</a:t>
                      </a:r>
                      <a:endParaRPr lang="en-US" sz="13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300" dirty="0">
                          <a:solidFill>
                            <a:srgbClr val="1D1D1F"/>
                          </a:solidFill>
                          <a:latin typeface="Helvetica Neue" pitchFamily="34" charset="0"/>
                          <a:ea typeface="Helvetica Neue" pitchFamily="34" charset="-122"/>
                          <a:cs typeface="Helvetica Neue" pitchFamily="34" charset="-120"/>
                        </a:rPr>
                        <a:t>pending</a:t>
                      </a:r>
                      <a:endParaRPr lang="en-US" sz="13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475488">
                <a:tc>
                  <a:txBody>
                    <a:bodyPr/>
                    <a:lstStyle/>
                    <a:p>
                      <a:pPr indent="0" marL="0">
                        <a:buNone/>
                      </a:pPr>
                      <a:r>
                        <a:rPr lang="en-US" sz="1300" b="1" dirty="0">
                          <a:solidFill>
                            <a:srgbClr val="1D1D1F"/>
                          </a:solidFill>
                          <a:latin typeface="Helvetica Neue" pitchFamily="34" charset="0"/>
                          <a:ea typeface="Helvetica Neue" pitchFamily="34" charset="-122"/>
                          <a:cs typeface="Helvetica Neue" pitchFamily="34" charset="-120"/>
                        </a:rPr>
                        <a:t>Valid signal</a:t>
                      </a:r>
                      <a:endParaRPr lang="en-US" sz="13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300" dirty="0">
                          <a:solidFill>
                            <a:srgbClr val="6E6E73"/>
                          </a:solidFill>
                          <a:latin typeface="Helvetica Neue" pitchFamily="34" charset="0"/>
                          <a:ea typeface="Helvetica Neue" pitchFamily="34" charset="-122"/>
                          <a:cs typeface="Helvetica Neue" pitchFamily="34" charset="-120"/>
                        </a:rPr>
                        <a:t>finger on, sensor-valid, 70–100%, no movement</a:t>
                      </a:r>
                      <a:endParaRPr lang="en-US" sz="13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300" dirty="0">
                          <a:solidFill>
                            <a:srgbClr val="1D1D1F"/>
                          </a:solidFill>
                          <a:latin typeface="Helvetica Neue" pitchFamily="34" charset="0"/>
                          <a:ea typeface="Helvetica Neue" pitchFamily="34" charset="-122"/>
                          <a:cs typeface="Helvetica Neue" pitchFamily="34" charset="-120"/>
                        </a:rPr>
                        <a:t>98% (6.88 of 7.0 h)</a:t>
                      </a:r>
                      <a:endParaRPr lang="en-US" sz="13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300" dirty="0">
                          <a:solidFill>
                            <a:srgbClr val="1D1D1F"/>
                          </a:solidFill>
                          <a:latin typeface="Helvetica Neue" pitchFamily="34" charset="0"/>
                          <a:ea typeface="Helvetica Neue" pitchFamily="34" charset="-122"/>
                          <a:cs typeface="Helvetica Neue" pitchFamily="34" charset="-120"/>
                        </a:rPr>
                        <a:t>pending</a:t>
                      </a:r>
                      <a:endParaRPr lang="en-US" sz="13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475488">
                <a:tc>
                  <a:txBody>
                    <a:bodyPr/>
                    <a:lstStyle/>
                    <a:p>
                      <a:pPr indent="0" marL="0">
                        <a:buNone/>
                      </a:pPr>
                      <a:r>
                        <a:rPr lang="en-US" sz="1300" b="1" dirty="0">
                          <a:solidFill>
                            <a:srgbClr val="1D1D1F"/>
                          </a:solidFill>
                          <a:latin typeface="Helvetica Neue" pitchFamily="34" charset="0"/>
                          <a:ea typeface="Helvetica Neue" pitchFamily="34" charset="-122"/>
                          <a:cs typeface="Helvetica Neue" pitchFamily="34" charset="-120"/>
                        </a:rPr>
                        <a:t>Desaturation events</a:t>
                      </a:r>
                      <a:endParaRPr lang="en-US" sz="13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300" dirty="0">
                          <a:solidFill>
                            <a:srgbClr val="6E6E73"/>
                          </a:solidFill>
                          <a:latin typeface="Helvetica Neue" pitchFamily="34" charset="0"/>
                          <a:ea typeface="Helvetica Neue" pitchFamily="34" charset="-122"/>
                          <a:cs typeface="Helvetica Neue" pitchFamily="34" charset="-120"/>
                        </a:rPr>
                        <a:t>≥ 3 points below a 120-s baseline for ≥ 10 s</a:t>
                      </a:r>
                      <a:endParaRPr lang="en-US" sz="13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300" dirty="0">
                          <a:solidFill>
                            <a:srgbClr val="1D1D1F"/>
                          </a:solidFill>
                          <a:latin typeface="Helvetica Neue" pitchFamily="34" charset="0"/>
                          <a:ea typeface="Helvetica Neue" pitchFamily="34" charset="-122"/>
                          <a:cs typeface="Helvetica Neue" pitchFamily="34" charset="-120"/>
                        </a:rPr>
                        <a:t>19 events</a:t>
                      </a:r>
                      <a:endParaRPr lang="en-US" sz="13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300" dirty="0">
                          <a:solidFill>
                            <a:srgbClr val="1D1D1F"/>
                          </a:solidFill>
                          <a:latin typeface="Helvetica Neue" pitchFamily="34" charset="0"/>
                          <a:ea typeface="Helvetica Neue" pitchFamily="34" charset="-122"/>
                          <a:cs typeface="Helvetica Neue" pitchFamily="34" charset="-120"/>
                        </a:rPr>
                        <a:t>pending</a:t>
                      </a:r>
                      <a:endParaRPr lang="en-US" sz="13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475488">
                <a:tc>
                  <a:txBody>
                    <a:bodyPr/>
                    <a:lstStyle/>
                    <a:p>
                      <a:pPr indent="0" marL="0">
                        <a:buNone/>
                      </a:pPr>
                      <a:r>
                        <a:rPr lang="en-US" sz="1300" b="1" dirty="0">
                          <a:solidFill>
                            <a:srgbClr val="1D1D1F"/>
                          </a:solidFill>
                          <a:latin typeface="Helvetica Neue" pitchFamily="34" charset="0"/>
                          <a:ea typeface="Helvetica Neue" pitchFamily="34" charset="-122"/>
                          <a:cs typeface="Helvetica Neue" pitchFamily="34" charset="-120"/>
                        </a:rPr>
                        <a:t>Desaturation event rate</a:t>
                      </a:r>
                      <a:endParaRPr lang="en-US" sz="13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300" dirty="0">
                          <a:solidFill>
                            <a:srgbClr val="6E6E73"/>
                          </a:solidFill>
                          <a:latin typeface="Helvetica Neue" pitchFamily="34" charset="0"/>
                          <a:ea typeface="Helvetica Neue" pitchFamily="34" charset="-122"/>
                          <a:cs typeface="Helvetica Neue" pitchFamily="34" charset="-120"/>
                        </a:rPr>
                        <a:t>events ÷ hours of VALID recording</a:t>
                      </a:r>
                      <a:endParaRPr lang="en-US" sz="13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300" dirty="0">
                          <a:solidFill>
                            <a:srgbClr val="1D1D1F"/>
                          </a:solidFill>
                          <a:latin typeface="Helvetica Neue" pitchFamily="34" charset="0"/>
                          <a:ea typeface="Helvetica Neue" pitchFamily="34" charset="-122"/>
                          <a:cs typeface="Helvetica Neue" pitchFamily="34" charset="-120"/>
                        </a:rPr>
                        <a:t>2.8 per valid hour (19 ÷ 6.88 h)</a:t>
                      </a:r>
                      <a:endParaRPr lang="en-US" sz="13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300" dirty="0">
                          <a:solidFill>
                            <a:srgbClr val="1D1D1F"/>
                          </a:solidFill>
                          <a:latin typeface="Helvetica Neue" pitchFamily="34" charset="0"/>
                          <a:ea typeface="Helvetica Neue" pitchFamily="34" charset="-122"/>
                          <a:cs typeface="Helvetica Neue" pitchFamily="34" charset="-120"/>
                        </a:rPr>
                        <a:t>pending</a:t>
                      </a:r>
                      <a:endParaRPr lang="en-US" sz="13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475488">
                <a:tc>
                  <a:txBody>
                    <a:bodyPr/>
                    <a:lstStyle/>
                    <a:p>
                      <a:pPr indent="0" marL="0">
                        <a:buNone/>
                      </a:pPr>
                      <a:r>
                        <a:rPr lang="en-US" sz="1300" b="1" dirty="0">
                          <a:solidFill>
                            <a:srgbClr val="1D1D1F"/>
                          </a:solidFill>
                          <a:latin typeface="Helvetica Neue" pitchFamily="34" charset="0"/>
                          <a:ea typeface="Helvetica Neue" pitchFamily="34" charset="-122"/>
                          <a:cs typeface="Helvetica Neue" pitchFamily="34" charset="-120"/>
                        </a:rPr>
                        <a:t>Breath-hold dips flagged (if approved)</a:t>
                      </a:r>
                      <a:endParaRPr lang="en-US" sz="13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300" dirty="0">
                          <a:solidFill>
                            <a:srgbClr val="6E6E73"/>
                          </a:solidFill>
                          <a:latin typeface="Helvetica Neue" pitchFamily="34" charset="0"/>
                          <a:ea typeface="Helvetica Neue" pitchFamily="34" charset="-122"/>
                          <a:cs typeface="Helvetica Neue" pitchFamily="34" charset="-120"/>
                        </a:rPr>
                        <a:t>flags within ±30 s of each logged hold</a:t>
                      </a:r>
                      <a:endParaRPr lang="en-US" sz="13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300" dirty="0">
                          <a:solidFill>
                            <a:srgbClr val="1D1D1F"/>
                          </a:solidFill>
                          <a:latin typeface="Helvetica Neue" pitchFamily="34" charset="0"/>
                          <a:ea typeface="Helvetica Neue" pitchFamily="34" charset="-122"/>
                          <a:cs typeface="Helvetica Neue" pitchFamily="34" charset="-120"/>
                        </a:rPr>
                        <a:t>not simulated</a:t>
                      </a:r>
                      <a:endParaRPr lang="en-US" sz="13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300" dirty="0">
                          <a:solidFill>
                            <a:srgbClr val="1D1D1F"/>
                          </a:solidFill>
                          <a:latin typeface="Helvetica Neue" pitchFamily="34" charset="0"/>
                          <a:ea typeface="Helvetica Neue" pitchFamily="34" charset="-122"/>
                          <a:cs typeface="Helvetica Neue" pitchFamily="34" charset="-120"/>
                        </a:rPr>
                        <a:t>pending</a:t>
                      </a:r>
                      <a:endParaRPr lang="en-US" sz="13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bl>
          </a:graphicData>
        </a:graphic>
      </p:graphicFrame>
      <p:sp>
        <p:nvSpPr>
          <p:cNvPr id="7" name="Shape 4"/>
          <p:cNvSpPr/>
          <p:nvPr/>
        </p:nvSpPr>
        <p:spPr>
          <a:xfrm>
            <a:off x="685800" y="5440680"/>
            <a:ext cx="10817352" cy="868680"/>
          </a:xfrm>
          <a:prstGeom prst="roundRect">
            <a:avLst>
              <a:gd name="adj" fmla="val 23158"/>
            </a:avLst>
          </a:prstGeom>
          <a:solidFill>
            <a:srgbClr val="FFF4E5"/>
          </a:solidFill>
          <a:ln/>
        </p:spPr>
      </p:sp>
      <p:sp>
        <p:nvSpPr>
          <p:cNvPr id="8" name="Text 5"/>
          <p:cNvSpPr txBox="1"/>
          <p:nvPr/>
        </p:nvSpPr>
        <p:spPr>
          <a:xfrm>
            <a:off x="960120" y="5559552"/>
            <a:ext cx="10332720" cy="685800"/>
          </a:xfrm>
          <a:prstGeom prst="rect">
            <a:avLst/>
          </a:prstGeom>
          <a:noFill/>
          <a:ln/>
        </p:spPr>
        <p:txBody>
          <a:bodyPr wrap="square" lIns="0" tIns="0" rIns="0" bIns="0" rtlCol="0" anchor="t"/>
          <a:lstStyle/>
          <a:p>
            <a:pPr indent="0" marL="0">
              <a:buNone/>
            </a:pPr>
            <a:r>
              <a:rPr lang="en-US" sz="1300" b="1" dirty="0">
                <a:solidFill>
                  <a:srgbClr val="B25000"/>
                </a:solidFill>
                <a:latin typeface="Helvetica Neue" pitchFamily="34" charset="0"/>
                <a:ea typeface="Helvetica Neue" pitchFamily="34" charset="-122"/>
                <a:cs typeface="Helvetica Neue" pitchFamily="34" charset="-120"/>
              </a:rPr>
              <a:t>Demonstration values come from simulated data. </a:t>
            </a:r>
            <a:pPr indent="0" marL="0">
              <a:buNone/>
            </a:pPr>
            <a:r>
              <a:rPr lang="en-US" sz="1300" dirty="0">
                <a:solidFill>
                  <a:srgbClr val="1D1D1F"/>
                </a:solidFill>
                <a:latin typeface="Helvetica Neue" pitchFamily="34" charset="0"/>
                <a:ea typeface="Helvetica Neue" pitchFamily="34" charset="-122"/>
                <a:cs typeface="Helvetica Neue" pitchFamily="34" charset="-120"/>
              </a:rPr>
              <a:t>They only show that the analysis works; they are not findings. The simulated “reference” was made from the same invented data. The event rate is not an apnea–hypopnea index.</a:t>
            </a:r>
            <a:endParaRPr lang="en-US" sz="1300" dirty="0"/>
          </a:p>
        </p:txBody>
      </p:sp>
      <p:sp>
        <p:nvSpPr>
          <p:cNvPr id="9" name="Text 6"/>
          <p:cNvSpPr txBox="1"/>
          <p:nvPr/>
        </p:nvSpPr>
        <p:spPr>
          <a:xfrm>
            <a:off x="685800" y="6473952"/>
            <a:ext cx="3657600" cy="228600"/>
          </a:xfrm>
          <a:prstGeom prst="rect">
            <a:avLst/>
          </a:prstGeom>
          <a:noFill/>
          <a:ln/>
        </p:spPr>
        <p:txBody>
          <a:bodyPr wrap="square" lIns="0" tIns="0" rIns="0" bIns="0" rtlCol="0" anchor="t"/>
          <a:lstStyle/>
          <a:p>
            <a:pPr indent="0" marL="0">
              <a:buNone/>
            </a:pPr>
            <a:r>
              <a:rPr lang="en-US" sz="950" b="1" dirty="0">
                <a:solidFill>
                  <a:srgbClr val="A1A1A6"/>
                </a:solidFill>
                <a:latin typeface="Helvetica Neue" pitchFamily="34" charset="0"/>
                <a:ea typeface="Helvetica Neue" pitchFamily="34" charset="-122"/>
                <a:cs typeface="Helvetica Neue" pitchFamily="34" charset="-120"/>
              </a:rPr>
              <a:t>Night Signal</a:t>
            </a:r>
            <a:endParaRPr lang="en-US" sz="950" dirty="0"/>
          </a:p>
        </p:txBody>
      </p:sp>
      <p:sp>
        <p:nvSpPr>
          <p:cNvPr id="10" name="Text 7"/>
          <p:cNvSpPr txBox="1"/>
          <p:nvPr/>
        </p:nvSpPr>
        <p:spPr>
          <a:xfrm>
            <a:off x="10588752" y="6473952"/>
            <a:ext cx="914400" cy="228600"/>
          </a:xfrm>
          <a:prstGeom prst="rect">
            <a:avLst/>
          </a:prstGeom>
          <a:noFill/>
          <a:ln/>
        </p:spPr>
        <p:txBody>
          <a:bodyPr wrap="square" lIns="0" tIns="0" rIns="0" bIns="0" rtlCol="0" anchor="t"/>
          <a:lstStyle/>
          <a:p>
            <a:pPr algn="r" indent="0" marL="0">
              <a:buNone/>
            </a:pPr>
            <a:r>
              <a:rPr lang="en-US" sz="950" dirty="0">
                <a:solidFill>
                  <a:srgbClr val="A1A1A6"/>
                </a:solidFill>
                <a:latin typeface="Helvetica Neue" pitchFamily="34" charset="0"/>
                <a:ea typeface="Helvetica Neue" pitchFamily="34" charset="-122"/>
                <a:cs typeface="Helvetica Neue"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320040"/>
          </a:xfrm>
          <a:prstGeom prst="rect">
            <a:avLst/>
          </a:prstGeom>
          <a:noFill/>
          <a:ln/>
        </p:spPr>
        <p:txBody>
          <a:bodyPr wrap="square" lIns="0" tIns="0" rIns="0" bIns="0" rtlCol="0" anchor="t"/>
          <a:lstStyle/>
          <a:p>
            <a:pPr indent="0" marL="0">
              <a:buNone/>
            </a:pPr>
            <a:r>
              <a:rPr lang="en-US" sz="1600" b="1" dirty="0">
                <a:solidFill>
                  <a:srgbClr val="E3254B"/>
                </a:solidFill>
                <a:latin typeface="Helvetica Neue" pitchFamily="34" charset="0"/>
                <a:ea typeface="Helvetica Neue" pitchFamily="34" charset="-122"/>
                <a:cs typeface="Helvetica Neue" pitchFamily="34" charset="-120"/>
              </a:rPr>
              <a:t>Results · demonstration</a:t>
            </a:r>
            <a:endParaRPr lang="en-US" sz="1600" dirty="0"/>
          </a:p>
        </p:txBody>
      </p:sp>
      <p:sp>
        <p:nvSpPr>
          <p:cNvPr id="3" name="Text 1"/>
          <p:cNvSpPr txBox="1"/>
          <p:nvPr/>
        </p:nvSpPr>
        <p:spPr>
          <a:xfrm>
            <a:off x="685800" y="841248"/>
            <a:ext cx="10789920" cy="868680"/>
          </a:xfrm>
          <a:prstGeom prst="rect">
            <a:avLst/>
          </a:prstGeom>
          <a:noFill/>
          <a:ln/>
        </p:spPr>
        <p:txBody>
          <a:bodyPr wrap="square" lIns="0" tIns="0" rIns="0" bIns="0" rtlCol="0" anchor="t"/>
          <a:lstStyle/>
          <a:p>
            <a:pPr indent="0" marL="0">
              <a:lnSpc>
                <a:spcPct val="92000"/>
              </a:lnSpc>
              <a:buNone/>
            </a:pPr>
            <a:r>
              <a:rPr lang="en-US" sz="4000" b="1" dirty="0">
                <a:solidFill>
                  <a:srgbClr val="1D1D1F"/>
                </a:solidFill>
                <a:latin typeface="Helvetica Neue" pitchFamily="34" charset="0"/>
                <a:ea typeface="Helvetica Neue" pitchFamily="34" charset="-122"/>
                <a:cs typeface="Helvetica Neue" pitchFamily="34" charset="-120"/>
              </a:rPr>
              <a:t>How the results will be shown.</a:t>
            </a:r>
            <a:endParaRPr lang="en-US" sz="4000" dirty="0"/>
          </a:p>
        </p:txBody>
      </p:sp>
      <p:sp>
        <p:nvSpPr>
          <p:cNvPr id="4" name="Shape 2"/>
          <p:cNvSpPr/>
          <p:nvPr/>
        </p:nvSpPr>
        <p:spPr>
          <a:xfrm>
            <a:off x="9464040" y="502920"/>
            <a:ext cx="2057400" cy="329184"/>
          </a:xfrm>
          <a:prstGeom prst="roundRect">
            <a:avLst>
              <a:gd name="adj" fmla="val 50000"/>
            </a:avLst>
          </a:prstGeom>
          <a:solidFill>
            <a:srgbClr val="FFFFFF"/>
          </a:solidFill>
          <a:ln/>
        </p:spPr>
      </p:sp>
      <p:sp>
        <p:nvSpPr>
          <p:cNvPr id="5" name="Text 3"/>
          <p:cNvSpPr txBox="1"/>
          <p:nvPr/>
        </p:nvSpPr>
        <p:spPr>
          <a:xfrm>
            <a:off x="9464040" y="502920"/>
            <a:ext cx="2057400" cy="329184"/>
          </a:xfrm>
          <a:prstGeom prst="rect">
            <a:avLst/>
          </a:prstGeom>
          <a:noFill/>
          <a:ln/>
        </p:spPr>
        <p:txBody>
          <a:bodyPr wrap="square" lIns="0" tIns="0" rIns="0" bIns="0" rtlCol="0" anchor="ctr"/>
          <a:lstStyle/>
          <a:p>
            <a:pPr algn="ctr" indent="0" marL="0">
              <a:buNone/>
            </a:pPr>
            <a:r>
              <a:rPr lang="en-US" sz="1050" b="1" dirty="0">
                <a:solidFill>
                  <a:srgbClr val="6E6E73"/>
                </a:solidFill>
                <a:latin typeface="Helvetica Neue" pitchFamily="34" charset="0"/>
                <a:ea typeface="Helvetica Neue" pitchFamily="34" charset="-122"/>
                <a:cs typeface="Helvetica Neue" pitchFamily="34" charset="-120"/>
              </a:rPr>
              <a:t>Simulated data</a:t>
            </a:r>
            <a:endParaRPr lang="en-US" sz="1050" dirty="0"/>
          </a:p>
        </p:txBody>
      </p:sp>
      <p:sp>
        <p:nvSpPr>
          <p:cNvPr id="6" name="Shape 4"/>
          <p:cNvSpPr/>
          <p:nvPr/>
        </p:nvSpPr>
        <p:spPr>
          <a:xfrm>
            <a:off x="685800" y="1874520"/>
            <a:ext cx="6583680" cy="3840480"/>
          </a:xfrm>
          <a:prstGeom prst="roundRect">
            <a:avLst>
              <a:gd name="adj" fmla="val 5238"/>
            </a:avLst>
          </a:prstGeom>
          <a:solidFill>
            <a:srgbClr val="FFFFFF"/>
          </a:solidFill>
          <a:ln/>
        </p:spPr>
      </p:sp>
      <p:pic>
        <p:nvPicPr>
          <p:cNvPr id="7" name="Image 0" descr="/home/user/teetomivV2/science-fair/night-signal/slides/assets/oxygen.png">    </p:cNvPr>
          <p:cNvPicPr>
            <a:picLocks noChangeAspect="1"/>
          </p:cNvPicPr>
          <p:nvPr/>
        </p:nvPicPr>
        <p:blipFill>
          <a:blip r:embed="rId1"/>
          <a:stretch>
            <a:fillRect/>
          </a:stretch>
        </p:blipFill>
        <p:spPr>
          <a:xfrm>
            <a:off x="886968" y="2208757"/>
            <a:ext cx="6181344" cy="3172005"/>
          </a:xfrm>
          <a:prstGeom prst="rect">
            <a:avLst/>
          </a:prstGeom>
        </p:spPr>
      </p:pic>
      <p:sp>
        <p:nvSpPr>
          <p:cNvPr id="8" name="Shape 5"/>
          <p:cNvSpPr/>
          <p:nvPr/>
        </p:nvSpPr>
        <p:spPr>
          <a:xfrm>
            <a:off x="7452360" y="1874520"/>
            <a:ext cx="4050792" cy="3840480"/>
          </a:xfrm>
          <a:prstGeom prst="roundRect">
            <a:avLst>
              <a:gd name="adj" fmla="val 5238"/>
            </a:avLst>
          </a:prstGeom>
          <a:solidFill>
            <a:srgbClr val="FFFFFF"/>
          </a:solidFill>
          <a:ln/>
        </p:spPr>
      </p:sp>
      <p:pic>
        <p:nvPicPr>
          <p:cNvPr id="9" name="Image 1" descr="/home/user/teetomivV2/science-fair/night-signal/slides/assets/validation.png">    </p:cNvPr>
          <p:cNvPicPr>
            <a:picLocks noChangeAspect="1"/>
          </p:cNvPicPr>
          <p:nvPr/>
        </p:nvPicPr>
        <p:blipFill>
          <a:blip r:embed="rId2"/>
          <a:stretch>
            <a:fillRect/>
          </a:stretch>
        </p:blipFill>
        <p:spPr>
          <a:xfrm>
            <a:off x="7653528" y="2473767"/>
            <a:ext cx="3648456" cy="2641985"/>
          </a:xfrm>
          <a:prstGeom prst="rect">
            <a:avLst/>
          </a:prstGeom>
        </p:spPr>
      </p:pic>
      <p:sp>
        <p:nvSpPr>
          <p:cNvPr id="10" name="Text 6"/>
          <p:cNvSpPr txBox="1"/>
          <p:nvPr/>
        </p:nvSpPr>
        <p:spPr>
          <a:xfrm>
            <a:off x="685800" y="5870448"/>
            <a:ext cx="6583680" cy="274320"/>
          </a:xfrm>
          <a:prstGeom prst="rect">
            <a:avLst/>
          </a:prstGeom>
          <a:noFill/>
          <a:ln/>
        </p:spPr>
        <p:txBody>
          <a:bodyPr wrap="square" lIns="0" tIns="0" rIns="0" bIns="0" rtlCol="0" anchor="t"/>
          <a:lstStyle/>
          <a:p>
            <a:pPr algn="ctr" indent="0" marL="0">
              <a:buNone/>
            </a:pPr>
            <a:r>
              <a:rPr lang="en-US" sz="1200" dirty="0">
                <a:solidFill>
                  <a:srgbClr val="6E6E73"/>
                </a:solidFill>
                <a:latin typeface="Helvetica Neue" pitchFamily="34" charset="0"/>
                <a:ea typeface="Helvetica Neue" pitchFamily="34" charset="-122"/>
                <a:cs typeface="Helvetica Neue" pitchFamily="34" charset="-120"/>
              </a:rPr>
              <a:t>Red bands = flagged desaturation events (simulated night)</a:t>
            </a:r>
            <a:endParaRPr lang="en-US" sz="1200" dirty="0"/>
          </a:p>
        </p:txBody>
      </p:sp>
      <p:sp>
        <p:nvSpPr>
          <p:cNvPr id="11" name="Text 7"/>
          <p:cNvSpPr txBox="1"/>
          <p:nvPr/>
        </p:nvSpPr>
        <p:spPr>
          <a:xfrm>
            <a:off x="7452360" y="5870448"/>
            <a:ext cx="4050792" cy="274320"/>
          </a:xfrm>
          <a:prstGeom prst="rect">
            <a:avLst/>
          </a:prstGeom>
          <a:noFill/>
          <a:ln/>
        </p:spPr>
        <p:txBody>
          <a:bodyPr wrap="square" lIns="0" tIns="0" rIns="0" bIns="0" rtlCol="0" anchor="t"/>
          <a:lstStyle/>
          <a:p>
            <a:pPr algn="ctr" indent="0" marL="0">
              <a:buNone/>
            </a:pPr>
            <a:r>
              <a:rPr lang="en-US" sz="1200" dirty="0">
                <a:solidFill>
                  <a:srgbClr val="6E6E73"/>
                </a:solidFill>
                <a:latin typeface="Helvetica Neue" pitchFamily="34" charset="0"/>
                <a:ea typeface="Helvetica Neue" pitchFamily="34" charset="-122"/>
                <a:cs typeface="Helvetica Neue" pitchFamily="34" charset="-120"/>
              </a:rPr>
              <a:t>Bland–Altman agreement chart (simulated pairs)</a:t>
            </a:r>
            <a:endParaRPr lang="en-US" sz="1200" dirty="0"/>
          </a:p>
        </p:txBody>
      </p:sp>
      <p:sp>
        <p:nvSpPr>
          <p:cNvPr id="12" name="Text 8"/>
          <p:cNvSpPr txBox="1"/>
          <p:nvPr/>
        </p:nvSpPr>
        <p:spPr>
          <a:xfrm>
            <a:off x="685800" y="6473952"/>
            <a:ext cx="3657600" cy="228600"/>
          </a:xfrm>
          <a:prstGeom prst="rect">
            <a:avLst/>
          </a:prstGeom>
          <a:noFill/>
          <a:ln/>
        </p:spPr>
        <p:txBody>
          <a:bodyPr wrap="square" lIns="0" tIns="0" rIns="0" bIns="0" rtlCol="0" anchor="t"/>
          <a:lstStyle/>
          <a:p>
            <a:pPr indent="0" marL="0">
              <a:buNone/>
            </a:pPr>
            <a:r>
              <a:rPr lang="en-US" sz="950" b="1" dirty="0">
                <a:solidFill>
                  <a:srgbClr val="A1A1A6"/>
                </a:solidFill>
                <a:latin typeface="Helvetica Neue" pitchFamily="34" charset="0"/>
                <a:ea typeface="Helvetica Neue" pitchFamily="34" charset="-122"/>
                <a:cs typeface="Helvetica Neue" pitchFamily="34" charset="-120"/>
              </a:rPr>
              <a:t>Night Signal</a:t>
            </a:r>
            <a:endParaRPr lang="en-US" sz="950" dirty="0"/>
          </a:p>
        </p:txBody>
      </p:sp>
      <p:sp>
        <p:nvSpPr>
          <p:cNvPr id="13" name="Text 9"/>
          <p:cNvSpPr txBox="1"/>
          <p:nvPr/>
        </p:nvSpPr>
        <p:spPr>
          <a:xfrm>
            <a:off x="10588752" y="6473952"/>
            <a:ext cx="914400" cy="228600"/>
          </a:xfrm>
          <a:prstGeom prst="rect">
            <a:avLst/>
          </a:prstGeom>
          <a:noFill/>
          <a:ln/>
        </p:spPr>
        <p:txBody>
          <a:bodyPr wrap="square" lIns="0" tIns="0" rIns="0" bIns="0" rtlCol="0" anchor="t"/>
          <a:lstStyle/>
          <a:p>
            <a:pPr algn="r" indent="0" marL="0">
              <a:buNone/>
            </a:pPr>
            <a:r>
              <a:rPr lang="en-US" sz="950" dirty="0">
                <a:solidFill>
                  <a:srgbClr val="A1A1A6"/>
                </a:solidFill>
                <a:latin typeface="Helvetica Neue" pitchFamily="34" charset="0"/>
                <a:ea typeface="Helvetica Neue" pitchFamily="34" charset="-122"/>
                <a:cs typeface="Helvetica Neue"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320040"/>
          </a:xfrm>
          <a:prstGeom prst="rect">
            <a:avLst/>
          </a:prstGeom>
          <a:noFill/>
          <a:ln/>
        </p:spPr>
        <p:txBody>
          <a:bodyPr wrap="square" lIns="0" tIns="0" rIns="0" bIns="0" rtlCol="0" anchor="t"/>
          <a:lstStyle/>
          <a:p>
            <a:pPr indent="0" marL="0">
              <a:buNone/>
            </a:pPr>
            <a:r>
              <a:rPr lang="en-US" sz="1600" b="1" dirty="0">
                <a:solidFill>
                  <a:srgbClr val="E3254B"/>
                </a:solidFill>
                <a:latin typeface="Helvetica Neue" pitchFamily="34" charset="0"/>
                <a:ea typeface="Helvetica Neue" pitchFamily="34" charset="-122"/>
                <a:cs typeface="Helvetica Neue" pitchFamily="34" charset="-120"/>
              </a:rPr>
              <a:t>Method · signal quality</a:t>
            </a:r>
            <a:endParaRPr lang="en-US" sz="1600" dirty="0"/>
          </a:p>
        </p:txBody>
      </p:sp>
      <p:sp>
        <p:nvSpPr>
          <p:cNvPr id="3" name="Text 1"/>
          <p:cNvSpPr txBox="1"/>
          <p:nvPr/>
        </p:nvSpPr>
        <p:spPr>
          <a:xfrm>
            <a:off x="685800" y="841248"/>
            <a:ext cx="10789920" cy="868680"/>
          </a:xfrm>
          <a:prstGeom prst="rect">
            <a:avLst/>
          </a:prstGeom>
          <a:noFill/>
          <a:ln/>
        </p:spPr>
        <p:txBody>
          <a:bodyPr wrap="square" lIns="0" tIns="0" rIns="0" bIns="0" rtlCol="0" anchor="t"/>
          <a:lstStyle/>
          <a:p>
            <a:pPr indent="0" marL="0">
              <a:lnSpc>
                <a:spcPct val="92000"/>
              </a:lnSpc>
              <a:buNone/>
            </a:pPr>
            <a:r>
              <a:rPr lang="en-US" sz="4000" b="1" dirty="0">
                <a:solidFill>
                  <a:srgbClr val="1D1D1F"/>
                </a:solidFill>
                <a:latin typeface="Helvetica Neue" pitchFamily="34" charset="0"/>
                <a:ea typeface="Helvetica Neue" pitchFamily="34" charset="-122"/>
                <a:cs typeface="Helvetica Neue" pitchFamily="34" charset="-120"/>
              </a:rPr>
              <a:t>Only good readings count.</a:t>
            </a:r>
            <a:endParaRPr lang="en-US" sz="4000" dirty="0"/>
          </a:p>
        </p:txBody>
      </p:sp>
      <p:sp>
        <p:nvSpPr>
          <p:cNvPr id="4" name="Shape 2"/>
          <p:cNvSpPr/>
          <p:nvPr/>
        </p:nvSpPr>
        <p:spPr>
          <a:xfrm>
            <a:off x="685800" y="1874520"/>
            <a:ext cx="5312664" cy="1325880"/>
          </a:xfrm>
          <a:prstGeom prst="roundRect">
            <a:avLst>
              <a:gd name="adj" fmla="val 15172"/>
            </a:avLst>
          </a:prstGeom>
          <a:solidFill>
            <a:srgbClr val="F5F5F7"/>
          </a:solidFill>
          <a:ln/>
        </p:spPr>
      </p:sp>
      <p:sp>
        <p:nvSpPr>
          <p:cNvPr id="5" name="Shape 3"/>
          <p:cNvSpPr/>
          <p:nvPr/>
        </p:nvSpPr>
        <p:spPr>
          <a:xfrm>
            <a:off x="960120" y="2103120"/>
            <a:ext cx="457200" cy="64008"/>
          </a:xfrm>
          <a:prstGeom prst="roundRect">
            <a:avLst>
              <a:gd name="adj" fmla="val 50000"/>
            </a:avLst>
          </a:prstGeom>
          <a:solidFill>
            <a:srgbClr val="0071E3"/>
          </a:solidFill>
          <a:ln/>
        </p:spPr>
      </p:sp>
      <p:sp>
        <p:nvSpPr>
          <p:cNvPr id="6" name="Text 4"/>
          <p:cNvSpPr txBox="1"/>
          <p:nvPr/>
        </p:nvSpPr>
        <p:spPr>
          <a:xfrm>
            <a:off x="960120" y="2240280"/>
            <a:ext cx="4754880" cy="365760"/>
          </a:xfrm>
          <a:prstGeom prst="rect">
            <a:avLst/>
          </a:prstGeom>
          <a:noFill/>
          <a:ln/>
        </p:spPr>
        <p:txBody>
          <a:bodyPr wrap="square" lIns="0" tIns="0" rIns="0" bIns="0" rtlCol="0" anchor="t"/>
          <a:lstStyle/>
          <a:p>
            <a:pPr indent="0" marL="0">
              <a:buNone/>
            </a:pPr>
            <a:r>
              <a:rPr lang="en-US" sz="1650" b="1" dirty="0">
                <a:solidFill>
                  <a:srgbClr val="1D1D1F"/>
                </a:solidFill>
                <a:latin typeface="Helvetica Neue" pitchFamily="34" charset="0"/>
                <a:ea typeface="Helvetica Neue" pitchFamily="34" charset="-122"/>
                <a:cs typeface="Helvetica Neue" pitchFamily="34" charset="-120"/>
              </a:rPr>
              <a:t>Finger on the sensor</a:t>
            </a:r>
            <a:endParaRPr lang="en-US" sz="1650" dirty="0"/>
          </a:p>
        </p:txBody>
      </p:sp>
      <p:sp>
        <p:nvSpPr>
          <p:cNvPr id="7" name="Text 5"/>
          <p:cNvSpPr txBox="1"/>
          <p:nvPr/>
        </p:nvSpPr>
        <p:spPr>
          <a:xfrm>
            <a:off x="960120" y="2624328"/>
            <a:ext cx="4754880" cy="502920"/>
          </a:xfrm>
          <a:prstGeom prst="rect">
            <a:avLst/>
          </a:prstGeom>
          <a:noFill/>
          <a:ln/>
        </p:spPr>
        <p:txBody>
          <a:bodyPr wrap="square" lIns="0" tIns="0" rIns="0" bIns="0" rtlCol="0" anchor="t"/>
          <a:lstStyle/>
          <a:p>
            <a:pPr indent="0" marL="0">
              <a:buNone/>
            </a:pPr>
            <a:r>
              <a:rPr lang="en-US" sz="1300" dirty="0">
                <a:solidFill>
                  <a:srgbClr val="6E6E73"/>
                </a:solidFill>
                <a:latin typeface="Helvetica Neue" pitchFamily="34" charset="0"/>
                <a:ea typeface="Helvetica Neue" pitchFamily="34" charset="-122"/>
                <a:cs typeface="Helvetica Neue" pitchFamily="34" charset="-120"/>
              </a:rPr>
              <a:t>Infrared level shows a finger is present; otherwise the reading is excluded.</a:t>
            </a:r>
            <a:endParaRPr lang="en-US" sz="1300" dirty="0"/>
          </a:p>
        </p:txBody>
      </p:sp>
      <p:sp>
        <p:nvSpPr>
          <p:cNvPr id="8" name="Shape 6"/>
          <p:cNvSpPr/>
          <p:nvPr/>
        </p:nvSpPr>
        <p:spPr>
          <a:xfrm>
            <a:off x="6190488" y="1874520"/>
            <a:ext cx="5312664" cy="1325880"/>
          </a:xfrm>
          <a:prstGeom prst="roundRect">
            <a:avLst>
              <a:gd name="adj" fmla="val 15172"/>
            </a:avLst>
          </a:prstGeom>
          <a:solidFill>
            <a:srgbClr val="F5F5F7"/>
          </a:solidFill>
          <a:ln/>
        </p:spPr>
      </p:sp>
      <p:sp>
        <p:nvSpPr>
          <p:cNvPr id="9" name="Shape 7"/>
          <p:cNvSpPr/>
          <p:nvPr/>
        </p:nvSpPr>
        <p:spPr>
          <a:xfrm>
            <a:off x="6464808" y="2103120"/>
            <a:ext cx="457200" cy="64008"/>
          </a:xfrm>
          <a:prstGeom prst="roundRect">
            <a:avLst>
              <a:gd name="adj" fmla="val 50000"/>
            </a:avLst>
          </a:prstGeom>
          <a:solidFill>
            <a:srgbClr val="248A3D"/>
          </a:solidFill>
          <a:ln/>
        </p:spPr>
      </p:sp>
      <p:sp>
        <p:nvSpPr>
          <p:cNvPr id="10" name="Text 8"/>
          <p:cNvSpPr txBox="1"/>
          <p:nvPr/>
        </p:nvSpPr>
        <p:spPr>
          <a:xfrm>
            <a:off x="6464808" y="2240280"/>
            <a:ext cx="4754880" cy="365760"/>
          </a:xfrm>
          <a:prstGeom prst="rect">
            <a:avLst/>
          </a:prstGeom>
          <a:noFill/>
          <a:ln/>
        </p:spPr>
        <p:txBody>
          <a:bodyPr wrap="square" lIns="0" tIns="0" rIns="0" bIns="0" rtlCol="0" anchor="t"/>
          <a:lstStyle/>
          <a:p>
            <a:pPr indent="0" marL="0">
              <a:buNone/>
            </a:pPr>
            <a:r>
              <a:rPr lang="en-US" sz="1650" b="1" dirty="0">
                <a:solidFill>
                  <a:srgbClr val="1D1D1F"/>
                </a:solidFill>
                <a:latin typeface="Helvetica Neue" pitchFamily="34" charset="0"/>
                <a:ea typeface="Helvetica Neue" pitchFamily="34" charset="-122"/>
                <a:cs typeface="Helvetica Neue" pitchFamily="34" charset="-120"/>
              </a:rPr>
              <a:t>Sensor confidence</a:t>
            </a:r>
            <a:endParaRPr lang="en-US" sz="1650" dirty="0"/>
          </a:p>
        </p:txBody>
      </p:sp>
      <p:sp>
        <p:nvSpPr>
          <p:cNvPr id="11" name="Text 9"/>
          <p:cNvSpPr txBox="1"/>
          <p:nvPr/>
        </p:nvSpPr>
        <p:spPr>
          <a:xfrm>
            <a:off x="6464808" y="2624328"/>
            <a:ext cx="4754880" cy="502920"/>
          </a:xfrm>
          <a:prstGeom prst="rect">
            <a:avLst/>
          </a:prstGeom>
          <a:noFill/>
          <a:ln/>
        </p:spPr>
        <p:txBody>
          <a:bodyPr wrap="square" lIns="0" tIns="0" rIns="0" bIns="0" rtlCol="0" anchor="t"/>
          <a:lstStyle/>
          <a:p>
            <a:pPr indent="0" marL="0">
              <a:buNone/>
            </a:pPr>
            <a:r>
              <a:rPr lang="en-US" sz="1300" dirty="0">
                <a:solidFill>
                  <a:srgbClr val="6E6E73"/>
                </a:solidFill>
                <a:latin typeface="Helvetica Neue" pitchFamily="34" charset="0"/>
                <a:ea typeface="Helvetica Neue" pitchFamily="34" charset="-122"/>
                <a:cs typeface="Helvetica Neue" pitchFamily="34" charset="-120"/>
              </a:rPr>
              <a:t>The sensor marks each SpO₂ reading valid or invalid; invalid ones are excluded.</a:t>
            </a:r>
            <a:endParaRPr lang="en-US" sz="1300" dirty="0"/>
          </a:p>
        </p:txBody>
      </p:sp>
      <p:sp>
        <p:nvSpPr>
          <p:cNvPr id="12" name="Shape 10"/>
          <p:cNvSpPr/>
          <p:nvPr/>
        </p:nvSpPr>
        <p:spPr>
          <a:xfrm>
            <a:off x="685800" y="3355848"/>
            <a:ext cx="5312664" cy="1325880"/>
          </a:xfrm>
          <a:prstGeom prst="roundRect">
            <a:avLst>
              <a:gd name="adj" fmla="val 15172"/>
            </a:avLst>
          </a:prstGeom>
          <a:solidFill>
            <a:srgbClr val="F5F5F7"/>
          </a:solidFill>
          <a:ln/>
        </p:spPr>
      </p:sp>
      <p:sp>
        <p:nvSpPr>
          <p:cNvPr id="13" name="Shape 11"/>
          <p:cNvSpPr/>
          <p:nvPr/>
        </p:nvSpPr>
        <p:spPr>
          <a:xfrm>
            <a:off x="960120" y="3584448"/>
            <a:ext cx="457200" cy="64008"/>
          </a:xfrm>
          <a:prstGeom prst="roundRect">
            <a:avLst>
              <a:gd name="adj" fmla="val 50000"/>
            </a:avLst>
          </a:prstGeom>
          <a:solidFill>
            <a:srgbClr val="C45500"/>
          </a:solidFill>
          <a:ln/>
        </p:spPr>
      </p:sp>
      <p:sp>
        <p:nvSpPr>
          <p:cNvPr id="14" name="Text 12"/>
          <p:cNvSpPr txBox="1"/>
          <p:nvPr/>
        </p:nvSpPr>
        <p:spPr>
          <a:xfrm>
            <a:off x="960120" y="3721608"/>
            <a:ext cx="4754880" cy="365760"/>
          </a:xfrm>
          <a:prstGeom prst="rect">
            <a:avLst/>
          </a:prstGeom>
          <a:noFill/>
          <a:ln/>
        </p:spPr>
        <p:txBody>
          <a:bodyPr wrap="square" lIns="0" tIns="0" rIns="0" bIns="0" rtlCol="0" anchor="t"/>
          <a:lstStyle/>
          <a:p>
            <a:pPr indent="0" marL="0">
              <a:buNone/>
            </a:pPr>
            <a:r>
              <a:rPr lang="en-US" sz="1650" b="1" dirty="0">
                <a:solidFill>
                  <a:srgbClr val="1D1D1F"/>
                </a:solidFill>
                <a:latin typeface="Helvetica Neue" pitchFamily="34" charset="0"/>
                <a:ea typeface="Helvetica Neue" pitchFamily="34" charset="-122"/>
                <a:cs typeface="Helvetica Neue" pitchFamily="34" charset="-120"/>
              </a:rPr>
              <a:t>Believable range</a:t>
            </a:r>
            <a:endParaRPr lang="en-US" sz="1650" dirty="0"/>
          </a:p>
        </p:txBody>
      </p:sp>
      <p:sp>
        <p:nvSpPr>
          <p:cNvPr id="15" name="Text 13"/>
          <p:cNvSpPr txBox="1"/>
          <p:nvPr/>
        </p:nvSpPr>
        <p:spPr>
          <a:xfrm>
            <a:off x="960120" y="4105656"/>
            <a:ext cx="4754880" cy="502920"/>
          </a:xfrm>
          <a:prstGeom prst="rect">
            <a:avLst/>
          </a:prstGeom>
          <a:noFill/>
          <a:ln/>
        </p:spPr>
        <p:txBody>
          <a:bodyPr wrap="square" lIns="0" tIns="0" rIns="0" bIns="0" rtlCol="0" anchor="t"/>
          <a:lstStyle/>
          <a:p>
            <a:pPr indent="0" marL="0">
              <a:buNone/>
            </a:pPr>
            <a:r>
              <a:rPr lang="en-US" sz="1300" dirty="0">
                <a:solidFill>
                  <a:srgbClr val="6E6E73"/>
                </a:solidFill>
                <a:latin typeface="Helvetica Neue" pitchFamily="34" charset="0"/>
                <a:ea typeface="Helvetica Neue" pitchFamily="34" charset="-122"/>
                <a:cs typeface="Helvetica Neue" pitchFamily="34" charset="-120"/>
              </a:rPr>
              <a:t>SpO₂ outside 70–100% is excluded as an error.</a:t>
            </a:r>
            <a:endParaRPr lang="en-US" sz="1300" dirty="0"/>
          </a:p>
        </p:txBody>
      </p:sp>
      <p:sp>
        <p:nvSpPr>
          <p:cNvPr id="16" name="Shape 14"/>
          <p:cNvSpPr/>
          <p:nvPr/>
        </p:nvSpPr>
        <p:spPr>
          <a:xfrm>
            <a:off x="6190488" y="3355848"/>
            <a:ext cx="5312664" cy="1325880"/>
          </a:xfrm>
          <a:prstGeom prst="roundRect">
            <a:avLst>
              <a:gd name="adj" fmla="val 15172"/>
            </a:avLst>
          </a:prstGeom>
          <a:solidFill>
            <a:srgbClr val="F5F5F7"/>
          </a:solidFill>
          <a:ln/>
        </p:spPr>
      </p:sp>
      <p:sp>
        <p:nvSpPr>
          <p:cNvPr id="17" name="Shape 15"/>
          <p:cNvSpPr/>
          <p:nvPr/>
        </p:nvSpPr>
        <p:spPr>
          <a:xfrm>
            <a:off x="6464808" y="3584448"/>
            <a:ext cx="457200" cy="64008"/>
          </a:xfrm>
          <a:prstGeom prst="roundRect">
            <a:avLst>
              <a:gd name="adj" fmla="val 50000"/>
            </a:avLst>
          </a:prstGeom>
          <a:solidFill>
            <a:srgbClr val="E3254B"/>
          </a:solidFill>
          <a:ln/>
        </p:spPr>
      </p:sp>
      <p:sp>
        <p:nvSpPr>
          <p:cNvPr id="18" name="Text 16"/>
          <p:cNvSpPr txBox="1"/>
          <p:nvPr/>
        </p:nvSpPr>
        <p:spPr>
          <a:xfrm>
            <a:off x="6464808" y="3721608"/>
            <a:ext cx="4754880" cy="365760"/>
          </a:xfrm>
          <a:prstGeom prst="rect">
            <a:avLst/>
          </a:prstGeom>
          <a:noFill/>
          <a:ln/>
        </p:spPr>
        <p:txBody>
          <a:bodyPr wrap="square" lIns="0" tIns="0" rIns="0" bIns="0" rtlCol="0" anchor="t"/>
          <a:lstStyle/>
          <a:p>
            <a:pPr indent="0" marL="0">
              <a:buNone/>
            </a:pPr>
            <a:r>
              <a:rPr lang="en-US" sz="1650" b="1" dirty="0">
                <a:solidFill>
                  <a:srgbClr val="1D1D1F"/>
                </a:solidFill>
                <a:latin typeface="Helvetica Neue" pitchFamily="34" charset="0"/>
                <a:ea typeface="Helvetica Neue" pitchFamily="34" charset="-122"/>
                <a:cs typeface="Helvetica Neue" pitchFamily="34" charset="-120"/>
              </a:rPr>
              <a:t>Movement</a:t>
            </a:r>
            <a:endParaRPr lang="en-US" sz="1650" dirty="0"/>
          </a:p>
        </p:txBody>
      </p:sp>
      <p:sp>
        <p:nvSpPr>
          <p:cNvPr id="19" name="Text 17"/>
          <p:cNvSpPr txBox="1"/>
          <p:nvPr/>
        </p:nvSpPr>
        <p:spPr>
          <a:xfrm>
            <a:off x="6464808" y="4105656"/>
            <a:ext cx="4754880" cy="502920"/>
          </a:xfrm>
          <a:prstGeom prst="rect">
            <a:avLst/>
          </a:prstGeom>
          <a:noFill/>
          <a:ln/>
        </p:spPr>
        <p:txBody>
          <a:bodyPr wrap="square" lIns="0" tIns="0" rIns="0" bIns="0" rtlCol="0" anchor="t"/>
          <a:lstStyle/>
          <a:p>
            <a:pPr indent="0" marL="0">
              <a:buNone/>
            </a:pPr>
            <a:r>
              <a:rPr lang="en-US" sz="1300" dirty="0">
                <a:solidFill>
                  <a:srgbClr val="6E6E73"/>
                </a:solidFill>
                <a:latin typeface="Helvetica Neue" pitchFamily="34" charset="0"/>
                <a:ea typeface="Helvetica Neue" pitchFamily="34" charset="-122"/>
                <a:cs typeface="Helvetica Neue" pitchFamily="34" charset="-120"/>
              </a:rPr>
              <a:t>5 s on each side of a sudden movement is excluded (motion distorts the light signal).</a:t>
            </a:r>
            <a:endParaRPr lang="en-US" sz="1300" dirty="0"/>
          </a:p>
        </p:txBody>
      </p:sp>
      <p:sp>
        <p:nvSpPr>
          <p:cNvPr id="20" name="Shape 18"/>
          <p:cNvSpPr/>
          <p:nvPr/>
        </p:nvSpPr>
        <p:spPr>
          <a:xfrm>
            <a:off x="685800" y="4937760"/>
            <a:ext cx="10817352" cy="1280160"/>
          </a:xfrm>
          <a:prstGeom prst="roundRect">
            <a:avLst>
              <a:gd name="adj" fmla="val 15714"/>
            </a:avLst>
          </a:prstGeom>
          <a:solidFill>
            <a:srgbClr val="000000"/>
          </a:solidFill>
          <a:ln/>
        </p:spPr>
      </p:sp>
      <p:sp>
        <p:nvSpPr>
          <p:cNvPr id="21" name="Text 19"/>
          <p:cNvSpPr txBox="1"/>
          <p:nvPr/>
        </p:nvSpPr>
        <p:spPr>
          <a:xfrm>
            <a:off x="1005840" y="5102352"/>
            <a:ext cx="10241280" cy="457200"/>
          </a:xfrm>
          <a:prstGeom prst="rect">
            <a:avLst/>
          </a:prstGeom>
          <a:noFill/>
          <a:ln/>
        </p:spPr>
        <p:txBody>
          <a:bodyPr wrap="square" lIns="0" tIns="0" rIns="0" bIns="0" rtlCol="0" anchor="t"/>
          <a:lstStyle/>
          <a:p>
            <a:pPr indent="0" marL="0">
              <a:buNone/>
            </a:pPr>
            <a:r>
              <a:rPr lang="en-US" sz="2100" b="1" dirty="0">
                <a:solidFill>
                  <a:srgbClr val="FFFFFF"/>
                </a:solidFill>
                <a:latin typeface="Helvetica Neue" pitchFamily="34" charset="0"/>
                <a:ea typeface="Helvetica Neue" pitchFamily="34" charset="-122"/>
                <a:cs typeface="Helvetica Neue" pitchFamily="34" charset="-120"/>
              </a:rPr>
              <a:t>Desaturation event rate  =  </a:t>
            </a:r>
            <a:pPr indent="0" marL="0">
              <a:buNone/>
            </a:pPr>
            <a:r>
              <a:rPr lang="en-US" sz="2100" b="1" dirty="0">
                <a:solidFill>
                  <a:srgbClr val="2997FF"/>
                </a:solidFill>
                <a:latin typeface="Helvetica Neue" pitchFamily="34" charset="0"/>
                <a:ea typeface="Helvetica Neue" pitchFamily="34" charset="-122"/>
                <a:cs typeface="Helvetica Neue" pitchFamily="34" charset="-120"/>
              </a:rPr>
              <a:t>flagged events  ÷  hours of valid signal</a:t>
            </a:r>
            <a:endParaRPr lang="en-US" sz="2100" dirty="0"/>
          </a:p>
        </p:txBody>
      </p:sp>
      <p:sp>
        <p:nvSpPr>
          <p:cNvPr id="22" name="Text 20"/>
          <p:cNvSpPr txBox="1"/>
          <p:nvPr/>
        </p:nvSpPr>
        <p:spPr>
          <a:xfrm>
            <a:off x="1005840" y="5623560"/>
            <a:ext cx="10241280" cy="502920"/>
          </a:xfrm>
          <a:prstGeom prst="rect">
            <a:avLst/>
          </a:prstGeom>
          <a:noFill/>
          <a:ln/>
        </p:spPr>
        <p:txBody>
          <a:bodyPr wrap="square" lIns="0" tIns="0" rIns="0" bIns="0" rtlCol="0" anchor="t"/>
          <a:lstStyle/>
          <a:p>
            <a:pPr indent="0" marL="0">
              <a:buNone/>
            </a:pPr>
            <a:r>
              <a:rPr lang="en-US" sz="1300" dirty="0">
                <a:solidFill>
                  <a:srgbClr val="86868B"/>
                </a:solidFill>
                <a:latin typeface="Helvetica Neue" pitchFamily="34" charset="0"/>
                <a:ea typeface="Helvetica Neue" pitchFamily="34" charset="-122"/>
                <a:cs typeface="Helvetica Neue" pitchFamily="34" charset="-120"/>
              </a:rPr>
              <a:t>Not hours in bed and not sleep time (the device cannot measure sleep). An event may never span a gap in the valid data. Each report states the % of valid signal.</a:t>
            </a:r>
            <a:endParaRPr lang="en-US" sz="1300" dirty="0"/>
          </a:p>
        </p:txBody>
      </p:sp>
      <p:sp>
        <p:nvSpPr>
          <p:cNvPr id="23" name="Text 21"/>
          <p:cNvSpPr txBox="1"/>
          <p:nvPr/>
        </p:nvSpPr>
        <p:spPr>
          <a:xfrm>
            <a:off x="685800" y="6473952"/>
            <a:ext cx="3657600" cy="228600"/>
          </a:xfrm>
          <a:prstGeom prst="rect">
            <a:avLst/>
          </a:prstGeom>
          <a:noFill/>
          <a:ln/>
        </p:spPr>
        <p:txBody>
          <a:bodyPr wrap="square" lIns="0" tIns="0" rIns="0" bIns="0" rtlCol="0" anchor="t"/>
          <a:lstStyle/>
          <a:p>
            <a:pPr indent="0" marL="0">
              <a:buNone/>
            </a:pPr>
            <a:r>
              <a:rPr lang="en-US" sz="950" b="1" dirty="0">
                <a:solidFill>
                  <a:srgbClr val="A1A1A6"/>
                </a:solidFill>
                <a:latin typeface="Helvetica Neue" pitchFamily="34" charset="0"/>
                <a:ea typeface="Helvetica Neue" pitchFamily="34" charset="-122"/>
                <a:cs typeface="Helvetica Neue" pitchFamily="34" charset="-120"/>
              </a:rPr>
              <a:t>Night Signal</a:t>
            </a:r>
            <a:endParaRPr lang="en-US" sz="950" dirty="0"/>
          </a:p>
        </p:txBody>
      </p:sp>
      <p:sp>
        <p:nvSpPr>
          <p:cNvPr id="24" name="Text 22"/>
          <p:cNvSpPr txBox="1"/>
          <p:nvPr/>
        </p:nvSpPr>
        <p:spPr>
          <a:xfrm>
            <a:off x="10588752" y="6473952"/>
            <a:ext cx="914400" cy="228600"/>
          </a:xfrm>
          <a:prstGeom prst="rect">
            <a:avLst/>
          </a:prstGeom>
          <a:noFill/>
          <a:ln/>
        </p:spPr>
        <p:txBody>
          <a:bodyPr wrap="square" lIns="0" tIns="0" rIns="0" bIns="0" rtlCol="0" anchor="t"/>
          <a:lstStyle/>
          <a:p>
            <a:pPr algn="r" indent="0" marL="0">
              <a:buNone/>
            </a:pPr>
            <a:r>
              <a:rPr lang="en-US" sz="950" dirty="0">
                <a:solidFill>
                  <a:srgbClr val="A1A1A6"/>
                </a:solidFill>
                <a:latin typeface="Helvetica Neue" pitchFamily="34" charset="0"/>
                <a:ea typeface="Helvetica Neue" pitchFamily="34" charset="-122"/>
                <a:cs typeface="Helvetica Neue"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85800" y="502920"/>
            <a:ext cx="10789920" cy="320040"/>
          </a:xfrm>
          <a:prstGeom prst="rect">
            <a:avLst/>
          </a:prstGeom>
          <a:noFill/>
          <a:ln/>
        </p:spPr>
        <p:txBody>
          <a:bodyPr wrap="square" lIns="0" tIns="0" rIns="0" bIns="0" rtlCol="0" anchor="t"/>
          <a:lstStyle/>
          <a:p>
            <a:pPr indent="0" marL="0">
              <a:buNone/>
            </a:pPr>
            <a:r>
              <a:rPr lang="en-US" sz="1600" b="1" dirty="0">
                <a:solidFill>
                  <a:srgbClr val="FF375F"/>
                </a:solidFill>
                <a:latin typeface="Helvetica Neue" pitchFamily="34" charset="0"/>
                <a:ea typeface="Helvetica Neue" pitchFamily="34" charset="-122"/>
                <a:cs typeface="Helvetica Neue" pitchFamily="34" charset="-120"/>
              </a:rPr>
              <a:t>Main analysis · plan</a:t>
            </a:r>
            <a:endParaRPr lang="en-US" sz="1600" dirty="0"/>
          </a:p>
        </p:txBody>
      </p:sp>
      <p:sp>
        <p:nvSpPr>
          <p:cNvPr id="3" name="Text 1"/>
          <p:cNvSpPr txBox="1"/>
          <p:nvPr/>
        </p:nvSpPr>
        <p:spPr>
          <a:xfrm>
            <a:off x="685800" y="841248"/>
            <a:ext cx="10789920" cy="868680"/>
          </a:xfrm>
          <a:prstGeom prst="rect">
            <a:avLst/>
          </a:prstGeom>
          <a:noFill/>
          <a:ln/>
        </p:spPr>
        <p:txBody>
          <a:bodyPr wrap="square" lIns="0" tIns="0" rIns="0" bIns="0" rtlCol="0" anchor="t"/>
          <a:lstStyle/>
          <a:p>
            <a:pPr indent="0" marL="0">
              <a:lnSpc>
                <a:spcPct val="92000"/>
              </a:lnSpc>
              <a:buNone/>
            </a:pPr>
            <a:r>
              <a:rPr lang="en-US" sz="4000" b="1" dirty="0">
                <a:solidFill>
                  <a:srgbClr val="FFFFFF"/>
                </a:solidFill>
                <a:latin typeface="Helvetica Neue" pitchFamily="34" charset="0"/>
                <a:ea typeface="Helvetica Neue" pitchFamily="34" charset="-122"/>
                <a:cs typeface="Helvetica Neue" pitchFamily="34" charset="-120"/>
              </a:rPr>
              <a:t>How I will interpret the results.</a:t>
            </a:r>
            <a:endParaRPr lang="en-US" sz="4000" dirty="0"/>
          </a:p>
        </p:txBody>
      </p:sp>
      <p:sp>
        <p:nvSpPr>
          <p:cNvPr id="4" name="Shape 2"/>
          <p:cNvSpPr/>
          <p:nvPr/>
        </p:nvSpPr>
        <p:spPr>
          <a:xfrm>
            <a:off x="685800" y="1874520"/>
            <a:ext cx="5312664" cy="2011680"/>
          </a:xfrm>
          <a:prstGeom prst="roundRect">
            <a:avLst>
              <a:gd name="adj" fmla="val 10000"/>
            </a:avLst>
          </a:prstGeom>
          <a:solidFill>
            <a:srgbClr val="FFFFFF">
              <a:alpha val="9000"/>
            </a:srgbClr>
          </a:solidFill>
          <a:ln w="9525">
            <a:solidFill>
              <a:srgbClr val="FFFFFF">
                <a:alpha val="16000"/>
              </a:srgbClr>
            </a:solidFill>
            <a:prstDash val="solid"/>
          </a:ln>
        </p:spPr>
      </p:sp>
      <p:sp>
        <p:nvSpPr>
          <p:cNvPr id="5" name="Text 3"/>
          <p:cNvSpPr txBox="1"/>
          <p:nvPr/>
        </p:nvSpPr>
        <p:spPr>
          <a:xfrm>
            <a:off x="1005840" y="2130552"/>
            <a:ext cx="4663440" cy="411480"/>
          </a:xfrm>
          <a:prstGeom prst="rect">
            <a:avLst/>
          </a:prstGeom>
          <a:noFill/>
          <a:ln/>
        </p:spPr>
        <p:txBody>
          <a:bodyPr wrap="square" lIns="0" tIns="0" rIns="0" bIns="0" rtlCol="0" anchor="t"/>
          <a:lstStyle/>
          <a:p>
            <a:pPr indent="0" marL="0">
              <a:buNone/>
            </a:pPr>
            <a:r>
              <a:rPr lang="en-US" sz="1900" b="1" dirty="0">
                <a:solidFill>
                  <a:srgbClr val="2997FF"/>
                </a:solidFill>
                <a:latin typeface="Helvetica Neue" pitchFamily="34" charset="0"/>
                <a:ea typeface="Helvetica Neue" pitchFamily="34" charset="-122"/>
                <a:cs typeface="Helvetica Neue" pitchFamily="34" charset="-120"/>
              </a:rPr>
              <a:t>Agreement</a:t>
            </a:r>
            <a:endParaRPr lang="en-US" sz="1900" dirty="0"/>
          </a:p>
        </p:txBody>
      </p:sp>
      <p:sp>
        <p:nvSpPr>
          <p:cNvPr id="6" name="Text 4"/>
          <p:cNvSpPr txBox="1"/>
          <p:nvPr/>
        </p:nvSpPr>
        <p:spPr>
          <a:xfrm>
            <a:off x="1005840" y="2624328"/>
            <a:ext cx="4663440" cy="1188720"/>
          </a:xfrm>
          <a:prstGeom prst="rect">
            <a:avLst/>
          </a:prstGeom>
          <a:noFill/>
          <a:ln/>
        </p:spPr>
        <p:txBody>
          <a:bodyPr wrap="square" lIns="0" tIns="0" rIns="0" bIns="0" rtlCol="0" anchor="t"/>
          <a:lstStyle/>
          <a:p>
            <a:pPr indent="0" marL="0">
              <a:buNone/>
            </a:pPr>
            <a:r>
              <a:rPr lang="en-US" sz="1400" dirty="0">
                <a:solidFill>
                  <a:srgbClr val="A1A1A6"/>
                </a:solidFill>
                <a:latin typeface="Helvetica Neue" pitchFamily="34" charset="0"/>
                <a:ea typeface="Helvetica Neue" pitchFamily="34" charset="-122"/>
                <a:cs typeface="Helvetica Neue" pitchFamily="34" charset="-120"/>
              </a:rPr>
              <a:t>If 95% of SpO₂ differences fall within ±3 points of the reference at rest, the hypothesis is supported for these conditions. The reference itself is only ±2 points.</a:t>
            </a:r>
            <a:endParaRPr lang="en-US" sz="1400" dirty="0"/>
          </a:p>
        </p:txBody>
      </p:sp>
      <p:sp>
        <p:nvSpPr>
          <p:cNvPr id="7" name="Shape 5"/>
          <p:cNvSpPr/>
          <p:nvPr/>
        </p:nvSpPr>
        <p:spPr>
          <a:xfrm>
            <a:off x="6190488" y="1874520"/>
            <a:ext cx="5312664" cy="2011680"/>
          </a:xfrm>
          <a:prstGeom prst="roundRect">
            <a:avLst>
              <a:gd name="adj" fmla="val 10000"/>
            </a:avLst>
          </a:prstGeom>
          <a:solidFill>
            <a:srgbClr val="FFFFFF">
              <a:alpha val="9000"/>
            </a:srgbClr>
          </a:solidFill>
          <a:ln w="9525">
            <a:solidFill>
              <a:srgbClr val="FFFFFF">
                <a:alpha val="16000"/>
              </a:srgbClr>
            </a:solidFill>
            <a:prstDash val="solid"/>
          </a:ln>
        </p:spPr>
      </p:sp>
      <p:sp>
        <p:nvSpPr>
          <p:cNvPr id="8" name="Text 6"/>
          <p:cNvSpPr txBox="1"/>
          <p:nvPr/>
        </p:nvSpPr>
        <p:spPr>
          <a:xfrm>
            <a:off x="6510528" y="2130552"/>
            <a:ext cx="4663440" cy="411480"/>
          </a:xfrm>
          <a:prstGeom prst="rect">
            <a:avLst/>
          </a:prstGeom>
          <a:noFill/>
          <a:ln/>
        </p:spPr>
        <p:txBody>
          <a:bodyPr wrap="square" lIns="0" tIns="0" rIns="0" bIns="0" rtlCol="0" anchor="t"/>
          <a:lstStyle/>
          <a:p>
            <a:pPr indent="0" marL="0">
              <a:buNone/>
            </a:pPr>
            <a:r>
              <a:rPr lang="en-US" sz="1900" b="1" dirty="0">
                <a:solidFill>
                  <a:srgbClr val="30D158"/>
                </a:solidFill>
                <a:latin typeface="Helvetica Neue" pitchFamily="34" charset="0"/>
                <a:ea typeface="Helvetica Neue" pitchFamily="34" charset="-122"/>
                <a:cs typeface="Helvetica Neue" pitchFamily="34" charset="-120"/>
              </a:rPr>
              <a:t>Desaturation events</a:t>
            </a:r>
            <a:endParaRPr lang="en-US" sz="1900" dirty="0"/>
          </a:p>
        </p:txBody>
      </p:sp>
      <p:sp>
        <p:nvSpPr>
          <p:cNvPr id="9" name="Text 7"/>
          <p:cNvSpPr txBox="1"/>
          <p:nvPr/>
        </p:nvSpPr>
        <p:spPr>
          <a:xfrm>
            <a:off x="6510528" y="2624328"/>
            <a:ext cx="4663440" cy="1188720"/>
          </a:xfrm>
          <a:prstGeom prst="rect">
            <a:avLst/>
          </a:prstGeom>
          <a:noFill/>
          <a:ln/>
        </p:spPr>
        <p:txBody>
          <a:bodyPr wrap="square" lIns="0" tIns="0" rIns="0" bIns="0" rtlCol="0" anchor="t"/>
          <a:lstStyle/>
          <a:p>
            <a:pPr indent="0" marL="0">
              <a:buNone/>
            </a:pPr>
            <a:r>
              <a:rPr lang="en-US" sz="1400" dirty="0">
                <a:solidFill>
                  <a:srgbClr val="A1A1A6"/>
                </a:solidFill>
                <a:latin typeface="Helvetica Neue" pitchFamily="34" charset="0"/>
                <a:ea typeface="Helvetica Neue" pitchFamily="34" charset="-122"/>
                <a:cs typeface="Helvetica Neue" pitchFamily="34" charset="-120"/>
              </a:rPr>
              <a:t>A flagged event means an oxygen dip, not an apnea. Overnight events cannot be checked, because the reference cannot record overnight.</a:t>
            </a:r>
            <a:endParaRPr lang="en-US" sz="1400" dirty="0"/>
          </a:p>
        </p:txBody>
      </p:sp>
      <p:sp>
        <p:nvSpPr>
          <p:cNvPr id="10" name="Shape 8"/>
          <p:cNvSpPr/>
          <p:nvPr/>
        </p:nvSpPr>
        <p:spPr>
          <a:xfrm>
            <a:off x="685800" y="4069080"/>
            <a:ext cx="5312664" cy="2011680"/>
          </a:xfrm>
          <a:prstGeom prst="roundRect">
            <a:avLst>
              <a:gd name="adj" fmla="val 10000"/>
            </a:avLst>
          </a:prstGeom>
          <a:solidFill>
            <a:srgbClr val="FFFFFF">
              <a:alpha val="9000"/>
            </a:srgbClr>
          </a:solidFill>
          <a:ln w="9525">
            <a:solidFill>
              <a:srgbClr val="FFFFFF">
                <a:alpha val="16000"/>
              </a:srgbClr>
            </a:solidFill>
            <a:prstDash val="solid"/>
          </a:ln>
        </p:spPr>
      </p:sp>
      <p:sp>
        <p:nvSpPr>
          <p:cNvPr id="11" name="Text 9"/>
          <p:cNvSpPr txBox="1"/>
          <p:nvPr/>
        </p:nvSpPr>
        <p:spPr>
          <a:xfrm>
            <a:off x="1005840" y="4325112"/>
            <a:ext cx="4663440" cy="411480"/>
          </a:xfrm>
          <a:prstGeom prst="rect">
            <a:avLst/>
          </a:prstGeom>
          <a:noFill/>
          <a:ln/>
        </p:spPr>
        <p:txBody>
          <a:bodyPr wrap="square" lIns="0" tIns="0" rIns="0" bIns="0" rtlCol="0" anchor="t"/>
          <a:lstStyle/>
          <a:p>
            <a:pPr indent="0" marL="0">
              <a:buNone/>
            </a:pPr>
            <a:r>
              <a:rPr lang="en-US" sz="1900" b="1" dirty="0">
                <a:solidFill>
                  <a:srgbClr val="FF9F0A"/>
                </a:solidFill>
                <a:latin typeface="Helvetica Neue" pitchFamily="34" charset="0"/>
                <a:ea typeface="Helvetica Neue" pitchFamily="34" charset="-122"/>
                <a:cs typeface="Helvetica Neue" pitchFamily="34" charset="-120"/>
              </a:rPr>
              <a:t>Breath-hold test (if approved)</a:t>
            </a:r>
            <a:endParaRPr lang="en-US" sz="1900" dirty="0"/>
          </a:p>
        </p:txBody>
      </p:sp>
      <p:sp>
        <p:nvSpPr>
          <p:cNvPr id="12" name="Text 10"/>
          <p:cNvSpPr txBox="1"/>
          <p:nvPr/>
        </p:nvSpPr>
        <p:spPr>
          <a:xfrm>
            <a:off x="1005840" y="4818888"/>
            <a:ext cx="4663440" cy="1188720"/>
          </a:xfrm>
          <a:prstGeom prst="rect">
            <a:avLst/>
          </a:prstGeom>
          <a:noFill/>
          <a:ln/>
        </p:spPr>
        <p:txBody>
          <a:bodyPr wrap="square" lIns="0" tIns="0" rIns="0" bIns="0" rtlCol="0" anchor="t"/>
          <a:lstStyle/>
          <a:p>
            <a:pPr indent="0" marL="0">
              <a:buNone/>
            </a:pPr>
            <a:r>
              <a:rPr lang="en-US" sz="1400" dirty="0">
                <a:solidFill>
                  <a:srgbClr val="A1A1A6"/>
                </a:solidFill>
                <a:latin typeface="Helvetica Neue" pitchFamily="34" charset="0"/>
                <a:ea typeface="Helvetica Neue" pitchFamily="34" charset="-122"/>
                <a:cs typeface="Helvetica Neue" pitchFamily="34" charset="-120"/>
              </a:rPr>
              <a:t>Shows whether awake, induced dips are flagged at the logged times. It does not show that sleep apnea can be detected during sleep.</a:t>
            </a:r>
            <a:endParaRPr lang="en-US" sz="1400" dirty="0"/>
          </a:p>
        </p:txBody>
      </p:sp>
      <p:sp>
        <p:nvSpPr>
          <p:cNvPr id="13" name="Shape 11"/>
          <p:cNvSpPr/>
          <p:nvPr/>
        </p:nvSpPr>
        <p:spPr>
          <a:xfrm>
            <a:off x="6190488" y="4069080"/>
            <a:ext cx="5312664" cy="2011680"/>
          </a:xfrm>
          <a:prstGeom prst="roundRect">
            <a:avLst>
              <a:gd name="adj" fmla="val 10000"/>
            </a:avLst>
          </a:prstGeom>
          <a:solidFill>
            <a:srgbClr val="FFFFFF">
              <a:alpha val="9000"/>
            </a:srgbClr>
          </a:solidFill>
          <a:ln w="9525">
            <a:solidFill>
              <a:srgbClr val="FFFFFF">
                <a:alpha val="16000"/>
              </a:srgbClr>
            </a:solidFill>
            <a:prstDash val="solid"/>
          </a:ln>
        </p:spPr>
      </p:sp>
      <p:sp>
        <p:nvSpPr>
          <p:cNvPr id="14" name="Text 12"/>
          <p:cNvSpPr txBox="1"/>
          <p:nvPr/>
        </p:nvSpPr>
        <p:spPr>
          <a:xfrm>
            <a:off x="6510528" y="4325112"/>
            <a:ext cx="4663440" cy="411480"/>
          </a:xfrm>
          <a:prstGeom prst="rect">
            <a:avLst/>
          </a:prstGeom>
          <a:noFill/>
          <a:ln/>
        </p:spPr>
        <p:txBody>
          <a:bodyPr wrap="square" lIns="0" tIns="0" rIns="0" bIns="0" rtlCol="0" anchor="t"/>
          <a:lstStyle/>
          <a:p>
            <a:pPr indent="0" marL="0">
              <a:buNone/>
            </a:pPr>
            <a:r>
              <a:rPr lang="en-US" sz="1900" b="1" dirty="0">
                <a:solidFill>
                  <a:srgbClr val="FF375F"/>
                </a:solidFill>
                <a:latin typeface="Helvetica Neue" pitchFamily="34" charset="0"/>
                <a:ea typeface="Helvetica Neue" pitchFamily="34" charset="-122"/>
                <a:cs typeface="Helvetica Neue" pitchFamily="34" charset="-120"/>
              </a:rPr>
              <a:t>What would go against it</a:t>
            </a:r>
            <a:endParaRPr lang="en-US" sz="1900" dirty="0"/>
          </a:p>
        </p:txBody>
      </p:sp>
      <p:sp>
        <p:nvSpPr>
          <p:cNvPr id="15" name="Text 13"/>
          <p:cNvSpPr txBox="1"/>
          <p:nvPr/>
        </p:nvSpPr>
        <p:spPr>
          <a:xfrm>
            <a:off x="6510528" y="4818888"/>
            <a:ext cx="4663440" cy="1188720"/>
          </a:xfrm>
          <a:prstGeom prst="rect">
            <a:avLst/>
          </a:prstGeom>
          <a:noFill/>
          <a:ln/>
        </p:spPr>
        <p:txBody>
          <a:bodyPr wrap="square" lIns="0" tIns="0" rIns="0" bIns="0" rtlCol="0" anchor="t"/>
          <a:lstStyle/>
          <a:p>
            <a:pPr indent="0" marL="0">
              <a:buNone/>
            </a:pPr>
            <a:r>
              <a:rPr lang="en-US" sz="1400" dirty="0">
                <a:solidFill>
                  <a:srgbClr val="A1A1A6"/>
                </a:solidFill>
                <a:latin typeface="Helvetica Neue" pitchFamily="34" charset="0"/>
                <a:ea typeface="Helvetica Neue" pitchFamily="34" charset="-122"/>
                <a:cs typeface="Helvetica Neue" pitchFamily="34" charset="-120"/>
              </a:rPr>
              <a:t>Limits wider than ±3 points, a consistent bias, a low % of valid signal, or logged dips that are missed.</a:t>
            </a:r>
            <a:endParaRPr lang="en-US" sz="1400" dirty="0"/>
          </a:p>
        </p:txBody>
      </p:sp>
      <p:sp>
        <p:nvSpPr>
          <p:cNvPr id="16" name="Text 14"/>
          <p:cNvSpPr txBox="1"/>
          <p:nvPr/>
        </p:nvSpPr>
        <p:spPr>
          <a:xfrm>
            <a:off x="685800" y="6473952"/>
            <a:ext cx="3657600" cy="228600"/>
          </a:xfrm>
          <a:prstGeom prst="rect">
            <a:avLst/>
          </a:prstGeom>
          <a:noFill/>
          <a:ln/>
        </p:spPr>
        <p:txBody>
          <a:bodyPr wrap="square" lIns="0" tIns="0" rIns="0" bIns="0" rtlCol="0" anchor="t"/>
          <a:lstStyle/>
          <a:p>
            <a:pPr indent="0" marL="0">
              <a:buNone/>
            </a:pPr>
            <a:r>
              <a:rPr lang="en-US" sz="950" b="1" dirty="0">
                <a:solidFill>
                  <a:srgbClr val="6E6E73"/>
                </a:solidFill>
                <a:latin typeface="Helvetica Neue" pitchFamily="34" charset="0"/>
                <a:ea typeface="Helvetica Neue" pitchFamily="34" charset="-122"/>
                <a:cs typeface="Helvetica Neue" pitchFamily="34" charset="-120"/>
              </a:rPr>
              <a:t>Night Signal</a:t>
            </a:r>
            <a:endParaRPr lang="en-US" sz="950" dirty="0"/>
          </a:p>
        </p:txBody>
      </p:sp>
      <p:sp>
        <p:nvSpPr>
          <p:cNvPr id="17" name="Text 15"/>
          <p:cNvSpPr txBox="1"/>
          <p:nvPr/>
        </p:nvSpPr>
        <p:spPr>
          <a:xfrm>
            <a:off x="10588752" y="6473952"/>
            <a:ext cx="914400" cy="228600"/>
          </a:xfrm>
          <a:prstGeom prst="rect">
            <a:avLst/>
          </a:prstGeom>
          <a:noFill/>
          <a:ln/>
        </p:spPr>
        <p:txBody>
          <a:bodyPr wrap="square" lIns="0" tIns="0" rIns="0" bIns="0" rtlCol="0" anchor="t"/>
          <a:lstStyle/>
          <a:p>
            <a:pPr algn="r" indent="0" marL="0">
              <a:buNone/>
            </a:pPr>
            <a:r>
              <a:rPr lang="en-US" sz="950" dirty="0">
                <a:solidFill>
                  <a:srgbClr val="6E6E73"/>
                </a:solidFill>
                <a:latin typeface="Helvetica Neue" pitchFamily="34" charset="0"/>
                <a:ea typeface="Helvetica Neue" pitchFamily="34" charset="-122"/>
                <a:cs typeface="Helvetica Neue"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85800" y="502920"/>
            <a:ext cx="10789920" cy="320040"/>
          </a:xfrm>
          <a:prstGeom prst="rect">
            <a:avLst/>
          </a:prstGeom>
          <a:noFill/>
          <a:ln/>
        </p:spPr>
        <p:txBody>
          <a:bodyPr wrap="square" lIns="0" tIns="0" rIns="0" bIns="0" rtlCol="0" anchor="t"/>
          <a:lstStyle/>
          <a:p>
            <a:pPr indent="0" marL="0">
              <a:buNone/>
            </a:pPr>
            <a:r>
              <a:rPr lang="en-US" sz="1600" b="1" dirty="0">
                <a:solidFill>
                  <a:srgbClr val="FF375F"/>
                </a:solidFill>
                <a:latin typeface="Helvetica Neue" pitchFamily="34" charset="0"/>
                <a:ea typeface="Helvetica Neue" pitchFamily="34" charset="-122"/>
                <a:cs typeface="Helvetica Neue" pitchFamily="34" charset="-120"/>
              </a:rPr>
              <a:t>Main analysis</a:t>
            </a:r>
            <a:endParaRPr lang="en-US" sz="1600" dirty="0"/>
          </a:p>
        </p:txBody>
      </p:sp>
      <p:sp>
        <p:nvSpPr>
          <p:cNvPr id="3" name="Text 1"/>
          <p:cNvSpPr txBox="1"/>
          <p:nvPr/>
        </p:nvSpPr>
        <p:spPr>
          <a:xfrm>
            <a:off x="685800" y="841248"/>
            <a:ext cx="10789920" cy="868680"/>
          </a:xfrm>
          <a:prstGeom prst="rect">
            <a:avLst/>
          </a:prstGeom>
          <a:noFill/>
          <a:ln/>
        </p:spPr>
        <p:txBody>
          <a:bodyPr wrap="square" lIns="0" tIns="0" rIns="0" bIns="0" rtlCol="0" anchor="t"/>
          <a:lstStyle/>
          <a:p>
            <a:pPr indent="0" marL="0">
              <a:lnSpc>
                <a:spcPct val="92000"/>
              </a:lnSpc>
              <a:buNone/>
            </a:pPr>
            <a:r>
              <a:rPr lang="en-US" sz="4000" b="1" dirty="0">
                <a:solidFill>
                  <a:srgbClr val="FFFFFF"/>
                </a:solidFill>
                <a:latin typeface="Helvetica Neue" pitchFamily="34" charset="0"/>
                <a:ea typeface="Helvetica Neue" pitchFamily="34" charset="-122"/>
                <a:cs typeface="Helvetica Neue" pitchFamily="34" charset="-120"/>
              </a:rPr>
              <a:t>Sources of error and limitations.</a:t>
            </a:r>
            <a:endParaRPr lang="en-US" sz="4000" dirty="0"/>
          </a:p>
        </p:txBody>
      </p:sp>
      <p:sp>
        <p:nvSpPr>
          <p:cNvPr id="4" name="Text 2"/>
          <p:cNvSpPr txBox="1"/>
          <p:nvPr/>
        </p:nvSpPr>
        <p:spPr>
          <a:xfrm>
            <a:off x="685800" y="1874520"/>
            <a:ext cx="5120640" cy="365760"/>
          </a:xfrm>
          <a:prstGeom prst="rect">
            <a:avLst/>
          </a:prstGeom>
          <a:noFill/>
          <a:ln/>
        </p:spPr>
        <p:txBody>
          <a:bodyPr wrap="square" lIns="0" tIns="0" rIns="0" bIns="0" rtlCol="0" anchor="t"/>
          <a:lstStyle/>
          <a:p>
            <a:pPr indent="0" marL="0">
              <a:buNone/>
            </a:pPr>
            <a:r>
              <a:rPr lang="en-US" sz="1900" b="1" dirty="0">
                <a:solidFill>
                  <a:srgbClr val="2997FF"/>
                </a:solidFill>
                <a:latin typeface="Helvetica Neue" pitchFamily="34" charset="0"/>
                <a:ea typeface="Helvetica Neue" pitchFamily="34" charset="-122"/>
                <a:cs typeface="Helvetica Neue" pitchFamily="34" charset="-120"/>
              </a:rPr>
              <a:t>Measurement</a:t>
            </a:r>
            <a:endParaRPr lang="en-US" sz="1900" dirty="0"/>
          </a:p>
        </p:txBody>
      </p:sp>
      <p:sp>
        <p:nvSpPr>
          <p:cNvPr id="5" name="Shape 3"/>
          <p:cNvSpPr/>
          <p:nvPr/>
        </p:nvSpPr>
        <p:spPr>
          <a:xfrm>
            <a:off x="685800" y="2471798"/>
            <a:ext cx="73152" cy="73152"/>
          </a:xfrm>
          <a:prstGeom prst="ellipse">
            <a:avLst/>
          </a:prstGeom>
          <a:solidFill>
            <a:srgbClr val="86868B"/>
          </a:solidFill>
          <a:ln/>
        </p:spPr>
      </p:sp>
      <p:sp>
        <p:nvSpPr>
          <p:cNvPr id="6" name="Text 4"/>
          <p:cNvSpPr txBox="1"/>
          <p:nvPr/>
        </p:nvSpPr>
        <p:spPr>
          <a:xfrm>
            <a:off x="914400" y="2377440"/>
            <a:ext cx="4983480" cy="522478"/>
          </a:xfrm>
          <a:prstGeom prst="rect">
            <a:avLst/>
          </a:prstGeom>
          <a:noFill/>
          <a:ln/>
        </p:spPr>
        <p:txBody>
          <a:bodyPr wrap="square" lIns="0" tIns="0" rIns="0" bIns="0" rtlCol="0" anchor="t"/>
          <a:lstStyle/>
          <a:p>
            <a:pPr indent="0" marL="0">
              <a:buNone/>
            </a:pPr>
            <a:r>
              <a:rPr lang="en-US" sz="1450" dirty="0">
                <a:solidFill>
                  <a:srgbClr val="A1A1A6"/>
                </a:solidFill>
                <a:latin typeface="Helvetica Neue" pitchFamily="34" charset="0"/>
                <a:ea typeface="Helvetica Neue" pitchFamily="34" charset="-122"/>
                <a:cs typeface="Helvetica Neue" pitchFamily="34" charset="-120"/>
              </a:rPr>
              <a:t>Movement, finger pressure, cold hands and room light distort the light signal</a:t>
            </a:r>
            <a:endParaRPr lang="en-US" sz="1450" dirty="0"/>
          </a:p>
        </p:txBody>
      </p:sp>
      <p:sp>
        <p:nvSpPr>
          <p:cNvPr id="7" name="Shape 5"/>
          <p:cNvSpPr/>
          <p:nvPr/>
        </p:nvSpPr>
        <p:spPr>
          <a:xfrm>
            <a:off x="685800" y="3049140"/>
            <a:ext cx="73152" cy="73152"/>
          </a:xfrm>
          <a:prstGeom prst="ellipse">
            <a:avLst/>
          </a:prstGeom>
          <a:solidFill>
            <a:srgbClr val="86868B"/>
          </a:solidFill>
          <a:ln/>
        </p:spPr>
      </p:sp>
      <p:sp>
        <p:nvSpPr>
          <p:cNvPr id="8" name="Text 6"/>
          <p:cNvSpPr txBox="1"/>
          <p:nvPr/>
        </p:nvSpPr>
        <p:spPr>
          <a:xfrm>
            <a:off x="914400" y="2954782"/>
            <a:ext cx="4983480" cy="522478"/>
          </a:xfrm>
          <a:prstGeom prst="rect">
            <a:avLst/>
          </a:prstGeom>
          <a:noFill/>
          <a:ln/>
        </p:spPr>
        <p:txBody>
          <a:bodyPr wrap="square" lIns="0" tIns="0" rIns="0" bIns="0" rtlCol="0" anchor="t"/>
          <a:lstStyle/>
          <a:p>
            <a:pPr indent="0" marL="0">
              <a:buNone/>
            </a:pPr>
            <a:r>
              <a:rPr lang="en-US" sz="1450" dirty="0">
                <a:solidFill>
                  <a:srgbClr val="A1A1A6"/>
                </a:solidFill>
                <a:latin typeface="Helvetica Neue" pitchFamily="34" charset="0"/>
                <a:ea typeface="Helvetica Neue" pitchFamily="34" charset="-122"/>
                <a:cs typeface="Helvetica Neue" pitchFamily="34" charset="-120"/>
              </a:rPr>
              <a:t>Pulse oximeters can be less accurate on darker skin (Sjoding et al., 2020)</a:t>
            </a:r>
            <a:endParaRPr lang="en-US" sz="1450" dirty="0"/>
          </a:p>
        </p:txBody>
      </p:sp>
      <p:sp>
        <p:nvSpPr>
          <p:cNvPr id="9" name="Shape 7"/>
          <p:cNvSpPr/>
          <p:nvPr/>
        </p:nvSpPr>
        <p:spPr>
          <a:xfrm>
            <a:off x="685800" y="3626482"/>
            <a:ext cx="73152" cy="73152"/>
          </a:xfrm>
          <a:prstGeom prst="ellipse">
            <a:avLst/>
          </a:prstGeom>
          <a:solidFill>
            <a:srgbClr val="86868B"/>
          </a:solidFill>
          <a:ln/>
        </p:spPr>
      </p:sp>
      <p:sp>
        <p:nvSpPr>
          <p:cNvPr id="10" name="Text 8"/>
          <p:cNvSpPr txBox="1"/>
          <p:nvPr/>
        </p:nvSpPr>
        <p:spPr>
          <a:xfrm>
            <a:off x="914400" y="3532124"/>
            <a:ext cx="4983480" cy="522478"/>
          </a:xfrm>
          <a:prstGeom prst="rect">
            <a:avLst/>
          </a:prstGeom>
          <a:noFill/>
          <a:ln/>
        </p:spPr>
        <p:txBody>
          <a:bodyPr wrap="square" lIns="0" tIns="0" rIns="0" bIns="0" rtlCol="0" anchor="t"/>
          <a:lstStyle/>
          <a:p>
            <a:pPr indent="0" marL="0">
              <a:buNone/>
            </a:pPr>
            <a:r>
              <a:rPr lang="en-US" sz="1450" dirty="0">
                <a:solidFill>
                  <a:srgbClr val="A1A1A6"/>
                </a:solidFill>
                <a:latin typeface="Helvetica Neue" pitchFamily="34" charset="0"/>
                <a:ea typeface="Helvetica Neue" pitchFamily="34" charset="-122"/>
                <a:cs typeface="Helvetica Neue" pitchFamily="34" charset="-120"/>
              </a:rPr>
              <a:t>The reference oximeter is only accurate to about ±2 points</a:t>
            </a:r>
            <a:endParaRPr lang="en-US" sz="1450" dirty="0"/>
          </a:p>
        </p:txBody>
      </p:sp>
      <p:sp>
        <p:nvSpPr>
          <p:cNvPr id="11" name="Shape 9"/>
          <p:cNvSpPr/>
          <p:nvPr/>
        </p:nvSpPr>
        <p:spPr>
          <a:xfrm>
            <a:off x="685800" y="4203824"/>
            <a:ext cx="73152" cy="73152"/>
          </a:xfrm>
          <a:prstGeom prst="ellipse">
            <a:avLst/>
          </a:prstGeom>
          <a:solidFill>
            <a:srgbClr val="86868B"/>
          </a:solidFill>
          <a:ln/>
        </p:spPr>
      </p:sp>
      <p:sp>
        <p:nvSpPr>
          <p:cNvPr id="12" name="Text 10"/>
          <p:cNvSpPr txBox="1"/>
          <p:nvPr/>
        </p:nvSpPr>
        <p:spPr>
          <a:xfrm>
            <a:off x="914400" y="4109466"/>
            <a:ext cx="4983480" cy="297815"/>
          </a:xfrm>
          <a:prstGeom prst="rect">
            <a:avLst/>
          </a:prstGeom>
          <a:noFill/>
          <a:ln/>
        </p:spPr>
        <p:txBody>
          <a:bodyPr wrap="square" lIns="0" tIns="0" rIns="0" bIns="0" rtlCol="0" anchor="t"/>
          <a:lstStyle/>
          <a:p>
            <a:pPr indent="0" marL="0">
              <a:buNone/>
            </a:pPr>
            <a:r>
              <a:rPr lang="en-US" sz="1450" dirty="0">
                <a:solidFill>
                  <a:srgbClr val="A1A1A6"/>
                </a:solidFill>
                <a:latin typeface="Helvetica Neue" pitchFamily="34" charset="0"/>
                <a:ea typeface="Helvetica Neue" pitchFamily="34" charset="-122"/>
                <a:cs typeface="Helvetica Neue" pitchFamily="34" charset="-120"/>
              </a:rPr>
              <a:t>4-second averaging can smooth very short dips</a:t>
            </a:r>
            <a:endParaRPr lang="en-US" sz="1450" dirty="0"/>
          </a:p>
        </p:txBody>
      </p:sp>
      <p:sp>
        <p:nvSpPr>
          <p:cNvPr id="13" name="Text 11"/>
          <p:cNvSpPr txBox="1"/>
          <p:nvPr/>
        </p:nvSpPr>
        <p:spPr>
          <a:xfrm>
            <a:off x="6190488" y="1874520"/>
            <a:ext cx="5120640" cy="365760"/>
          </a:xfrm>
          <a:prstGeom prst="rect">
            <a:avLst/>
          </a:prstGeom>
          <a:noFill/>
          <a:ln/>
        </p:spPr>
        <p:txBody>
          <a:bodyPr wrap="square" lIns="0" tIns="0" rIns="0" bIns="0" rtlCol="0" anchor="t"/>
          <a:lstStyle/>
          <a:p>
            <a:pPr indent="0" marL="0">
              <a:buNone/>
            </a:pPr>
            <a:r>
              <a:rPr lang="en-US" sz="1900" b="1" dirty="0">
                <a:solidFill>
                  <a:srgbClr val="FF375F"/>
                </a:solidFill>
                <a:latin typeface="Helvetica Neue" pitchFamily="34" charset="0"/>
                <a:ea typeface="Helvetica Neue" pitchFamily="34" charset="-122"/>
                <a:cs typeface="Helvetica Neue" pitchFamily="34" charset="-120"/>
              </a:rPr>
              <a:t>Method</a:t>
            </a:r>
            <a:endParaRPr lang="en-US" sz="1900" dirty="0"/>
          </a:p>
        </p:txBody>
      </p:sp>
      <p:sp>
        <p:nvSpPr>
          <p:cNvPr id="14" name="Shape 12"/>
          <p:cNvSpPr/>
          <p:nvPr/>
        </p:nvSpPr>
        <p:spPr>
          <a:xfrm>
            <a:off x="6190488" y="2471798"/>
            <a:ext cx="73152" cy="73152"/>
          </a:xfrm>
          <a:prstGeom prst="ellipse">
            <a:avLst/>
          </a:prstGeom>
          <a:solidFill>
            <a:srgbClr val="86868B"/>
          </a:solidFill>
          <a:ln/>
        </p:spPr>
      </p:sp>
      <p:sp>
        <p:nvSpPr>
          <p:cNvPr id="15" name="Text 13"/>
          <p:cNvSpPr txBox="1"/>
          <p:nvPr/>
        </p:nvSpPr>
        <p:spPr>
          <a:xfrm>
            <a:off x="6419088" y="2377440"/>
            <a:ext cx="5074920" cy="522478"/>
          </a:xfrm>
          <a:prstGeom prst="rect">
            <a:avLst/>
          </a:prstGeom>
          <a:noFill/>
          <a:ln/>
        </p:spPr>
        <p:txBody>
          <a:bodyPr wrap="square" lIns="0" tIns="0" rIns="0" bIns="0" rtlCol="0" anchor="t"/>
          <a:lstStyle/>
          <a:p>
            <a:pPr indent="0" marL="0">
              <a:buNone/>
            </a:pPr>
            <a:r>
              <a:rPr lang="en-US" sz="1450" dirty="0">
                <a:solidFill>
                  <a:srgbClr val="A1A1A6"/>
                </a:solidFill>
                <a:latin typeface="Helvetica Neue" pitchFamily="34" charset="0"/>
                <a:ea typeface="Helvetica Neue" pitchFamily="34" charset="-122"/>
                <a:cs typeface="Helvetica Neue" pitchFamily="34" charset="-120"/>
              </a:rPr>
              <a:t>Oxygen and heart rate only: no airflow, breathing effort or sleep staging, so apnea cannot be identified</a:t>
            </a:r>
            <a:endParaRPr lang="en-US" sz="1450" dirty="0"/>
          </a:p>
        </p:txBody>
      </p:sp>
      <p:sp>
        <p:nvSpPr>
          <p:cNvPr id="16" name="Shape 14"/>
          <p:cNvSpPr/>
          <p:nvPr/>
        </p:nvSpPr>
        <p:spPr>
          <a:xfrm>
            <a:off x="6190488" y="3049140"/>
            <a:ext cx="73152" cy="73152"/>
          </a:xfrm>
          <a:prstGeom prst="ellipse">
            <a:avLst/>
          </a:prstGeom>
          <a:solidFill>
            <a:srgbClr val="86868B"/>
          </a:solidFill>
          <a:ln/>
        </p:spPr>
      </p:sp>
      <p:sp>
        <p:nvSpPr>
          <p:cNvPr id="17" name="Text 15"/>
          <p:cNvSpPr txBox="1"/>
          <p:nvPr/>
        </p:nvSpPr>
        <p:spPr>
          <a:xfrm>
            <a:off x="6419088" y="2954782"/>
            <a:ext cx="5074920" cy="522478"/>
          </a:xfrm>
          <a:prstGeom prst="rect">
            <a:avLst/>
          </a:prstGeom>
          <a:noFill/>
          <a:ln/>
        </p:spPr>
        <p:txBody>
          <a:bodyPr wrap="square" lIns="0" tIns="0" rIns="0" bIns="0" rtlCol="0" anchor="t"/>
          <a:lstStyle/>
          <a:p>
            <a:pPr indent="0" marL="0">
              <a:buNone/>
            </a:pPr>
            <a:r>
              <a:rPr lang="en-US" sz="1450" dirty="0">
                <a:solidFill>
                  <a:srgbClr val="A1A1A6"/>
                </a:solidFill>
                <a:latin typeface="Helvetica Neue" pitchFamily="34" charset="0"/>
                <a:ea typeface="Helvetica Neue" pitchFamily="34" charset="-122"/>
                <a:cs typeface="Helvetica Neue" pitchFamily="34" charset="-120"/>
              </a:rPr>
              <a:t>Awake rest is not the same as sleep; breath-holds are not apneas</a:t>
            </a:r>
            <a:endParaRPr lang="en-US" sz="1450" dirty="0"/>
          </a:p>
        </p:txBody>
      </p:sp>
      <p:sp>
        <p:nvSpPr>
          <p:cNvPr id="18" name="Shape 16"/>
          <p:cNvSpPr/>
          <p:nvPr/>
        </p:nvSpPr>
        <p:spPr>
          <a:xfrm>
            <a:off x="6190488" y="3626482"/>
            <a:ext cx="73152" cy="73152"/>
          </a:xfrm>
          <a:prstGeom prst="ellipse">
            <a:avLst/>
          </a:prstGeom>
          <a:solidFill>
            <a:srgbClr val="86868B"/>
          </a:solidFill>
          <a:ln/>
        </p:spPr>
      </p:sp>
      <p:sp>
        <p:nvSpPr>
          <p:cNvPr id="19" name="Text 17"/>
          <p:cNvSpPr txBox="1"/>
          <p:nvPr/>
        </p:nvSpPr>
        <p:spPr>
          <a:xfrm>
            <a:off x="6419088" y="3532124"/>
            <a:ext cx="5074920" cy="297815"/>
          </a:xfrm>
          <a:prstGeom prst="rect">
            <a:avLst/>
          </a:prstGeom>
          <a:noFill/>
          <a:ln/>
        </p:spPr>
        <p:txBody>
          <a:bodyPr wrap="square" lIns="0" tIns="0" rIns="0" bIns="0" rtlCol="0" anchor="t"/>
          <a:lstStyle/>
          <a:p>
            <a:pPr indent="0" marL="0">
              <a:buNone/>
            </a:pPr>
            <a:r>
              <a:rPr lang="en-US" sz="1450" dirty="0">
                <a:solidFill>
                  <a:srgbClr val="A1A1A6"/>
                </a:solidFill>
                <a:latin typeface="Helvetica Neue" pitchFamily="34" charset="0"/>
                <a:ea typeface="Helvetica Neue" pitchFamily="34" charset="-122"/>
                <a:cs typeface="Helvetica Neue" pitchFamily="34" charset="-120"/>
              </a:rPr>
              <a:t>One participant: results cannot be generalized</a:t>
            </a:r>
            <a:endParaRPr lang="en-US" sz="1450" dirty="0"/>
          </a:p>
        </p:txBody>
      </p:sp>
      <p:sp>
        <p:nvSpPr>
          <p:cNvPr id="20" name="Shape 18"/>
          <p:cNvSpPr/>
          <p:nvPr/>
        </p:nvSpPr>
        <p:spPr>
          <a:xfrm>
            <a:off x="6190488" y="3979161"/>
            <a:ext cx="73152" cy="73152"/>
          </a:xfrm>
          <a:prstGeom prst="ellipse">
            <a:avLst/>
          </a:prstGeom>
          <a:solidFill>
            <a:srgbClr val="86868B"/>
          </a:solidFill>
          <a:ln/>
        </p:spPr>
      </p:sp>
      <p:sp>
        <p:nvSpPr>
          <p:cNvPr id="21" name="Text 19"/>
          <p:cNvSpPr txBox="1"/>
          <p:nvPr/>
        </p:nvSpPr>
        <p:spPr>
          <a:xfrm>
            <a:off x="6419088" y="3884803"/>
            <a:ext cx="5074920" cy="522478"/>
          </a:xfrm>
          <a:prstGeom prst="rect">
            <a:avLst/>
          </a:prstGeom>
          <a:noFill/>
          <a:ln/>
        </p:spPr>
        <p:txBody>
          <a:bodyPr wrap="square" lIns="0" tIns="0" rIns="0" bIns="0" rtlCol="0" anchor="t"/>
          <a:lstStyle/>
          <a:p>
            <a:pPr indent="0" marL="0">
              <a:buNone/>
            </a:pPr>
            <a:r>
              <a:rPr lang="en-US" sz="1450" dirty="0">
                <a:solidFill>
                  <a:srgbClr val="A1A1A6"/>
                </a:solidFill>
                <a:latin typeface="Helvetica Neue" pitchFamily="34" charset="0"/>
                <a:ea typeface="Helvetica Neue" pitchFamily="34" charset="-122"/>
                <a:cs typeface="Helvetica Neue" pitchFamily="34" charset="-120"/>
              </a:rPr>
              <a:t>The reference cannot record overnight, so night events are unverified</a:t>
            </a:r>
            <a:endParaRPr lang="en-US" sz="1450" dirty="0"/>
          </a:p>
        </p:txBody>
      </p:sp>
      <p:sp>
        <p:nvSpPr>
          <p:cNvPr id="22" name="Shape 20"/>
          <p:cNvSpPr/>
          <p:nvPr/>
        </p:nvSpPr>
        <p:spPr>
          <a:xfrm>
            <a:off x="685800" y="4983480"/>
            <a:ext cx="10817352" cy="1188720"/>
          </a:xfrm>
          <a:prstGeom prst="roundRect">
            <a:avLst>
              <a:gd name="adj" fmla="val 16923"/>
            </a:avLst>
          </a:prstGeom>
          <a:solidFill>
            <a:srgbClr val="FFFFFF">
              <a:alpha val="9000"/>
            </a:srgbClr>
          </a:solidFill>
          <a:ln w="9525">
            <a:solidFill>
              <a:srgbClr val="FFFFFF">
                <a:alpha val="16000"/>
              </a:srgbClr>
            </a:solidFill>
            <a:prstDash val="solid"/>
          </a:ln>
        </p:spPr>
      </p:sp>
      <p:sp>
        <p:nvSpPr>
          <p:cNvPr id="23" name="Text 21"/>
          <p:cNvSpPr txBox="1"/>
          <p:nvPr/>
        </p:nvSpPr>
        <p:spPr>
          <a:xfrm>
            <a:off x="1005840" y="5166360"/>
            <a:ext cx="10195560" cy="868680"/>
          </a:xfrm>
          <a:prstGeom prst="rect">
            <a:avLst/>
          </a:prstGeom>
          <a:noFill/>
          <a:ln/>
        </p:spPr>
        <p:txBody>
          <a:bodyPr wrap="square" lIns="0" tIns="0" rIns="0" bIns="0" rtlCol="0" anchor="t"/>
          <a:lstStyle/>
          <a:p>
            <a:pPr indent="0" marL="0">
              <a:buNone/>
            </a:pPr>
            <a:r>
              <a:rPr lang="en-US" sz="1500" b="1" dirty="0">
                <a:solidFill>
                  <a:srgbClr val="FF9F0A"/>
                </a:solidFill>
                <a:latin typeface="Helvetica Neue" pitchFamily="34" charset="0"/>
                <a:ea typeface="Helvetica Neue" pitchFamily="34" charset="-122"/>
                <a:cs typeface="Helvetica Neue" pitchFamily="34" charset="-120"/>
              </a:rPr>
              <a:t>Engineering estimate (to be measured).  </a:t>
            </a:r>
            <a:pPr indent="0" marL="0">
              <a:buNone/>
            </a:pPr>
            <a:r>
              <a:rPr lang="en-US" sz="1500" dirty="0">
                <a:solidFill>
                  <a:srgbClr val="FFFFFF"/>
                </a:solidFill>
                <a:latin typeface="Helvetica Neue" pitchFamily="34" charset="0"/>
                <a:ea typeface="Helvetica Neue" pitchFamily="34" charset="-122"/>
                <a:cs typeface="Helvetica Neue" pitchFamily="34" charset="-120"/>
              </a:rPr>
              <a:t>Bluetooth draws roughly 100 mA, so a 500 mAh battery would last only about 4–5 hours. That is why prototype v1 is planned to run on USB power.</a:t>
            </a:r>
            <a:endParaRPr lang="en-US" sz="1500" dirty="0"/>
          </a:p>
        </p:txBody>
      </p:sp>
      <p:sp>
        <p:nvSpPr>
          <p:cNvPr id="24" name="Text 22"/>
          <p:cNvSpPr txBox="1"/>
          <p:nvPr/>
        </p:nvSpPr>
        <p:spPr>
          <a:xfrm>
            <a:off x="685800" y="6473952"/>
            <a:ext cx="3657600" cy="228600"/>
          </a:xfrm>
          <a:prstGeom prst="rect">
            <a:avLst/>
          </a:prstGeom>
          <a:noFill/>
          <a:ln/>
        </p:spPr>
        <p:txBody>
          <a:bodyPr wrap="square" lIns="0" tIns="0" rIns="0" bIns="0" rtlCol="0" anchor="t"/>
          <a:lstStyle/>
          <a:p>
            <a:pPr indent="0" marL="0">
              <a:buNone/>
            </a:pPr>
            <a:r>
              <a:rPr lang="en-US" sz="950" b="1" dirty="0">
                <a:solidFill>
                  <a:srgbClr val="6E6E73"/>
                </a:solidFill>
                <a:latin typeface="Helvetica Neue" pitchFamily="34" charset="0"/>
                <a:ea typeface="Helvetica Neue" pitchFamily="34" charset="-122"/>
                <a:cs typeface="Helvetica Neue" pitchFamily="34" charset="-120"/>
              </a:rPr>
              <a:t>Night Signal</a:t>
            </a:r>
            <a:endParaRPr lang="en-US" sz="950" dirty="0"/>
          </a:p>
        </p:txBody>
      </p:sp>
      <p:sp>
        <p:nvSpPr>
          <p:cNvPr id="25" name="Text 23"/>
          <p:cNvSpPr txBox="1"/>
          <p:nvPr/>
        </p:nvSpPr>
        <p:spPr>
          <a:xfrm>
            <a:off x="10588752" y="6473952"/>
            <a:ext cx="914400" cy="228600"/>
          </a:xfrm>
          <a:prstGeom prst="rect">
            <a:avLst/>
          </a:prstGeom>
          <a:noFill/>
          <a:ln/>
        </p:spPr>
        <p:txBody>
          <a:bodyPr wrap="square" lIns="0" tIns="0" rIns="0" bIns="0" rtlCol="0" anchor="t"/>
          <a:lstStyle/>
          <a:p>
            <a:pPr algn="r" indent="0" marL="0">
              <a:buNone/>
            </a:pPr>
            <a:r>
              <a:rPr lang="en-US" sz="950" dirty="0">
                <a:solidFill>
                  <a:srgbClr val="6E6E73"/>
                </a:solidFill>
                <a:latin typeface="Helvetica Neue" pitchFamily="34" charset="0"/>
                <a:ea typeface="Helvetica Neue" pitchFamily="34" charset="-122"/>
                <a:cs typeface="Helvetica Neue"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320040"/>
          </a:xfrm>
          <a:prstGeom prst="rect">
            <a:avLst/>
          </a:prstGeom>
          <a:noFill/>
          <a:ln/>
        </p:spPr>
        <p:txBody>
          <a:bodyPr wrap="square" lIns="0" tIns="0" rIns="0" bIns="0" rtlCol="0" anchor="t"/>
          <a:lstStyle/>
          <a:p>
            <a:pPr indent="0" marL="0">
              <a:buNone/>
            </a:pPr>
            <a:r>
              <a:rPr lang="en-US" sz="1600" b="1" dirty="0">
                <a:solidFill>
                  <a:srgbClr val="E3254B"/>
                </a:solidFill>
                <a:latin typeface="Helvetica Neue" pitchFamily="34" charset="0"/>
                <a:ea typeface="Helvetica Neue" pitchFamily="34" charset="-122"/>
                <a:cs typeface="Helvetica Neue" pitchFamily="34" charset="-120"/>
              </a:rPr>
              <a:t>Project status</a:t>
            </a:r>
            <a:endParaRPr lang="en-US" sz="1600" dirty="0"/>
          </a:p>
        </p:txBody>
      </p:sp>
      <p:sp>
        <p:nvSpPr>
          <p:cNvPr id="3" name="Text 1"/>
          <p:cNvSpPr txBox="1"/>
          <p:nvPr/>
        </p:nvSpPr>
        <p:spPr>
          <a:xfrm>
            <a:off x="685800" y="841248"/>
            <a:ext cx="10789920" cy="868680"/>
          </a:xfrm>
          <a:prstGeom prst="rect">
            <a:avLst/>
          </a:prstGeom>
          <a:noFill/>
          <a:ln/>
        </p:spPr>
        <p:txBody>
          <a:bodyPr wrap="square" lIns="0" tIns="0" rIns="0" bIns="0" rtlCol="0" anchor="t"/>
          <a:lstStyle/>
          <a:p>
            <a:pPr indent="0" marL="0">
              <a:lnSpc>
                <a:spcPct val="92000"/>
              </a:lnSpc>
              <a:buNone/>
            </a:pPr>
            <a:r>
              <a:rPr lang="en-US" sz="4000" b="1" dirty="0">
                <a:solidFill>
                  <a:srgbClr val="1D1D1F"/>
                </a:solidFill>
                <a:latin typeface="Helvetica Neue" pitchFamily="34" charset="0"/>
                <a:ea typeface="Helvetica Neue" pitchFamily="34" charset="-122"/>
                <a:cs typeface="Helvetica Neue" pitchFamily="34" charset="-120"/>
              </a:rPr>
              <a:t>What is done, and what is planned.</a:t>
            </a:r>
            <a:endParaRPr lang="en-US" sz="4000" dirty="0"/>
          </a:p>
        </p:txBody>
      </p:sp>
      <p:sp>
        <p:nvSpPr>
          <p:cNvPr id="4" name="Shape 2"/>
          <p:cNvSpPr/>
          <p:nvPr/>
        </p:nvSpPr>
        <p:spPr>
          <a:xfrm>
            <a:off x="685800" y="1874520"/>
            <a:ext cx="5312664" cy="4297680"/>
          </a:xfrm>
          <a:prstGeom prst="roundRect">
            <a:avLst>
              <a:gd name="adj" fmla="val 4681"/>
            </a:avLst>
          </a:prstGeom>
          <a:solidFill>
            <a:srgbClr val="F5F5F7"/>
          </a:solidFill>
          <a:ln/>
        </p:spPr>
      </p:sp>
      <p:sp>
        <p:nvSpPr>
          <p:cNvPr id="5" name="Shape 3"/>
          <p:cNvSpPr/>
          <p:nvPr/>
        </p:nvSpPr>
        <p:spPr>
          <a:xfrm>
            <a:off x="6190488" y="1874520"/>
            <a:ext cx="5312664" cy="4297680"/>
          </a:xfrm>
          <a:prstGeom prst="roundRect">
            <a:avLst>
              <a:gd name="adj" fmla="val 4681"/>
            </a:avLst>
          </a:prstGeom>
          <a:solidFill>
            <a:srgbClr val="F5F5F7"/>
          </a:solidFill>
          <a:ln/>
        </p:spPr>
      </p:sp>
      <p:sp>
        <p:nvSpPr>
          <p:cNvPr id="6" name="Text 4"/>
          <p:cNvSpPr txBox="1"/>
          <p:nvPr/>
        </p:nvSpPr>
        <p:spPr>
          <a:xfrm>
            <a:off x="1005840" y="2084832"/>
            <a:ext cx="4663440" cy="365760"/>
          </a:xfrm>
          <a:prstGeom prst="rect">
            <a:avLst/>
          </a:prstGeom>
          <a:noFill/>
          <a:ln/>
        </p:spPr>
        <p:txBody>
          <a:bodyPr wrap="square" lIns="0" tIns="0" rIns="0" bIns="0" rtlCol="0" anchor="t"/>
          <a:lstStyle/>
          <a:p>
            <a:pPr indent="0" marL="0">
              <a:buNone/>
            </a:pPr>
            <a:r>
              <a:rPr lang="en-US" sz="1900" b="1" dirty="0">
                <a:solidFill>
                  <a:srgbClr val="248A3D"/>
                </a:solidFill>
                <a:latin typeface="Helvetica Neue" pitchFamily="34" charset="0"/>
                <a:ea typeface="Helvetica Neue" pitchFamily="34" charset="-122"/>
                <a:cs typeface="Helvetica Neue" pitchFamily="34" charset="-120"/>
              </a:rPr>
              <a:t>Done</a:t>
            </a:r>
            <a:endParaRPr lang="en-US" sz="1900" dirty="0"/>
          </a:p>
        </p:txBody>
      </p:sp>
      <p:sp>
        <p:nvSpPr>
          <p:cNvPr id="7" name="Shape 5"/>
          <p:cNvSpPr/>
          <p:nvPr/>
        </p:nvSpPr>
        <p:spPr>
          <a:xfrm>
            <a:off x="1005840" y="2648171"/>
            <a:ext cx="73152" cy="73152"/>
          </a:xfrm>
          <a:prstGeom prst="ellipse">
            <a:avLst/>
          </a:prstGeom>
          <a:solidFill>
            <a:srgbClr val="A1A1A6"/>
          </a:solidFill>
          <a:ln/>
        </p:spPr>
      </p:sp>
      <p:sp>
        <p:nvSpPr>
          <p:cNvPr id="8" name="Text 6"/>
          <p:cNvSpPr txBox="1"/>
          <p:nvPr/>
        </p:nvSpPr>
        <p:spPr>
          <a:xfrm>
            <a:off x="1234440" y="2560320"/>
            <a:ext cx="4526280" cy="282321"/>
          </a:xfrm>
          <a:prstGeom prst="rect">
            <a:avLst/>
          </a:prstGeom>
          <a:noFill/>
          <a:ln/>
        </p:spPr>
        <p:txBody>
          <a:bodyPr wrap="square" lIns="0" tIns="0" rIns="0" bIns="0" rtlCol="0" anchor="t"/>
          <a:lstStyle/>
          <a:p>
            <a:pPr indent="0" marL="0">
              <a:buNone/>
            </a:pPr>
            <a:r>
              <a:rPr lang="en-US" sz="1350" dirty="0">
                <a:solidFill>
                  <a:srgbClr val="1D1D1F"/>
                </a:solidFill>
                <a:latin typeface="Helvetica Neue" pitchFamily="34" charset="0"/>
                <a:ea typeface="Helvetica Neue" pitchFamily="34" charset="-122"/>
                <a:cs typeface="Helvetica Neue" pitchFamily="34" charset="-120"/>
              </a:rPr>
              <a:t>Design, parts list and build guide</a:t>
            </a:r>
            <a:endParaRPr lang="en-US" sz="1350" dirty="0"/>
          </a:p>
        </p:txBody>
      </p:sp>
      <p:sp>
        <p:nvSpPr>
          <p:cNvPr id="9" name="Shape 7"/>
          <p:cNvSpPr/>
          <p:nvPr/>
        </p:nvSpPr>
        <p:spPr>
          <a:xfrm>
            <a:off x="1005840" y="2985356"/>
            <a:ext cx="73152" cy="73152"/>
          </a:xfrm>
          <a:prstGeom prst="ellipse">
            <a:avLst/>
          </a:prstGeom>
          <a:solidFill>
            <a:srgbClr val="A1A1A6"/>
          </a:solidFill>
          <a:ln/>
        </p:spPr>
      </p:sp>
      <p:sp>
        <p:nvSpPr>
          <p:cNvPr id="10" name="Text 8"/>
          <p:cNvSpPr txBox="1"/>
          <p:nvPr/>
        </p:nvSpPr>
        <p:spPr>
          <a:xfrm>
            <a:off x="1234440" y="2897505"/>
            <a:ext cx="4526280" cy="282321"/>
          </a:xfrm>
          <a:prstGeom prst="rect">
            <a:avLst/>
          </a:prstGeom>
          <a:noFill/>
          <a:ln/>
        </p:spPr>
        <p:txBody>
          <a:bodyPr wrap="square" lIns="0" tIns="0" rIns="0" bIns="0" rtlCol="0" anchor="t"/>
          <a:lstStyle/>
          <a:p>
            <a:pPr indent="0" marL="0">
              <a:buNone/>
            </a:pPr>
            <a:r>
              <a:rPr lang="en-US" sz="1350" dirty="0">
                <a:solidFill>
                  <a:srgbClr val="1D1D1F"/>
                </a:solidFill>
                <a:latin typeface="Helvetica Neue" pitchFamily="34" charset="0"/>
                <a:ea typeface="Helvetica Neue" pitchFamily="34" charset="-122"/>
                <a:cs typeface="Helvetica Neue" pitchFamily="34" charset="-120"/>
              </a:rPr>
              <a:t>Firmware written (not yet run on hardware)</a:t>
            </a:r>
            <a:endParaRPr lang="en-US" sz="1350" dirty="0"/>
          </a:p>
        </p:txBody>
      </p:sp>
      <p:sp>
        <p:nvSpPr>
          <p:cNvPr id="11" name="Shape 9"/>
          <p:cNvSpPr/>
          <p:nvPr/>
        </p:nvSpPr>
        <p:spPr>
          <a:xfrm>
            <a:off x="1005840" y="3322541"/>
            <a:ext cx="73152" cy="73152"/>
          </a:xfrm>
          <a:prstGeom prst="ellipse">
            <a:avLst/>
          </a:prstGeom>
          <a:solidFill>
            <a:srgbClr val="A1A1A6"/>
          </a:solidFill>
          <a:ln/>
        </p:spPr>
      </p:sp>
      <p:sp>
        <p:nvSpPr>
          <p:cNvPr id="12" name="Text 10"/>
          <p:cNvSpPr txBox="1"/>
          <p:nvPr/>
        </p:nvSpPr>
        <p:spPr>
          <a:xfrm>
            <a:off x="1234440" y="3234690"/>
            <a:ext cx="4526280" cy="491490"/>
          </a:xfrm>
          <a:prstGeom prst="rect">
            <a:avLst/>
          </a:prstGeom>
          <a:noFill/>
          <a:ln/>
        </p:spPr>
        <p:txBody>
          <a:bodyPr wrap="square" lIns="0" tIns="0" rIns="0" bIns="0" rtlCol="0" anchor="t"/>
          <a:lstStyle/>
          <a:p>
            <a:pPr indent="0" marL="0">
              <a:buNone/>
            </a:pPr>
            <a:r>
              <a:rPr lang="en-US" sz="1350" dirty="0">
                <a:solidFill>
                  <a:srgbClr val="1D1D1F"/>
                </a:solidFill>
                <a:latin typeface="Helvetica Neue" pitchFamily="34" charset="0"/>
                <a:ea typeface="Helvetica Neue" pitchFamily="34" charset="-122"/>
                <a:cs typeface="Helvetica Neue" pitchFamily="34" charset="-120"/>
              </a:rPr>
              <a:t>Analysis software and simulator, tested on simulated data</a:t>
            </a:r>
            <a:endParaRPr lang="en-US" sz="1350" dirty="0"/>
          </a:p>
        </p:txBody>
      </p:sp>
      <p:sp>
        <p:nvSpPr>
          <p:cNvPr id="13" name="Shape 11"/>
          <p:cNvSpPr/>
          <p:nvPr/>
        </p:nvSpPr>
        <p:spPr>
          <a:xfrm>
            <a:off x="1005840" y="3868895"/>
            <a:ext cx="73152" cy="73152"/>
          </a:xfrm>
          <a:prstGeom prst="ellipse">
            <a:avLst/>
          </a:prstGeom>
          <a:solidFill>
            <a:srgbClr val="A1A1A6"/>
          </a:solidFill>
          <a:ln/>
        </p:spPr>
      </p:sp>
      <p:sp>
        <p:nvSpPr>
          <p:cNvPr id="14" name="Text 12"/>
          <p:cNvSpPr txBox="1"/>
          <p:nvPr/>
        </p:nvSpPr>
        <p:spPr>
          <a:xfrm>
            <a:off x="1234440" y="3781044"/>
            <a:ext cx="4526280" cy="282321"/>
          </a:xfrm>
          <a:prstGeom prst="rect">
            <a:avLst/>
          </a:prstGeom>
          <a:noFill/>
          <a:ln/>
        </p:spPr>
        <p:txBody>
          <a:bodyPr wrap="square" lIns="0" tIns="0" rIns="0" bIns="0" rtlCol="0" anchor="t"/>
          <a:lstStyle/>
          <a:p>
            <a:pPr indent="0" marL="0">
              <a:buNone/>
            </a:pPr>
            <a:r>
              <a:rPr lang="en-US" sz="1350" dirty="0">
                <a:solidFill>
                  <a:srgbClr val="1D1D1F"/>
                </a:solidFill>
                <a:latin typeface="Helvetica Neue" pitchFamily="34" charset="0"/>
                <a:ea typeface="Helvetica Neue" pitchFamily="34" charset="-122"/>
                <a:cs typeface="Helvetica Neue" pitchFamily="34" charset="-120"/>
              </a:rPr>
              <a:t>App and 3D model</a:t>
            </a:r>
            <a:endParaRPr lang="en-US" sz="1350" dirty="0"/>
          </a:p>
        </p:txBody>
      </p:sp>
      <p:sp>
        <p:nvSpPr>
          <p:cNvPr id="15" name="Shape 13"/>
          <p:cNvSpPr/>
          <p:nvPr/>
        </p:nvSpPr>
        <p:spPr>
          <a:xfrm>
            <a:off x="1005840" y="4206080"/>
            <a:ext cx="73152" cy="73152"/>
          </a:xfrm>
          <a:prstGeom prst="ellipse">
            <a:avLst/>
          </a:prstGeom>
          <a:solidFill>
            <a:srgbClr val="A1A1A6"/>
          </a:solidFill>
          <a:ln/>
        </p:spPr>
      </p:sp>
      <p:sp>
        <p:nvSpPr>
          <p:cNvPr id="16" name="Text 14"/>
          <p:cNvSpPr txBox="1"/>
          <p:nvPr/>
        </p:nvSpPr>
        <p:spPr>
          <a:xfrm>
            <a:off x="1234440" y="4118229"/>
            <a:ext cx="4526280" cy="491490"/>
          </a:xfrm>
          <a:prstGeom prst="rect">
            <a:avLst/>
          </a:prstGeom>
          <a:noFill/>
          <a:ln/>
        </p:spPr>
        <p:txBody>
          <a:bodyPr wrap="square" lIns="0" tIns="0" rIns="0" bIns="0" rtlCol="0" anchor="t"/>
          <a:lstStyle/>
          <a:p>
            <a:pPr indent="0" marL="0">
              <a:buNone/>
            </a:pPr>
            <a:r>
              <a:rPr lang="en-US" sz="1350" dirty="0">
                <a:solidFill>
                  <a:srgbClr val="1D1D1F"/>
                </a:solidFill>
                <a:latin typeface="Helvetica Neue" pitchFamily="34" charset="0"/>
                <a:ea typeface="Helvetica Neue" pitchFamily="34" charset="-122"/>
                <a:cs typeface="Helvetica Neue" pitchFamily="34" charset="-120"/>
              </a:rPr>
              <a:t>Scope revised with Ms. Ireland (Oct 9); revised proposal and ethics package drafted</a:t>
            </a:r>
            <a:endParaRPr lang="en-US" sz="1350" dirty="0"/>
          </a:p>
        </p:txBody>
      </p:sp>
      <p:sp>
        <p:nvSpPr>
          <p:cNvPr id="17" name="Text 15"/>
          <p:cNvSpPr txBox="1"/>
          <p:nvPr/>
        </p:nvSpPr>
        <p:spPr>
          <a:xfrm>
            <a:off x="6510528" y="2084832"/>
            <a:ext cx="4663440" cy="365760"/>
          </a:xfrm>
          <a:prstGeom prst="rect">
            <a:avLst/>
          </a:prstGeom>
          <a:noFill/>
          <a:ln/>
        </p:spPr>
        <p:txBody>
          <a:bodyPr wrap="square" lIns="0" tIns="0" rIns="0" bIns="0" rtlCol="0" anchor="t"/>
          <a:lstStyle/>
          <a:p>
            <a:pPr indent="0" marL="0">
              <a:buNone/>
            </a:pPr>
            <a:r>
              <a:rPr lang="en-US" sz="1900" b="1" dirty="0">
                <a:solidFill>
                  <a:srgbClr val="C45500"/>
                </a:solidFill>
                <a:latin typeface="Helvetica Neue" pitchFamily="34" charset="0"/>
                <a:ea typeface="Helvetica Neue" pitchFamily="34" charset="-122"/>
                <a:cs typeface="Helvetica Neue" pitchFamily="34" charset="-120"/>
              </a:rPr>
              <a:t>Planned or pending</a:t>
            </a:r>
            <a:endParaRPr lang="en-US" sz="1900" dirty="0"/>
          </a:p>
        </p:txBody>
      </p:sp>
      <p:sp>
        <p:nvSpPr>
          <p:cNvPr id="18" name="Shape 16"/>
          <p:cNvSpPr/>
          <p:nvPr/>
        </p:nvSpPr>
        <p:spPr>
          <a:xfrm>
            <a:off x="6510528" y="2648171"/>
            <a:ext cx="73152" cy="73152"/>
          </a:xfrm>
          <a:prstGeom prst="ellipse">
            <a:avLst/>
          </a:prstGeom>
          <a:solidFill>
            <a:srgbClr val="A1A1A6"/>
          </a:solidFill>
          <a:ln/>
        </p:spPr>
      </p:sp>
      <p:sp>
        <p:nvSpPr>
          <p:cNvPr id="19" name="Text 17"/>
          <p:cNvSpPr txBox="1"/>
          <p:nvPr/>
        </p:nvSpPr>
        <p:spPr>
          <a:xfrm>
            <a:off x="6739128" y="2560320"/>
            <a:ext cx="4526280" cy="282321"/>
          </a:xfrm>
          <a:prstGeom prst="rect">
            <a:avLst/>
          </a:prstGeom>
          <a:noFill/>
          <a:ln/>
        </p:spPr>
        <p:txBody>
          <a:bodyPr wrap="square" lIns="0" tIns="0" rIns="0" bIns="0" rtlCol="0" anchor="t"/>
          <a:lstStyle/>
          <a:p>
            <a:pPr indent="0" marL="0">
              <a:buNone/>
            </a:pPr>
            <a:r>
              <a:rPr lang="en-US" sz="1350" dirty="0">
                <a:solidFill>
                  <a:srgbClr val="1D1D1F"/>
                </a:solidFill>
                <a:latin typeface="Helvetica Neue" pitchFamily="34" charset="0"/>
                <a:ea typeface="Helvetica Neue" pitchFamily="34" charset="-122"/>
                <a:cs typeface="Helvetica Neue" pitchFamily="34" charset="-120"/>
              </a:rPr>
              <a:t>Ms. Ireland’s review of the revised proposal</a:t>
            </a:r>
            <a:endParaRPr lang="en-US" sz="1350" dirty="0"/>
          </a:p>
        </p:txBody>
      </p:sp>
      <p:sp>
        <p:nvSpPr>
          <p:cNvPr id="20" name="Shape 18"/>
          <p:cNvSpPr/>
          <p:nvPr/>
        </p:nvSpPr>
        <p:spPr>
          <a:xfrm>
            <a:off x="6510528" y="2985356"/>
            <a:ext cx="73152" cy="73152"/>
          </a:xfrm>
          <a:prstGeom prst="ellipse">
            <a:avLst/>
          </a:prstGeom>
          <a:solidFill>
            <a:srgbClr val="A1A1A6"/>
          </a:solidFill>
          <a:ln/>
        </p:spPr>
      </p:sp>
      <p:sp>
        <p:nvSpPr>
          <p:cNvPr id="21" name="Text 19"/>
          <p:cNvSpPr txBox="1"/>
          <p:nvPr/>
        </p:nvSpPr>
        <p:spPr>
          <a:xfrm>
            <a:off x="6739128" y="2897505"/>
            <a:ext cx="4526280" cy="282321"/>
          </a:xfrm>
          <a:prstGeom prst="rect">
            <a:avLst/>
          </a:prstGeom>
          <a:noFill/>
          <a:ln/>
        </p:spPr>
        <p:txBody>
          <a:bodyPr wrap="square" lIns="0" tIns="0" rIns="0" bIns="0" rtlCol="0" anchor="t"/>
          <a:lstStyle/>
          <a:p>
            <a:pPr indent="0" marL="0">
              <a:buNone/>
            </a:pPr>
            <a:r>
              <a:rPr lang="en-US" sz="1350" dirty="0">
                <a:solidFill>
                  <a:srgbClr val="1D1D1F"/>
                </a:solidFill>
                <a:latin typeface="Helvetica Neue" pitchFamily="34" charset="0"/>
                <a:ea typeface="Helvetica Neue" pitchFamily="34" charset="-122"/>
                <a:cs typeface="Helvetica Neue" pitchFamily="34" charset="-120"/>
              </a:rPr>
              <a:t>Ethics approval and signed consent</a:t>
            </a:r>
            <a:endParaRPr lang="en-US" sz="1350" dirty="0"/>
          </a:p>
        </p:txBody>
      </p:sp>
      <p:sp>
        <p:nvSpPr>
          <p:cNvPr id="22" name="Shape 20"/>
          <p:cNvSpPr/>
          <p:nvPr/>
        </p:nvSpPr>
        <p:spPr>
          <a:xfrm>
            <a:off x="6510528" y="3322541"/>
            <a:ext cx="73152" cy="73152"/>
          </a:xfrm>
          <a:prstGeom prst="ellipse">
            <a:avLst/>
          </a:prstGeom>
          <a:solidFill>
            <a:srgbClr val="A1A1A6"/>
          </a:solidFill>
          <a:ln/>
        </p:spPr>
      </p:sp>
      <p:sp>
        <p:nvSpPr>
          <p:cNvPr id="23" name="Text 21"/>
          <p:cNvSpPr txBox="1"/>
          <p:nvPr/>
        </p:nvSpPr>
        <p:spPr>
          <a:xfrm>
            <a:off x="6739128" y="3234690"/>
            <a:ext cx="4526280" cy="282321"/>
          </a:xfrm>
          <a:prstGeom prst="rect">
            <a:avLst/>
          </a:prstGeom>
          <a:noFill/>
          <a:ln/>
        </p:spPr>
        <p:txBody>
          <a:bodyPr wrap="square" lIns="0" tIns="0" rIns="0" bIns="0" rtlCol="0" anchor="t"/>
          <a:lstStyle/>
          <a:p>
            <a:pPr indent="0" marL="0">
              <a:buNone/>
            </a:pPr>
            <a:r>
              <a:rPr lang="en-US" sz="1350" dirty="0">
                <a:solidFill>
                  <a:srgbClr val="1D1D1F"/>
                </a:solidFill>
                <a:latin typeface="Helvetica Neue" pitchFamily="34" charset="0"/>
                <a:ea typeface="Helvetica Neue" pitchFamily="34" charset="-122"/>
                <a:cs typeface="Helvetica Neue" pitchFamily="34" charset="-120"/>
              </a:rPr>
              <a:t>Build and check the prototype</a:t>
            </a:r>
            <a:endParaRPr lang="en-US" sz="1350" dirty="0"/>
          </a:p>
        </p:txBody>
      </p:sp>
      <p:sp>
        <p:nvSpPr>
          <p:cNvPr id="24" name="Shape 22"/>
          <p:cNvSpPr/>
          <p:nvPr/>
        </p:nvSpPr>
        <p:spPr>
          <a:xfrm>
            <a:off x="6510528" y="3659726"/>
            <a:ext cx="73152" cy="73152"/>
          </a:xfrm>
          <a:prstGeom prst="ellipse">
            <a:avLst/>
          </a:prstGeom>
          <a:solidFill>
            <a:srgbClr val="A1A1A6"/>
          </a:solidFill>
          <a:ln/>
        </p:spPr>
      </p:sp>
      <p:sp>
        <p:nvSpPr>
          <p:cNvPr id="25" name="Text 23"/>
          <p:cNvSpPr txBox="1"/>
          <p:nvPr/>
        </p:nvSpPr>
        <p:spPr>
          <a:xfrm>
            <a:off x="6739128" y="3571875"/>
            <a:ext cx="4526280" cy="282321"/>
          </a:xfrm>
          <a:prstGeom prst="rect">
            <a:avLst/>
          </a:prstGeom>
          <a:noFill/>
          <a:ln/>
        </p:spPr>
        <p:txBody>
          <a:bodyPr wrap="square" lIns="0" tIns="0" rIns="0" bIns="0" rtlCol="0" anchor="t"/>
          <a:lstStyle/>
          <a:p>
            <a:pPr indent="0" marL="0">
              <a:buNone/>
            </a:pPr>
            <a:r>
              <a:rPr lang="en-US" sz="1350" dirty="0">
                <a:solidFill>
                  <a:srgbClr val="1D1D1F"/>
                </a:solidFill>
                <a:latin typeface="Helvetica Neue" pitchFamily="34" charset="0"/>
                <a:ea typeface="Helvetica Neue" pitchFamily="34" charset="-122"/>
                <a:cs typeface="Helvetica Neue" pitchFamily="34" charset="-120"/>
              </a:rPr>
              <a:t>Accuracy sessions against the reference</a:t>
            </a:r>
            <a:endParaRPr lang="en-US" sz="1350" dirty="0"/>
          </a:p>
        </p:txBody>
      </p:sp>
      <p:sp>
        <p:nvSpPr>
          <p:cNvPr id="26" name="Shape 24"/>
          <p:cNvSpPr/>
          <p:nvPr/>
        </p:nvSpPr>
        <p:spPr>
          <a:xfrm>
            <a:off x="6510528" y="3996911"/>
            <a:ext cx="73152" cy="73152"/>
          </a:xfrm>
          <a:prstGeom prst="ellipse">
            <a:avLst/>
          </a:prstGeom>
          <a:solidFill>
            <a:srgbClr val="A1A1A6"/>
          </a:solidFill>
          <a:ln/>
        </p:spPr>
      </p:sp>
      <p:sp>
        <p:nvSpPr>
          <p:cNvPr id="27" name="Text 25"/>
          <p:cNvSpPr txBox="1"/>
          <p:nvPr/>
        </p:nvSpPr>
        <p:spPr>
          <a:xfrm>
            <a:off x="6739128" y="3909060"/>
            <a:ext cx="4526280" cy="491490"/>
          </a:xfrm>
          <a:prstGeom prst="rect">
            <a:avLst/>
          </a:prstGeom>
          <a:noFill/>
          <a:ln/>
        </p:spPr>
        <p:txBody>
          <a:bodyPr wrap="square" lIns="0" tIns="0" rIns="0" bIns="0" rtlCol="0" anchor="t"/>
          <a:lstStyle/>
          <a:p>
            <a:pPr indent="0" marL="0">
              <a:buNone/>
            </a:pPr>
            <a:r>
              <a:rPr lang="en-US" sz="1350" dirty="0">
                <a:solidFill>
                  <a:srgbClr val="1D1D1F"/>
                </a:solidFill>
                <a:latin typeface="Helvetica Neue" pitchFamily="34" charset="0"/>
                <a:ea typeface="Helvetica Neue" pitchFamily="34" charset="-122"/>
                <a:cs typeface="Helvetica Neue" pitchFamily="34" charset="-120"/>
              </a:rPr>
              <a:t>Overnight recordings and optional breath-hold test (if approved)</a:t>
            </a:r>
            <a:endParaRPr lang="en-US" sz="1350" dirty="0"/>
          </a:p>
        </p:txBody>
      </p:sp>
      <p:sp>
        <p:nvSpPr>
          <p:cNvPr id="28" name="Shape 26"/>
          <p:cNvSpPr/>
          <p:nvPr/>
        </p:nvSpPr>
        <p:spPr>
          <a:xfrm>
            <a:off x="6510528" y="4543265"/>
            <a:ext cx="73152" cy="73152"/>
          </a:xfrm>
          <a:prstGeom prst="ellipse">
            <a:avLst/>
          </a:prstGeom>
          <a:solidFill>
            <a:srgbClr val="A1A1A6"/>
          </a:solidFill>
          <a:ln/>
        </p:spPr>
      </p:sp>
      <p:sp>
        <p:nvSpPr>
          <p:cNvPr id="29" name="Text 27"/>
          <p:cNvSpPr txBox="1"/>
          <p:nvPr/>
        </p:nvSpPr>
        <p:spPr>
          <a:xfrm>
            <a:off x="6739128" y="4455414"/>
            <a:ext cx="4526280" cy="282321"/>
          </a:xfrm>
          <a:prstGeom prst="rect">
            <a:avLst/>
          </a:prstGeom>
          <a:noFill/>
          <a:ln/>
        </p:spPr>
        <p:txBody>
          <a:bodyPr wrap="square" lIns="0" tIns="0" rIns="0" bIns="0" rtlCol="0" anchor="t"/>
          <a:lstStyle/>
          <a:p>
            <a:pPr indent="0" marL="0">
              <a:buNone/>
            </a:pPr>
            <a:r>
              <a:rPr lang="en-US" sz="1350" dirty="0">
                <a:solidFill>
                  <a:srgbClr val="1D1D1F"/>
                </a:solidFill>
                <a:latin typeface="Helvetica Neue" pitchFamily="34" charset="0"/>
                <a:ea typeface="Helvetica Neue" pitchFamily="34" charset="-122"/>
                <a:cs typeface="Helvetica Neue" pitchFamily="34" charset="-120"/>
              </a:rPr>
              <a:t>Real results and analysis (by January 11)</a:t>
            </a:r>
            <a:endParaRPr lang="en-US" sz="1350" dirty="0"/>
          </a:p>
        </p:txBody>
      </p:sp>
      <p:sp>
        <p:nvSpPr>
          <p:cNvPr id="30" name="Text 28"/>
          <p:cNvSpPr txBox="1"/>
          <p:nvPr/>
        </p:nvSpPr>
        <p:spPr>
          <a:xfrm>
            <a:off x="685800" y="6473952"/>
            <a:ext cx="3657600" cy="228600"/>
          </a:xfrm>
          <a:prstGeom prst="rect">
            <a:avLst/>
          </a:prstGeom>
          <a:noFill/>
          <a:ln/>
        </p:spPr>
        <p:txBody>
          <a:bodyPr wrap="square" lIns="0" tIns="0" rIns="0" bIns="0" rtlCol="0" anchor="t"/>
          <a:lstStyle/>
          <a:p>
            <a:pPr indent="0" marL="0">
              <a:buNone/>
            </a:pPr>
            <a:r>
              <a:rPr lang="en-US" sz="950" b="1" dirty="0">
                <a:solidFill>
                  <a:srgbClr val="A1A1A6"/>
                </a:solidFill>
                <a:latin typeface="Helvetica Neue" pitchFamily="34" charset="0"/>
                <a:ea typeface="Helvetica Neue" pitchFamily="34" charset="-122"/>
                <a:cs typeface="Helvetica Neue" pitchFamily="34" charset="-120"/>
              </a:rPr>
              <a:t>Night Signal</a:t>
            </a:r>
            <a:endParaRPr lang="en-US" sz="950" dirty="0"/>
          </a:p>
        </p:txBody>
      </p:sp>
      <p:sp>
        <p:nvSpPr>
          <p:cNvPr id="31" name="Text 29"/>
          <p:cNvSpPr txBox="1"/>
          <p:nvPr/>
        </p:nvSpPr>
        <p:spPr>
          <a:xfrm>
            <a:off x="10588752" y="6473952"/>
            <a:ext cx="914400" cy="228600"/>
          </a:xfrm>
          <a:prstGeom prst="rect">
            <a:avLst/>
          </a:prstGeom>
          <a:noFill/>
          <a:ln/>
        </p:spPr>
        <p:txBody>
          <a:bodyPr wrap="square" lIns="0" tIns="0" rIns="0" bIns="0" rtlCol="0" anchor="t"/>
          <a:lstStyle/>
          <a:p>
            <a:pPr algn="r" indent="0" marL="0">
              <a:buNone/>
            </a:pPr>
            <a:r>
              <a:rPr lang="en-US" sz="950" dirty="0">
                <a:solidFill>
                  <a:srgbClr val="A1A1A6"/>
                </a:solidFill>
                <a:latin typeface="Helvetica Neue" pitchFamily="34" charset="0"/>
                <a:ea typeface="Helvetica Neue" pitchFamily="34" charset="-122"/>
                <a:cs typeface="Helvetica Neue"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85800" y="502920"/>
            <a:ext cx="10789920" cy="320040"/>
          </a:xfrm>
          <a:prstGeom prst="rect">
            <a:avLst/>
          </a:prstGeom>
          <a:noFill/>
          <a:ln/>
        </p:spPr>
        <p:txBody>
          <a:bodyPr wrap="square" lIns="0" tIns="0" rIns="0" bIns="0" rtlCol="0" anchor="t"/>
          <a:lstStyle/>
          <a:p>
            <a:pPr indent="0" marL="0">
              <a:buNone/>
            </a:pPr>
            <a:r>
              <a:rPr lang="en-US" sz="1600" b="1" dirty="0">
                <a:solidFill>
                  <a:srgbClr val="FF375F"/>
                </a:solidFill>
                <a:latin typeface="Helvetica Neue" pitchFamily="34" charset="0"/>
                <a:ea typeface="Helvetica Neue" pitchFamily="34" charset="-122"/>
                <a:cs typeface="Helvetica Neue" pitchFamily="34" charset="-120"/>
              </a:rPr>
              <a:t>Conclusion</a:t>
            </a:r>
            <a:endParaRPr lang="en-US" sz="1600" dirty="0"/>
          </a:p>
        </p:txBody>
      </p:sp>
      <p:sp>
        <p:nvSpPr>
          <p:cNvPr id="3" name="Text 1"/>
          <p:cNvSpPr txBox="1"/>
          <p:nvPr/>
        </p:nvSpPr>
        <p:spPr>
          <a:xfrm>
            <a:off x="685800" y="841248"/>
            <a:ext cx="10789920" cy="1005840"/>
          </a:xfrm>
          <a:prstGeom prst="rect">
            <a:avLst/>
          </a:prstGeom>
          <a:noFill/>
          <a:ln/>
        </p:spPr>
        <p:txBody>
          <a:bodyPr wrap="square" lIns="0" tIns="0" rIns="0" bIns="0" rtlCol="0" anchor="t"/>
          <a:lstStyle/>
          <a:p>
            <a:pPr indent="0" marL="0">
              <a:lnSpc>
                <a:spcPct val="92000"/>
              </a:lnSpc>
              <a:buNone/>
            </a:pPr>
            <a:r>
              <a:rPr lang="en-US" sz="5400" b="1" dirty="0">
                <a:solidFill>
                  <a:srgbClr val="FFFFFF"/>
                </a:solidFill>
                <a:latin typeface="Helvetica Neue" pitchFamily="34" charset="0"/>
                <a:ea typeface="Helvetica Neue" pitchFamily="34" charset="-122"/>
                <a:cs typeface="Helvetica Neue" pitchFamily="34" charset="-120"/>
              </a:rPr>
              <a:t>No conclusion yet.</a:t>
            </a:r>
            <a:endParaRPr lang="en-US" sz="5400" dirty="0"/>
          </a:p>
        </p:txBody>
      </p:sp>
      <p:sp>
        <p:nvSpPr>
          <p:cNvPr id="4" name="Text 2"/>
          <p:cNvSpPr txBox="1"/>
          <p:nvPr/>
        </p:nvSpPr>
        <p:spPr>
          <a:xfrm>
            <a:off x="685800" y="1965960"/>
            <a:ext cx="10789920" cy="731520"/>
          </a:xfrm>
          <a:prstGeom prst="rect">
            <a:avLst/>
          </a:prstGeom>
          <a:noFill/>
          <a:ln/>
        </p:spPr>
        <p:txBody>
          <a:bodyPr wrap="square" lIns="0" tIns="0" rIns="0" bIns="0" rtlCol="0" anchor="t"/>
          <a:lstStyle/>
          <a:p>
            <a:pPr indent="0" marL="0">
              <a:buNone/>
            </a:pPr>
            <a:r>
              <a:rPr lang="en-US" sz="1900" dirty="0">
                <a:solidFill>
                  <a:srgbClr val="A1A1A6"/>
                </a:solidFill>
                <a:latin typeface="Helvetica Neue" pitchFamily="34" charset="0"/>
                <a:ea typeface="Helvetica Neue" pitchFamily="34" charset="-122"/>
                <a:cs typeface="Helvetica Neue" pitchFamily="34" charset="-120"/>
              </a:rPr>
              <a:t>No real data has been collected, so the hypothesis has not been tested. This slide will be written after the accuracy sessions.</a:t>
            </a:r>
            <a:endParaRPr lang="en-US" sz="1900" dirty="0"/>
          </a:p>
        </p:txBody>
      </p:sp>
      <p:sp>
        <p:nvSpPr>
          <p:cNvPr id="5" name="Text 3"/>
          <p:cNvSpPr txBox="1"/>
          <p:nvPr/>
        </p:nvSpPr>
        <p:spPr>
          <a:xfrm>
            <a:off x="685800" y="2926080"/>
            <a:ext cx="6949440" cy="365760"/>
          </a:xfrm>
          <a:prstGeom prst="rect">
            <a:avLst/>
          </a:prstGeom>
          <a:noFill/>
          <a:ln/>
        </p:spPr>
        <p:txBody>
          <a:bodyPr wrap="square" lIns="0" tIns="0" rIns="0" bIns="0" rtlCol="0" anchor="t"/>
          <a:lstStyle/>
          <a:p>
            <a:pPr indent="0" marL="0">
              <a:buNone/>
            </a:pPr>
            <a:r>
              <a:rPr lang="en-US" sz="1700" b="1" dirty="0">
                <a:solidFill>
                  <a:srgbClr val="FFFFFF"/>
                </a:solidFill>
                <a:latin typeface="Helvetica Neue" pitchFamily="34" charset="0"/>
                <a:ea typeface="Helvetica Neue" pitchFamily="34" charset="-122"/>
                <a:cs typeface="Helvetica Neue" pitchFamily="34" charset="-120"/>
              </a:rPr>
              <a:t>What this project will be able to show</a:t>
            </a:r>
            <a:endParaRPr lang="en-US" sz="1700" dirty="0"/>
          </a:p>
        </p:txBody>
      </p:sp>
      <p:sp>
        <p:nvSpPr>
          <p:cNvPr id="6" name="Shape 4"/>
          <p:cNvSpPr/>
          <p:nvPr/>
        </p:nvSpPr>
        <p:spPr>
          <a:xfrm>
            <a:off x="685800" y="3477638"/>
            <a:ext cx="73152" cy="73152"/>
          </a:xfrm>
          <a:prstGeom prst="ellipse">
            <a:avLst/>
          </a:prstGeom>
          <a:solidFill>
            <a:srgbClr val="86868B"/>
          </a:solidFill>
          <a:ln/>
        </p:spPr>
      </p:sp>
      <p:sp>
        <p:nvSpPr>
          <p:cNvPr id="7" name="Text 5"/>
          <p:cNvSpPr txBox="1"/>
          <p:nvPr/>
        </p:nvSpPr>
        <p:spPr>
          <a:xfrm>
            <a:off x="914400" y="3383280"/>
            <a:ext cx="6629400" cy="297815"/>
          </a:xfrm>
          <a:prstGeom prst="rect">
            <a:avLst/>
          </a:prstGeom>
          <a:noFill/>
          <a:ln/>
        </p:spPr>
        <p:txBody>
          <a:bodyPr wrap="square" lIns="0" tIns="0" rIns="0" bIns="0" rtlCol="0" anchor="t"/>
          <a:lstStyle/>
          <a:p>
            <a:pPr indent="0" marL="0">
              <a:buNone/>
            </a:pPr>
            <a:r>
              <a:rPr lang="en-US" sz="1450" dirty="0">
                <a:solidFill>
                  <a:srgbClr val="A1A1A6"/>
                </a:solidFill>
                <a:latin typeface="Helvetica Neue" pitchFamily="34" charset="0"/>
                <a:ea typeface="Helvetica Neue" pitchFamily="34" charset="-122"/>
                <a:cs typeface="Helvetica Neue" pitchFamily="34" charset="-120"/>
              </a:rPr>
              <a:t>How closely the wearable agrees with a reference oximeter at rest</a:t>
            </a:r>
            <a:endParaRPr lang="en-US" sz="1450" dirty="0"/>
          </a:p>
        </p:txBody>
      </p:sp>
      <p:sp>
        <p:nvSpPr>
          <p:cNvPr id="8" name="Shape 6"/>
          <p:cNvSpPr/>
          <p:nvPr/>
        </p:nvSpPr>
        <p:spPr>
          <a:xfrm>
            <a:off x="685800" y="3812029"/>
            <a:ext cx="73152" cy="73152"/>
          </a:xfrm>
          <a:prstGeom prst="ellipse">
            <a:avLst/>
          </a:prstGeom>
          <a:solidFill>
            <a:srgbClr val="86868B"/>
          </a:solidFill>
          <a:ln/>
        </p:spPr>
      </p:sp>
      <p:sp>
        <p:nvSpPr>
          <p:cNvPr id="9" name="Text 7"/>
          <p:cNvSpPr txBox="1"/>
          <p:nvPr/>
        </p:nvSpPr>
        <p:spPr>
          <a:xfrm>
            <a:off x="914400" y="3717671"/>
            <a:ext cx="6629400" cy="297815"/>
          </a:xfrm>
          <a:prstGeom prst="rect">
            <a:avLst/>
          </a:prstGeom>
          <a:noFill/>
          <a:ln/>
        </p:spPr>
        <p:txBody>
          <a:bodyPr wrap="square" lIns="0" tIns="0" rIns="0" bIns="0" rtlCol="0" anchor="t"/>
          <a:lstStyle/>
          <a:p>
            <a:pPr indent="0" marL="0">
              <a:buNone/>
            </a:pPr>
            <a:r>
              <a:rPr lang="en-US" sz="1450" dirty="0">
                <a:solidFill>
                  <a:srgbClr val="A1A1A6"/>
                </a:solidFill>
                <a:latin typeface="Helvetica Neue" pitchFamily="34" charset="0"/>
                <a:ea typeface="Helvetica Neue" pitchFamily="34" charset="-122"/>
                <a:cs typeface="Helvetica Neue" pitchFamily="34" charset="-120"/>
              </a:rPr>
              <a:t>How much of a recording gives a valid signal</a:t>
            </a:r>
            <a:endParaRPr lang="en-US" sz="1450" dirty="0"/>
          </a:p>
        </p:txBody>
      </p:sp>
      <p:sp>
        <p:nvSpPr>
          <p:cNvPr id="10" name="Shape 8"/>
          <p:cNvSpPr/>
          <p:nvPr/>
        </p:nvSpPr>
        <p:spPr>
          <a:xfrm>
            <a:off x="685800" y="4146420"/>
            <a:ext cx="73152" cy="73152"/>
          </a:xfrm>
          <a:prstGeom prst="ellipse">
            <a:avLst/>
          </a:prstGeom>
          <a:solidFill>
            <a:srgbClr val="86868B"/>
          </a:solidFill>
          <a:ln/>
        </p:spPr>
      </p:sp>
      <p:sp>
        <p:nvSpPr>
          <p:cNvPr id="11" name="Text 9"/>
          <p:cNvSpPr txBox="1"/>
          <p:nvPr/>
        </p:nvSpPr>
        <p:spPr>
          <a:xfrm>
            <a:off x="914400" y="4052062"/>
            <a:ext cx="6629400" cy="297815"/>
          </a:xfrm>
          <a:prstGeom prst="rect">
            <a:avLst/>
          </a:prstGeom>
          <a:noFill/>
          <a:ln/>
        </p:spPr>
        <p:txBody>
          <a:bodyPr wrap="square" lIns="0" tIns="0" rIns="0" bIns="0" rtlCol="0" anchor="t"/>
          <a:lstStyle/>
          <a:p>
            <a:pPr indent="0" marL="0">
              <a:buNone/>
            </a:pPr>
            <a:r>
              <a:rPr lang="en-US" sz="1450" dirty="0">
                <a:solidFill>
                  <a:srgbClr val="A1A1A6"/>
                </a:solidFill>
                <a:latin typeface="Helvetica Neue" pitchFamily="34" charset="0"/>
                <a:ea typeface="Helvetica Neue" pitchFamily="34" charset="-122"/>
                <a:cs typeface="Helvetica Neue" pitchFamily="34" charset="-120"/>
              </a:rPr>
              <a:t>Whether flagged desaturation events match logged dips (if approved)</a:t>
            </a:r>
            <a:endParaRPr lang="en-US" sz="1450" dirty="0"/>
          </a:p>
        </p:txBody>
      </p:sp>
      <p:sp>
        <p:nvSpPr>
          <p:cNvPr id="12" name="Text 10"/>
          <p:cNvSpPr txBox="1"/>
          <p:nvPr/>
        </p:nvSpPr>
        <p:spPr>
          <a:xfrm>
            <a:off x="685800" y="4617720"/>
            <a:ext cx="6949440" cy="365760"/>
          </a:xfrm>
          <a:prstGeom prst="rect">
            <a:avLst/>
          </a:prstGeom>
          <a:noFill/>
          <a:ln/>
        </p:spPr>
        <p:txBody>
          <a:bodyPr wrap="square" lIns="0" tIns="0" rIns="0" bIns="0" rtlCol="0" anchor="t"/>
          <a:lstStyle/>
          <a:p>
            <a:pPr indent="0" marL="0">
              <a:buNone/>
            </a:pPr>
            <a:r>
              <a:rPr lang="en-US" sz="1700" b="1" dirty="0">
                <a:solidFill>
                  <a:srgbClr val="FFFFFF"/>
                </a:solidFill>
                <a:latin typeface="Helvetica Neue" pitchFamily="34" charset="0"/>
                <a:ea typeface="Helvetica Neue" pitchFamily="34" charset="-122"/>
                <a:cs typeface="Helvetica Neue" pitchFamily="34" charset="-120"/>
              </a:rPr>
              <a:t>What it cannot show</a:t>
            </a:r>
            <a:endParaRPr lang="en-US" sz="1700" dirty="0"/>
          </a:p>
        </p:txBody>
      </p:sp>
      <p:sp>
        <p:nvSpPr>
          <p:cNvPr id="13" name="Shape 11"/>
          <p:cNvSpPr/>
          <p:nvPr/>
        </p:nvSpPr>
        <p:spPr>
          <a:xfrm>
            <a:off x="685800" y="5169278"/>
            <a:ext cx="73152" cy="73152"/>
          </a:xfrm>
          <a:prstGeom prst="ellipse">
            <a:avLst/>
          </a:prstGeom>
          <a:solidFill>
            <a:srgbClr val="86868B"/>
          </a:solidFill>
          <a:ln/>
        </p:spPr>
      </p:sp>
      <p:sp>
        <p:nvSpPr>
          <p:cNvPr id="14" name="Text 12"/>
          <p:cNvSpPr txBox="1"/>
          <p:nvPr/>
        </p:nvSpPr>
        <p:spPr>
          <a:xfrm>
            <a:off x="914400" y="5074920"/>
            <a:ext cx="6629400" cy="297815"/>
          </a:xfrm>
          <a:prstGeom prst="rect">
            <a:avLst/>
          </a:prstGeom>
          <a:noFill/>
          <a:ln/>
        </p:spPr>
        <p:txBody>
          <a:bodyPr wrap="square" lIns="0" tIns="0" rIns="0" bIns="0" rtlCol="0" anchor="t"/>
          <a:lstStyle/>
          <a:p>
            <a:pPr indent="0" marL="0">
              <a:buNone/>
            </a:pPr>
            <a:r>
              <a:rPr lang="en-US" sz="1450" dirty="0">
                <a:solidFill>
                  <a:srgbClr val="A1A1A6"/>
                </a:solidFill>
                <a:latin typeface="Helvetica Neue" pitchFamily="34" charset="0"/>
                <a:ea typeface="Helvetica Neue" pitchFamily="34" charset="-122"/>
                <a:cs typeface="Helvetica Neue" pitchFamily="34" charset="-120"/>
              </a:rPr>
              <a:t>Whether anyone has, or does not have, sleep apnea</a:t>
            </a:r>
            <a:endParaRPr lang="en-US" sz="1450" dirty="0"/>
          </a:p>
        </p:txBody>
      </p:sp>
      <p:sp>
        <p:nvSpPr>
          <p:cNvPr id="15" name="Shape 13"/>
          <p:cNvSpPr/>
          <p:nvPr/>
        </p:nvSpPr>
        <p:spPr>
          <a:xfrm>
            <a:off x="8110728" y="3035808"/>
            <a:ext cx="1472184" cy="1472184"/>
          </a:xfrm>
          <a:prstGeom prst="roundRect">
            <a:avLst>
              <a:gd name="adj" fmla="val 13665"/>
            </a:avLst>
          </a:prstGeom>
          <a:solidFill>
            <a:srgbClr val="FFFFFF"/>
          </a:solidFill>
          <a:ln/>
        </p:spPr>
      </p:sp>
      <p:pic>
        <p:nvPicPr>
          <p:cNvPr id="16" name="Image 0" descr="/home/user/teetomivV2/science-fair/night-signal/slides/assets/qr_app.png">
            <a:hlinkClick r:id="rId3" tooltip="https://gabrielamamanestudent-wq.github.io/teetomivV2/science-fair/night-signal/app/"/>
          </p:cNvPr>
          <p:cNvPicPr>
            <a:picLocks noChangeAspect="1"/>
          </p:cNvPicPr>
          <p:nvPr/>
        </p:nvPicPr>
        <p:blipFill>
          <a:blip r:embed="rId2"/>
          <a:stretch>
            <a:fillRect/>
          </a:stretch>
        </p:blipFill>
        <p:spPr>
          <a:xfrm>
            <a:off x="8183880" y="3108960"/>
            <a:ext cx="1325880" cy="1325880"/>
          </a:xfrm>
          <a:prstGeom prst="rect">
            <a:avLst/>
          </a:prstGeom>
        </p:spPr>
      </p:pic>
      <p:sp>
        <p:nvSpPr>
          <p:cNvPr id="17" name="Shape 14"/>
          <p:cNvSpPr/>
          <p:nvPr/>
        </p:nvSpPr>
        <p:spPr>
          <a:xfrm>
            <a:off x="9966960" y="3035808"/>
            <a:ext cx="1472184" cy="1472184"/>
          </a:xfrm>
          <a:prstGeom prst="roundRect">
            <a:avLst>
              <a:gd name="adj" fmla="val 13665"/>
            </a:avLst>
          </a:prstGeom>
          <a:solidFill>
            <a:srgbClr val="FFFFFF"/>
          </a:solidFill>
          <a:ln/>
        </p:spPr>
      </p:sp>
      <p:pic>
        <p:nvPicPr>
          <p:cNvPr id="18" name="Image 1" descr="/home/user/teetomivV2/science-fair/night-signal/slides/assets/qr_3d.png">
            <a:hlinkClick r:id="rId5" tooltip="https://gabrielamamanestudent-wq.github.io/teetomivV2/science-fair/night-signal/app/3d.html"/>
          </p:cNvPr>
          <p:cNvPicPr>
            <a:picLocks noChangeAspect="1"/>
          </p:cNvPicPr>
          <p:nvPr/>
        </p:nvPicPr>
        <p:blipFill>
          <a:blip r:embed="rId4"/>
          <a:stretch>
            <a:fillRect/>
          </a:stretch>
        </p:blipFill>
        <p:spPr>
          <a:xfrm>
            <a:off x="10040112" y="3108960"/>
            <a:ext cx="1325880" cy="1325880"/>
          </a:xfrm>
          <a:prstGeom prst="rect">
            <a:avLst/>
          </a:prstGeom>
        </p:spPr>
      </p:pic>
      <p:sp>
        <p:nvSpPr>
          <p:cNvPr id="19" name="Text 15"/>
          <p:cNvSpPr txBox="1"/>
          <p:nvPr/>
        </p:nvSpPr>
        <p:spPr>
          <a:xfrm>
            <a:off x="8183880" y="4572000"/>
            <a:ext cx="1325880" cy="274320"/>
          </a:xfrm>
          <a:prstGeom prst="rect">
            <a:avLst/>
          </a:prstGeom>
          <a:noFill/>
          <a:ln/>
        </p:spPr>
        <p:txBody>
          <a:bodyPr wrap="square" lIns="0" tIns="0" rIns="0" bIns="0" rtlCol="0" anchor="t"/>
          <a:lstStyle/>
          <a:p>
            <a:pPr algn="ctr" indent="0" marL="0">
              <a:buNone/>
            </a:pPr>
            <a:r>
              <a:rPr lang="en-US" sz="1300" dirty="0">
                <a:solidFill>
                  <a:srgbClr val="86868B"/>
                </a:solidFill>
                <a:latin typeface="Helvetica Neue" pitchFamily="34" charset="0"/>
                <a:ea typeface="Helvetica Neue" pitchFamily="34" charset="-122"/>
                <a:cs typeface="Helvetica Neue" pitchFamily="34" charset="-120"/>
              </a:rPr>
              <a:t>App</a:t>
            </a:r>
            <a:endParaRPr lang="en-US" sz="1300" dirty="0"/>
          </a:p>
        </p:txBody>
      </p:sp>
      <p:sp>
        <p:nvSpPr>
          <p:cNvPr id="20" name="Text 16"/>
          <p:cNvSpPr txBox="1"/>
          <p:nvPr/>
        </p:nvSpPr>
        <p:spPr>
          <a:xfrm>
            <a:off x="10040112" y="4572000"/>
            <a:ext cx="1325880" cy="274320"/>
          </a:xfrm>
          <a:prstGeom prst="rect">
            <a:avLst/>
          </a:prstGeom>
          <a:noFill/>
          <a:ln/>
        </p:spPr>
        <p:txBody>
          <a:bodyPr wrap="square" lIns="0" tIns="0" rIns="0" bIns="0" rtlCol="0" anchor="t"/>
          <a:lstStyle/>
          <a:p>
            <a:pPr algn="ctr" indent="0" marL="0">
              <a:buNone/>
            </a:pPr>
            <a:r>
              <a:rPr lang="en-US" sz="1300" dirty="0">
                <a:solidFill>
                  <a:srgbClr val="86868B"/>
                </a:solidFill>
                <a:latin typeface="Helvetica Neue" pitchFamily="34" charset="0"/>
                <a:ea typeface="Helvetica Neue" pitchFamily="34" charset="-122"/>
                <a:cs typeface="Helvetica Neue" pitchFamily="34" charset="-120"/>
              </a:rPr>
              <a:t>3D model</a:t>
            </a:r>
            <a:endParaRPr lang="en-US" sz="1300" dirty="0"/>
          </a:p>
        </p:txBody>
      </p:sp>
      <p:sp>
        <p:nvSpPr>
          <p:cNvPr id="21" name="Text 17"/>
          <p:cNvSpPr txBox="1"/>
          <p:nvPr/>
        </p:nvSpPr>
        <p:spPr>
          <a:xfrm>
            <a:off x="685800" y="5760720"/>
            <a:ext cx="10789920" cy="548640"/>
          </a:xfrm>
          <a:prstGeom prst="rect">
            <a:avLst/>
          </a:prstGeom>
          <a:noFill/>
          <a:ln/>
        </p:spPr>
        <p:txBody>
          <a:bodyPr wrap="square" lIns="0" tIns="0" rIns="0" bIns="0" rtlCol="0" anchor="t"/>
          <a:lstStyle/>
          <a:p>
            <a:pPr indent="0" marL="0">
              <a:buNone/>
            </a:pPr>
            <a:r>
              <a:rPr lang="en-US" sz="2800" b="1" dirty="0">
                <a:solidFill>
                  <a:srgbClr val="FFFFFF"/>
                </a:solidFill>
                <a:latin typeface="Helvetica Neue" pitchFamily="34" charset="0"/>
                <a:ea typeface="Helvetica Neue" pitchFamily="34" charset="-122"/>
                <a:cs typeface="Helvetica Neue" pitchFamily="34" charset="-120"/>
              </a:rPr>
              <a:t>Thank you. Questions?</a:t>
            </a:r>
            <a:endParaRPr lang="en-US" sz="2800" dirty="0"/>
          </a:p>
        </p:txBody>
      </p:sp>
      <p:sp>
        <p:nvSpPr>
          <p:cNvPr id="22" name="Text 18"/>
          <p:cNvSpPr txBox="1"/>
          <p:nvPr/>
        </p:nvSpPr>
        <p:spPr>
          <a:xfrm>
            <a:off x="685800" y="6473952"/>
            <a:ext cx="3657600" cy="228600"/>
          </a:xfrm>
          <a:prstGeom prst="rect">
            <a:avLst/>
          </a:prstGeom>
          <a:noFill/>
          <a:ln/>
        </p:spPr>
        <p:txBody>
          <a:bodyPr wrap="square" lIns="0" tIns="0" rIns="0" bIns="0" rtlCol="0" anchor="t"/>
          <a:lstStyle/>
          <a:p>
            <a:pPr indent="0" marL="0">
              <a:buNone/>
            </a:pPr>
            <a:r>
              <a:rPr lang="en-US" sz="950" b="1" dirty="0">
                <a:solidFill>
                  <a:srgbClr val="6E6E73"/>
                </a:solidFill>
                <a:latin typeface="Helvetica Neue" pitchFamily="34" charset="0"/>
                <a:ea typeface="Helvetica Neue" pitchFamily="34" charset="-122"/>
                <a:cs typeface="Helvetica Neue" pitchFamily="34" charset="-120"/>
              </a:rPr>
              <a:t>Night Signal</a:t>
            </a:r>
            <a:endParaRPr lang="en-US" sz="950" dirty="0"/>
          </a:p>
        </p:txBody>
      </p:sp>
      <p:sp>
        <p:nvSpPr>
          <p:cNvPr id="23" name="Text 19"/>
          <p:cNvSpPr txBox="1"/>
          <p:nvPr/>
        </p:nvSpPr>
        <p:spPr>
          <a:xfrm>
            <a:off x="10588752" y="6473952"/>
            <a:ext cx="914400" cy="228600"/>
          </a:xfrm>
          <a:prstGeom prst="rect">
            <a:avLst/>
          </a:prstGeom>
          <a:noFill/>
          <a:ln/>
        </p:spPr>
        <p:txBody>
          <a:bodyPr wrap="square" lIns="0" tIns="0" rIns="0" bIns="0" rtlCol="0" anchor="t"/>
          <a:lstStyle/>
          <a:p>
            <a:pPr algn="r" indent="0" marL="0">
              <a:buNone/>
            </a:pPr>
            <a:r>
              <a:rPr lang="en-US" sz="950" dirty="0">
                <a:solidFill>
                  <a:srgbClr val="6E6E73"/>
                </a:solidFill>
                <a:latin typeface="Helvetica Neue" pitchFamily="34" charset="0"/>
                <a:ea typeface="Helvetica Neue" pitchFamily="34" charset="-122"/>
                <a:cs typeface="Helvetica Neue"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464040" y="502920"/>
            <a:ext cx="2057400" cy="329184"/>
          </a:xfrm>
          <a:prstGeom prst="roundRect">
            <a:avLst>
              <a:gd name="adj" fmla="val 50000"/>
            </a:avLst>
          </a:prstGeom>
          <a:solidFill>
            <a:srgbClr val="F5F5F7"/>
          </a:solidFill>
          <a:ln/>
        </p:spPr>
      </p:sp>
      <p:sp>
        <p:nvSpPr>
          <p:cNvPr id="3" name="Text 1"/>
          <p:cNvSpPr txBox="1"/>
          <p:nvPr/>
        </p:nvSpPr>
        <p:spPr>
          <a:xfrm>
            <a:off x="9464040" y="502920"/>
            <a:ext cx="2057400" cy="329184"/>
          </a:xfrm>
          <a:prstGeom prst="rect">
            <a:avLst/>
          </a:prstGeom>
          <a:noFill/>
          <a:ln/>
        </p:spPr>
        <p:txBody>
          <a:bodyPr wrap="square" lIns="0" tIns="0" rIns="0" bIns="0" rtlCol="0" anchor="ctr"/>
          <a:lstStyle/>
          <a:p>
            <a:pPr algn="ctr" indent="0" marL="0">
              <a:buNone/>
            </a:pPr>
            <a:r>
              <a:rPr lang="en-US" sz="1050" b="1" dirty="0">
                <a:solidFill>
                  <a:srgbClr val="6E6E73"/>
                </a:solidFill>
                <a:latin typeface="Helvetica Neue" pitchFamily="34" charset="0"/>
                <a:ea typeface="Helvetica Neue" pitchFamily="34" charset="-122"/>
                <a:cs typeface="Helvetica Neue" pitchFamily="34" charset="-120"/>
              </a:rPr>
              <a:t>Appendix · not presented</a:t>
            </a:r>
            <a:endParaRPr lang="en-US" sz="1050" dirty="0"/>
          </a:p>
        </p:txBody>
      </p:sp>
      <p:sp>
        <p:nvSpPr>
          <p:cNvPr id="4" name="Text 2"/>
          <p:cNvSpPr txBox="1"/>
          <p:nvPr/>
        </p:nvSpPr>
        <p:spPr>
          <a:xfrm>
            <a:off x="685800" y="502920"/>
            <a:ext cx="10789920" cy="320040"/>
          </a:xfrm>
          <a:prstGeom prst="rect">
            <a:avLst/>
          </a:prstGeom>
          <a:noFill/>
          <a:ln/>
        </p:spPr>
        <p:txBody>
          <a:bodyPr wrap="square" lIns="0" tIns="0" rIns="0" bIns="0" rtlCol="0" anchor="t"/>
          <a:lstStyle/>
          <a:p>
            <a:pPr indent="0" marL="0">
              <a:buNone/>
            </a:pPr>
            <a:r>
              <a:rPr lang="en-US" sz="1600" b="1" dirty="0">
                <a:solidFill>
                  <a:srgbClr val="E3254B"/>
                </a:solidFill>
                <a:latin typeface="Helvetica Neue" pitchFamily="34" charset="0"/>
                <a:ea typeface="Helvetica Neue" pitchFamily="34" charset="-122"/>
                <a:cs typeface="Helvetica Neue" pitchFamily="34" charset="-120"/>
              </a:rPr>
              <a:t>Appendix A · Materials</a:t>
            </a:r>
            <a:endParaRPr lang="en-US" sz="1600" dirty="0"/>
          </a:p>
        </p:txBody>
      </p:sp>
      <p:sp>
        <p:nvSpPr>
          <p:cNvPr id="5" name="Text 3"/>
          <p:cNvSpPr txBox="1"/>
          <p:nvPr/>
        </p:nvSpPr>
        <p:spPr>
          <a:xfrm>
            <a:off x="685800" y="841248"/>
            <a:ext cx="10789920" cy="640080"/>
          </a:xfrm>
          <a:prstGeom prst="rect">
            <a:avLst/>
          </a:prstGeom>
          <a:noFill/>
          <a:ln/>
        </p:spPr>
        <p:txBody>
          <a:bodyPr wrap="square" lIns="0" tIns="0" rIns="0" bIns="0" rtlCol="0" anchor="t"/>
          <a:lstStyle/>
          <a:p>
            <a:pPr indent="0" marL="0">
              <a:lnSpc>
                <a:spcPct val="92000"/>
              </a:lnSpc>
              <a:buNone/>
            </a:pPr>
            <a:r>
              <a:rPr lang="en-US" sz="3000" b="1" dirty="0">
                <a:solidFill>
                  <a:srgbClr val="1D1D1F"/>
                </a:solidFill>
                <a:latin typeface="Helvetica Neue" pitchFamily="34" charset="0"/>
                <a:ea typeface="Helvetica Neue" pitchFamily="34" charset="-122"/>
                <a:cs typeface="Helvetica Neue" pitchFamily="34" charset="-120"/>
              </a:rPr>
              <a:t>Parts, exact sizes and where to buy.</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85800" y="1600200"/>
          <a:ext cx="10817352" cy="914400"/>
        </p:xfrm>
        <a:graphic>
          <a:graphicData uri="http://schemas.openxmlformats.org/drawingml/2006/table">
            <a:tbl>
              <a:tblPr/>
              <a:tblGrid>
                <a:gridCol w="4023360"/>
                <a:gridCol w="3017520"/>
                <a:gridCol w="2587752"/>
                <a:gridCol w="1188720"/>
              </a:tblGrid>
              <a:tr h="393192">
                <a:tc>
                  <a:txBody>
                    <a:bodyPr/>
                    <a:lstStyle/>
                    <a:p>
                      <a:pPr indent="0" marL="0">
                        <a:buNone/>
                      </a:pPr>
                      <a:r>
                        <a:rPr lang="en-US" sz="950" b="1" dirty="0">
                          <a:solidFill>
                            <a:srgbClr val="6E6E73"/>
                          </a:solidFill>
                          <a:latin typeface="Helvetica Neue" pitchFamily="34" charset="0"/>
                          <a:ea typeface="Helvetica Neue" pitchFamily="34" charset="-122"/>
                          <a:cs typeface="Helvetica Neue" pitchFamily="34" charset="-120"/>
                        </a:rPr>
                        <a:t>Part</a:t>
                      </a:r>
                      <a:endParaRPr lang="en-US" sz="95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15875" cap="flat" cmpd="sng" algn="ctr">
                      <a:solidFill>
                        <a:srgbClr val="1D1D1F"/>
                      </a:solidFill>
                      <a:prstDash val="solid"/>
                      <a:round/>
                      <a:headEnd type="none" w="med" len="med"/>
                      <a:tailEnd type="none" w="med" len="med"/>
                    </a:lnB>
                  </a:tcPr>
                </a:tc>
                <a:tc>
                  <a:txBody>
                    <a:bodyPr/>
                    <a:lstStyle/>
                    <a:p>
                      <a:pPr indent="0" marL="0">
                        <a:buNone/>
                      </a:pPr>
                      <a:r>
                        <a:rPr lang="en-US" sz="950" b="1" dirty="0">
                          <a:solidFill>
                            <a:srgbClr val="6E6E73"/>
                          </a:solidFill>
                          <a:latin typeface="Helvetica Neue" pitchFamily="34" charset="0"/>
                          <a:ea typeface="Helvetica Neue" pitchFamily="34" charset="-122"/>
                          <a:cs typeface="Helvetica Neue" pitchFamily="34" charset="-120"/>
                        </a:rPr>
                        <a:t>Size</a:t>
                      </a:r>
                      <a:endParaRPr lang="en-US" sz="95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15875" cap="flat" cmpd="sng" algn="ctr">
                      <a:solidFill>
                        <a:srgbClr val="1D1D1F"/>
                      </a:solidFill>
                      <a:prstDash val="solid"/>
                      <a:round/>
                      <a:headEnd type="none" w="med" len="med"/>
                      <a:tailEnd type="none" w="med" len="med"/>
                    </a:lnB>
                  </a:tcPr>
                </a:tc>
                <a:tc>
                  <a:txBody>
                    <a:bodyPr/>
                    <a:lstStyle/>
                    <a:p>
                      <a:pPr indent="0" marL="0">
                        <a:buNone/>
                      </a:pPr>
                      <a:r>
                        <a:rPr lang="en-US" sz="950" b="1" dirty="0">
                          <a:solidFill>
                            <a:srgbClr val="6E6E73"/>
                          </a:solidFill>
                          <a:latin typeface="Helvetica Neue" pitchFamily="34" charset="0"/>
                          <a:ea typeface="Helvetica Neue" pitchFamily="34" charset="-122"/>
                          <a:cs typeface="Helvetica Neue" pitchFamily="34" charset="-120"/>
                        </a:rPr>
                        <a:t>Purpose</a:t>
                      </a:r>
                      <a:endParaRPr lang="en-US" sz="95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15875" cap="flat" cmpd="sng" algn="ctr">
                      <a:solidFill>
                        <a:srgbClr val="1D1D1F"/>
                      </a:solidFill>
                      <a:prstDash val="solid"/>
                      <a:round/>
                      <a:headEnd type="none" w="med" len="med"/>
                      <a:tailEnd type="none" w="med" len="med"/>
                    </a:lnB>
                  </a:tcPr>
                </a:tc>
                <a:tc>
                  <a:txBody>
                    <a:bodyPr/>
                    <a:lstStyle/>
                    <a:p>
                      <a:pPr indent="0" marL="0">
                        <a:buNone/>
                      </a:pPr>
                      <a:r>
                        <a:rPr lang="en-US" sz="950" b="1" dirty="0">
                          <a:solidFill>
                            <a:srgbClr val="6E6E73"/>
                          </a:solidFill>
                          <a:latin typeface="Helvetica Neue" pitchFamily="34" charset="0"/>
                          <a:ea typeface="Helvetica Neue" pitchFamily="34" charset="-122"/>
                          <a:cs typeface="Helvetica Neue" pitchFamily="34" charset="-120"/>
                        </a:rPr>
                        <a:t>Buy</a:t>
                      </a:r>
                      <a:endParaRPr lang="en-US" sz="95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15875" cap="flat" cmpd="sng" algn="ctr">
                      <a:solidFill>
                        <a:srgbClr val="1D1D1F"/>
                      </a:solidFill>
                      <a:prstDash val="solid"/>
                      <a:round/>
                      <a:headEnd type="none" w="med" len="med"/>
                      <a:tailEnd type="none" w="med" len="med"/>
                    </a:lnB>
                  </a:tcPr>
                </a:tc>
              </a:tr>
              <a:tr h="393192">
                <a:tc>
                  <a:txBody>
                    <a:bodyPr/>
                    <a:lstStyle/>
                    <a:p>
                      <a:pPr indent="0" marL="0">
                        <a:buNone/>
                      </a:pPr>
                      <a:r>
                        <a:rPr lang="en-US" sz="1150" b="1" dirty="0">
                          <a:solidFill>
                            <a:srgbClr val="1D1D1F"/>
                          </a:solidFill>
                          <a:latin typeface="Helvetica Neue" pitchFamily="34" charset="0"/>
                          <a:ea typeface="Helvetica Neue" pitchFamily="34" charset="-122"/>
                          <a:cs typeface="Helvetica Neue" pitchFamily="34" charset="-120"/>
                        </a:rPr>
                        <a:t>AITRIP ESP32 ESP-WROOM-32 (30-pin, CP2102, USB-C)</a:t>
                      </a:r>
                      <a:endParaRPr lang="en-US" sz="115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150" dirty="0">
                          <a:solidFill>
                            <a:srgbClr val="6E6E73"/>
                          </a:solidFill>
                          <a:latin typeface="Helvetica Neue" pitchFamily="34" charset="0"/>
                          <a:ea typeface="Helvetica Neue" pitchFamily="34" charset="-122"/>
                          <a:cs typeface="Helvetica Neue" pitchFamily="34" charset="-120"/>
                        </a:rPr>
                        <a:t>≈ 52 × 28 mm · pins pre-soldered</a:t>
                      </a:r>
                      <a:endParaRPr lang="en-US" sz="115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150" dirty="0">
                          <a:solidFill>
                            <a:srgbClr val="6E6E73"/>
                          </a:solidFill>
                          <a:latin typeface="Helvetica Neue" pitchFamily="34" charset="0"/>
                          <a:ea typeface="Helvetica Neue" pitchFamily="34" charset="-122"/>
                          <a:cs typeface="Helvetica Neue" pitchFamily="34" charset="-120"/>
                        </a:rPr>
                        <a:t>Processor + Bluetooth Classic</a:t>
                      </a:r>
                      <a:endParaRPr lang="en-US" sz="115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150" u="sng" dirty="0">
                          <a:solidFill>
                            <a:srgbClr val="0071E3"/>
                          </a:solidFill>
                          <a:latin typeface="Helvetica Neue" pitchFamily="34" charset="0"/>
                          <a:ea typeface="Helvetica Neue" pitchFamily="34" charset="-122"/>
                          <a:cs typeface="Helvetica Neue" pitchFamily="34" charset="-120"/>
                          <a:hlinkClick r:id="rId1" invalidUrl="" action="" tgtFrame="" tooltip="https://www.amazon.ca/AITRIP-ESP-WROOM-32-Development-Microcontroller-Compatible/dp/B0DF2YJSHN" history="1" highlightClick="0" endSnd="0">
                            <a:extLst>
                              <a:ext uri="{A12FA001-AC4F-418D-AE19-62706E023703}">
                                <ahyp:hlinkClr xmlns:ahyp="http://schemas.microsoft.com/office/drawing/2018/hyperlinkcolor" val="tx"/>
                              </a:ext>
                            </a:extLst>
                          </a:hlinkClick>
                        </a:rPr>
                        <a:t>Amazon.ca ›</a:t>
                      </a:r>
                      <a:endParaRPr lang="en-US" sz="115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393192">
                <a:tc>
                  <a:txBody>
                    <a:bodyPr/>
                    <a:lstStyle/>
                    <a:p>
                      <a:pPr indent="0" marL="0">
                        <a:buNone/>
                      </a:pPr>
                      <a:r>
                        <a:rPr lang="en-US" sz="1150" b="1" dirty="0">
                          <a:solidFill>
                            <a:srgbClr val="1D1D1F"/>
                          </a:solidFill>
                          <a:latin typeface="Helvetica Neue" pitchFamily="34" charset="0"/>
                          <a:ea typeface="Helvetica Neue" pitchFamily="34" charset="-122"/>
                          <a:cs typeface="Helvetica Neue" pitchFamily="34" charset="-120"/>
                        </a:rPr>
                        <a:t>HiLetgo MAX30102 sensor</a:t>
                      </a:r>
                      <a:endParaRPr lang="en-US" sz="115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150" dirty="0">
                          <a:solidFill>
                            <a:srgbClr val="6E6E73"/>
                          </a:solidFill>
                          <a:latin typeface="Helvetica Neue" pitchFamily="34" charset="0"/>
                          <a:ea typeface="Helvetica Neue" pitchFamily="34" charset="-122"/>
                          <a:cs typeface="Helvetica Neue" pitchFamily="34" charset="-120"/>
                        </a:rPr>
                        <a:t>14 × 14 mm · 4 pins to solder</a:t>
                      </a:r>
                      <a:endParaRPr lang="en-US" sz="115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150" dirty="0">
                          <a:solidFill>
                            <a:srgbClr val="6E6E73"/>
                          </a:solidFill>
                          <a:latin typeface="Helvetica Neue" pitchFamily="34" charset="0"/>
                          <a:ea typeface="Helvetica Neue" pitchFamily="34" charset="-122"/>
                          <a:cs typeface="Helvetica Neue" pitchFamily="34" charset="-120"/>
                        </a:rPr>
                        <a:t>SpO₂ + heart rate (finger clip)</a:t>
                      </a:r>
                      <a:endParaRPr lang="en-US" sz="115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150" u="sng" dirty="0">
                          <a:solidFill>
                            <a:srgbClr val="0071E3"/>
                          </a:solidFill>
                          <a:latin typeface="Helvetica Neue" pitchFamily="34" charset="0"/>
                          <a:ea typeface="Helvetica Neue" pitchFamily="34" charset="-122"/>
                          <a:cs typeface="Helvetica Neue" pitchFamily="34" charset="-120"/>
                          <a:hlinkClick r:id="rId2" invalidUrl="" action="" tgtFrame="" tooltip="https://www.amazon.ca/HiLetgo-MAX30102-Breakout-Oximetry-Solution/dp/B07QC67KMQ" history="1" highlightClick="0" endSnd="0">
                            <a:extLst>
                              <a:ext uri="{A12FA001-AC4F-418D-AE19-62706E023703}">
                                <ahyp:hlinkClr xmlns:ahyp="http://schemas.microsoft.com/office/drawing/2018/hyperlinkcolor" val="tx"/>
                              </a:ext>
                            </a:extLst>
                          </a:hlinkClick>
                        </a:rPr>
                        <a:t>Amazon.ca ›</a:t>
                      </a:r>
                      <a:endParaRPr lang="en-US" sz="115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393192">
                <a:tc>
                  <a:txBody>
                    <a:bodyPr/>
                    <a:lstStyle/>
                    <a:p>
                      <a:pPr indent="0" marL="0">
                        <a:buNone/>
                      </a:pPr>
                      <a:r>
                        <a:rPr lang="en-US" sz="1150" b="1" dirty="0">
                          <a:solidFill>
                            <a:srgbClr val="1D1D1F"/>
                          </a:solidFill>
                          <a:latin typeface="Helvetica Neue" pitchFamily="34" charset="0"/>
                          <a:ea typeface="Helvetica Neue" pitchFamily="34" charset="-122"/>
                          <a:cs typeface="Helvetica Neue" pitchFamily="34" charset="-120"/>
                        </a:rPr>
                        <a:t>SHILLEHTEK GY-521 MPU-6050, pre-soldered (2-pack)</a:t>
                      </a:r>
                      <a:endParaRPr lang="en-US" sz="115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150" dirty="0">
                          <a:solidFill>
                            <a:srgbClr val="6E6E73"/>
                          </a:solidFill>
                          <a:latin typeface="Helvetica Neue" pitchFamily="34" charset="0"/>
                          <a:ea typeface="Helvetica Neue" pitchFamily="34" charset="-122"/>
                          <a:cs typeface="Helvetica Neue" pitchFamily="34" charset="-120"/>
                        </a:rPr>
                        <a:t>≈ 21 × 16 mm</a:t>
                      </a:r>
                      <a:endParaRPr lang="en-US" sz="115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150" dirty="0">
                          <a:solidFill>
                            <a:srgbClr val="6E6E73"/>
                          </a:solidFill>
                          <a:latin typeface="Helvetica Neue" pitchFamily="34" charset="0"/>
                          <a:ea typeface="Helvetica Neue" pitchFamily="34" charset="-122"/>
                          <a:cs typeface="Helvetica Neue" pitchFamily="34" charset="-120"/>
                        </a:rPr>
                        <a:t>Movement check + position (exploratory)</a:t>
                      </a:r>
                      <a:endParaRPr lang="en-US" sz="115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150" u="sng" dirty="0">
                          <a:solidFill>
                            <a:srgbClr val="0071E3"/>
                          </a:solidFill>
                          <a:latin typeface="Helvetica Neue" pitchFamily="34" charset="0"/>
                          <a:ea typeface="Helvetica Neue" pitchFamily="34" charset="-122"/>
                          <a:cs typeface="Helvetica Neue" pitchFamily="34" charset="-120"/>
                          <a:hlinkClick r:id="rId3" invalidUrl="" action="" tgtFrame="" tooltip="https://www.amazon.ca/Pre-Soldered-Accelerometer-Raspberry-Compatible-Arduino/dp/B0BMY15TC4" history="1" highlightClick="0" endSnd="0">
                            <a:extLst>
                              <a:ext uri="{A12FA001-AC4F-418D-AE19-62706E023703}">
                                <ahyp:hlinkClr xmlns:ahyp="http://schemas.microsoft.com/office/drawing/2018/hyperlinkcolor" val="tx"/>
                              </a:ext>
                            </a:extLst>
                          </a:hlinkClick>
                        </a:rPr>
                        <a:t>Amazon.ca ›</a:t>
                      </a:r>
                      <a:endParaRPr lang="en-US" sz="115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393192">
                <a:tc>
                  <a:txBody>
                    <a:bodyPr/>
                    <a:lstStyle/>
                    <a:p>
                      <a:pPr indent="0" marL="0">
                        <a:buNone/>
                      </a:pPr>
                      <a:r>
                        <a:rPr lang="en-US" sz="1150" b="1" dirty="0">
                          <a:solidFill>
                            <a:srgbClr val="1D1D1F"/>
                          </a:solidFill>
                          <a:latin typeface="Helvetica Neue" pitchFamily="34" charset="0"/>
                          <a:ea typeface="Helvetica Neue" pitchFamily="34" charset="-122"/>
                          <a:cs typeface="Helvetica Neue" pitchFamily="34" charset="-120"/>
                        </a:rPr>
                        <a:t>ELEGOO 120 Dupont jumper wires (F-F, M-F, M-M)</a:t>
                      </a:r>
                      <a:endParaRPr lang="en-US" sz="115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150" dirty="0">
                          <a:solidFill>
                            <a:srgbClr val="6E6E73"/>
                          </a:solidFill>
                          <a:latin typeface="Helvetica Neue" pitchFamily="34" charset="0"/>
                          <a:ea typeface="Helvetica Neue" pitchFamily="34" charset="-122"/>
                          <a:cs typeface="Helvetica Neue" pitchFamily="34" charset="-120"/>
                        </a:rPr>
                        <a:t>20 cm each</a:t>
                      </a:r>
                      <a:endParaRPr lang="en-US" sz="115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150" dirty="0">
                          <a:solidFill>
                            <a:srgbClr val="6E6E73"/>
                          </a:solidFill>
                          <a:latin typeface="Helvetica Neue" pitchFamily="34" charset="0"/>
                          <a:ea typeface="Helvetica Neue" pitchFamily="34" charset="-122"/>
                          <a:cs typeface="Helvetica Neue" pitchFamily="34" charset="-120"/>
                        </a:rPr>
                        <a:t>Plug-in wiring, no soldering</a:t>
                      </a:r>
                      <a:endParaRPr lang="en-US" sz="115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150" u="sng" dirty="0">
                          <a:solidFill>
                            <a:srgbClr val="0071E3"/>
                          </a:solidFill>
                          <a:latin typeface="Helvetica Neue" pitchFamily="34" charset="0"/>
                          <a:ea typeface="Helvetica Neue" pitchFamily="34" charset="-122"/>
                          <a:cs typeface="Helvetica Neue" pitchFamily="34" charset="-120"/>
                          <a:hlinkClick r:id="rId4" invalidUrl="" action="" tgtFrame="" tooltip="https://www.amazon.ca/Elegoo-120pcs-Multicolored-Breadboard-arduino/dp/B01EV70C78" history="1" highlightClick="0" endSnd="0">
                            <a:extLst>
                              <a:ext uri="{A12FA001-AC4F-418D-AE19-62706E023703}">
                                <ahyp:hlinkClr xmlns:ahyp="http://schemas.microsoft.com/office/drawing/2018/hyperlinkcolor" val="tx"/>
                              </a:ext>
                            </a:extLst>
                          </a:hlinkClick>
                        </a:rPr>
                        <a:t>Amazon.ca ›</a:t>
                      </a:r>
                      <a:endParaRPr lang="en-US" sz="115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393192">
                <a:tc>
                  <a:txBody>
                    <a:bodyPr/>
                    <a:lstStyle/>
                    <a:p>
                      <a:pPr indent="0" marL="0">
                        <a:buNone/>
                      </a:pPr>
                      <a:r>
                        <a:rPr lang="en-US" sz="1150" b="1" dirty="0">
                          <a:solidFill>
                            <a:srgbClr val="1D1D1F"/>
                          </a:solidFill>
                          <a:latin typeface="Helvetica Neue" pitchFamily="34" charset="0"/>
                          <a:ea typeface="Helvetica Neue" pitchFamily="34" charset="-122"/>
                          <a:cs typeface="Helvetica Neue" pitchFamily="34" charset="-120"/>
                        </a:rPr>
                        <a:t>Running armband phone pouch</a:t>
                      </a:r>
                      <a:endParaRPr lang="en-US" sz="115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150" dirty="0">
                          <a:solidFill>
                            <a:srgbClr val="6E6E73"/>
                          </a:solidFill>
                          <a:latin typeface="Helvetica Neue" pitchFamily="34" charset="0"/>
                          <a:ea typeface="Helvetica Neue" pitchFamily="34" charset="-122"/>
                          <a:cs typeface="Helvetica Neue" pitchFamily="34" charset="-120"/>
                        </a:rPr>
                        <a:t>fits phones up to 6.9 in</a:t>
                      </a:r>
                      <a:endParaRPr lang="en-US" sz="115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150" dirty="0">
                          <a:solidFill>
                            <a:srgbClr val="6E6E73"/>
                          </a:solidFill>
                          <a:latin typeface="Helvetica Neue" pitchFamily="34" charset="0"/>
                          <a:ea typeface="Helvetica Neue" pitchFamily="34" charset="-122"/>
                          <a:cs typeface="Helvetica Neue" pitchFamily="34" charset="-120"/>
                        </a:rPr>
                        <a:t>Holds the ESP32 on the forearm</a:t>
                      </a:r>
                      <a:endParaRPr lang="en-US" sz="115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150" u="sng" dirty="0">
                          <a:solidFill>
                            <a:srgbClr val="0071E3"/>
                          </a:solidFill>
                          <a:latin typeface="Helvetica Neue" pitchFamily="34" charset="0"/>
                          <a:ea typeface="Helvetica Neue" pitchFamily="34" charset="-122"/>
                          <a:cs typeface="Helvetica Neue" pitchFamily="34" charset="-120"/>
                          <a:hlinkClick r:id="rId5" invalidUrl="" action="" tgtFrame="" tooltip="https://www.amazon.ca/Running-Armband-Samsung-Resistant-Emergency/dp/B08HZ3BPK4" history="1" highlightClick="0" endSnd="0">
                            <a:extLst>
                              <a:ext uri="{A12FA001-AC4F-418D-AE19-62706E023703}">
                                <ahyp:hlinkClr xmlns:ahyp="http://schemas.microsoft.com/office/drawing/2018/hyperlinkcolor" val="tx"/>
                              </a:ext>
                            </a:extLst>
                          </a:hlinkClick>
                        </a:rPr>
                        <a:t>Amazon.ca ›</a:t>
                      </a:r>
                      <a:endParaRPr lang="en-US" sz="115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393192">
                <a:tc>
                  <a:txBody>
                    <a:bodyPr/>
                    <a:lstStyle/>
                    <a:p>
                      <a:pPr indent="0" marL="0">
                        <a:buNone/>
                      </a:pPr>
                      <a:r>
                        <a:rPr lang="en-US" sz="1150" b="1" dirty="0">
                          <a:solidFill>
                            <a:srgbClr val="1D1D1F"/>
                          </a:solidFill>
                          <a:latin typeface="Helvetica Neue" pitchFamily="34" charset="0"/>
                          <a:ea typeface="Helvetica Neue" pitchFamily="34" charset="-122"/>
                          <a:cs typeface="Helvetica Neue" pitchFamily="34" charset="-120"/>
                        </a:rPr>
                        <a:t>Anker Powerline+ USB-A to USB-C cable</a:t>
                      </a:r>
                      <a:endParaRPr lang="en-US" sz="115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150" dirty="0">
                          <a:solidFill>
                            <a:srgbClr val="6E6E73"/>
                          </a:solidFill>
                          <a:latin typeface="Helvetica Neue" pitchFamily="34" charset="0"/>
                          <a:ea typeface="Helvetica Neue" pitchFamily="34" charset="-122"/>
                          <a:cs typeface="Helvetica Neue" pitchFamily="34" charset="-120"/>
                        </a:rPr>
                        <a:t>3 m (10 ft)</a:t>
                      </a:r>
                      <a:endParaRPr lang="en-US" sz="115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150" dirty="0">
                          <a:solidFill>
                            <a:srgbClr val="6E6E73"/>
                          </a:solidFill>
                          <a:latin typeface="Helvetica Neue" pitchFamily="34" charset="0"/>
                          <a:ea typeface="Helvetica Neue" pitchFamily="34" charset="-122"/>
                          <a:cs typeface="Helvetica Neue" pitchFamily="34" charset="-120"/>
                        </a:rPr>
                        <a:t>All-night power from a phone charger</a:t>
                      </a:r>
                      <a:endParaRPr lang="en-US" sz="115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150" u="sng" dirty="0">
                          <a:solidFill>
                            <a:srgbClr val="0071E3"/>
                          </a:solidFill>
                          <a:latin typeface="Helvetica Neue" pitchFamily="34" charset="0"/>
                          <a:ea typeface="Helvetica Neue" pitchFamily="34" charset="-122"/>
                          <a:cs typeface="Helvetica Neue" pitchFamily="34" charset="-120"/>
                          <a:hlinkClick r:id="rId6" invalidUrl="" action="" tgtFrame="" tooltip="https://www.amazon.ca/Anker-Powerline-Double-Braided-Charging-Samsung/dp/B07G148YMS" history="1" highlightClick="0" endSnd="0">
                            <a:extLst>
                              <a:ext uri="{A12FA001-AC4F-418D-AE19-62706E023703}">
                                <ahyp:hlinkClr xmlns:ahyp="http://schemas.microsoft.com/office/drawing/2018/hyperlinkcolor" val="tx"/>
                              </a:ext>
                            </a:extLst>
                          </a:hlinkClick>
                        </a:rPr>
                        <a:t>Amazon.ca ›</a:t>
                      </a:r>
                      <a:endParaRPr lang="en-US" sz="115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393192">
                <a:tc>
                  <a:txBody>
                    <a:bodyPr/>
                    <a:lstStyle/>
                    <a:p>
                      <a:pPr indent="0" marL="0">
                        <a:buNone/>
                      </a:pPr>
                      <a:r>
                        <a:rPr lang="en-US" sz="1150" b="1" dirty="0">
                          <a:solidFill>
                            <a:srgbClr val="1D1D1F"/>
                          </a:solidFill>
                          <a:latin typeface="Helvetica Neue" pitchFamily="34" charset="0"/>
                          <a:ea typeface="Helvetica Neue" pitchFamily="34" charset="-122"/>
                          <a:cs typeface="Helvetica Neue" pitchFamily="34" charset="-120"/>
                        </a:rPr>
                        <a:t>Anker USB-C to USB-A adapter (2-pack)</a:t>
                      </a:r>
                      <a:endParaRPr lang="en-US" sz="115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150" dirty="0">
                          <a:solidFill>
                            <a:srgbClr val="6E6E73"/>
                          </a:solidFill>
                          <a:latin typeface="Helvetica Neue" pitchFamily="34" charset="0"/>
                          <a:ea typeface="Helvetica Neue" pitchFamily="34" charset="-122"/>
                          <a:cs typeface="Helvetica Neue" pitchFamily="34" charset="-120"/>
                        </a:rPr>
                        <a:t>USB-C → USB-A</a:t>
                      </a:r>
                      <a:endParaRPr lang="en-US" sz="115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150" dirty="0">
                          <a:solidFill>
                            <a:srgbClr val="6E6E73"/>
                          </a:solidFill>
                          <a:latin typeface="Helvetica Neue" pitchFamily="34" charset="0"/>
                          <a:ea typeface="Helvetica Neue" pitchFamily="34" charset="-122"/>
                          <a:cs typeface="Helvetica Neue" pitchFamily="34" charset="-120"/>
                        </a:rPr>
                        <a:t>Plug the cable into a MacBook</a:t>
                      </a:r>
                      <a:endParaRPr lang="en-US" sz="115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150" u="sng" dirty="0">
                          <a:solidFill>
                            <a:srgbClr val="0071E3"/>
                          </a:solidFill>
                          <a:latin typeface="Helvetica Neue" pitchFamily="34" charset="0"/>
                          <a:ea typeface="Helvetica Neue" pitchFamily="34" charset="-122"/>
                          <a:cs typeface="Helvetica Neue" pitchFamily="34" charset="-120"/>
                          <a:hlinkClick r:id="rId7" invalidUrl="" action="" tgtFrame="" tooltip="https://www.amazon.ca/Adapter-Anker-High-Speed-Transfer-Notebook/dp/B08HZ6PS61" history="1" highlightClick="0" endSnd="0">
                            <a:extLst>
                              <a:ext uri="{A12FA001-AC4F-418D-AE19-62706E023703}">
                                <ahyp:hlinkClr xmlns:ahyp="http://schemas.microsoft.com/office/drawing/2018/hyperlinkcolor" val="tx"/>
                              </a:ext>
                            </a:extLst>
                          </a:hlinkClick>
                        </a:rPr>
                        <a:t>Amazon.ca ›</a:t>
                      </a:r>
                      <a:endParaRPr lang="en-US" sz="115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393192">
                <a:tc>
                  <a:txBody>
                    <a:bodyPr/>
                    <a:lstStyle/>
                    <a:p>
                      <a:pPr indent="0" marL="0">
                        <a:buNone/>
                      </a:pPr>
                      <a:r>
                        <a:rPr lang="en-US" sz="1150" b="1" dirty="0">
                          <a:solidFill>
                            <a:srgbClr val="1D1D1F"/>
                          </a:solidFill>
                          <a:latin typeface="Helvetica Neue" pitchFamily="34" charset="0"/>
                          <a:ea typeface="Helvetica Neue" pitchFamily="34" charset="-122"/>
                          <a:cs typeface="Helvetica Neue" pitchFamily="34" charset="-120"/>
                        </a:rPr>
                        <a:t>VELCRO Brand 1 in × 30 ft roll</a:t>
                      </a:r>
                      <a:endParaRPr lang="en-US" sz="115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150" dirty="0">
                          <a:solidFill>
                            <a:srgbClr val="6E6E73"/>
                          </a:solidFill>
                          <a:latin typeface="Helvetica Neue" pitchFamily="34" charset="0"/>
                          <a:ea typeface="Helvetica Neue" pitchFamily="34" charset="-122"/>
                          <a:cs typeface="Helvetica Neue" pitchFamily="34" charset="-120"/>
                        </a:rPr>
                        <a:t>25 mm wide · cut ≈ 80 mm</a:t>
                      </a:r>
                      <a:endParaRPr lang="en-US" sz="115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150" dirty="0">
                          <a:solidFill>
                            <a:srgbClr val="6E6E73"/>
                          </a:solidFill>
                          <a:latin typeface="Helvetica Neue" pitchFamily="34" charset="0"/>
                          <a:ea typeface="Helvetica Neue" pitchFamily="34" charset="-122"/>
                          <a:cs typeface="Helvetica Neue" pitchFamily="34" charset="-120"/>
                        </a:rPr>
                        <a:t>Finger loop</a:t>
                      </a:r>
                      <a:endParaRPr lang="en-US" sz="115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150" u="sng" dirty="0">
                          <a:solidFill>
                            <a:srgbClr val="0071E3"/>
                          </a:solidFill>
                          <a:latin typeface="Helvetica Neue" pitchFamily="34" charset="0"/>
                          <a:ea typeface="Helvetica Neue" pitchFamily="34" charset="-122"/>
                          <a:cs typeface="Helvetica Neue" pitchFamily="34" charset="-120"/>
                          <a:hlinkClick r:id="rId8" invalidUrl="" action="" tgtFrame="" tooltip="https://www.amazon.ca/VELCRO-Brand-VEL-30768-AMS-Self-Gripping-Organization/dp/B09QH2NVM1" history="1" highlightClick="0" endSnd="0">
                            <a:extLst>
                              <a:ext uri="{A12FA001-AC4F-418D-AE19-62706E023703}">
                                <ahyp:hlinkClr xmlns:ahyp="http://schemas.microsoft.com/office/drawing/2018/hyperlinkcolor" val="tx"/>
                              </a:ext>
                            </a:extLst>
                          </a:hlinkClick>
                        </a:rPr>
                        <a:t>Amazon.ca ›</a:t>
                      </a:r>
                      <a:endParaRPr lang="en-US" sz="115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393192">
                <a:tc>
                  <a:txBody>
                    <a:bodyPr/>
                    <a:lstStyle/>
                    <a:p>
                      <a:pPr indent="0" marL="0">
                        <a:buNone/>
                      </a:pPr>
                      <a:r>
                        <a:rPr lang="en-US" sz="1150" b="1" dirty="0">
                          <a:solidFill>
                            <a:srgbClr val="1D1D1F"/>
                          </a:solidFill>
                          <a:latin typeface="Helvetica Neue" pitchFamily="34" charset="0"/>
                          <a:ea typeface="Helvetica Neue" pitchFamily="34" charset="-122"/>
                          <a:cs typeface="Helvetica Neue" pitchFamily="34" charset="-120"/>
                        </a:rPr>
                        <a:t>Elite Medica fingertip pulse oximeter</a:t>
                      </a:r>
                      <a:endParaRPr lang="en-US" sz="115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150" dirty="0">
                          <a:solidFill>
                            <a:srgbClr val="6E6E73"/>
                          </a:solidFill>
                          <a:latin typeface="Helvetica Neue" pitchFamily="34" charset="0"/>
                          <a:ea typeface="Helvetica Neue" pitchFamily="34" charset="-122"/>
                          <a:cs typeface="Helvetica Neue" pitchFamily="34" charset="-120"/>
                        </a:rPr>
                        <a:t>confirm Health Canada licence</a:t>
                      </a:r>
                      <a:endParaRPr lang="en-US" sz="115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150" dirty="0">
                          <a:solidFill>
                            <a:srgbClr val="6E6E73"/>
                          </a:solidFill>
                          <a:latin typeface="Helvetica Neue" pitchFamily="34" charset="0"/>
                          <a:ea typeface="Helvetica Neue" pitchFamily="34" charset="-122"/>
                          <a:cs typeface="Helvetica Neue" pitchFamily="34" charset="-120"/>
                        </a:rPr>
                        <a:t>Reference for the accuracy test</a:t>
                      </a:r>
                      <a:endParaRPr lang="en-US" sz="115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150" u="sng" dirty="0">
                          <a:solidFill>
                            <a:srgbClr val="0071E3"/>
                          </a:solidFill>
                          <a:latin typeface="Helvetica Neue" pitchFamily="34" charset="0"/>
                          <a:ea typeface="Helvetica Neue" pitchFamily="34" charset="-122"/>
                          <a:cs typeface="Helvetica Neue" pitchFamily="34" charset="-120"/>
                          <a:hlinkClick r:id="rId9" invalidUrl="" action="" tgtFrame="" tooltip="https://www.amazon.ca/Elite-Medica-Fingertip-Saturation-Batteries/dp/B0DSGP91PB" history="1" highlightClick="0" endSnd="0">
                            <a:extLst>
                              <a:ext uri="{A12FA001-AC4F-418D-AE19-62706E023703}">
                                <ahyp:hlinkClr xmlns:ahyp="http://schemas.microsoft.com/office/drawing/2018/hyperlinkcolor" val="tx"/>
                              </a:ext>
                            </a:extLst>
                          </a:hlinkClick>
                        </a:rPr>
                        <a:t>Amazon.ca ›</a:t>
                      </a:r>
                      <a:endParaRPr lang="en-US" sz="115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bl>
          </a:graphicData>
        </a:graphic>
      </p:graphicFrame>
      <p:sp>
        <p:nvSpPr>
          <p:cNvPr id="7" name="Text 4"/>
          <p:cNvSpPr txBox="1"/>
          <p:nvPr/>
        </p:nvSpPr>
        <p:spPr>
          <a:xfrm>
            <a:off x="685800" y="5897880"/>
            <a:ext cx="10789920" cy="457200"/>
          </a:xfrm>
          <a:prstGeom prst="rect">
            <a:avLst/>
          </a:prstGeom>
          <a:noFill/>
          <a:ln/>
        </p:spPr>
        <p:txBody>
          <a:bodyPr wrap="square" lIns="0" tIns="0" rIns="0" bIns="0" rtlCol="0" anchor="t"/>
          <a:lstStyle/>
          <a:p>
            <a:pPr indent="0" marL="0">
              <a:buNone/>
            </a:pPr>
            <a:r>
              <a:rPr lang="en-US" sz="1150" dirty="0">
                <a:solidFill>
                  <a:srgbClr val="6E6E73"/>
                </a:solidFill>
                <a:latin typeface="Helvetica Neue" pitchFamily="34" charset="0"/>
                <a:ea typeface="Helvetica Neue" pitchFamily="34" charset="-122"/>
                <a:cs typeface="Helvetica Neue" pitchFamily="34" charset="-120"/>
              </a:rPr>
              <a:t>Every part is on Amazon.ca (click Buy). Prices change and several items are multi-packs. Only the MAX30102’s 4 header pins need soldering (about 5 minutes); everything else plugs in.</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464040" y="502920"/>
            <a:ext cx="2057400" cy="329184"/>
          </a:xfrm>
          <a:prstGeom prst="roundRect">
            <a:avLst>
              <a:gd name="adj" fmla="val 50000"/>
            </a:avLst>
          </a:prstGeom>
          <a:solidFill>
            <a:srgbClr val="F5F5F7"/>
          </a:solidFill>
          <a:ln/>
        </p:spPr>
      </p:sp>
      <p:sp>
        <p:nvSpPr>
          <p:cNvPr id="3" name="Text 1"/>
          <p:cNvSpPr txBox="1"/>
          <p:nvPr/>
        </p:nvSpPr>
        <p:spPr>
          <a:xfrm>
            <a:off x="9464040" y="502920"/>
            <a:ext cx="2057400" cy="329184"/>
          </a:xfrm>
          <a:prstGeom prst="rect">
            <a:avLst/>
          </a:prstGeom>
          <a:noFill/>
          <a:ln/>
        </p:spPr>
        <p:txBody>
          <a:bodyPr wrap="square" lIns="0" tIns="0" rIns="0" bIns="0" rtlCol="0" anchor="ctr"/>
          <a:lstStyle/>
          <a:p>
            <a:pPr algn="ctr" indent="0" marL="0">
              <a:buNone/>
            </a:pPr>
            <a:r>
              <a:rPr lang="en-US" sz="1050" b="1" dirty="0">
                <a:solidFill>
                  <a:srgbClr val="6E6E73"/>
                </a:solidFill>
                <a:latin typeface="Helvetica Neue" pitchFamily="34" charset="0"/>
                <a:ea typeface="Helvetica Neue" pitchFamily="34" charset="-122"/>
                <a:cs typeface="Helvetica Neue" pitchFamily="34" charset="-120"/>
              </a:rPr>
              <a:t>Appendix · not presented</a:t>
            </a:r>
            <a:endParaRPr lang="en-US" sz="1050" dirty="0"/>
          </a:p>
        </p:txBody>
      </p:sp>
      <p:sp>
        <p:nvSpPr>
          <p:cNvPr id="4" name="Text 2"/>
          <p:cNvSpPr txBox="1"/>
          <p:nvPr/>
        </p:nvSpPr>
        <p:spPr>
          <a:xfrm>
            <a:off x="685800" y="502920"/>
            <a:ext cx="10789920" cy="320040"/>
          </a:xfrm>
          <a:prstGeom prst="rect">
            <a:avLst/>
          </a:prstGeom>
          <a:noFill/>
          <a:ln/>
        </p:spPr>
        <p:txBody>
          <a:bodyPr wrap="square" lIns="0" tIns="0" rIns="0" bIns="0" rtlCol="0" anchor="t"/>
          <a:lstStyle/>
          <a:p>
            <a:pPr indent="0" marL="0">
              <a:buNone/>
            </a:pPr>
            <a:r>
              <a:rPr lang="en-US" sz="1600" b="1" dirty="0">
                <a:solidFill>
                  <a:srgbClr val="E3254B"/>
                </a:solidFill>
                <a:latin typeface="Helvetica Neue" pitchFamily="34" charset="0"/>
                <a:ea typeface="Helvetica Neue" pitchFamily="34" charset="-122"/>
                <a:cs typeface="Helvetica Neue" pitchFamily="34" charset="-120"/>
              </a:rPr>
              <a:t>Appendix B · Full protocol (planned)</a:t>
            </a:r>
            <a:endParaRPr lang="en-US" sz="1600" dirty="0"/>
          </a:p>
        </p:txBody>
      </p:sp>
      <p:sp>
        <p:nvSpPr>
          <p:cNvPr id="5" name="Text 3"/>
          <p:cNvSpPr txBox="1"/>
          <p:nvPr/>
        </p:nvSpPr>
        <p:spPr>
          <a:xfrm>
            <a:off x="685800" y="841248"/>
            <a:ext cx="10789920" cy="640080"/>
          </a:xfrm>
          <a:prstGeom prst="rect">
            <a:avLst/>
          </a:prstGeom>
          <a:noFill/>
          <a:ln/>
        </p:spPr>
        <p:txBody>
          <a:bodyPr wrap="square" lIns="0" tIns="0" rIns="0" bIns="0" rtlCol="0" anchor="t"/>
          <a:lstStyle/>
          <a:p>
            <a:pPr indent="0" marL="0">
              <a:lnSpc>
                <a:spcPct val="92000"/>
              </a:lnSpc>
              <a:buNone/>
            </a:pPr>
            <a:r>
              <a:rPr lang="en-US" sz="3000" b="1" dirty="0">
                <a:solidFill>
                  <a:srgbClr val="1D1D1F"/>
                </a:solidFill>
                <a:latin typeface="Helvetica Neue" pitchFamily="34" charset="0"/>
                <a:ea typeface="Helvetica Neue" pitchFamily="34" charset="-122"/>
                <a:cs typeface="Helvetica Neue" pitchFamily="34" charset="-120"/>
              </a:rPr>
              <a:t>Full experimental protocol (planned, not yet started).</a:t>
            </a:r>
            <a:endParaRPr lang="en-US" sz="3000" dirty="0"/>
          </a:p>
        </p:txBody>
      </p:sp>
      <p:sp>
        <p:nvSpPr>
          <p:cNvPr id="6" name="Text 4"/>
          <p:cNvSpPr txBox="1"/>
          <p:nvPr/>
        </p:nvSpPr>
        <p:spPr>
          <a:xfrm>
            <a:off x="685800" y="1536192"/>
            <a:ext cx="365760" cy="365760"/>
          </a:xfrm>
          <a:prstGeom prst="rect">
            <a:avLst/>
          </a:prstGeom>
          <a:noFill/>
          <a:ln/>
        </p:spPr>
        <p:txBody>
          <a:bodyPr wrap="square" lIns="0" tIns="0" rIns="0" bIns="0" rtlCol="0" anchor="t"/>
          <a:lstStyle/>
          <a:p>
            <a:pPr indent="0" marL="0">
              <a:buNone/>
            </a:pPr>
            <a:r>
              <a:rPr lang="en-US" sz="1400" b="1" dirty="0">
                <a:solidFill>
                  <a:srgbClr val="D70015"/>
                </a:solidFill>
                <a:latin typeface="Helvetica Neue" pitchFamily="34" charset="0"/>
                <a:ea typeface="Helvetica Neue" pitchFamily="34" charset="-122"/>
                <a:cs typeface="Helvetica Neue" pitchFamily="34" charset="-120"/>
              </a:rPr>
              <a:t>1</a:t>
            </a:r>
            <a:endParaRPr lang="en-US" sz="1400" dirty="0"/>
          </a:p>
        </p:txBody>
      </p:sp>
      <p:sp>
        <p:nvSpPr>
          <p:cNvPr id="7" name="Text 5"/>
          <p:cNvSpPr txBox="1"/>
          <p:nvPr/>
        </p:nvSpPr>
        <p:spPr>
          <a:xfrm>
            <a:off x="1097280" y="1536192"/>
            <a:ext cx="10424160" cy="548640"/>
          </a:xfrm>
          <a:prstGeom prst="rect">
            <a:avLst/>
          </a:prstGeom>
          <a:noFill/>
          <a:ln/>
        </p:spPr>
        <p:txBody>
          <a:bodyPr wrap="square" lIns="0" tIns="0" rIns="0" bIns="0" rtlCol="0" anchor="t"/>
          <a:lstStyle/>
          <a:p>
            <a:pPr indent="0" marL="0">
              <a:buNone/>
            </a:pPr>
            <a:r>
              <a:rPr lang="en-US" sz="1200" b="1" dirty="0">
                <a:solidFill>
                  <a:srgbClr val="1D1D1F"/>
                </a:solidFill>
                <a:latin typeface="Helvetica Neue" pitchFamily="34" charset="0"/>
                <a:ea typeface="Helvetica Neue" pitchFamily="34" charset="-122"/>
                <a:cs typeface="Helvetica Neue" pitchFamily="34" charset="-120"/>
              </a:rPr>
              <a:t>Approvals first.  </a:t>
            </a:r>
            <a:pPr indent="0" marL="0">
              <a:buNone/>
            </a:pPr>
            <a:r>
              <a:rPr lang="en-US" sz="1200" dirty="0">
                <a:solidFill>
                  <a:srgbClr val="6E6E73"/>
                </a:solidFill>
                <a:latin typeface="Helvetica Neue" pitchFamily="34" charset="0"/>
                <a:ea typeface="Helvetica Neue" pitchFamily="34" charset="-122"/>
                <a:cs typeface="Helvetica Neue" pitchFamily="34" charset="-120"/>
              </a:rPr>
              <a:t>Ms. Ireland accepts the revised proposal, the ethics committee approves, and informed consent is signed (participant and parent/guardian). No data is collected from anyone, including me, before all three.</a:t>
            </a:r>
            <a:endParaRPr lang="en-US" sz="1200" dirty="0"/>
          </a:p>
        </p:txBody>
      </p:sp>
      <p:sp>
        <p:nvSpPr>
          <p:cNvPr id="8" name="Text 6"/>
          <p:cNvSpPr txBox="1"/>
          <p:nvPr/>
        </p:nvSpPr>
        <p:spPr>
          <a:xfrm>
            <a:off x="685800" y="2148840"/>
            <a:ext cx="365760" cy="365760"/>
          </a:xfrm>
          <a:prstGeom prst="rect">
            <a:avLst/>
          </a:prstGeom>
          <a:noFill/>
          <a:ln/>
        </p:spPr>
        <p:txBody>
          <a:bodyPr wrap="square" lIns="0" tIns="0" rIns="0" bIns="0" rtlCol="0" anchor="t"/>
          <a:lstStyle/>
          <a:p>
            <a:pPr indent="0" marL="0">
              <a:buNone/>
            </a:pPr>
            <a:r>
              <a:rPr lang="en-US" sz="1400" b="1" dirty="0">
                <a:solidFill>
                  <a:srgbClr val="0071E3"/>
                </a:solidFill>
                <a:latin typeface="Helvetica Neue" pitchFamily="34" charset="0"/>
                <a:ea typeface="Helvetica Neue" pitchFamily="34" charset="-122"/>
                <a:cs typeface="Helvetica Neue" pitchFamily="34" charset="-120"/>
              </a:rPr>
              <a:t>2</a:t>
            </a:r>
            <a:endParaRPr lang="en-US" sz="1400" dirty="0"/>
          </a:p>
        </p:txBody>
      </p:sp>
      <p:sp>
        <p:nvSpPr>
          <p:cNvPr id="9" name="Text 7"/>
          <p:cNvSpPr txBox="1"/>
          <p:nvPr/>
        </p:nvSpPr>
        <p:spPr>
          <a:xfrm>
            <a:off x="1097280" y="2148840"/>
            <a:ext cx="10424160" cy="548640"/>
          </a:xfrm>
          <a:prstGeom prst="rect">
            <a:avLst/>
          </a:prstGeom>
          <a:noFill/>
          <a:ln/>
        </p:spPr>
        <p:txBody>
          <a:bodyPr wrap="square" lIns="0" tIns="0" rIns="0" bIns="0" rtlCol="0" anchor="t"/>
          <a:lstStyle/>
          <a:p>
            <a:pPr indent="0" marL="0">
              <a:buNone/>
            </a:pPr>
            <a:r>
              <a:rPr lang="en-US" sz="1200" b="1" dirty="0">
                <a:solidFill>
                  <a:srgbClr val="1D1D1F"/>
                </a:solidFill>
                <a:latin typeface="Helvetica Neue" pitchFamily="34" charset="0"/>
                <a:ea typeface="Helvetica Neue" pitchFamily="34" charset="-122"/>
                <a:cs typeface="Helvetica Neue" pitchFamily="34" charset="-120"/>
              </a:rPr>
              <a:t>Build and device check.  </a:t>
            </a:r>
            <a:pPr indent="0" marL="0">
              <a:buNone/>
            </a:pPr>
            <a:r>
              <a:rPr lang="en-US" sz="1200" dirty="0">
                <a:solidFill>
                  <a:srgbClr val="6E6E73"/>
                </a:solidFill>
                <a:latin typeface="Helvetica Neue" pitchFamily="34" charset="0"/>
                <a:ea typeface="Helvetica Neue" pitchFamily="34" charset="-122"/>
                <a:cs typeface="Helvetica Neue" pitchFamily="34" charset="-120"/>
              </a:rPr>
              <a:t>MAX30102 → 3V3 / GND / GPIO 21 / 22; GY-521 → VIN / GND / SDA→GPIO 33 / SCL→GPIO 32 (two separate I²C buses); USB power. check_device.py must report READY before every session.</a:t>
            </a:r>
            <a:endParaRPr lang="en-US" sz="1200" dirty="0"/>
          </a:p>
        </p:txBody>
      </p:sp>
      <p:sp>
        <p:nvSpPr>
          <p:cNvPr id="10" name="Text 8"/>
          <p:cNvSpPr txBox="1"/>
          <p:nvPr/>
        </p:nvSpPr>
        <p:spPr>
          <a:xfrm>
            <a:off x="685800" y="2761488"/>
            <a:ext cx="365760" cy="365760"/>
          </a:xfrm>
          <a:prstGeom prst="rect">
            <a:avLst/>
          </a:prstGeom>
          <a:noFill/>
          <a:ln/>
        </p:spPr>
        <p:txBody>
          <a:bodyPr wrap="square" lIns="0" tIns="0" rIns="0" bIns="0" rtlCol="0" anchor="t"/>
          <a:lstStyle/>
          <a:p>
            <a:pPr indent="0" marL="0">
              <a:buNone/>
            </a:pPr>
            <a:r>
              <a:rPr lang="en-US" sz="1400" b="1" dirty="0">
                <a:solidFill>
                  <a:srgbClr val="0071E3"/>
                </a:solidFill>
                <a:latin typeface="Helvetica Neue" pitchFamily="34" charset="0"/>
                <a:ea typeface="Helvetica Neue" pitchFamily="34" charset="-122"/>
                <a:cs typeface="Helvetica Neue" pitchFamily="34" charset="-120"/>
              </a:rPr>
              <a:t>3</a:t>
            </a:r>
            <a:endParaRPr lang="en-US" sz="1400" dirty="0"/>
          </a:p>
        </p:txBody>
      </p:sp>
      <p:sp>
        <p:nvSpPr>
          <p:cNvPr id="11" name="Text 9"/>
          <p:cNvSpPr txBox="1"/>
          <p:nvPr/>
        </p:nvSpPr>
        <p:spPr>
          <a:xfrm>
            <a:off x="1097280" y="2761488"/>
            <a:ext cx="10424160" cy="548640"/>
          </a:xfrm>
          <a:prstGeom prst="rect">
            <a:avLst/>
          </a:prstGeom>
          <a:noFill/>
          <a:ln/>
        </p:spPr>
        <p:txBody>
          <a:bodyPr wrap="square" lIns="0" tIns="0" rIns="0" bIns="0" rtlCol="0" anchor="t"/>
          <a:lstStyle/>
          <a:p>
            <a:pPr indent="0" marL="0">
              <a:buNone/>
            </a:pPr>
            <a:r>
              <a:rPr lang="en-US" sz="1200" b="1" dirty="0">
                <a:solidFill>
                  <a:srgbClr val="1D1D1F"/>
                </a:solidFill>
                <a:latin typeface="Helvetica Neue" pitchFamily="34" charset="0"/>
                <a:ea typeface="Helvetica Neue" pitchFamily="34" charset="-122"/>
                <a:cs typeface="Helvetica Neue" pitchFamily="34" charset="-120"/>
              </a:rPr>
              <a:t>Accuracy sessions (main test).  </a:t>
            </a:r>
            <a:pPr indent="0" marL="0">
              <a:buNone/>
            </a:pPr>
            <a:r>
              <a:rPr lang="en-US" sz="1200" dirty="0">
                <a:solidFill>
                  <a:srgbClr val="6E6E73"/>
                </a:solidFill>
                <a:latin typeface="Helvetica Neue" pitchFamily="34" charset="0"/>
                <a:ea typeface="Helvetica Neue" pitchFamily="34" charset="-122"/>
                <a:cs typeface="Helvetica Neue" pitchFamily="34" charset="-120"/>
              </a:rPr>
              <a:t>Seated, awake, at rest, warm hands. Wearable on one index finger, reference oximeter on the other hand. Every 2 min: time, reference SpO₂ and heart rate (15 pairs per 30-min session); several sessions on different days. validate.py: bias, 95% limits of agreement, mean absolute difference.</a:t>
            </a:r>
            <a:endParaRPr lang="en-US" sz="1200" dirty="0"/>
          </a:p>
        </p:txBody>
      </p:sp>
      <p:sp>
        <p:nvSpPr>
          <p:cNvPr id="12" name="Text 10"/>
          <p:cNvSpPr txBox="1"/>
          <p:nvPr/>
        </p:nvSpPr>
        <p:spPr>
          <a:xfrm>
            <a:off x="685800" y="3374136"/>
            <a:ext cx="365760" cy="365760"/>
          </a:xfrm>
          <a:prstGeom prst="rect">
            <a:avLst/>
          </a:prstGeom>
          <a:noFill/>
          <a:ln/>
        </p:spPr>
        <p:txBody>
          <a:bodyPr wrap="square" lIns="0" tIns="0" rIns="0" bIns="0" rtlCol="0" anchor="t"/>
          <a:lstStyle/>
          <a:p>
            <a:pPr indent="0" marL="0">
              <a:buNone/>
            </a:pPr>
            <a:r>
              <a:rPr lang="en-US" sz="1400" b="1" dirty="0">
                <a:solidFill>
                  <a:srgbClr val="0071E3"/>
                </a:solidFill>
                <a:latin typeface="Helvetica Neue" pitchFamily="34" charset="0"/>
                <a:ea typeface="Helvetica Neue" pitchFamily="34" charset="-122"/>
                <a:cs typeface="Helvetica Neue" pitchFamily="34" charset="-120"/>
              </a:rPr>
              <a:t>4</a:t>
            </a:r>
            <a:endParaRPr lang="en-US" sz="1400" dirty="0"/>
          </a:p>
        </p:txBody>
      </p:sp>
      <p:sp>
        <p:nvSpPr>
          <p:cNvPr id="13" name="Text 11"/>
          <p:cNvSpPr txBox="1"/>
          <p:nvPr/>
        </p:nvSpPr>
        <p:spPr>
          <a:xfrm>
            <a:off x="1097280" y="3374136"/>
            <a:ext cx="10424160" cy="548640"/>
          </a:xfrm>
          <a:prstGeom prst="rect">
            <a:avLst/>
          </a:prstGeom>
          <a:noFill/>
          <a:ln/>
        </p:spPr>
        <p:txBody>
          <a:bodyPr wrap="square" lIns="0" tIns="0" rIns="0" bIns="0" rtlCol="0" anchor="t"/>
          <a:lstStyle/>
          <a:p>
            <a:pPr indent="0" marL="0">
              <a:buNone/>
            </a:pPr>
            <a:r>
              <a:rPr lang="en-US" sz="1200" b="1" dirty="0">
                <a:solidFill>
                  <a:srgbClr val="1D1D1F"/>
                </a:solidFill>
                <a:latin typeface="Helvetica Neue" pitchFamily="34" charset="0"/>
                <a:ea typeface="Helvetica Neue" pitchFamily="34" charset="-122"/>
                <a:cs typeface="Helvetica Neue" pitchFamily="34" charset="-120"/>
              </a:rPr>
              <a:t>Signal-quality checks.  </a:t>
            </a:r>
            <a:pPr indent="0" marL="0">
              <a:buNone/>
            </a:pPr>
            <a:r>
              <a:rPr lang="en-US" sz="1200" dirty="0">
                <a:solidFill>
                  <a:srgbClr val="6E6E73"/>
                </a:solidFill>
                <a:latin typeface="Helvetica Neue" pitchFamily="34" charset="0"/>
                <a:ea typeface="Helvetica Neue" pitchFamily="34" charset="-122"/>
                <a:cs typeface="Helvetica Neue" pitchFamily="34" charset="-120"/>
              </a:rPr>
              <a:t>Each 1-s reading counts only if a finger is present, the sensor marks it valid, SpO₂ is 70–100%, and there is no sudden movement within 5 s. Every report states the % of valid signal.</a:t>
            </a:r>
            <a:endParaRPr lang="en-US" sz="1200" dirty="0"/>
          </a:p>
        </p:txBody>
      </p:sp>
      <p:sp>
        <p:nvSpPr>
          <p:cNvPr id="14" name="Text 12"/>
          <p:cNvSpPr txBox="1"/>
          <p:nvPr/>
        </p:nvSpPr>
        <p:spPr>
          <a:xfrm>
            <a:off x="685800" y="3986784"/>
            <a:ext cx="365760" cy="365760"/>
          </a:xfrm>
          <a:prstGeom prst="rect">
            <a:avLst/>
          </a:prstGeom>
          <a:noFill/>
          <a:ln/>
        </p:spPr>
        <p:txBody>
          <a:bodyPr wrap="square" lIns="0" tIns="0" rIns="0" bIns="0" rtlCol="0" anchor="t"/>
          <a:lstStyle/>
          <a:p>
            <a:pPr indent="0" marL="0">
              <a:buNone/>
            </a:pPr>
            <a:r>
              <a:rPr lang="en-US" sz="1400" b="1" dirty="0">
                <a:solidFill>
                  <a:srgbClr val="0071E3"/>
                </a:solidFill>
                <a:latin typeface="Helvetica Neue" pitchFamily="34" charset="0"/>
                <a:ea typeface="Helvetica Neue" pitchFamily="34" charset="-122"/>
                <a:cs typeface="Helvetica Neue" pitchFamily="34" charset="-120"/>
              </a:rPr>
              <a:t>5</a:t>
            </a:r>
            <a:endParaRPr lang="en-US" sz="1400" dirty="0"/>
          </a:p>
        </p:txBody>
      </p:sp>
      <p:sp>
        <p:nvSpPr>
          <p:cNvPr id="15" name="Text 13"/>
          <p:cNvSpPr txBox="1"/>
          <p:nvPr/>
        </p:nvSpPr>
        <p:spPr>
          <a:xfrm>
            <a:off x="1097280" y="3986784"/>
            <a:ext cx="10424160" cy="548640"/>
          </a:xfrm>
          <a:prstGeom prst="rect">
            <a:avLst/>
          </a:prstGeom>
          <a:noFill/>
          <a:ln/>
        </p:spPr>
        <p:txBody>
          <a:bodyPr wrap="square" lIns="0" tIns="0" rIns="0" bIns="0" rtlCol="0" anchor="t"/>
          <a:lstStyle/>
          <a:p>
            <a:pPr indent="0" marL="0">
              <a:buNone/>
            </a:pPr>
            <a:r>
              <a:rPr lang="en-US" sz="1200" b="1" dirty="0">
                <a:solidFill>
                  <a:srgbClr val="1D1D1F"/>
                </a:solidFill>
                <a:latin typeface="Helvetica Neue" pitchFamily="34" charset="0"/>
                <a:ea typeface="Helvetica Neue" pitchFamily="34" charset="-122"/>
                <a:cs typeface="Helvetica Neue" pitchFamily="34" charset="-120"/>
              </a:rPr>
              <a:t>Overnight recordings (only if approved).  </a:t>
            </a:r>
            <a:pPr indent="0" marL="0">
              <a:buNone/>
            </a:pPr>
            <a:r>
              <a:rPr lang="en-US" sz="1200" dirty="0">
                <a:solidFill>
                  <a:srgbClr val="6E6E73"/>
                </a:solidFill>
                <a:latin typeface="Helvetica Neue" pitchFamily="34" charset="0"/>
                <a:ea typeface="Helvetica Neue" pitchFamily="34" charset="-122"/>
                <a:cs typeface="Helvetica Neue" pitchFamily="34" charset="-120"/>
              </a:rPr>
              <a:t>% valid signal and desaturation events per hour of valid recording. The reference cannot record overnight, so these events cannot be verified. The rate is not an apnea–hypopnea index.</a:t>
            </a:r>
            <a:endParaRPr lang="en-US" sz="1200" dirty="0"/>
          </a:p>
        </p:txBody>
      </p:sp>
      <p:sp>
        <p:nvSpPr>
          <p:cNvPr id="16" name="Text 14"/>
          <p:cNvSpPr txBox="1"/>
          <p:nvPr/>
        </p:nvSpPr>
        <p:spPr>
          <a:xfrm>
            <a:off x="685800" y="4599432"/>
            <a:ext cx="365760" cy="365760"/>
          </a:xfrm>
          <a:prstGeom prst="rect">
            <a:avLst/>
          </a:prstGeom>
          <a:noFill/>
          <a:ln/>
        </p:spPr>
        <p:txBody>
          <a:bodyPr wrap="square" lIns="0" tIns="0" rIns="0" bIns="0" rtlCol="0" anchor="t"/>
          <a:lstStyle/>
          <a:p>
            <a:pPr indent="0" marL="0">
              <a:buNone/>
            </a:pPr>
            <a:r>
              <a:rPr lang="en-US" sz="1400" b="1" dirty="0">
                <a:solidFill>
                  <a:srgbClr val="0071E3"/>
                </a:solidFill>
                <a:latin typeface="Helvetica Neue" pitchFamily="34" charset="0"/>
                <a:ea typeface="Helvetica Neue" pitchFamily="34" charset="-122"/>
                <a:cs typeface="Helvetica Neue" pitchFamily="34" charset="-120"/>
              </a:rPr>
              <a:t>6</a:t>
            </a:r>
            <a:endParaRPr lang="en-US" sz="1400" dirty="0"/>
          </a:p>
        </p:txBody>
      </p:sp>
      <p:sp>
        <p:nvSpPr>
          <p:cNvPr id="17" name="Text 15"/>
          <p:cNvSpPr txBox="1"/>
          <p:nvPr/>
        </p:nvSpPr>
        <p:spPr>
          <a:xfrm>
            <a:off x="1097280" y="4599432"/>
            <a:ext cx="10424160" cy="548640"/>
          </a:xfrm>
          <a:prstGeom prst="rect">
            <a:avLst/>
          </a:prstGeom>
          <a:noFill/>
          <a:ln/>
        </p:spPr>
        <p:txBody>
          <a:bodyPr wrap="square" lIns="0" tIns="0" rIns="0" bIns="0" rtlCol="0" anchor="t"/>
          <a:lstStyle/>
          <a:p>
            <a:pPr indent="0" marL="0">
              <a:buNone/>
            </a:pPr>
            <a:r>
              <a:rPr lang="en-US" sz="1200" b="1" dirty="0">
                <a:solidFill>
                  <a:srgbClr val="1D1D1F"/>
                </a:solidFill>
                <a:latin typeface="Helvetica Neue" pitchFamily="34" charset="0"/>
                <a:ea typeface="Helvetica Neue" pitchFamily="34" charset="-122"/>
                <a:cs typeface="Helvetica Neue" pitchFamily="34" charset="-120"/>
              </a:rPr>
              <a:t>Breath-hold test (optional, only if approved).  </a:t>
            </a:r>
            <a:pPr indent="0" marL="0">
              <a:buNone/>
            </a:pPr>
            <a:r>
              <a:rPr lang="en-US" sz="1200" dirty="0">
                <a:solidFill>
                  <a:srgbClr val="6E6E73"/>
                </a:solidFill>
                <a:latin typeface="Helvetica Neue" pitchFamily="34" charset="0"/>
                <a:ea typeface="Helvetica Neue" pitchFamily="34" charset="-122"/>
                <a:cs typeface="Helvetica Neue" pitchFamily="34" charset="-120"/>
              </a:rPr>
              <a:t>Awake, seated, adult-supervised, holds of at most 20 s, stop at any discomfort; start and end times logged. Tests only whether induced dips are flagged; it does not validate detecting sleep apnea during sleep.</a:t>
            </a:r>
            <a:endParaRPr lang="en-US" sz="1200" dirty="0"/>
          </a:p>
        </p:txBody>
      </p:sp>
      <p:sp>
        <p:nvSpPr>
          <p:cNvPr id="18" name="Text 16"/>
          <p:cNvSpPr txBox="1"/>
          <p:nvPr/>
        </p:nvSpPr>
        <p:spPr>
          <a:xfrm>
            <a:off x="685800" y="5212080"/>
            <a:ext cx="365760" cy="365760"/>
          </a:xfrm>
          <a:prstGeom prst="rect">
            <a:avLst/>
          </a:prstGeom>
          <a:noFill/>
          <a:ln/>
        </p:spPr>
        <p:txBody>
          <a:bodyPr wrap="square" lIns="0" tIns="0" rIns="0" bIns="0" rtlCol="0" anchor="t"/>
          <a:lstStyle/>
          <a:p>
            <a:pPr indent="0" marL="0">
              <a:buNone/>
            </a:pPr>
            <a:r>
              <a:rPr lang="en-US" sz="1400" b="1" dirty="0">
                <a:solidFill>
                  <a:srgbClr val="0071E3"/>
                </a:solidFill>
                <a:latin typeface="Helvetica Neue" pitchFamily="34" charset="0"/>
                <a:ea typeface="Helvetica Neue" pitchFamily="34" charset="-122"/>
                <a:cs typeface="Helvetica Neue" pitchFamily="34" charset="-120"/>
              </a:rPr>
              <a:t>7</a:t>
            </a:r>
            <a:endParaRPr lang="en-US" sz="1400" dirty="0"/>
          </a:p>
        </p:txBody>
      </p:sp>
      <p:sp>
        <p:nvSpPr>
          <p:cNvPr id="19" name="Text 17"/>
          <p:cNvSpPr txBox="1"/>
          <p:nvPr/>
        </p:nvSpPr>
        <p:spPr>
          <a:xfrm>
            <a:off x="1097280" y="5212080"/>
            <a:ext cx="10424160" cy="548640"/>
          </a:xfrm>
          <a:prstGeom prst="rect">
            <a:avLst/>
          </a:prstGeom>
          <a:noFill/>
          <a:ln/>
        </p:spPr>
        <p:txBody>
          <a:bodyPr wrap="square" lIns="0" tIns="0" rIns="0" bIns="0" rtlCol="0" anchor="t"/>
          <a:lstStyle/>
          <a:p>
            <a:pPr indent="0" marL="0">
              <a:buNone/>
            </a:pPr>
            <a:r>
              <a:rPr lang="en-US" sz="1200" b="1" dirty="0">
                <a:solidFill>
                  <a:srgbClr val="1D1D1F"/>
                </a:solidFill>
                <a:latin typeface="Helvetica Neue" pitchFamily="34" charset="0"/>
                <a:ea typeface="Helvetica Neue" pitchFamily="34" charset="-122"/>
                <a:cs typeface="Helvetica Neue" pitchFamily="34" charset="-120"/>
              </a:rPr>
              <a:t>Analysis.  </a:t>
            </a:r>
            <a:pPr indent="0" marL="0">
              <a:buNone/>
            </a:pPr>
            <a:r>
              <a:rPr lang="en-US" sz="1200" dirty="0">
                <a:solidFill>
                  <a:srgbClr val="6E6E73"/>
                </a:solidFill>
                <a:latin typeface="Helvetica Neue" pitchFamily="34" charset="0"/>
                <a:ea typeface="Helvetica Neue" pitchFamily="34" charset="-122"/>
                <a:cs typeface="Helvetica Neue" pitchFamily="34" charset="-120"/>
              </a:rPr>
              <a:t>analyze.py (events, valid hours) and validate.py (agreement). Position, heart-rate and breathing-rate scripts are exploratory (Appendix D) and are not used to test the hypothesis.</a:t>
            </a:r>
            <a:endParaRPr lang="en-US" sz="1200" dirty="0"/>
          </a:p>
        </p:txBody>
      </p:sp>
      <p:sp>
        <p:nvSpPr>
          <p:cNvPr id="20" name="Text 18"/>
          <p:cNvSpPr txBox="1"/>
          <p:nvPr/>
        </p:nvSpPr>
        <p:spPr>
          <a:xfrm>
            <a:off x="685800" y="5824728"/>
            <a:ext cx="365760" cy="365760"/>
          </a:xfrm>
          <a:prstGeom prst="rect">
            <a:avLst/>
          </a:prstGeom>
          <a:noFill/>
          <a:ln/>
        </p:spPr>
        <p:txBody>
          <a:bodyPr wrap="square" lIns="0" tIns="0" rIns="0" bIns="0" rtlCol="0" anchor="t"/>
          <a:lstStyle/>
          <a:p>
            <a:pPr indent="0" marL="0">
              <a:buNone/>
            </a:pPr>
            <a:r>
              <a:rPr lang="en-US" sz="1400" b="1" dirty="0">
                <a:solidFill>
                  <a:srgbClr val="0071E3"/>
                </a:solidFill>
                <a:latin typeface="Helvetica Neue" pitchFamily="34" charset="0"/>
                <a:ea typeface="Helvetica Neue" pitchFamily="34" charset="-122"/>
                <a:cs typeface="Helvetica Neue" pitchFamily="34" charset="-120"/>
              </a:rPr>
              <a:t>8</a:t>
            </a:r>
            <a:endParaRPr lang="en-US" sz="1400" dirty="0"/>
          </a:p>
        </p:txBody>
      </p:sp>
      <p:sp>
        <p:nvSpPr>
          <p:cNvPr id="21" name="Text 19"/>
          <p:cNvSpPr txBox="1"/>
          <p:nvPr/>
        </p:nvSpPr>
        <p:spPr>
          <a:xfrm>
            <a:off x="1097280" y="5824728"/>
            <a:ext cx="10424160" cy="548640"/>
          </a:xfrm>
          <a:prstGeom prst="rect">
            <a:avLst/>
          </a:prstGeom>
          <a:noFill/>
          <a:ln/>
        </p:spPr>
        <p:txBody>
          <a:bodyPr wrap="square" lIns="0" tIns="0" rIns="0" bIns="0" rtlCol="0" anchor="t"/>
          <a:lstStyle/>
          <a:p>
            <a:pPr indent="0" marL="0">
              <a:buNone/>
            </a:pPr>
            <a:r>
              <a:rPr lang="en-US" sz="1200" b="1" dirty="0">
                <a:solidFill>
                  <a:srgbClr val="1D1D1F"/>
                </a:solidFill>
                <a:latin typeface="Helvetica Neue" pitchFamily="34" charset="0"/>
                <a:ea typeface="Helvetica Neue" pitchFamily="34" charset="-122"/>
                <a:cs typeface="Helvetica Neue" pitchFamily="34" charset="-120"/>
              </a:rPr>
              <a:t>Controls.  </a:t>
            </a:r>
            <a:pPr indent="0" marL="0">
              <a:buNone/>
            </a:pPr>
            <a:r>
              <a:rPr lang="en-US" sz="1200" dirty="0">
                <a:solidFill>
                  <a:srgbClr val="6E6E73"/>
                </a:solidFill>
                <a:latin typeface="Helvetica Neue" pitchFamily="34" charset="0"/>
                <a:ea typeface="Helvetica Neue" pitchFamily="34" charset="-122"/>
                <a:cs typeface="Helvetica Neue" pitchFamily="34" charset="-120"/>
              </a:rPr>
              <a:t>Same participant, finger and cuff tightness, room and lighting, firmware, reference oximeter and detection settings (3-point drop, ≥ 10 s, 120-s baseline).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464040" y="502920"/>
            <a:ext cx="2057400" cy="329184"/>
          </a:xfrm>
          <a:prstGeom prst="roundRect">
            <a:avLst>
              <a:gd name="adj" fmla="val 50000"/>
            </a:avLst>
          </a:prstGeom>
          <a:solidFill>
            <a:srgbClr val="F5F5F7"/>
          </a:solidFill>
          <a:ln/>
        </p:spPr>
      </p:sp>
      <p:sp>
        <p:nvSpPr>
          <p:cNvPr id="3" name="Text 1"/>
          <p:cNvSpPr txBox="1"/>
          <p:nvPr/>
        </p:nvSpPr>
        <p:spPr>
          <a:xfrm>
            <a:off x="9464040" y="502920"/>
            <a:ext cx="2057400" cy="329184"/>
          </a:xfrm>
          <a:prstGeom prst="rect">
            <a:avLst/>
          </a:prstGeom>
          <a:noFill/>
          <a:ln/>
        </p:spPr>
        <p:txBody>
          <a:bodyPr wrap="square" lIns="0" tIns="0" rIns="0" bIns="0" rtlCol="0" anchor="ctr"/>
          <a:lstStyle/>
          <a:p>
            <a:pPr algn="ctr" indent="0" marL="0">
              <a:buNone/>
            </a:pPr>
            <a:r>
              <a:rPr lang="en-US" sz="1050" b="1" dirty="0">
                <a:solidFill>
                  <a:srgbClr val="6E6E73"/>
                </a:solidFill>
                <a:latin typeface="Helvetica Neue" pitchFamily="34" charset="0"/>
                <a:ea typeface="Helvetica Neue" pitchFamily="34" charset="-122"/>
                <a:cs typeface="Helvetica Neue" pitchFamily="34" charset="-120"/>
              </a:rPr>
              <a:t>Appendix · not presented</a:t>
            </a:r>
            <a:endParaRPr lang="en-US" sz="1050" dirty="0"/>
          </a:p>
        </p:txBody>
      </p:sp>
      <p:sp>
        <p:nvSpPr>
          <p:cNvPr id="4" name="Text 2"/>
          <p:cNvSpPr txBox="1"/>
          <p:nvPr/>
        </p:nvSpPr>
        <p:spPr>
          <a:xfrm>
            <a:off x="685800" y="502920"/>
            <a:ext cx="10789920" cy="320040"/>
          </a:xfrm>
          <a:prstGeom prst="rect">
            <a:avLst/>
          </a:prstGeom>
          <a:noFill/>
          <a:ln/>
        </p:spPr>
        <p:txBody>
          <a:bodyPr wrap="square" lIns="0" tIns="0" rIns="0" bIns="0" rtlCol="0" anchor="t"/>
          <a:lstStyle/>
          <a:p>
            <a:pPr indent="0" marL="0">
              <a:buNone/>
            </a:pPr>
            <a:r>
              <a:rPr lang="en-US" sz="1600" b="1" dirty="0">
                <a:solidFill>
                  <a:srgbClr val="E3254B"/>
                </a:solidFill>
                <a:latin typeface="Helvetica Neue" pitchFamily="34" charset="0"/>
                <a:ea typeface="Helvetica Neue" pitchFamily="34" charset="-122"/>
                <a:cs typeface="Helvetica Neue" pitchFamily="34" charset="-120"/>
              </a:rPr>
              <a:t>Appendix C · Design plans</a:t>
            </a:r>
            <a:endParaRPr lang="en-US" sz="1600" dirty="0"/>
          </a:p>
        </p:txBody>
      </p:sp>
      <p:sp>
        <p:nvSpPr>
          <p:cNvPr id="5" name="Text 3"/>
          <p:cNvSpPr txBox="1"/>
          <p:nvPr/>
        </p:nvSpPr>
        <p:spPr>
          <a:xfrm>
            <a:off x="685800" y="841248"/>
            <a:ext cx="10789920" cy="640080"/>
          </a:xfrm>
          <a:prstGeom prst="rect">
            <a:avLst/>
          </a:prstGeom>
          <a:noFill/>
          <a:ln/>
        </p:spPr>
        <p:txBody>
          <a:bodyPr wrap="square" lIns="0" tIns="0" rIns="0" bIns="0" rtlCol="0" anchor="t"/>
          <a:lstStyle/>
          <a:p>
            <a:pPr indent="0" marL="0">
              <a:lnSpc>
                <a:spcPct val="92000"/>
              </a:lnSpc>
              <a:buNone/>
            </a:pPr>
            <a:r>
              <a:rPr lang="en-US" sz="3000" b="1" dirty="0">
                <a:solidFill>
                  <a:srgbClr val="1D1D1F"/>
                </a:solidFill>
                <a:latin typeface="Helvetica Neue" pitchFamily="34" charset="0"/>
                <a:ea typeface="Helvetica Neue" pitchFamily="34" charset="-122"/>
                <a:cs typeface="Helvetica Neue" pitchFamily="34" charset="-120"/>
              </a:rPr>
              <a:t>Wiring (v1) and case layout (v2).</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85800" y="1600200"/>
          <a:ext cx="6035040" cy="914400"/>
        </p:xfrm>
        <a:graphic>
          <a:graphicData uri="http://schemas.openxmlformats.org/drawingml/2006/table">
            <a:tbl>
              <a:tblPr/>
              <a:tblGrid>
                <a:gridCol w="2468880"/>
                <a:gridCol w="1737360"/>
                <a:gridCol w="1828800"/>
              </a:tblGrid>
              <a:tr h="365760">
                <a:tc>
                  <a:txBody>
                    <a:bodyPr/>
                    <a:lstStyle/>
                    <a:p>
                      <a:pPr indent="0" marL="0">
                        <a:buNone/>
                      </a:pPr>
                      <a:r>
                        <a:rPr lang="en-US" sz="1000" b="1" dirty="0">
                          <a:solidFill>
                            <a:srgbClr val="6E6E73"/>
                          </a:solidFill>
                          <a:latin typeface="Helvetica Neue" pitchFamily="34" charset="0"/>
                          <a:ea typeface="Helvetica Neue" pitchFamily="34" charset="-122"/>
                          <a:cs typeface="Helvetica Neue" pitchFamily="34" charset="-120"/>
                        </a:rPr>
                        <a:t>From</a:t>
                      </a:r>
                      <a:endParaRPr lang="en-US" sz="10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15875" cap="flat" cmpd="sng" algn="ctr">
                      <a:solidFill>
                        <a:srgbClr val="1D1D1F"/>
                      </a:solidFill>
                      <a:prstDash val="solid"/>
                      <a:round/>
                      <a:headEnd type="none" w="med" len="med"/>
                      <a:tailEnd type="none" w="med" len="med"/>
                    </a:lnB>
                  </a:tcPr>
                </a:tc>
                <a:tc>
                  <a:txBody>
                    <a:bodyPr/>
                    <a:lstStyle/>
                    <a:p>
                      <a:pPr indent="0" marL="0">
                        <a:buNone/>
                      </a:pPr>
                      <a:r>
                        <a:rPr lang="en-US" sz="1000" b="1" dirty="0">
                          <a:solidFill>
                            <a:srgbClr val="6E6E73"/>
                          </a:solidFill>
                          <a:latin typeface="Helvetica Neue" pitchFamily="34" charset="0"/>
                          <a:ea typeface="Helvetica Neue" pitchFamily="34" charset="-122"/>
                          <a:cs typeface="Helvetica Neue" pitchFamily="34" charset="-120"/>
                        </a:rPr>
                        <a:t>To (ESP32)</a:t>
                      </a:r>
                      <a:endParaRPr lang="en-US" sz="10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15875" cap="flat" cmpd="sng" algn="ctr">
                      <a:solidFill>
                        <a:srgbClr val="1D1D1F"/>
                      </a:solidFill>
                      <a:prstDash val="solid"/>
                      <a:round/>
                      <a:headEnd type="none" w="med" len="med"/>
                      <a:tailEnd type="none" w="med" len="med"/>
                    </a:lnB>
                  </a:tcPr>
                </a:tc>
                <a:tc>
                  <a:txBody>
                    <a:bodyPr/>
                    <a:lstStyle/>
                    <a:p>
                      <a:pPr indent="0" marL="0">
                        <a:buNone/>
                      </a:pPr>
                      <a:r>
                        <a:rPr lang="en-US" sz="1000" b="1" dirty="0">
                          <a:solidFill>
                            <a:srgbClr val="6E6E73"/>
                          </a:solidFill>
                          <a:latin typeface="Helvetica Neue" pitchFamily="34" charset="0"/>
                          <a:ea typeface="Helvetica Neue" pitchFamily="34" charset="-122"/>
                          <a:cs typeface="Helvetica Neue" pitchFamily="34" charset="-120"/>
                        </a:rPr>
                        <a:t>Notes</a:t>
                      </a:r>
                      <a:endParaRPr lang="en-US" sz="10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15875" cap="flat" cmpd="sng" algn="ctr">
                      <a:solidFill>
                        <a:srgbClr val="1D1D1F"/>
                      </a:solidFill>
                      <a:prstDash val="solid"/>
                      <a:round/>
                      <a:headEnd type="none" w="med" len="med"/>
                      <a:tailEnd type="none" w="med" len="med"/>
                    </a:lnB>
                  </a:tcPr>
                </a:tc>
              </a:tr>
              <a:tr h="365760">
                <a:tc>
                  <a:txBody>
                    <a:bodyPr/>
                    <a:lstStyle/>
                    <a:p>
                      <a:pPr indent="0" marL="0">
                        <a:buNone/>
                      </a:pPr>
                      <a:r>
                        <a:rPr lang="en-US" sz="1200" b="1" dirty="0">
                          <a:solidFill>
                            <a:srgbClr val="1D1D1F"/>
                          </a:solidFill>
                          <a:latin typeface="Helvetica Neue" pitchFamily="34" charset="0"/>
                          <a:ea typeface="Helvetica Neue" pitchFamily="34" charset="-122"/>
                          <a:cs typeface="Helvetica Neue" pitchFamily="34" charset="-120"/>
                        </a:rPr>
                        <a:t>MAX30102 VIN / GND</a:t>
                      </a:r>
                      <a:endParaRPr lang="en-US" sz="12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200" dirty="0">
                          <a:solidFill>
                            <a:srgbClr val="1D1D1F"/>
                          </a:solidFill>
                          <a:latin typeface="Helvetica Neue" pitchFamily="34" charset="0"/>
                          <a:ea typeface="Helvetica Neue" pitchFamily="34" charset="-122"/>
                          <a:cs typeface="Helvetica Neue" pitchFamily="34" charset="-120"/>
                        </a:rPr>
                        <a:t>3V3 / GND</a:t>
                      </a:r>
                      <a:endParaRPr lang="en-US" sz="12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200" dirty="0">
                          <a:solidFill>
                            <a:srgbClr val="6E6E73"/>
                          </a:solidFill>
                          <a:latin typeface="Helvetica Neue" pitchFamily="34" charset="0"/>
                          <a:ea typeface="Helvetica Neue" pitchFamily="34" charset="-122"/>
                          <a:cs typeface="Helvetica Neue" pitchFamily="34" charset="-120"/>
                        </a:rPr>
                        <a:t>never 5 V</a:t>
                      </a:r>
                      <a:endParaRPr lang="en-US" sz="12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365760">
                <a:tc>
                  <a:txBody>
                    <a:bodyPr/>
                    <a:lstStyle/>
                    <a:p>
                      <a:pPr indent="0" marL="0">
                        <a:buNone/>
                      </a:pPr>
                      <a:r>
                        <a:rPr lang="en-US" sz="1200" b="1" dirty="0">
                          <a:solidFill>
                            <a:srgbClr val="1D1D1F"/>
                          </a:solidFill>
                          <a:latin typeface="Helvetica Neue" pitchFamily="34" charset="0"/>
                          <a:ea typeface="Helvetica Neue" pitchFamily="34" charset="-122"/>
                          <a:cs typeface="Helvetica Neue" pitchFamily="34" charset="-120"/>
                        </a:rPr>
                        <a:t>MAX30102 SDA / SCL</a:t>
                      </a:r>
                      <a:endParaRPr lang="en-US" sz="12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200" dirty="0">
                          <a:solidFill>
                            <a:srgbClr val="1D1D1F"/>
                          </a:solidFill>
                          <a:latin typeface="Helvetica Neue" pitchFamily="34" charset="0"/>
                          <a:ea typeface="Helvetica Neue" pitchFamily="34" charset="-122"/>
                          <a:cs typeface="Helvetica Neue" pitchFamily="34" charset="-120"/>
                        </a:rPr>
                        <a:t>GPIO 21 / 22</a:t>
                      </a:r>
                      <a:endParaRPr lang="en-US" sz="12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200" dirty="0">
                          <a:solidFill>
                            <a:srgbClr val="6E6E73"/>
                          </a:solidFill>
                          <a:latin typeface="Helvetica Neue" pitchFamily="34" charset="0"/>
                          <a:ea typeface="Helvetica Neue" pitchFamily="34" charset="-122"/>
                          <a:cs typeface="Helvetica Neue" pitchFamily="34" charset="-120"/>
                        </a:rPr>
                        <a:t>I²C bus 0</a:t>
                      </a:r>
                      <a:endParaRPr lang="en-US" sz="12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365760">
                <a:tc>
                  <a:txBody>
                    <a:bodyPr/>
                    <a:lstStyle/>
                    <a:p>
                      <a:pPr indent="0" marL="0">
                        <a:buNone/>
                      </a:pPr>
                      <a:r>
                        <a:rPr lang="en-US" sz="1200" b="1" dirty="0">
                          <a:solidFill>
                            <a:srgbClr val="1D1D1F"/>
                          </a:solidFill>
                          <a:latin typeface="Helvetica Neue" pitchFamily="34" charset="0"/>
                          <a:ea typeface="Helvetica Neue" pitchFamily="34" charset="-122"/>
                          <a:cs typeface="Helvetica Neue" pitchFamily="34" charset="-120"/>
                        </a:rPr>
                        <a:t>GY-521 VCC / GND</a:t>
                      </a:r>
                      <a:endParaRPr lang="en-US" sz="12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200" dirty="0">
                          <a:solidFill>
                            <a:srgbClr val="1D1D1F"/>
                          </a:solidFill>
                          <a:latin typeface="Helvetica Neue" pitchFamily="34" charset="0"/>
                          <a:ea typeface="Helvetica Neue" pitchFamily="34" charset="-122"/>
                          <a:cs typeface="Helvetica Neue" pitchFamily="34" charset="-120"/>
                        </a:rPr>
                        <a:t>VIN / GND</a:t>
                      </a:r>
                      <a:endParaRPr lang="en-US" sz="12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200" dirty="0">
                          <a:solidFill>
                            <a:srgbClr val="6E6E73"/>
                          </a:solidFill>
                          <a:latin typeface="Helvetica Neue" pitchFamily="34" charset="0"/>
                          <a:ea typeface="Helvetica Neue" pitchFamily="34" charset="-122"/>
                          <a:cs typeface="Helvetica Neue" pitchFamily="34" charset="-120"/>
                        </a:rPr>
                        <a:t>5 V from USB</a:t>
                      </a:r>
                      <a:endParaRPr lang="en-US" sz="12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365760">
                <a:tc>
                  <a:txBody>
                    <a:bodyPr/>
                    <a:lstStyle/>
                    <a:p>
                      <a:pPr indent="0" marL="0">
                        <a:buNone/>
                      </a:pPr>
                      <a:r>
                        <a:rPr lang="en-US" sz="1200" b="1" dirty="0">
                          <a:solidFill>
                            <a:srgbClr val="1D1D1F"/>
                          </a:solidFill>
                          <a:latin typeface="Helvetica Neue" pitchFamily="34" charset="0"/>
                          <a:ea typeface="Helvetica Neue" pitchFamily="34" charset="-122"/>
                          <a:cs typeface="Helvetica Neue" pitchFamily="34" charset="-120"/>
                        </a:rPr>
                        <a:t>GY-521 SDA / SCL</a:t>
                      </a:r>
                      <a:endParaRPr lang="en-US" sz="12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200" dirty="0">
                          <a:solidFill>
                            <a:srgbClr val="1D1D1F"/>
                          </a:solidFill>
                          <a:latin typeface="Helvetica Neue" pitchFamily="34" charset="0"/>
                          <a:ea typeface="Helvetica Neue" pitchFamily="34" charset="-122"/>
                          <a:cs typeface="Helvetica Neue" pitchFamily="34" charset="-120"/>
                        </a:rPr>
                        <a:t>GPIO 33 / 32</a:t>
                      </a:r>
                      <a:endParaRPr lang="en-US" sz="12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200" dirty="0">
                          <a:solidFill>
                            <a:srgbClr val="6E6E73"/>
                          </a:solidFill>
                          <a:latin typeface="Helvetica Neue" pitchFamily="34" charset="0"/>
                          <a:ea typeface="Helvetica Neue" pitchFamily="34" charset="-122"/>
                          <a:cs typeface="Helvetica Neue" pitchFamily="34" charset="-120"/>
                        </a:rPr>
                        <a:t>I²C bus 1, 100 kHz</a:t>
                      </a:r>
                      <a:endParaRPr lang="en-US" sz="12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365760">
                <a:tc>
                  <a:txBody>
                    <a:bodyPr/>
                    <a:lstStyle/>
                    <a:p>
                      <a:pPr indent="0" marL="0">
                        <a:buNone/>
                      </a:pPr>
                      <a:r>
                        <a:rPr lang="en-US" sz="1200" b="1" dirty="0">
                          <a:solidFill>
                            <a:srgbClr val="1D1D1F"/>
                          </a:solidFill>
                          <a:latin typeface="Helvetica Neue" pitchFamily="34" charset="0"/>
                          <a:ea typeface="Helvetica Neue" pitchFamily="34" charset="-122"/>
                          <a:cs typeface="Helvetica Neue" pitchFamily="34" charset="-120"/>
                        </a:rPr>
                        <a:t>Power</a:t>
                      </a:r>
                      <a:endParaRPr lang="en-US" sz="12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200" dirty="0">
                          <a:solidFill>
                            <a:srgbClr val="1D1D1F"/>
                          </a:solidFill>
                          <a:latin typeface="Helvetica Neue" pitchFamily="34" charset="0"/>
                          <a:ea typeface="Helvetica Neue" pitchFamily="34" charset="-122"/>
                          <a:cs typeface="Helvetica Neue" pitchFamily="34" charset="-120"/>
                        </a:rPr>
                        <a:t>USB-C port</a:t>
                      </a:r>
                      <a:endParaRPr lang="en-US" sz="12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200" dirty="0">
                          <a:solidFill>
                            <a:srgbClr val="6E6E73"/>
                          </a:solidFill>
                          <a:latin typeface="Helvetica Neue" pitchFamily="34" charset="0"/>
                          <a:ea typeface="Helvetica Neue" pitchFamily="34" charset="-122"/>
                          <a:cs typeface="Helvetica Neue" pitchFamily="34" charset="-120"/>
                        </a:rPr>
                        <a:t>3 m cable to charger</a:t>
                      </a:r>
                      <a:endParaRPr lang="en-US" sz="12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365760">
                <a:tc>
                  <a:txBody>
                    <a:bodyPr/>
                    <a:lstStyle/>
                    <a:p>
                      <a:pPr indent="0" marL="0">
                        <a:buNone/>
                      </a:pPr>
                      <a:r>
                        <a:rPr lang="en-US" sz="1200" b="1" dirty="0">
                          <a:solidFill>
                            <a:srgbClr val="1D1D1F"/>
                          </a:solidFill>
                          <a:latin typeface="Helvetica Neue" pitchFamily="34" charset="0"/>
                          <a:ea typeface="Helvetica Neue" pitchFamily="34" charset="-122"/>
                          <a:cs typeface="Helvetica Neue" pitchFamily="34" charset="-120"/>
                        </a:rPr>
                        <a:t>Status LED</a:t>
                      </a:r>
                      <a:endParaRPr lang="en-US" sz="12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200" dirty="0">
                          <a:solidFill>
                            <a:srgbClr val="1D1D1F"/>
                          </a:solidFill>
                          <a:latin typeface="Helvetica Neue" pitchFamily="34" charset="0"/>
                          <a:ea typeface="Helvetica Neue" pitchFamily="34" charset="-122"/>
                          <a:cs typeface="Helvetica Neue" pitchFamily="34" charset="-120"/>
                        </a:rPr>
                        <a:t>GPIO 2</a:t>
                      </a:r>
                      <a:endParaRPr lang="en-US" sz="12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200" dirty="0">
                          <a:solidFill>
                            <a:srgbClr val="6E6E73"/>
                          </a:solidFill>
                          <a:latin typeface="Helvetica Neue" pitchFamily="34" charset="0"/>
                          <a:ea typeface="Helvetica Neue" pitchFamily="34" charset="-122"/>
                          <a:cs typeface="Helvetica Neue" pitchFamily="34" charset="-120"/>
                        </a:rPr>
                        <a:t>blinks each reading</a:t>
                      </a:r>
                      <a:endParaRPr lang="en-US" sz="12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bl>
          </a:graphicData>
        </a:graphic>
      </p:graphicFrame>
      <p:pic>
        <p:nvPicPr>
          <p:cNvPr id="7" name="Image 0" descr="/home/user/teetomivV2/science-fair/night-signal/slides/assets/wiring_v1.png">    </p:cNvPr>
          <p:cNvPicPr>
            <a:picLocks noChangeAspect="1"/>
          </p:cNvPicPr>
          <p:nvPr/>
        </p:nvPicPr>
        <p:blipFill>
          <a:blip r:embed="rId1"/>
          <a:stretch>
            <a:fillRect/>
          </a:stretch>
        </p:blipFill>
        <p:spPr>
          <a:xfrm>
            <a:off x="1463040" y="4343400"/>
            <a:ext cx="3657600" cy="2115239"/>
          </a:xfrm>
          <a:prstGeom prst="rect">
            <a:avLst/>
          </a:prstGeom>
        </p:spPr>
      </p:pic>
      <p:sp>
        <p:nvSpPr>
          <p:cNvPr id="8" name="Shape 4"/>
          <p:cNvSpPr/>
          <p:nvPr/>
        </p:nvSpPr>
        <p:spPr>
          <a:xfrm>
            <a:off x="7040880" y="1600200"/>
            <a:ext cx="4462272" cy="3291840"/>
          </a:xfrm>
          <a:prstGeom prst="roundRect">
            <a:avLst>
              <a:gd name="adj" fmla="val 6111"/>
            </a:avLst>
          </a:prstGeom>
          <a:solidFill>
            <a:srgbClr val="000000"/>
          </a:solidFill>
          <a:ln/>
        </p:spPr>
      </p:sp>
      <p:pic>
        <p:nvPicPr>
          <p:cNvPr id="9" name="Image 1" descr="/home/user/teetomivV2/science-fair/night-signal/slides/assets/exploded_black.jpg">    </p:cNvPr>
          <p:cNvPicPr>
            <a:picLocks noChangeAspect="1"/>
          </p:cNvPicPr>
          <p:nvPr/>
        </p:nvPicPr>
        <p:blipFill>
          <a:blip r:embed="rId2"/>
          <a:stretch>
            <a:fillRect/>
          </a:stretch>
        </p:blipFill>
        <p:spPr>
          <a:xfrm>
            <a:off x="7745124" y="1783080"/>
            <a:ext cx="3053784" cy="2926080"/>
          </a:xfrm>
          <a:prstGeom prst="rect">
            <a:avLst/>
          </a:prstGeom>
        </p:spPr>
      </p:pic>
      <p:sp>
        <p:nvSpPr>
          <p:cNvPr id="10" name="Text 5"/>
          <p:cNvSpPr txBox="1"/>
          <p:nvPr/>
        </p:nvSpPr>
        <p:spPr>
          <a:xfrm>
            <a:off x="7040880" y="4983480"/>
            <a:ext cx="4462272" cy="274320"/>
          </a:xfrm>
          <a:prstGeom prst="rect">
            <a:avLst/>
          </a:prstGeom>
          <a:noFill/>
          <a:ln/>
        </p:spPr>
        <p:txBody>
          <a:bodyPr wrap="square" lIns="0" tIns="0" rIns="0" bIns="0" rtlCol="0" anchor="t"/>
          <a:lstStyle/>
          <a:p>
            <a:pPr algn="ctr" indent="0" marL="0">
              <a:buNone/>
            </a:pPr>
            <a:r>
              <a:rPr lang="en-US" sz="1200" dirty="0">
                <a:solidFill>
                  <a:srgbClr val="6E6E73"/>
                </a:solidFill>
                <a:latin typeface="Helvetica Neue" pitchFamily="34" charset="0"/>
                <a:ea typeface="Helvetica Neue" pitchFamily="34" charset="-122"/>
                <a:cs typeface="Helvetica Neue" pitchFamily="34" charset="-120"/>
              </a:rPr>
              <a:t>v2: the stack inside the 25 mm-tall case</a:t>
            </a:r>
            <a:endParaRPr lang="en-US" sz="1200" dirty="0"/>
          </a:p>
        </p:txBody>
      </p:sp>
      <p:sp>
        <p:nvSpPr>
          <p:cNvPr id="11" name="Text 6"/>
          <p:cNvSpPr txBox="1"/>
          <p:nvPr/>
        </p:nvSpPr>
        <p:spPr>
          <a:xfrm>
            <a:off x="7040880" y="5349240"/>
            <a:ext cx="4462272" cy="1097280"/>
          </a:xfrm>
          <a:prstGeom prst="rect">
            <a:avLst/>
          </a:prstGeom>
          <a:noFill/>
          <a:ln/>
        </p:spPr>
        <p:txBody>
          <a:bodyPr wrap="square" lIns="0" tIns="0" rIns="0" bIns="0" rtlCol="0" anchor="t"/>
          <a:lstStyle/>
          <a:p>
            <a:pPr indent="0" marL="0">
              <a:buNone/>
            </a:pPr>
            <a:r>
              <a:rPr lang="en-US" sz="1200" dirty="0">
                <a:solidFill>
                  <a:srgbClr val="6E6E73"/>
                </a:solidFill>
                <a:latin typeface="Helvetica Neue" pitchFamily="34" charset="0"/>
                <a:ea typeface="Helvetica Neue" pitchFamily="34" charset="-122"/>
                <a:cs typeface="Helvetica Neue" pitchFamily="34" charset="-120"/>
              </a:rPr>
              <a:t>Planned v2: a 70 × 45 × 29 mm box with its own battery. Layer heights: battery 6 mm + ESP32 with pins ≈ 13 mm + GY-521 ≈ 3 mm ≈ 22 mm, inside the box’s 25 mm. v1 uses each sensor’s own pins, so nothing needs splicing.</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464040" y="502920"/>
            <a:ext cx="2057400" cy="329184"/>
          </a:xfrm>
          <a:prstGeom prst="roundRect">
            <a:avLst>
              <a:gd name="adj" fmla="val 50000"/>
            </a:avLst>
          </a:prstGeom>
          <a:solidFill>
            <a:srgbClr val="F5F5F7"/>
          </a:solidFill>
          <a:ln/>
        </p:spPr>
      </p:sp>
      <p:sp>
        <p:nvSpPr>
          <p:cNvPr id="3" name="Text 1"/>
          <p:cNvSpPr txBox="1"/>
          <p:nvPr/>
        </p:nvSpPr>
        <p:spPr>
          <a:xfrm>
            <a:off x="9464040" y="502920"/>
            <a:ext cx="2057400" cy="329184"/>
          </a:xfrm>
          <a:prstGeom prst="rect">
            <a:avLst/>
          </a:prstGeom>
          <a:noFill/>
          <a:ln/>
        </p:spPr>
        <p:txBody>
          <a:bodyPr wrap="square" lIns="0" tIns="0" rIns="0" bIns="0" rtlCol="0" anchor="ctr"/>
          <a:lstStyle/>
          <a:p>
            <a:pPr algn="ctr" indent="0" marL="0">
              <a:buNone/>
            </a:pPr>
            <a:r>
              <a:rPr lang="en-US" sz="1050" b="1" dirty="0">
                <a:solidFill>
                  <a:srgbClr val="6E6E73"/>
                </a:solidFill>
                <a:latin typeface="Helvetica Neue" pitchFamily="34" charset="0"/>
                <a:ea typeface="Helvetica Neue" pitchFamily="34" charset="-122"/>
                <a:cs typeface="Helvetica Neue" pitchFamily="34" charset="-120"/>
              </a:rPr>
              <a:t>Appendix · not presented</a:t>
            </a:r>
            <a:endParaRPr lang="en-US" sz="1050" dirty="0"/>
          </a:p>
        </p:txBody>
      </p:sp>
      <p:sp>
        <p:nvSpPr>
          <p:cNvPr id="4" name="Text 2"/>
          <p:cNvSpPr txBox="1"/>
          <p:nvPr/>
        </p:nvSpPr>
        <p:spPr>
          <a:xfrm>
            <a:off x="685800" y="502920"/>
            <a:ext cx="10789920" cy="320040"/>
          </a:xfrm>
          <a:prstGeom prst="rect">
            <a:avLst/>
          </a:prstGeom>
          <a:noFill/>
          <a:ln/>
        </p:spPr>
        <p:txBody>
          <a:bodyPr wrap="square" lIns="0" tIns="0" rIns="0" bIns="0" rtlCol="0" anchor="t"/>
          <a:lstStyle/>
          <a:p>
            <a:pPr indent="0" marL="0">
              <a:buNone/>
            </a:pPr>
            <a:r>
              <a:rPr lang="en-US" sz="1600" b="1" dirty="0">
                <a:solidFill>
                  <a:srgbClr val="E3254B"/>
                </a:solidFill>
                <a:latin typeface="Helvetica Neue" pitchFamily="34" charset="0"/>
                <a:ea typeface="Helvetica Neue" pitchFamily="34" charset="-122"/>
                <a:cs typeface="Helvetica Neue" pitchFamily="34" charset="-120"/>
              </a:rPr>
              <a:t>Appendix D · Exploratory ideas</a:t>
            </a:r>
            <a:endParaRPr lang="en-US" sz="1600" dirty="0"/>
          </a:p>
        </p:txBody>
      </p:sp>
      <p:sp>
        <p:nvSpPr>
          <p:cNvPr id="5" name="Text 3"/>
          <p:cNvSpPr txBox="1"/>
          <p:nvPr/>
        </p:nvSpPr>
        <p:spPr>
          <a:xfrm>
            <a:off x="685800" y="841248"/>
            <a:ext cx="10789920" cy="640080"/>
          </a:xfrm>
          <a:prstGeom prst="rect">
            <a:avLst/>
          </a:prstGeom>
          <a:noFill/>
          <a:ln/>
        </p:spPr>
        <p:txBody>
          <a:bodyPr wrap="square" lIns="0" tIns="0" rIns="0" bIns="0" rtlCol="0" anchor="t"/>
          <a:lstStyle/>
          <a:p>
            <a:pPr indent="0" marL="0">
              <a:lnSpc>
                <a:spcPct val="92000"/>
              </a:lnSpc>
              <a:buNone/>
            </a:pPr>
            <a:r>
              <a:rPr lang="en-US" sz="3000" b="1" dirty="0">
                <a:solidFill>
                  <a:srgbClr val="1D1D1F"/>
                </a:solidFill>
                <a:latin typeface="Helvetica Neue" pitchFamily="34" charset="0"/>
                <a:ea typeface="Helvetica Neue" pitchFamily="34" charset="-122"/>
                <a:cs typeface="Helvetica Neue" pitchFamily="34" charset="-120"/>
              </a:rPr>
              <a:t>Exploratory ideas (simulated data only).</a:t>
            </a:r>
            <a:endParaRPr lang="en-US" sz="3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85800" y="1600200"/>
          <a:ext cx="10817352" cy="914400"/>
        </p:xfrm>
        <a:graphic>
          <a:graphicData uri="http://schemas.openxmlformats.org/drawingml/2006/table">
            <a:tbl>
              <a:tblPr/>
              <a:tblGrid>
                <a:gridCol w="3108960"/>
                <a:gridCol w="4023360"/>
                <a:gridCol w="3685032"/>
              </a:tblGrid>
              <a:tr h="548640">
                <a:tc>
                  <a:txBody>
                    <a:bodyPr/>
                    <a:lstStyle/>
                    <a:p>
                      <a:pPr indent="0" marL="0">
                        <a:buNone/>
                      </a:pPr>
                      <a:r>
                        <a:rPr lang="en-US" sz="1000" b="1" dirty="0">
                          <a:solidFill>
                            <a:srgbClr val="6E6E73"/>
                          </a:solidFill>
                          <a:latin typeface="Helvetica Neue" pitchFamily="34" charset="0"/>
                          <a:ea typeface="Helvetica Neue" pitchFamily="34" charset="-122"/>
                          <a:cs typeface="Helvetica Neue" pitchFamily="34" charset="-120"/>
                        </a:rPr>
                        <a:t>Idea (script)</a:t>
                      </a:r>
                      <a:endParaRPr lang="en-US" sz="10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15875" cap="flat" cmpd="sng" algn="ctr">
                      <a:solidFill>
                        <a:srgbClr val="1D1D1F"/>
                      </a:solidFill>
                      <a:prstDash val="solid"/>
                      <a:round/>
                      <a:headEnd type="none" w="med" len="med"/>
                      <a:tailEnd type="none" w="med" len="med"/>
                    </a:lnB>
                  </a:tcPr>
                </a:tc>
                <a:tc>
                  <a:txBody>
                    <a:bodyPr/>
                    <a:lstStyle/>
                    <a:p>
                      <a:pPr indent="0" marL="0">
                        <a:buNone/>
                      </a:pPr>
                      <a:r>
                        <a:rPr lang="en-US" sz="1000" b="1" dirty="0">
                          <a:solidFill>
                            <a:srgbClr val="6E6E73"/>
                          </a:solidFill>
                          <a:latin typeface="Helvetica Neue" pitchFamily="34" charset="0"/>
                          <a:ea typeface="Helvetica Neue" pitchFamily="34" charset="-122"/>
                          <a:cs typeface="Helvetica Neue" pitchFamily="34" charset="-120"/>
                        </a:rPr>
                        <a:t>Demonstration output (simulated)</a:t>
                      </a:r>
                      <a:endParaRPr lang="en-US" sz="10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15875" cap="flat" cmpd="sng" algn="ctr">
                      <a:solidFill>
                        <a:srgbClr val="1D1D1F"/>
                      </a:solidFill>
                      <a:prstDash val="solid"/>
                      <a:round/>
                      <a:headEnd type="none" w="med" len="med"/>
                      <a:tailEnd type="none" w="med" len="med"/>
                    </a:lnB>
                  </a:tcPr>
                </a:tc>
                <a:tc>
                  <a:txBody>
                    <a:bodyPr/>
                    <a:lstStyle/>
                    <a:p>
                      <a:pPr indent="0" marL="0">
                        <a:buNone/>
                      </a:pPr>
                      <a:r>
                        <a:rPr lang="en-US" sz="1000" b="1" dirty="0">
                          <a:solidFill>
                            <a:srgbClr val="6E6E73"/>
                          </a:solidFill>
                          <a:latin typeface="Helvetica Neue" pitchFamily="34" charset="0"/>
                          <a:ea typeface="Helvetica Neue" pitchFamily="34" charset="-122"/>
                          <a:cs typeface="Helvetica Neue" pitchFamily="34" charset="-120"/>
                        </a:rPr>
                        <a:t>Why it is not a finding</a:t>
                      </a:r>
                      <a:endParaRPr lang="en-US" sz="10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15875" cap="flat" cmpd="sng" algn="ctr">
                      <a:solidFill>
                        <a:srgbClr val="1D1D1F"/>
                      </a:solidFill>
                      <a:prstDash val="solid"/>
                      <a:round/>
                      <a:headEnd type="none" w="med" len="med"/>
                      <a:tailEnd type="none" w="med" len="med"/>
                    </a:lnB>
                  </a:tcPr>
                </a:tc>
              </a:tr>
              <a:tr h="548640">
                <a:tc>
                  <a:txBody>
                    <a:bodyPr/>
                    <a:lstStyle/>
                    <a:p>
                      <a:pPr indent="0" marL="0">
                        <a:buNone/>
                      </a:pPr>
                      <a:r>
                        <a:rPr lang="en-US" sz="1200" b="1" dirty="0">
                          <a:solidFill>
                            <a:srgbClr val="1D1D1F"/>
                          </a:solidFill>
                          <a:latin typeface="Helvetica Neue" pitchFamily="34" charset="0"/>
                          <a:ea typeface="Helvetica Neue" pitchFamily="34" charset="-122"/>
                          <a:cs typeface="Helvetica Neue" pitchFamily="34" charset="-120"/>
                        </a:rPr>
                        <a:t>Body position (position.py)</a:t>
                      </a:r>
                      <a:endParaRPr lang="en-US" sz="12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200" dirty="0">
                          <a:solidFill>
                            <a:srgbClr val="1D1D1F"/>
                          </a:solidFill>
                          <a:latin typeface="Helvetica Neue" pitchFamily="34" charset="0"/>
                          <a:ea typeface="Helvetica Neue" pitchFamily="34" charset="-122"/>
                          <a:cs typeface="Helvetica Neue" pitchFamily="34" charset="-120"/>
                        </a:rPr>
                        <a:t>events per valid hour: back 3.8, stomach 3.2, left 1.3, right 1.1</a:t>
                      </a:r>
                      <a:endParaRPr lang="en-US" sz="12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200" dirty="0">
                          <a:solidFill>
                            <a:srgbClr val="6E6E73"/>
                          </a:solidFill>
                          <a:latin typeface="Helvetica Neue" pitchFamily="34" charset="0"/>
                          <a:ea typeface="Helvetica Neue" pitchFamily="34" charset="-122"/>
                          <a:cs typeface="Helvetica Neue" pitchFamily="34" charset="-120"/>
                        </a:rPr>
                        <a:t>simulated; few hours per position; not an apnea measure</a:t>
                      </a:r>
                      <a:endParaRPr lang="en-US" sz="12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548640">
                <a:tc>
                  <a:txBody>
                    <a:bodyPr/>
                    <a:lstStyle/>
                    <a:p>
                      <a:pPr indent="0" marL="0">
                        <a:buNone/>
                      </a:pPr>
                      <a:r>
                        <a:rPr lang="en-US" sz="1200" b="1" dirty="0">
                          <a:solidFill>
                            <a:srgbClr val="1D1D1F"/>
                          </a:solidFill>
                          <a:latin typeface="Helvetica Neue" pitchFamily="34" charset="0"/>
                          <a:ea typeface="Helvetica Neue" pitchFamily="34" charset="-122"/>
                          <a:cs typeface="Helvetica Neue" pitchFamily="34" charset="-120"/>
                        </a:rPr>
                        <a:t>Machine-learning flagger (train_model.py)</a:t>
                      </a:r>
                      <a:endParaRPr lang="en-US" sz="12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200" dirty="0">
                          <a:solidFill>
                            <a:srgbClr val="1D1D1F"/>
                          </a:solidFill>
                          <a:latin typeface="Helvetica Neue" pitchFamily="34" charset="0"/>
                          <a:ea typeface="Helvetica Neue" pitchFamily="34" charset="-122"/>
                          <a:cs typeface="Helvetica Neue" pitchFamily="34" charset="-120"/>
                        </a:rPr>
                        <a:t>recall 0.63 vs rule-based 0.63, on simulated labels</a:t>
                      </a:r>
                      <a:endParaRPr lang="en-US" sz="12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200" dirty="0">
                          <a:solidFill>
                            <a:srgbClr val="6E6E73"/>
                          </a:solidFill>
                          <a:latin typeface="Helvetica Neue" pitchFamily="34" charset="0"/>
                          <a:ea typeface="Helvetica Neue" pitchFamily="34" charset="-122"/>
                          <a:cs typeface="Helvetica Neue" pitchFamily="34" charset="-120"/>
                        </a:rPr>
                        <a:t>labels are invented; breath-hold labels would not validate apnea detection</a:t>
                      </a:r>
                      <a:endParaRPr lang="en-US" sz="12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548640">
                <a:tc>
                  <a:txBody>
                    <a:bodyPr/>
                    <a:lstStyle/>
                    <a:p>
                      <a:pPr indent="0" marL="0">
                        <a:buNone/>
                      </a:pPr>
                      <a:r>
                        <a:rPr lang="en-US" sz="1200" b="1" dirty="0">
                          <a:solidFill>
                            <a:srgbClr val="1D1D1F"/>
                          </a:solidFill>
                          <a:latin typeface="Helvetica Neue" pitchFamily="34" charset="0"/>
                          <a:ea typeface="Helvetica Neue" pitchFamily="34" charset="-122"/>
                          <a:cs typeface="Helvetica Neue" pitchFamily="34" charset="-120"/>
                        </a:rPr>
                        <a:t>Heart-rate patterns (heart.py)</a:t>
                      </a:r>
                      <a:endParaRPr lang="en-US" sz="12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200" dirty="0">
                          <a:solidFill>
                            <a:srgbClr val="1D1D1F"/>
                          </a:solidFill>
                          <a:latin typeface="Helvetica Neue" pitchFamily="34" charset="0"/>
                          <a:ea typeface="Helvetica Neue" pitchFamily="34" charset="-122"/>
                          <a:cs typeface="Helvetica Neue" pitchFamily="34" charset="-120"/>
                        </a:rPr>
                        <a:t>1 fast stretch (&gt; 100 bpm), 1 very slow, 1 unsteady</a:t>
                      </a:r>
                      <a:endParaRPr lang="en-US" sz="12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200" dirty="0">
                          <a:solidFill>
                            <a:srgbClr val="6E6E73"/>
                          </a:solidFill>
                          <a:latin typeface="Helvetica Neue" pitchFamily="34" charset="0"/>
                          <a:ea typeface="Helvetica Neue" pitchFamily="34" charset="-122"/>
                          <a:cs typeface="Helvetica Neue" pitchFamily="34" charset="-120"/>
                        </a:rPr>
                        <a:t>per-second optical heart rate cannot identify arrhythmias</a:t>
                      </a:r>
                      <a:endParaRPr lang="en-US" sz="12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548640">
                <a:tc>
                  <a:txBody>
                    <a:bodyPr/>
                    <a:lstStyle/>
                    <a:p>
                      <a:pPr indent="0" marL="0">
                        <a:buNone/>
                      </a:pPr>
                      <a:r>
                        <a:rPr lang="en-US" sz="1200" b="1" dirty="0">
                          <a:solidFill>
                            <a:srgbClr val="1D1D1F"/>
                          </a:solidFill>
                          <a:latin typeface="Helvetica Neue" pitchFamily="34" charset="0"/>
                          <a:ea typeface="Helvetica Neue" pitchFamily="34" charset="-122"/>
                          <a:cs typeface="Helvetica Neue" pitchFamily="34" charset="-120"/>
                        </a:rPr>
                        <a:t>Breathing-rate estimate (signals.py, asthma.py)</a:t>
                      </a:r>
                      <a:endParaRPr lang="en-US" sz="12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200" dirty="0">
                          <a:solidFill>
                            <a:srgbClr val="1D1D1F"/>
                          </a:solidFill>
                          <a:latin typeface="Helvetica Neue" pitchFamily="34" charset="0"/>
                          <a:ea typeface="Helvetica Neue" pitchFamily="34" charset="-122"/>
                          <a:cs typeface="Helvetica Neue" pitchFamily="34" charset="-120"/>
                        </a:rPr>
                        <a:t>13.5 breaths/min; higher late in the simulated night</a:t>
                      </a:r>
                      <a:endParaRPr lang="en-US" sz="12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200" dirty="0">
                          <a:solidFill>
                            <a:srgbClr val="6E6E73"/>
                          </a:solidFill>
                          <a:latin typeface="Helvetica Neue" pitchFamily="34" charset="0"/>
                          <a:ea typeface="Helvetica Neue" pitchFamily="34" charset="-122"/>
                          <a:cs typeface="Helvetica Neue" pitchFamily="34" charset="-120"/>
                        </a:rPr>
                        <a:t>estimated from heart-rate rhythm, never measured; cannot detect asthma</a:t>
                      </a:r>
                      <a:endParaRPr lang="en-US" sz="12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r h="548640">
                <a:tc>
                  <a:txBody>
                    <a:bodyPr/>
                    <a:lstStyle/>
                    <a:p>
                      <a:pPr indent="0" marL="0">
                        <a:buNone/>
                      </a:pPr>
                      <a:r>
                        <a:rPr lang="en-US" sz="1200" b="1" dirty="0">
                          <a:solidFill>
                            <a:srgbClr val="1D1D1F"/>
                          </a:solidFill>
                          <a:latin typeface="Helvetica Neue" pitchFamily="34" charset="0"/>
                          <a:ea typeface="Helvetica Neue" pitchFamily="34" charset="-122"/>
                          <a:cs typeface="Helvetica Neue" pitchFamily="34" charset="-120"/>
                        </a:rPr>
                        <a:t>Device check (check_device.py)</a:t>
                      </a:r>
                      <a:endParaRPr lang="en-US" sz="12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200" dirty="0">
                          <a:solidFill>
                            <a:srgbClr val="1D1D1F"/>
                          </a:solidFill>
                          <a:latin typeface="Helvetica Neue" pitchFamily="34" charset="0"/>
                          <a:ea typeface="Helvetica Neue" pitchFamily="34" charset="-122"/>
                          <a:cs typeface="Helvetica Neue" pitchFamily="34" charset="-120"/>
                        </a:rPr>
                        <a:t>simulated device: healthy → READY; broken motion sensor → NOT READY</a:t>
                      </a:r>
                      <a:endParaRPr lang="en-US" sz="12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c>
                  <a:txBody>
                    <a:bodyPr/>
                    <a:lstStyle/>
                    <a:p>
                      <a:pPr indent="0" marL="0">
                        <a:buNone/>
                      </a:pPr>
                      <a:r>
                        <a:rPr lang="en-US" sz="1200" dirty="0">
                          <a:solidFill>
                            <a:srgbClr val="6E6E73"/>
                          </a:solidFill>
                          <a:latin typeface="Helvetica Neue" pitchFamily="34" charset="0"/>
                          <a:ea typeface="Helvetica Neue" pitchFamily="34" charset="-122"/>
                          <a:cs typeface="Helvetica Neue" pitchFamily="34" charset="-120"/>
                        </a:rPr>
                        <a:t>not yet run on real hardware</a:t>
                      </a:r>
                      <a:endParaRPr lang="en-US" sz="1200" dirty="0">
                        <a:latin typeface="Helvetica Neue" charset="0"/>
                        <a:ea typeface="Helvetica Neue" charset="0"/>
                        <a:cs typeface="Helvetica Neue" charset="0"/>
                      </a:endParaRPr>
                    </a:p>
                  </a:txBody>
                  <a:tcPr marL="18288" marR="91440" marT="54864" marB="54864" anchor="ctr">
                    <a:lnL w="0" cap="flat" cmpd="sng" algn="ctr">
                      <a:noFill/>
                    </a:lnL>
                    <a:lnR w="0" cap="flat" cmpd="sng" algn="ctr">
                      <a:noFill/>
                    </a:lnR>
                    <a:lnT w="0" cap="flat" cmpd="sng" algn="ctr">
                      <a:noFill/>
                    </a:lnT>
                    <a:lnB w="9525" cap="flat" cmpd="sng" algn="ctr">
                      <a:solidFill>
                        <a:srgbClr val="D2D2D7"/>
                      </a:solidFill>
                      <a:prstDash val="solid"/>
                      <a:round/>
                      <a:headEnd type="none" w="med" len="med"/>
                      <a:tailEnd type="none" w="med" len="med"/>
                    </a:lnB>
                  </a:tcPr>
                </a:tc>
              </a:tr>
            </a:tbl>
          </a:graphicData>
        </a:graphic>
      </p:graphicFrame>
      <p:sp>
        <p:nvSpPr>
          <p:cNvPr id="7" name="Shape 4"/>
          <p:cNvSpPr/>
          <p:nvPr/>
        </p:nvSpPr>
        <p:spPr>
          <a:xfrm>
            <a:off x="685800" y="5029200"/>
            <a:ext cx="10817352" cy="566928"/>
          </a:xfrm>
          <a:prstGeom prst="roundRect">
            <a:avLst>
              <a:gd name="adj" fmla="val 35484"/>
            </a:avLst>
          </a:prstGeom>
          <a:solidFill>
            <a:srgbClr val="FFF4E5"/>
          </a:solidFill>
          <a:ln/>
        </p:spPr>
      </p:sp>
      <p:sp>
        <p:nvSpPr>
          <p:cNvPr id="8" name="Text 5"/>
          <p:cNvSpPr txBox="1"/>
          <p:nvPr/>
        </p:nvSpPr>
        <p:spPr>
          <a:xfrm>
            <a:off x="960120" y="5175504"/>
            <a:ext cx="10332720" cy="320040"/>
          </a:xfrm>
          <a:prstGeom prst="rect">
            <a:avLst/>
          </a:prstGeom>
          <a:noFill/>
          <a:ln/>
        </p:spPr>
        <p:txBody>
          <a:bodyPr wrap="square" lIns="0" tIns="0" rIns="0" bIns="0" rtlCol="0" anchor="t"/>
          <a:lstStyle/>
          <a:p>
            <a:pPr indent="0" marL="0">
              <a:buNone/>
            </a:pPr>
            <a:r>
              <a:rPr lang="en-US" sz="1250" b="1" dirty="0">
                <a:solidFill>
                  <a:srgbClr val="B25000"/>
                </a:solidFill>
                <a:latin typeface="Helvetica Neue" pitchFamily="34" charset="0"/>
                <a:ea typeface="Helvetica Neue" pitchFamily="34" charset="-122"/>
                <a:cs typeface="Helvetica Neue" pitchFamily="34" charset="-120"/>
              </a:rPr>
              <a:t>Demonstration data only. </a:t>
            </a:r>
            <a:pPr indent="0" marL="0">
              <a:buNone/>
            </a:pPr>
            <a:r>
              <a:rPr lang="en-US" sz="1250" dirty="0">
                <a:solidFill>
                  <a:srgbClr val="1D1D1F"/>
                </a:solidFill>
                <a:latin typeface="Helvetica Neue" pitchFamily="34" charset="0"/>
                <a:ea typeface="Helvetica Neue" pitchFamily="34" charset="-122"/>
                <a:cs typeface="Helvetica Neue" pitchFamily="34" charset="-120"/>
              </a:rPr>
              <a:t>These ideas are outside the revised scope and are not used to test the hypothesis.</a:t>
            </a:r>
            <a:endParaRPr lang="en-US" sz="1250" dirty="0"/>
          </a:p>
        </p:txBody>
      </p:sp>
      <p:sp>
        <p:nvSpPr>
          <p:cNvPr id="9" name="Text 6"/>
          <p:cNvSpPr txBox="1"/>
          <p:nvPr/>
        </p:nvSpPr>
        <p:spPr>
          <a:xfrm>
            <a:off x="685800" y="5779008"/>
            <a:ext cx="7315200" cy="310896"/>
          </a:xfrm>
          <a:prstGeom prst="rect">
            <a:avLst/>
          </a:prstGeom>
          <a:noFill/>
          <a:ln/>
        </p:spPr>
        <p:txBody>
          <a:bodyPr wrap="square" lIns="0" tIns="0" rIns="0" bIns="0" rtlCol="0" anchor="ctr"/>
          <a:lstStyle/>
          <a:p>
            <a:pPr algn="l" indent="0" marL="0">
              <a:buNone/>
            </a:pPr>
            <a:r>
              <a:rPr lang="en-US" sz="1350" u="sng" dirty="0">
                <a:solidFill>
                  <a:srgbClr val="0071E3"/>
                </a:solidFill>
                <a:latin typeface="Helvetica Neue" pitchFamily="34" charset="0"/>
                <a:ea typeface="Helvetica Neue" pitchFamily="34" charset="-122"/>
                <a:cs typeface="Helvetica Neue" pitchFamily="34" charset="-120"/>
                <a:hlinkClick r:id="rId1" invalidUrl="" action="" tgtFrame="" tooltip="https://github.com/gabrielamamanestudent-wq/teetomivV2/tree/claude/science-fair-medical-project-7k0wk4/science-fair/night-signal" history="1" highlightClick="0" endSnd="0">
                  <a:extLst>
                    <a:ext uri="{A12FA001-AC4F-418D-AE19-62706E023703}">
                      <ahyp:hlinkClr xmlns:ahyp="http://schemas.microsoft.com/office/drawing/2018/hyperlinkcolor" val="tx"/>
                    </a:ext>
                  </a:extLst>
                </a:hlinkClick>
              </a:rPr>
              <a:t>All code, data tools and raw CSV format on GitHub ›</a:t>
            </a:r>
            <a:endParaRPr lang="en-US" sz="1350" dirty="0"/>
          </a:p>
        </p:txBody>
      </p:sp>
      <p:sp>
        <p:nvSpPr>
          <p:cNvPr id="10" name="Text 7"/>
          <p:cNvSpPr txBox="1"/>
          <p:nvPr/>
        </p:nvSpPr>
        <p:spPr>
          <a:xfrm>
            <a:off x="685800" y="6108192"/>
            <a:ext cx="7315200" cy="310896"/>
          </a:xfrm>
          <a:prstGeom prst="rect">
            <a:avLst/>
          </a:prstGeom>
          <a:noFill/>
          <a:ln/>
        </p:spPr>
        <p:txBody>
          <a:bodyPr wrap="square" lIns="0" tIns="0" rIns="0" bIns="0" rtlCol="0" anchor="ctr"/>
          <a:lstStyle/>
          <a:p>
            <a:pPr algn="l" indent="0" marL="0">
              <a:buNone/>
            </a:pPr>
            <a:r>
              <a:rPr lang="en-US" sz="1350" u="sng" dirty="0">
                <a:solidFill>
                  <a:srgbClr val="0071E3"/>
                </a:solidFill>
                <a:latin typeface="Helvetica Neue" pitchFamily="34" charset="0"/>
                <a:ea typeface="Helvetica Neue" pitchFamily="34" charset="-122"/>
                <a:cs typeface="Helvetica Neue" pitchFamily="34" charset="-120"/>
                <a:hlinkClick r:id="rId2" invalidUrl="" action="" tgtFrame="" tooltip="https://gabrielamamanestudent-wq.github.io/teetomivV2/science-fair/night-signal/build-kit.html" history="1" highlightClick="0" endSnd="0">
                  <a:extLst>
                    <a:ext uri="{A12FA001-AC4F-418D-AE19-62706E023703}">
                      <ahyp:hlinkClr xmlns:ahyp="http://schemas.microsoft.com/office/drawing/2018/hyperlinkcolor" val="tx"/>
                    </a:ext>
                  </a:extLst>
                </a:hlinkClick>
              </a:rPr>
              <a:t>Build guide: buy, build, connect ›</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464040" y="502920"/>
            <a:ext cx="2057400" cy="329184"/>
          </a:xfrm>
          <a:prstGeom prst="roundRect">
            <a:avLst>
              <a:gd name="adj" fmla="val 50000"/>
            </a:avLst>
          </a:prstGeom>
          <a:solidFill>
            <a:srgbClr val="F5F5F7"/>
          </a:solidFill>
          <a:ln/>
        </p:spPr>
      </p:sp>
      <p:sp>
        <p:nvSpPr>
          <p:cNvPr id="3" name="Text 1"/>
          <p:cNvSpPr txBox="1"/>
          <p:nvPr/>
        </p:nvSpPr>
        <p:spPr>
          <a:xfrm>
            <a:off x="9464040" y="502920"/>
            <a:ext cx="2057400" cy="329184"/>
          </a:xfrm>
          <a:prstGeom prst="rect">
            <a:avLst/>
          </a:prstGeom>
          <a:noFill/>
          <a:ln/>
        </p:spPr>
        <p:txBody>
          <a:bodyPr wrap="square" lIns="0" tIns="0" rIns="0" bIns="0" rtlCol="0" anchor="ctr"/>
          <a:lstStyle/>
          <a:p>
            <a:pPr algn="ctr" indent="0" marL="0">
              <a:buNone/>
            </a:pPr>
            <a:r>
              <a:rPr lang="en-US" sz="1050" b="1" dirty="0">
                <a:solidFill>
                  <a:srgbClr val="6E6E73"/>
                </a:solidFill>
                <a:latin typeface="Helvetica Neue" pitchFamily="34" charset="0"/>
                <a:ea typeface="Helvetica Neue" pitchFamily="34" charset="-122"/>
                <a:cs typeface="Helvetica Neue" pitchFamily="34" charset="-120"/>
              </a:rPr>
              <a:t>Appendix · not presented</a:t>
            </a:r>
            <a:endParaRPr lang="en-US" sz="1050" dirty="0"/>
          </a:p>
        </p:txBody>
      </p:sp>
      <p:sp>
        <p:nvSpPr>
          <p:cNvPr id="4" name="Text 2"/>
          <p:cNvSpPr txBox="1"/>
          <p:nvPr/>
        </p:nvSpPr>
        <p:spPr>
          <a:xfrm>
            <a:off x="685800" y="502920"/>
            <a:ext cx="10789920" cy="320040"/>
          </a:xfrm>
          <a:prstGeom prst="rect">
            <a:avLst/>
          </a:prstGeom>
          <a:noFill/>
          <a:ln/>
        </p:spPr>
        <p:txBody>
          <a:bodyPr wrap="square" lIns="0" tIns="0" rIns="0" bIns="0" rtlCol="0" anchor="t"/>
          <a:lstStyle/>
          <a:p>
            <a:pPr indent="0" marL="0">
              <a:buNone/>
            </a:pPr>
            <a:r>
              <a:rPr lang="en-US" sz="1600" b="1" dirty="0">
                <a:solidFill>
                  <a:srgbClr val="E3254B"/>
                </a:solidFill>
                <a:latin typeface="Helvetica Neue" pitchFamily="34" charset="0"/>
                <a:ea typeface="Helvetica Neue" pitchFamily="34" charset="-122"/>
                <a:cs typeface="Helvetica Neue" pitchFamily="34" charset="-120"/>
              </a:rPr>
              <a:t>Bibliography · APA</a:t>
            </a:r>
            <a:endParaRPr lang="en-US" sz="1600" dirty="0"/>
          </a:p>
        </p:txBody>
      </p:sp>
      <p:sp>
        <p:nvSpPr>
          <p:cNvPr id="5" name="Text 3"/>
          <p:cNvSpPr txBox="1"/>
          <p:nvPr/>
        </p:nvSpPr>
        <p:spPr>
          <a:xfrm>
            <a:off x="685800" y="841248"/>
            <a:ext cx="10789920" cy="640080"/>
          </a:xfrm>
          <a:prstGeom prst="rect">
            <a:avLst/>
          </a:prstGeom>
          <a:noFill/>
          <a:ln/>
        </p:spPr>
        <p:txBody>
          <a:bodyPr wrap="square" lIns="0" tIns="0" rIns="0" bIns="0" rtlCol="0" anchor="t"/>
          <a:lstStyle/>
          <a:p>
            <a:pPr indent="0" marL="0">
              <a:lnSpc>
                <a:spcPct val="92000"/>
              </a:lnSpc>
              <a:buNone/>
            </a:pPr>
            <a:r>
              <a:rPr lang="en-US" sz="3000" b="1" dirty="0">
                <a:solidFill>
                  <a:srgbClr val="1D1D1F"/>
                </a:solidFill>
                <a:latin typeface="Helvetica Neue" pitchFamily="34" charset="0"/>
                <a:ea typeface="Helvetica Neue" pitchFamily="34" charset="-122"/>
                <a:cs typeface="Helvetica Neue" pitchFamily="34" charset="-120"/>
              </a:rPr>
              <a:t>References.</a:t>
            </a:r>
            <a:endParaRPr lang="en-US" sz="3000" dirty="0"/>
          </a:p>
        </p:txBody>
      </p:sp>
      <p:sp>
        <p:nvSpPr>
          <p:cNvPr id="6" name="Text 4"/>
          <p:cNvSpPr txBox="1"/>
          <p:nvPr/>
        </p:nvSpPr>
        <p:spPr>
          <a:xfrm>
            <a:off x="685800" y="1600200"/>
            <a:ext cx="10789920" cy="457200"/>
          </a:xfrm>
          <a:prstGeom prst="rect">
            <a:avLst/>
          </a:prstGeom>
          <a:noFill/>
          <a:ln/>
        </p:spPr>
        <p:txBody>
          <a:bodyPr wrap="square" lIns="0" tIns="0" rIns="0" bIns="0" rtlCol="0" anchor="t"/>
          <a:lstStyle/>
          <a:p>
            <a:pPr indent="0" marL="0">
              <a:buNone/>
            </a:pPr>
            <a:r>
              <a:rPr lang="en-US" sz="1200" dirty="0">
                <a:solidFill>
                  <a:srgbClr val="6E6E73"/>
                </a:solidFill>
                <a:latin typeface="Helvetica Neue" pitchFamily="34" charset="0"/>
                <a:ea typeface="Helvetica Neue" pitchFamily="34" charset="-122"/>
                <a:cs typeface="Helvetica Neue" pitchFamily="34" charset="-120"/>
              </a:rPr>
              <a:t>American Academy of Sleep Medicine. (2014). International classification of sleep disorders (3rd ed.).</a:t>
            </a:r>
            <a:endParaRPr lang="en-US" sz="1200" dirty="0"/>
          </a:p>
        </p:txBody>
      </p:sp>
      <p:sp>
        <p:nvSpPr>
          <p:cNvPr id="7" name="Text 5"/>
          <p:cNvSpPr txBox="1"/>
          <p:nvPr/>
        </p:nvSpPr>
        <p:spPr>
          <a:xfrm>
            <a:off x="685800" y="2075688"/>
            <a:ext cx="10789920" cy="457200"/>
          </a:xfrm>
          <a:prstGeom prst="rect">
            <a:avLst/>
          </a:prstGeom>
          <a:noFill/>
          <a:ln/>
        </p:spPr>
        <p:txBody>
          <a:bodyPr wrap="square" lIns="0" tIns="0" rIns="0" bIns="0" rtlCol="0" anchor="t"/>
          <a:lstStyle/>
          <a:p>
            <a:pPr indent="0" marL="0">
              <a:buNone/>
            </a:pPr>
            <a:r>
              <a:rPr lang="en-US" sz="1200" dirty="0">
                <a:solidFill>
                  <a:srgbClr val="6E6E73"/>
                </a:solidFill>
                <a:latin typeface="Helvetica Neue" pitchFamily="34" charset="0"/>
                <a:ea typeface="Helvetica Neue" pitchFamily="34" charset="-122"/>
                <a:cs typeface="Helvetica Neue" pitchFamily="34" charset="-120"/>
              </a:rPr>
              <a:t>Benjafield, A. V., et al. (2019). Estimation of the global prevalence and burden of obstructive sleep apnoea: A literature-based analysis. The Lancet Respiratory Medicine, 7(8), 687–698.</a:t>
            </a:r>
            <a:endParaRPr lang="en-US" sz="1200" dirty="0"/>
          </a:p>
        </p:txBody>
      </p:sp>
      <p:sp>
        <p:nvSpPr>
          <p:cNvPr id="8" name="Text 6"/>
          <p:cNvSpPr txBox="1"/>
          <p:nvPr/>
        </p:nvSpPr>
        <p:spPr>
          <a:xfrm>
            <a:off x="685800" y="2551176"/>
            <a:ext cx="10789920" cy="457200"/>
          </a:xfrm>
          <a:prstGeom prst="rect">
            <a:avLst/>
          </a:prstGeom>
          <a:noFill/>
          <a:ln/>
        </p:spPr>
        <p:txBody>
          <a:bodyPr wrap="square" lIns="0" tIns="0" rIns="0" bIns="0" rtlCol="0" anchor="t"/>
          <a:lstStyle/>
          <a:p>
            <a:pPr indent="0" marL="0">
              <a:buNone/>
            </a:pPr>
            <a:r>
              <a:rPr lang="en-US" sz="1200" dirty="0">
                <a:solidFill>
                  <a:srgbClr val="6E6E73"/>
                </a:solidFill>
                <a:latin typeface="Helvetica Neue" pitchFamily="34" charset="0"/>
                <a:ea typeface="Helvetica Neue" pitchFamily="34" charset="-122"/>
                <a:cs typeface="Helvetica Neue" pitchFamily="34" charset="-120"/>
              </a:rPr>
              <a:t>Berry, R. B., et al. (2012). Rules for scoring respiratory events in sleep. Journal of Clinical Sleep Medicine, 8(5), 597–619.</a:t>
            </a:r>
            <a:endParaRPr lang="en-US" sz="1200" dirty="0"/>
          </a:p>
        </p:txBody>
      </p:sp>
      <p:sp>
        <p:nvSpPr>
          <p:cNvPr id="9" name="Text 7"/>
          <p:cNvSpPr txBox="1"/>
          <p:nvPr/>
        </p:nvSpPr>
        <p:spPr>
          <a:xfrm>
            <a:off x="685800" y="3026664"/>
            <a:ext cx="10789920" cy="457200"/>
          </a:xfrm>
          <a:prstGeom prst="rect">
            <a:avLst/>
          </a:prstGeom>
          <a:noFill/>
          <a:ln/>
        </p:spPr>
        <p:txBody>
          <a:bodyPr wrap="square" lIns="0" tIns="0" rIns="0" bIns="0" rtlCol="0" anchor="t"/>
          <a:lstStyle/>
          <a:p>
            <a:pPr indent="0" marL="0">
              <a:buNone/>
            </a:pPr>
            <a:r>
              <a:rPr lang="en-US" sz="1200" dirty="0">
                <a:solidFill>
                  <a:srgbClr val="6E6E73"/>
                </a:solidFill>
                <a:latin typeface="Helvetica Neue" pitchFamily="34" charset="0"/>
                <a:ea typeface="Helvetica Neue" pitchFamily="34" charset="-122"/>
                <a:cs typeface="Helvetica Neue" pitchFamily="34" charset="-120"/>
              </a:rPr>
              <a:t>Bland, J. M., &amp; Altman, D. G. (1986). Statistical methods for assessing agreement between two methods of clinical measurement. The Lancet, 327(8476), 307–310.</a:t>
            </a:r>
            <a:endParaRPr lang="en-US" sz="1200" dirty="0"/>
          </a:p>
        </p:txBody>
      </p:sp>
      <p:sp>
        <p:nvSpPr>
          <p:cNvPr id="10" name="Text 8"/>
          <p:cNvSpPr txBox="1"/>
          <p:nvPr/>
        </p:nvSpPr>
        <p:spPr>
          <a:xfrm>
            <a:off x="685800" y="3502152"/>
            <a:ext cx="10789920" cy="457200"/>
          </a:xfrm>
          <a:prstGeom prst="rect">
            <a:avLst/>
          </a:prstGeom>
          <a:noFill/>
          <a:ln/>
        </p:spPr>
        <p:txBody>
          <a:bodyPr wrap="square" lIns="0" tIns="0" rIns="0" bIns="0" rtlCol="0" anchor="t"/>
          <a:lstStyle/>
          <a:p>
            <a:pPr indent="0" marL="0">
              <a:buNone/>
            </a:pPr>
            <a:r>
              <a:rPr lang="en-US" sz="1200" dirty="0">
                <a:solidFill>
                  <a:srgbClr val="6E6E73"/>
                </a:solidFill>
                <a:latin typeface="Helvetica Neue" pitchFamily="34" charset="0"/>
                <a:ea typeface="Helvetica Neue" pitchFamily="34" charset="-122"/>
                <a:cs typeface="Helvetica Neue" pitchFamily="34" charset="-120"/>
              </a:rPr>
              <a:t>International Organization for Standardization. (2017). Medical electrical equipment — Part 2-61: Particular requirements for basic safety and essential performance of pulse oximeter equipment (ISO 80601-2-61:2017).</a:t>
            </a:r>
            <a:endParaRPr lang="en-US" sz="1200" dirty="0"/>
          </a:p>
        </p:txBody>
      </p:sp>
      <p:sp>
        <p:nvSpPr>
          <p:cNvPr id="11" name="Text 9"/>
          <p:cNvSpPr txBox="1"/>
          <p:nvPr/>
        </p:nvSpPr>
        <p:spPr>
          <a:xfrm>
            <a:off x="685800" y="3977640"/>
            <a:ext cx="10789920" cy="457200"/>
          </a:xfrm>
          <a:prstGeom prst="rect">
            <a:avLst/>
          </a:prstGeom>
          <a:noFill/>
          <a:ln/>
        </p:spPr>
        <p:txBody>
          <a:bodyPr wrap="square" lIns="0" tIns="0" rIns="0" bIns="0" rtlCol="0" anchor="t"/>
          <a:lstStyle/>
          <a:p>
            <a:pPr indent="0" marL="0">
              <a:buNone/>
            </a:pPr>
            <a:r>
              <a:rPr lang="en-US" sz="1200" dirty="0">
                <a:solidFill>
                  <a:srgbClr val="6E6E73"/>
                </a:solidFill>
                <a:latin typeface="Helvetica Neue" pitchFamily="34" charset="0"/>
                <a:ea typeface="Helvetica Neue" pitchFamily="34" charset="-122"/>
                <a:cs typeface="Helvetica Neue" pitchFamily="34" charset="-120"/>
              </a:rPr>
              <a:t>Jubran, A. (2015). Pulse oximetry. Critical Care, 19, 272.</a:t>
            </a:r>
            <a:endParaRPr lang="en-US" sz="1200" dirty="0"/>
          </a:p>
        </p:txBody>
      </p:sp>
      <p:sp>
        <p:nvSpPr>
          <p:cNvPr id="12" name="Text 10"/>
          <p:cNvSpPr txBox="1"/>
          <p:nvPr/>
        </p:nvSpPr>
        <p:spPr>
          <a:xfrm>
            <a:off x="685800" y="4453128"/>
            <a:ext cx="10789920" cy="457200"/>
          </a:xfrm>
          <a:prstGeom prst="rect">
            <a:avLst/>
          </a:prstGeom>
          <a:noFill/>
          <a:ln/>
        </p:spPr>
        <p:txBody>
          <a:bodyPr wrap="square" lIns="0" tIns="0" rIns="0" bIns="0" rtlCol="0" anchor="t"/>
          <a:lstStyle/>
          <a:p>
            <a:pPr indent="0" marL="0">
              <a:buNone/>
            </a:pPr>
            <a:r>
              <a:rPr lang="en-US" sz="1200" dirty="0">
                <a:solidFill>
                  <a:srgbClr val="6E6E73"/>
                </a:solidFill>
                <a:latin typeface="Helvetica Neue" pitchFamily="34" charset="0"/>
                <a:ea typeface="Helvetica Neue" pitchFamily="34" charset="-122"/>
                <a:cs typeface="Helvetica Neue" pitchFamily="34" charset="-120"/>
              </a:rPr>
              <a:t>Kapur, V. K., et al. (2017). Clinical practice guideline for diagnostic testing for adult obstructive sleep apnea. Journal of Clinical Sleep Medicine, 13(3), 479–504.</a:t>
            </a:r>
            <a:endParaRPr lang="en-US" sz="1200" dirty="0"/>
          </a:p>
        </p:txBody>
      </p:sp>
      <p:sp>
        <p:nvSpPr>
          <p:cNvPr id="13" name="Text 11"/>
          <p:cNvSpPr txBox="1"/>
          <p:nvPr/>
        </p:nvSpPr>
        <p:spPr>
          <a:xfrm>
            <a:off x="685800" y="4928616"/>
            <a:ext cx="10789920" cy="457200"/>
          </a:xfrm>
          <a:prstGeom prst="rect">
            <a:avLst/>
          </a:prstGeom>
          <a:noFill/>
          <a:ln/>
        </p:spPr>
        <p:txBody>
          <a:bodyPr wrap="square" lIns="0" tIns="0" rIns="0" bIns="0" rtlCol="0" anchor="t"/>
          <a:lstStyle/>
          <a:p>
            <a:pPr indent="0" marL="0">
              <a:buNone/>
            </a:pPr>
            <a:r>
              <a:rPr lang="en-US" sz="1200" dirty="0">
                <a:solidFill>
                  <a:srgbClr val="6E6E73"/>
                </a:solidFill>
                <a:latin typeface="Helvetica Neue" pitchFamily="34" charset="0"/>
                <a:ea typeface="Helvetica Neue" pitchFamily="34" charset="-122"/>
                <a:cs typeface="Helvetica Neue" pitchFamily="34" charset="-120"/>
              </a:rPr>
              <a:t>Maxim Integrated. (2020). MAX30102 high-sensitivity pulse oximeter and heart-rate sensor [Datasheet].</a:t>
            </a:r>
            <a:endParaRPr lang="en-US" sz="1200" dirty="0"/>
          </a:p>
        </p:txBody>
      </p:sp>
      <p:sp>
        <p:nvSpPr>
          <p:cNvPr id="14" name="Text 12"/>
          <p:cNvSpPr txBox="1"/>
          <p:nvPr/>
        </p:nvSpPr>
        <p:spPr>
          <a:xfrm>
            <a:off x="685800" y="5404104"/>
            <a:ext cx="10789920" cy="457200"/>
          </a:xfrm>
          <a:prstGeom prst="rect">
            <a:avLst/>
          </a:prstGeom>
          <a:noFill/>
          <a:ln/>
        </p:spPr>
        <p:txBody>
          <a:bodyPr wrap="square" lIns="0" tIns="0" rIns="0" bIns="0" rtlCol="0" anchor="t"/>
          <a:lstStyle/>
          <a:p>
            <a:pPr indent="0" marL="0">
              <a:buNone/>
            </a:pPr>
            <a:r>
              <a:rPr lang="en-US" sz="1200" dirty="0">
                <a:solidFill>
                  <a:srgbClr val="6E6E73"/>
                </a:solidFill>
                <a:latin typeface="Helvetica Neue" pitchFamily="34" charset="0"/>
                <a:ea typeface="Helvetica Neue" pitchFamily="34" charset="-122"/>
                <a:cs typeface="Helvetica Neue" pitchFamily="34" charset="-120"/>
              </a:rPr>
              <a:t>Sjoding, M. W., Dickson, R. P., Iwashyna, T. J., Gay, S. E., &amp; Valley, T. S. (2020). Racial bias in pulse oximetry measurement. New England Journal of Medicine, 383(25), 2477–2478.</a:t>
            </a:r>
            <a:endParaRPr lang="en-US" sz="1200" dirty="0"/>
          </a:p>
        </p:txBody>
      </p:sp>
      <p:sp>
        <p:nvSpPr>
          <p:cNvPr id="15" name="Text 13"/>
          <p:cNvSpPr txBox="1"/>
          <p:nvPr/>
        </p:nvSpPr>
        <p:spPr>
          <a:xfrm>
            <a:off x="685800" y="5879592"/>
            <a:ext cx="10789920" cy="457200"/>
          </a:xfrm>
          <a:prstGeom prst="rect">
            <a:avLst/>
          </a:prstGeom>
          <a:noFill/>
          <a:ln/>
        </p:spPr>
        <p:txBody>
          <a:bodyPr wrap="square" lIns="0" tIns="0" rIns="0" bIns="0" rtlCol="0" anchor="t"/>
          <a:lstStyle/>
          <a:p>
            <a:pPr indent="0" marL="0">
              <a:buNone/>
            </a:pPr>
            <a:r>
              <a:rPr lang="en-US" sz="1200" dirty="0">
                <a:solidFill>
                  <a:srgbClr val="6E6E73"/>
                </a:solidFill>
                <a:latin typeface="Helvetica Neue" pitchFamily="34" charset="0"/>
                <a:ea typeface="Helvetica Neue" pitchFamily="34" charset="-122"/>
                <a:cs typeface="Helvetica Neue" pitchFamily="34" charset="-120"/>
              </a:rPr>
              <a:t>Task Force of the European Society of Cardiology and NASPE. (1996). Heart rate variability: Standards of measurement, physiological interpretation, and clinical use. Circulation, 93(5), 1043–1065.</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Night Signal — science fair presentation</dc:title>
  <dc:subject>PptxGenJS Presentation</dc:subject>
  <dc:creator>PptxGenJS</dc:creator>
  <cp:lastModifiedBy>PptxGenJS</cp:lastModifiedBy>
  <cp:revision>1</cp:revision>
  <dcterms:created xsi:type="dcterms:W3CDTF">2026-10-15T23:54:55Z</dcterms:created>
  <dcterms:modified xsi:type="dcterms:W3CDTF">2026-10-15T23:54:55Z</dcterms:modified>
</cp:coreProperties>
</file>