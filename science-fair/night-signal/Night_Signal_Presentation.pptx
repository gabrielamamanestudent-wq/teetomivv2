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A26"/>
                </a:solidFill>
                <a:latin typeface="Arial"/>
              </a:defRPr>
            </a:pPr>
            <a:r>
              <a:rPr sz="1400" b="0" i="0" u="none" strike="noStrike">
                <a:solidFill>
                  <a:srgbClr val="141A26"/>
                </a:solidFill>
                <a:latin typeface="Arial"/>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F8A9C"/>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E4568A"/>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4515F"/>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6EAF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8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wearable that costs about sixty-five dollars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My working prototype, version 1, is built to be simple and reliable: the ESP32 sits in a running armband, each sensor plugs into its own pins with no soldered splices, and a USB cable powers it all night. A velcro finger clip holds the MAX30102 oxygen sensor. The 3D model shows version 2 — a 70 by 45 millimetre sealed case with its own battery on a velcro strap.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full-night power test — eight hours with no gaps.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Bluetooth draws about 100 milliamps, so a small 500 milliamp-hour battery would last only four to five hours. That's why version 1 runs on USB power all night, and version 2 needs a bigger battery or Bluetooth Low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links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claude.ai/artifact/7wqAASJ8qWxBBKBuVHAqLt" TargetMode="External"/><Relationship Id="rId5" Type="http://schemas.openxmlformats.org/officeDocument/2006/relationships/hyperlink" Target="https://claude.ai/artifact/7wqAASJ8qWxBBKBuVHAqLt"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claude.ai/artifact/KCkbwVKfmBhQoC9cxCn7qZ" TargetMode="External"/><Relationship Id="rId5" Type="http://schemas.openxmlformats.org/officeDocument/2006/relationships/hyperlink" Target="https://claude.ai/artifact/KCkbwVKfmBhQoC9cxCn7qZ"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claude.ai/artifact/KCkbwVKfmBhQoC9cxCn7qZ" TargetMode="External"/><Relationship Id="rId4" Type="http://schemas.openxmlformats.org/officeDocument/2006/relationships/hyperlink" Target="https://claude.ai/artifact/7wqAASJ8qWxBBKBuVHAqLt"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claude.ai/artifact/4xLvQVUaMqndpLeRDXtp4A"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SCIENCE FAIR · HEALTH AND MEDICAL SCIENCES · EXPERIMENTAL PROJECT</a:t>
            </a:r>
            <a:endParaRPr lang="en-US" sz="1200" dirty="0"/>
          </a:p>
        </p:txBody>
      </p:sp>
      <p:sp>
        <p:nvSpPr>
          <p:cNvPr id="3" name="Text 1"/>
          <p:cNvSpPr txBox="1"/>
          <p:nvPr/>
        </p:nvSpPr>
        <p:spPr>
          <a:xfrm>
            <a:off x="640080" y="1463040"/>
            <a:ext cx="585216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Night Signal</a:t>
            </a:r>
            <a:endParaRPr lang="en-US" sz="6000" dirty="0"/>
          </a:p>
        </p:txBody>
      </p:sp>
      <p:sp>
        <p:nvSpPr>
          <p:cNvPr id="4" name="Text 2"/>
          <p:cNvSpPr txBox="1"/>
          <p:nvPr/>
        </p:nvSpPr>
        <p:spPr>
          <a:xfrm>
            <a:off x="640080" y="2651760"/>
            <a:ext cx="5394960" cy="1005840"/>
          </a:xfrm>
          <a:prstGeom prst="rect">
            <a:avLst/>
          </a:prstGeom>
          <a:noFill/>
          <a:ln/>
        </p:spPr>
        <p:txBody>
          <a:bodyPr wrap="square" lIns="0" tIns="0" rIns="0" bIns="0" rtlCol="0" anchor="t"/>
          <a:lstStyle/>
          <a:p>
            <a:pPr indent="0" marL="0">
              <a:buNone/>
            </a:pPr>
            <a:r>
              <a:rPr lang="en-US" sz="1900" dirty="0">
                <a:solidFill>
                  <a:srgbClr val="A9B8D2"/>
                </a:solidFill>
                <a:latin typeface="Calibri" pitchFamily="34" charset="0"/>
                <a:ea typeface="Calibri" pitchFamily="34" charset="-122"/>
                <a:cs typeface="Calibri" pitchFamily="34" charset="-120"/>
              </a:rPr>
              <a:t>A low-cost wearable that detects sleep apnea — and screens the heart and breathing too.</a:t>
            </a:r>
            <a:endParaRPr lang="en-US" sz="1900" dirty="0"/>
          </a:p>
        </p:txBody>
      </p:sp>
      <p:sp>
        <p:nvSpPr>
          <p:cNvPr id="5" name="Text 3"/>
          <p:cNvSpPr txBox="1"/>
          <p:nvPr/>
        </p:nvSpPr>
        <p:spPr>
          <a:xfrm>
            <a:off x="640080" y="420624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Gabriel Mamane</a:t>
            </a:r>
            <a:pPr indent="0" marL="0">
              <a:buNone/>
            </a:pPr>
            <a:r>
              <a:rPr lang="en-US" sz="1600" dirty="0">
                <a:solidFill>
                  <a:srgbClr val="A9B8D2"/>
                </a:solidFill>
                <a:latin typeface="Calibri" pitchFamily="34" charset="0"/>
                <a:ea typeface="Calibri" pitchFamily="34" charset="-122"/>
                <a:cs typeface="Calibri" pitchFamily="34" charset="-120"/>
              </a:rPr>
              <a:t>   ·   Grade ___</a:t>
            </a:r>
            <a:endParaRPr lang="en-US" sz="1600" dirty="0"/>
          </a:p>
        </p:txBody>
      </p:sp>
      <p:pic>
        <p:nvPicPr>
          <p:cNvPr id="6" name="Image 0" descr="/home/user/teetomivV2/science-fair/night-signal/slides/assets/3d_assembled.jpg">    </p:cNvPr>
          <p:cNvPicPr>
            <a:picLocks noChangeAspect="1"/>
          </p:cNvPicPr>
          <p:nvPr/>
        </p:nvPicPr>
        <p:blipFill>
          <a:blip r:embed="rId1"/>
          <a:stretch>
            <a:fillRect/>
          </a:stretch>
        </p:blipFill>
        <p:spPr>
          <a:xfrm>
            <a:off x="6172200" y="1143000"/>
            <a:ext cx="5577840" cy="3775500"/>
          </a:xfrm>
          <a:prstGeom prst="rect">
            <a:avLst/>
          </a:prstGeom>
        </p:spPr>
      </p:pic>
      <p:sp>
        <p:nvSpPr>
          <p:cNvPr id="7" name="Text 4"/>
          <p:cNvSpPr txBox="1"/>
          <p:nvPr/>
        </p:nvSpPr>
        <p:spPr>
          <a:xfrm>
            <a:off x="640080" y="6355080"/>
            <a:ext cx="731520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PURPOSE &amp; HYPOTHESIS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Can a ~$65 wearable catch sleep apnea?</a:t>
            </a:r>
            <a:endParaRPr lang="en-US" sz="3200" dirty="0"/>
          </a:p>
        </p:txBody>
      </p:sp>
      <p:sp>
        <p:nvSpPr>
          <p:cNvPr id="4" name="Shape 2"/>
          <p:cNvSpPr/>
          <p:nvPr/>
        </p:nvSpPr>
        <p:spPr>
          <a:xfrm>
            <a:off x="640080" y="1645920"/>
            <a:ext cx="10881360" cy="1143000"/>
          </a:xfrm>
          <a:prstGeom prst="roundRect">
            <a:avLst>
              <a:gd name="adj" fmla="val 8000"/>
            </a:avLst>
          </a:prstGeom>
          <a:solidFill>
            <a:srgbClr val="F3F5F9"/>
          </a:solidFill>
          <a:ln w="12700">
            <a:solidFill>
              <a:srgbClr val="DBE1EC"/>
            </a:solidFill>
            <a:prstDash val="solid"/>
          </a:ln>
        </p:spPr>
      </p:sp>
      <p:sp>
        <p:nvSpPr>
          <p:cNvPr id="5" name="Text 3"/>
          <p:cNvSpPr txBox="1"/>
          <p:nvPr/>
        </p:nvSpPr>
        <p:spPr>
          <a:xfrm>
            <a:off x="914400" y="1783080"/>
            <a:ext cx="10332720" cy="914400"/>
          </a:xfrm>
          <a:prstGeom prst="rect">
            <a:avLst/>
          </a:prstGeom>
          <a:noFill/>
          <a:ln/>
        </p:spPr>
        <p:txBody>
          <a:bodyPr wrap="square" lIns="0" tIns="0" rIns="0" bIns="0" rtlCol="0" anchor="t"/>
          <a:lstStyle/>
          <a:p>
            <a:pPr indent="0" marL="0">
              <a:buNone/>
            </a:pPr>
            <a:r>
              <a:rPr lang="en-US" sz="1600" b="1" dirty="0">
                <a:solidFill>
                  <a:srgbClr val="1F8A9C"/>
                </a:solidFill>
                <a:latin typeface="Calibri" pitchFamily="34" charset="0"/>
                <a:ea typeface="Calibri" pitchFamily="34" charset="-122"/>
                <a:cs typeface="Calibri" pitchFamily="34" charset="-120"/>
              </a:rPr>
              <a:t>Purpose  </a:t>
            </a:r>
            <a:pPr indent="0" marL="0">
              <a:buNone/>
            </a:pPr>
            <a:r>
              <a:rPr lang="en-US" sz="1600" dirty="0">
                <a:solidFill>
                  <a:srgbClr val="141A26"/>
                </a:solidFill>
                <a:latin typeface="Calibri" pitchFamily="34" charset="0"/>
                <a:ea typeface="Calibri" pitchFamily="34" charset="-122"/>
                <a:cs typeface="Calibri" pitchFamily="34" charset="-120"/>
              </a:rPr>
              <a:t>Find out whether a low-cost wearable can detect the oxygen drops caused by sleep apnea accurately enough to estimate how many events happen per hour — the number doctors use (AHI).</a:t>
            </a:r>
            <a:endParaRPr lang="en-US" sz="1600" dirty="0"/>
          </a:p>
        </p:txBody>
      </p:sp>
      <p:sp>
        <p:nvSpPr>
          <p:cNvPr id="6" name="Text 4"/>
          <p:cNvSpPr txBox="1"/>
          <p:nvPr/>
        </p:nvSpPr>
        <p:spPr>
          <a:xfrm>
            <a:off x="640080" y="3017520"/>
            <a:ext cx="10881360" cy="1097280"/>
          </a:xfrm>
          <a:prstGeom prst="rect">
            <a:avLst/>
          </a:prstGeom>
          <a:noFill/>
          <a:ln/>
        </p:spPr>
        <p:txBody>
          <a:bodyPr wrap="square" lIns="0" tIns="0" rIns="0" bIns="0" rtlCol="0" anchor="t"/>
          <a:lstStyle/>
          <a:p>
            <a:pPr indent="0" marL="0">
              <a:buNone/>
            </a:pPr>
            <a:r>
              <a:rPr lang="en-US" sz="1600" b="1" dirty="0">
                <a:solidFill>
                  <a:srgbClr val="E4568A"/>
                </a:solidFill>
                <a:latin typeface="Calibri" pitchFamily="34" charset="0"/>
                <a:ea typeface="Calibri" pitchFamily="34" charset="-122"/>
                <a:cs typeface="Calibri" pitchFamily="34" charset="-120"/>
              </a:rPr>
              <a:t>Hypothesis  </a:t>
            </a:r>
            <a:pPr indent="0" marL="0">
              <a:buNone/>
            </a:pPr>
            <a:r>
              <a:rPr lang="en-US" sz="1600" dirty="0">
                <a:solidFill>
                  <a:srgbClr val="44515F"/>
                </a:solidFill>
                <a:latin typeface="Calibri" pitchFamily="34" charset="0"/>
                <a:ea typeface="Calibri" pitchFamily="34" charset="-122"/>
                <a:cs typeface="Calibri" pitchFamily="34" charset="-120"/>
              </a:rPr>
              <a:t>If breathing pauses make blood oxygen dip, then a fingertip sensor read once per second will reveal those dips, and software can count them to sort a night into Normal, Mild, Moderate or Severe — because oxygen-rich and oxygen-poor blood absorb red and infrared light differently.</a:t>
            </a:r>
            <a:endParaRPr lang="en-US" sz="1600" dirty="0"/>
          </a:p>
        </p:txBody>
      </p:sp>
      <p:sp>
        <p:nvSpPr>
          <p:cNvPr id="7" name="Shape 5"/>
          <p:cNvSpPr/>
          <p:nvPr/>
        </p:nvSpPr>
        <p:spPr>
          <a:xfrm>
            <a:off x="640080" y="4434840"/>
            <a:ext cx="3502152" cy="1417320"/>
          </a:xfrm>
          <a:prstGeom prst="roundRect">
            <a:avLst>
              <a:gd name="adj" fmla="val 6452"/>
            </a:avLst>
          </a:prstGeom>
          <a:solidFill>
            <a:srgbClr val="FFFFFF"/>
          </a:solidFill>
          <a:ln w="12700">
            <a:solidFill>
              <a:srgbClr val="DBE1EC"/>
            </a:solidFill>
            <a:prstDash val="solid"/>
          </a:ln>
        </p:spPr>
      </p:sp>
      <p:sp>
        <p:nvSpPr>
          <p:cNvPr id="8" name="Text 6"/>
          <p:cNvSpPr txBox="1"/>
          <p:nvPr/>
        </p:nvSpPr>
        <p:spPr>
          <a:xfrm>
            <a:off x="841248" y="4572000"/>
            <a:ext cx="3108960" cy="274320"/>
          </a:xfrm>
          <a:prstGeom prst="rect">
            <a:avLst/>
          </a:prstGeom>
          <a:noFill/>
          <a:ln/>
        </p:spPr>
        <p:txBody>
          <a:bodyPr wrap="square" lIns="0" tIns="0" rIns="0" bIns="0" rtlCol="0" anchor="ctr"/>
          <a:lstStyle/>
          <a:p>
            <a:pPr indent="0" marL="0">
              <a:buNone/>
            </a:pPr>
            <a:r>
              <a:rPr lang="en-US" sz="1100" b="1" spc="200" kern="0" dirty="0">
                <a:solidFill>
                  <a:srgbClr val="E4568A"/>
                </a:solidFill>
                <a:latin typeface="Calibri" pitchFamily="34" charset="0"/>
                <a:ea typeface="Calibri" pitchFamily="34" charset="-122"/>
                <a:cs typeface="Calibri" pitchFamily="34" charset="-120"/>
              </a:rPr>
              <a:t>INDEPENDENT VARIABLES</a:t>
            </a:r>
            <a:endParaRPr lang="en-US" sz="1100" dirty="0"/>
          </a:p>
        </p:txBody>
      </p:sp>
      <p:sp>
        <p:nvSpPr>
          <p:cNvPr id="9" name="Text 7"/>
          <p:cNvSpPr txBox="1"/>
          <p:nvPr/>
        </p:nvSpPr>
        <p:spPr>
          <a:xfrm>
            <a:off x="841248"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 length (10 / 15 / 20 s) and sleeping position</a:t>
            </a:r>
            <a:endParaRPr lang="en-US" sz="1400" dirty="0"/>
          </a:p>
        </p:txBody>
      </p:sp>
      <p:sp>
        <p:nvSpPr>
          <p:cNvPr id="10" name="Shape 8"/>
          <p:cNvSpPr/>
          <p:nvPr/>
        </p:nvSpPr>
        <p:spPr>
          <a:xfrm>
            <a:off x="4325112" y="4434840"/>
            <a:ext cx="3502152" cy="1417320"/>
          </a:xfrm>
          <a:prstGeom prst="roundRect">
            <a:avLst>
              <a:gd name="adj" fmla="val 6452"/>
            </a:avLst>
          </a:prstGeom>
          <a:solidFill>
            <a:srgbClr val="FFFFFF"/>
          </a:solidFill>
          <a:ln w="12700">
            <a:solidFill>
              <a:srgbClr val="DBE1EC"/>
            </a:solidFill>
            <a:prstDash val="solid"/>
          </a:ln>
        </p:spPr>
      </p:sp>
      <p:sp>
        <p:nvSpPr>
          <p:cNvPr id="11" name="Text 9"/>
          <p:cNvSpPr txBox="1"/>
          <p:nvPr/>
        </p:nvSpPr>
        <p:spPr>
          <a:xfrm>
            <a:off x="4526280" y="4572000"/>
            <a:ext cx="3108960" cy="274320"/>
          </a:xfrm>
          <a:prstGeom prst="rect">
            <a:avLst/>
          </a:prstGeom>
          <a:noFill/>
          <a:ln/>
        </p:spPr>
        <p:txBody>
          <a:bodyPr wrap="square" lIns="0" tIns="0" rIns="0" bIns="0" rtlCol="0" anchor="ctr"/>
          <a:lstStyle/>
          <a:p>
            <a:pPr indent="0" marL="0">
              <a:buNone/>
            </a:pPr>
            <a:r>
              <a:rPr lang="en-US" sz="1100" b="1" spc="200" kern="0" dirty="0">
                <a:solidFill>
                  <a:srgbClr val="1F8A9C"/>
                </a:solidFill>
                <a:latin typeface="Calibri" pitchFamily="34" charset="0"/>
                <a:ea typeface="Calibri" pitchFamily="34" charset="-122"/>
                <a:cs typeface="Calibri" pitchFamily="34" charset="-120"/>
              </a:rPr>
              <a:t>DEPENDENT VARIABLES</a:t>
            </a:r>
            <a:endParaRPr lang="en-US" sz="1100" dirty="0"/>
          </a:p>
        </p:txBody>
      </p:sp>
      <p:sp>
        <p:nvSpPr>
          <p:cNvPr id="12" name="Text 10"/>
          <p:cNvSpPr txBox="1"/>
          <p:nvPr/>
        </p:nvSpPr>
        <p:spPr>
          <a:xfrm>
            <a:off x="4526280"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Events detected, AHI score, agreement with a reference oximeter</a:t>
            </a:r>
            <a:endParaRPr lang="en-US" sz="1400" dirty="0"/>
          </a:p>
        </p:txBody>
      </p:sp>
      <p:sp>
        <p:nvSpPr>
          <p:cNvPr id="13" name="Shape 11"/>
          <p:cNvSpPr/>
          <p:nvPr/>
        </p:nvSpPr>
        <p:spPr>
          <a:xfrm>
            <a:off x="8010144" y="4434840"/>
            <a:ext cx="3502152" cy="1417320"/>
          </a:xfrm>
          <a:prstGeom prst="roundRect">
            <a:avLst>
              <a:gd name="adj" fmla="val 6452"/>
            </a:avLst>
          </a:prstGeom>
          <a:solidFill>
            <a:srgbClr val="FFFFFF"/>
          </a:solidFill>
          <a:ln w="12700">
            <a:solidFill>
              <a:srgbClr val="DBE1EC"/>
            </a:solidFill>
            <a:prstDash val="solid"/>
          </a:ln>
        </p:spPr>
      </p:sp>
      <p:sp>
        <p:nvSpPr>
          <p:cNvPr id="14" name="Text 12"/>
          <p:cNvSpPr txBox="1"/>
          <p:nvPr/>
        </p:nvSpPr>
        <p:spPr>
          <a:xfrm>
            <a:off x="8211312" y="4572000"/>
            <a:ext cx="3108960" cy="274320"/>
          </a:xfrm>
          <a:prstGeom prst="rect">
            <a:avLst/>
          </a:prstGeom>
          <a:noFill/>
          <a:ln/>
        </p:spPr>
        <p:txBody>
          <a:bodyPr wrap="square" lIns="0" tIns="0" rIns="0" bIns="0" rtlCol="0" anchor="ctr"/>
          <a:lstStyle/>
          <a:p>
            <a:pPr indent="0" marL="0">
              <a:buNone/>
            </a:pPr>
            <a:r>
              <a:rPr lang="en-US" sz="1100" b="1" spc="200" kern="0" dirty="0">
                <a:solidFill>
                  <a:srgbClr val="6B7889"/>
                </a:solidFill>
                <a:latin typeface="Calibri" pitchFamily="34" charset="0"/>
                <a:ea typeface="Calibri" pitchFamily="34" charset="-122"/>
                <a:cs typeface="Calibri" pitchFamily="34" charset="-120"/>
              </a:rPr>
              <a:t>CONTROLS</a:t>
            </a:r>
            <a:endParaRPr lang="en-US" sz="1100" dirty="0"/>
          </a:p>
        </p:txBody>
      </p:sp>
      <p:sp>
        <p:nvSpPr>
          <p:cNvPr id="15" name="Text 13"/>
          <p:cNvSpPr txBox="1"/>
          <p:nvPr/>
        </p:nvSpPr>
        <p:spPr>
          <a:xfrm>
            <a:off x="8211312"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SCIENTIFIC BACKGROUND</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Sleep apnea: breathing stops, oxygen drops</a:t>
            </a:r>
            <a:endParaRPr lang="en-US" sz="3200" dirty="0"/>
          </a:p>
        </p:txBody>
      </p:sp>
      <p:sp>
        <p:nvSpPr>
          <p:cNvPr id="4" name="Shape 2"/>
          <p:cNvSpPr/>
          <p:nvPr/>
        </p:nvSpPr>
        <p:spPr>
          <a:xfrm>
            <a:off x="640080" y="1773936"/>
            <a:ext cx="118872" cy="118872"/>
          </a:xfrm>
          <a:prstGeom prst="ellipse">
            <a:avLst/>
          </a:prstGeom>
          <a:solidFill>
            <a:srgbClr val="1F8A9C"/>
          </a:solidFill>
          <a:ln/>
        </p:spPr>
      </p:sp>
      <p:sp>
        <p:nvSpPr>
          <p:cNvPr id="5" name="Text 3"/>
          <p:cNvSpPr txBox="1"/>
          <p:nvPr/>
        </p:nvSpPr>
        <p:spPr>
          <a:xfrm>
            <a:off x="914400" y="167335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Obstructive sleep apnea: the airway collapses during sleep and breathing pauses for 10 seconds or more, many times a night.</a:t>
            </a:r>
            <a:endParaRPr lang="en-US" sz="1500" dirty="0"/>
          </a:p>
        </p:txBody>
      </p:sp>
      <p:sp>
        <p:nvSpPr>
          <p:cNvPr id="6" name="Shape 4"/>
          <p:cNvSpPr/>
          <p:nvPr/>
        </p:nvSpPr>
        <p:spPr>
          <a:xfrm>
            <a:off x="640080" y="2596896"/>
            <a:ext cx="118872" cy="118872"/>
          </a:xfrm>
          <a:prstGeom prst="ellipse">
            <a:avLst/>
          </a:prstGeom>
          <a:solidFill>
            <a:srgbClr val="1F8A9C"/>
          </a:solidFill>
          <a:ln/>
        </p:spPr>
      </p:sp>
      <p:sp>
        <p:nvSpPr>
          <p:cNvPr id="7" name="Text 5"/>
          <p:cNvSpPr txBox="1"/>
          <p:nvPr/>
        </p:nvSpPr>
        <p:spPr>
          <a:xfrm>
            <a:off x="914400" y="249631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Each pause lowers blood oxygen (a desaturation) and makes the heart speed up and slow down.</a:t>
            </a:r>
            <a:endParaRPr lang="en-US" sz="1500" dirty="0"/>
          </a:p>
        </p:txBody>
      </p:sp>
      <p:sp>
        <p:nvSpPr>
          <p:cNvPr id="8" name="Shape 6"/>
          <p:cNvSpPr/>
          <p:nvPr/>
        </p:nvSpPr>
        <p:spPr>
          <a:xfrm>
            <a:off x="640080" y="3419856"/>
            <a:ext cx="118872" cy="118872"/>
          </a:xfrm>
          <a:prstGeom prst="ellipse">
            <a:avLst/>
          </a:prstGeom>
          <a:solidFill>
            <a:srgbClr val="1F8A9C"/>
          </a:solidFill>
          <a:ln/>
        </p:spPr>
      </p:sp>
      <p:sp>
        <p:nvSpPr>
          <p:cNvPr id="9" name="Text 7"/>
          <p:cNvSpPr txBox="1"/>
          <p:nvPr/>
        </p:nvSpPr>
        <p:spPr>
          <a:xfrm>
            <a:off x="914400" y="331927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Pulse oximetry: red (660 nm) and infrared (880 nm) light shine through the fingertip; oxygen-rich blood absorbs them differently, giving SpO₂.</a:t>
            </a:r>
            <a:endParaRPr lang="en-US" sz="1500" dirty="0"/>
          </a:p>
        </p:txBody>
      </p:sp>
      <p:sp>
        <p:nvSpPr>
          <p:cNvPr id="10" name="Shape 8"/>
          <p:cNvSpPr/>
          <p:nvPr/>
        </p:nvSpPr>
        <p:spPr>
          <a:xfrm>
            <a:off x="640080" y="4242816"/>
            <a:ext cx="118872" cy="118872"/>
          </a:xfrm>
          <a:prstGeom prst="ellipse">
            <a:avLst/>
          </a:prstGeom>
          <a:solidFill>
            <a:srgbClr val="1F8A9C"/>
          </a:solidFill>
          <a:ln/>
        </p:spPr>
      </p:sp>
      <p:sp>
        <p:nvSpPr>
          <p:cNvPr id="11" name="Text 9"/>
          <p:cNvSpPr txBox="1"/>
          <p:nvPr/>
        </p:nvSpPr>
        <p:spPr>
          <a:xfrm>
            <a:off x="914400" y="414223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Doctors count events per hour of sleep: the Apnea–Hypopnea Index (AHI). A clinical sleep study costs thousands and needs a lab.</a:t>
            </a:r>
            <a:endParaRPr lang="en-US" sz="1500" dirty="0"/>
          </a:p>
        </p:txBody>
      </p:sp>
      <p:sp>
        <p:nvSpPr>
          <p:cNvPr id="12" name="Shape 10"/>
          <p:cNvSpPr/>
          <p:nvPr/>
        </p:nvSpPr>
        <p:spPr>
          <a:xfrm>
            <a:off x="7680960" y="1645920"/>
            <a:ext cx="3840480" cy="2148840"/>
          </a:xfrm>
          <a:prstGeom prst="roundRect">
            <a:avLst>
              <a:gd name="adj" fmla="val 4255"/>
            </a:avLst>
          </a:prstGeom>
          <a:solidFill>
            <a:srgbClr val="0E1830"/>
          </a:solidFill>
          <a:ln w="12700">
            <a:solidFill>
              <a:srgbClr val="0E1830"/>
            </a:solidFill>
            <a:prstDash val="solid"/>
          </a:ln>
        </p:spPr>
      </p:sp>
      <p:sp>
        <p:nvSpPr>
          <p:cNvPr id="13" name="Text 11"/>
          <p:cNvSpPr txBox="1"/>
          <p:nvPr/>
        </p:nvSpPr>
        <p:spPr>
          <a:xfrm>
            <a:off x="7863840" y="1828800"/>
            <a:ext cx="3566160" cy="685800"/>
          </a:xfrm>
          <a:prstGeom prst="rect">
            <a:avLst/>
          </a:prstGeom>
          <a:noFill/>
          <a:ln/>
        </p:spPr>
        <p:txBody>
          <a:bodyPr wrap="square" lIns="0" tIns="0" rIns="0" bIns="0" rtlCol="0" anchor="ctr"/>
          <a:lstStyle/>
          <a:p>
            <a:pPr indent="0" marL="0">
              <a:buNone/>
            </a:pPr>
            <a:r>
              <a:rPr lang="en-US" sz="4000" b="1" dirty="0">
                <a:solidFill>
                  <a:srgbClr val="3FB8CC"/>
                </a:solidFill>
                <a:latin typeface="Calibri" pitchFamily="34" charset="0"/>
                <a:ea typeface="Calibri" pitchFamily="34" charset="-122"/>
                <a:cs typeface="Calibri" pitchFamily="34" charset="-120"/>
              </a:rPr>
              <a:t>≈ 936 million</a:t>
            </a:r>
            <a:endParaRPr lang="en-US" sz="4000" dirty="0"/>
          </a:p>
        </p:txBody>
      </p:sp>
      <p:sp>
        <p:nvSpPr>
          <p:cNvPr id="14" name="Text 12"/>
          <p:cNvSpPr txBox="1"/>
          <p:nvPr/>
        </p:nvSpPr>
        <p:spPr>
          <a:xfrm>
            <a:off x="7863840" y="2560320"/>
            <a:ext cx="3520440" cy="109728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adults worldwide have obstructive sleep apnea — most don’t know it (Benjafield et al., 2019).</a:t>
            </a:r>
            <a:endParaRPr lang="en-US" sz="1400" dirty="0"/>
          </a:p>
        </p:txBody>
      </p:sp>
      <p:sp>
        <p:nvSpPr>
          <p:cNvPr id="15" name="Shape 13"/>
          <p:cNvSpPr/>
          <p:nvPr/>
        </p:nvSpPr>
        <p:spPr>
          <a:xfrm>
            <a:off x="640080" y="5074920"/>
            <a:ext cx="2560320" cy="1051560"/>
          </a:xfrm>
          <a:prstGeom prst="roundRect">
            <a:avLst>
              <a:gd name="adj" fmla="val 8696"/>
            </a:avLst>
          </a:prstGeom>
          <a:solidFill>
            <a:srgbClr val="F3F5F9"/>
          </a:solidFill>
          <a:ln w="12700">
            <a:solidFill>
              <a:srgbClr val="DBE1EC"/>
            </a:solidFill>
            <a:prstDash val="solid"/>
          </a:ln>
        </p:spPr>
      </p:sp>
      <p:sp>
        <p:nvSpPr>
          <p:cNvPr id="16" name="Text 14"/>
          <p:cNvSpPr txBox="1"/>
          <p:nvPr/>
        </p:nvSpPr>
        <p:spPr>
          <a:xfrm>
            <a:off x="640080" y="5138928"/>
            <a:ext cx="2560320" cy="548640"/>
          </a:xfrm>
          <a:prstGeom prst="rect">
            <a:avLst/>
          </a:prstGeom>
          <a:noFill/>
          <a:ln/>
        </p:spPr>
        <p:txBody>
          <a:bodyPr wrap="square" lIns="0" tIns="0" rIns="0" bIns="0" rtlCol="0" anchor="ctr"/>
          <a:lstStyle/>
          <a:p>
            <a:pPr algn="ctr" indent="0" marL="0">
              <a:buNone/>
            </a:pPr>
            <a:r>
              <a:rPr lang="en-US" sz="2600" b="1" dirty="0">
                <a:solidFill>
                  <a:srgbClr val="2F8F5B"/>
                </a:solidFill>
                <a:latin typeface="Calibri" pitchFamily="34" charset="0"/>
                <a:ea typeface="Calibri" pitchFamily="34" charset="-122"/>
                <a:cs typeface="Calibri" pitchFamily="34" charset="-120"/>
              </a:rPr>
              <a:t>&lt; 5</a:t>
            </a:r>
            <a:endParaRPr lang="en-US" sz="2600" dirty="0"/>
          </a:p>
        </p:txBody>
      </p:sp>
      <p:sp>
        <p:nvSpPr>
          <p:cNvPr id="17" name="Text 15"/>
          <p:cNvSpPr txBox="1"/>
          <p:nvPr/>
        </p:nvSpPr>
        <p:spPr>
          <a:xfrm>
            <a:off x="6400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Normal · events/hour</a:t>
            </a:r>
            <a:endParaRPr lang="en-US" sz="1200" dirty="0"/>
          </a:p>
        </p:txBody>
      </p:sp>
      <p:sp>
        <p:nvSpPr>
          <p:cNvPr id="18" name="Shape 16"/>
          <p:cNvSpPr/>
          <p:nvPr/>
        </p:nvSpPr>
        <p:spPr>
          <a:xfrm>
            <a:off x="3383280" y="5074920"/>
            <a:ext cx="2560320" cy="1051560"/>
          </a:xfrm>
          <a:prstGeom prst="roundRect">
            <a:avLst>
              <a:gd name="adj" fmla="val 8696"/>
            </a:avLst>
          </a:prstGeom>
          <a:solidFill>
            <a:srgbClr val="F3F5F9"/>
          </a:solidFill>
          <a:ln w="12700">
            <a:solidFill>
              <a:srgbClr val="DBE1EC"/>
            </a:solidFill>
            <a:prstDash val="solid"/>
          </a:ln>
        </p:spPr>
      </p:sp>
      <p:sp>
        <p:nvSpPr>
          <p:cNvPr id="19" name="Text 17"/>
          <p:cNvSpPr txBox="1"/>
          <p:nvPr/>
        </p:nvSpPr>
        <p:spPr>
          <a:xfrm>
            <a:off x="3383280" y="5138928"/>
            <a:ext cx="2560320" cy="548640"/>
          </a:xfrm>
          <a:prstGeom prst="rect">
            <a:avLst/>
          </a:prstGeom>
          <a:noFill/>
          <a:ln/>
        </p:spPr>
        <p:txBody>
          <a:bodyPr wrap="square" lIns="0" tIns="0" rIns="0" bIns="0" rtlCol="0" anchor="ctr"/>
          <a:lstStyle/>
          <a:p>
            <a:pPr algn="ctr" indent="0" marL="0">
              <a:buNone/>
            </a:pPr>
            <a:r>
              <a:rPr lang="en-US" sz="2600" b="1" dirty="0">
                <a:solidFill>
                  <a:srgbClr val="C98A1E"/>
                </a:solidFill>
                <a:latin typeface="Calibri" pitchFamily="34" charset="0"/>
                <a:ea typeface="Calibri" pitchFamily="34" charset="-122"/>
                <a:cs typeface="Calibri" pitchFamily="34" charset="-120"/>
              </a:rPr>
              <a:t>5–15</a:t>
            </a:r>
            <a:endParaRPr lang="en-US" sz="2600" dirty="0"/>
          </a:p>
        </p:txBody>
      </p:sp>
      <p:sp>
        <p:nvSpPr>
          <p:cNvPr id="20" name="Text 18"/>
          <p:cNvSpPr txBox="1"/>
          <p:nvPr/>
        </p:nvSpPr>
        <p:spPr>
          <a:xfrm>
            <a:off x="33832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Mild · events/hour</a:t>
            </a:r>
            <a:endParaRPr lang="en-US" sz="1200" dirty="0"/>
          </a:p>
        </p:txBody>
      </p:sp>
      <p:sp>
        <p:nvSpPr>
          <p:cNvPr id="21" name="Shape 19"/>
          <p:cNvSpPr/>
          <p:nvPr/>
        </p:nvSpPr>
        <p:spPr>
          <a:xfrm>
            <a:off x="6126480" y="5074920"/>
            <a:ext cx="2560320" cy="1051560"/>
          </a:xfrm>
          <a:prstGeom prst="roundRect">
            <a:avLst>
              <a:gd name="adj" fmla="val 8696"/>
            </a:avLst>
          </a:prstGeom>
          <a:solidFill>
            <a:srgbClr val="F3F5F9"/>
          </a:solidFill>
          <a:ln w="12700">
            <a:solidFill>
              <a:srgbClr val="DBE1EC"/>
            </a:solidFill>
            <a:prstDash val="solid"/>
          </a:ln>
        </p:spPr>
      </p:sp>
      <p:sp>
        <p:nvSpPr>
          <p:cNvPr id="22" name="Text 20"/>
          <p:cNvSpPr txBox="1"/>
          <p:nvPr/>
        </p:nvSpPr>
        <p:spPr>
          <a:xfrm>
            <a:off x="6126480" y="5138928"/>
            <a:ext cx="2560320" cy="548640"/>
          </a:xfrm>
          <a:prstGeom prst="rect">
            <a:avLst/>
          </a:prstGeom>
          <a:noFill/>
          <a:ln/>
        </p:spPr>
        <p:txBody>
          <a:bodyPr wrap="square" lIns="0" tIns="0" rIns="0" bIns="0" rtlCol="0" anchor="ctr"/>
          <a:lstStyle/>
          <a:p>
            <a:pPr algn="ctr" indent="0" marL="0">
              <a:buNone/>
            </a:pPr>
            <a:r>
              <a:rPr lang="en-US" sz="2600" b="1" dirty="0">
                <a:solidFill>
                  <a:srgbClr val="D9741F"/>
                </a:solidFill>
                <a:latin typeface="Calibri" pitchFamily="34" charset="0"/>
                <a:ea typeface="Calibri" pitchFamily="34" charset="-122"/>
                <a:cs typeface="Calibri" pitchFamily="34" charset="-120"/>
              </a:rPr>
              <a:t>15–30</a:t>
            </a:r>
            <a:endParaRPr lang="en-US" sz="2600" dirty="0"/>
          </a:p>
        </p:txBody>
      </p:sp>
      <p:sp>
        <p:nvSpPr>
          <p:cNvPr id="23" name="Text 21"/>
          <p:cNvSpPr txBox="1"/>
          <p:nvPr/>
        </p:nvSpPr>
        <p:spPr>
          <a:xfrm>
            <a:off x="61264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Moderate · events/hour</a:t>
            </a:r>
            <a:endParaRPr lang="en-US" sz="1200" dirty="0"/>
          </a:p>
        </p:txBody>
      </p:sp>
      <p:sp>
        <p:nvSpPr>
          <p:cNvPr id="24" name="Shape 22"/>
          <p:cNvSpPr/>
          <p:nvPr/>
        </p:nvSpPr>
        <p:spPr>
          <a:xfrm>
            <a:off x="8869680" y="5074920"/>
            <a:ext cx="2560320" cy="1051560"/>
          </a:xfrm>
          <a:prstGeom prst="roundRect">
            <a:avLst>
              <a:gd name="adj" fmla="val 8696"/>
            </a:avLst>
          </a:prstGeom>
          <a:solidFill>
            <a:srgbClr val="F3F5F9"/>
          </a:solidFill>
          <a:ln w="12700">
            <a:solidFill>
              <a:srgbClr val="DBE1EC"/>
            </a:solidFill>
            <a:prstDash val="solid"/>
          </a:ln>
        </p:spPr>
      </p:sp>
      <p:sp>
        <p:nvSpPr>
          <p:cNvPr id="25" name="Text 23"/>
          <p:cNvSpPr txBox="1"/>
          <p:nvPr/>
        </p:nvSpPr>
        <p:spPr>
          <a:xfrm>
            <a:off x="8869680" y="5138928"/>
            <a:ext cx="2560320" cy="548640"/>
          </a:xfrm>
          <a:prstGeom prst="rect">
            <a:avLst/>
          </a:prstGeom>
          <a:noFill/>
          <a:ln/>
        </p:spPr>
        <p:txBody>
          <a:bodyPr wrap="square" lIns="0" tIns="0" rIns="0" bIns="0" rtlCol="0" anchor="ctr"/>
          <a:lstStyle/>
          <a:p>
            <a:pPr algn="ctr" indent="0" marL="0">
              <a:buNone/>
            </a:pPr>
            <a:r>
              <a:rPr lang="en-US" sz="2600" b="1" dirty="0">
                <a:solidFill>
                  <a:srgbClr val="CF4747"/>
                </a:solidFill>
                <a:latin typeface="Calibri" pitchFamily="34" charset="0"/>
                <a:ea typeface="Calibri" pitchFamily="34" charset="-122"/>
                <a:cs typeface="Calibri" pitchFamily="34" charset="-120"/>
              </a:rPr>
              <a:t>&gt; 30</a:t>
            </a:r>
            <a:endParaRPr lang="en-US" sz="2600" dirty="0"/>
          </a:p>
        </p:txBody>
      </p:sp>
      <p:sp>
        <p:nvSpPr>
          <p:cNvPr id="26" name="Text 24"/>
          <p:cNvSpPr txBox="1"/>
          <p:nvPr/>
        </p:nvSpPr>
        <p:spPr>
          <a:xfrm>
            <a:off x="88696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Severe · events/hour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DESIGN PROTOTYPE</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The wearable</a:t>
            </a:r>
            <a:endParaRPr lang="en-US" sz="3200" dirty="0"/>
          </a:p>
        </p:txBody>
      </p:sp>
      <p:pic>
        <p:nvPicPr>
          <p:cNvPr id="4" name="Image 0" descr="/home/user/teetomivV2/science-fair/night-signal/slides/assets/3d_assembled.jpg">    </p:cNvPr>
          <p:cNvPicPr>
            <a:picLocks noChangeAspect="1"/>
          </p:cNvPicPr>
          <p:nvPr/>
        </p:nvPicPr>
        <p:blipFill>
          <a:blip r:embed="rId1"/>
          <a:stretch>
            <a:fillRect/>
          </a:stretch>
        </p:blipFill>
        <p:spPr>
          <a:xfrm>
            <a:off x="640080" y="1600200"/>
            <a:ext cx="5349240" cy="3620767"/>
          </a:xfrm>
          <a:prstGeom prst="rect">
            <a:avLst/>
          </a:prstGeom>
        </p:spPr>
      </p:pic>
      <p:sp>
        <p:nvSpPr>
          <p:cNvPr id="5" name="Text 2"/>
          <p:cNvSpPr txBox="1"/>
          <p:nvPr/>
        </p:nvSpPr>
        <p:spPr>
          <a:xfrm>
            <a:off x="64008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3D design (v2) — sealed case on a velcro strap</a:t>
            </a:r>
            <a:endParaRPr lang="en-US" sz="1100" dirty="0"/>
          </a:p>
        </p:txBody>
      </p:sp>
      <p:pic>
        <p:nvPicPr>
          <p:cNvPr id="6" name="Image 1" descr="/home/user/teetomivV2/science-fair/night-signal/slides/assets/3d_exploded.jpg">    </p:cNvPr>
          <p:cNvPicPr>
            <a:picLocks noChangeAspect="1"/>
          </p:cNvPicPr>
          <p:nvPr/>
        </p:nvPicPr>
        <p:blipFill>
          <a:blip r:embed="rId2"/>
          <a:stretch>
            <a:fillRect/>
          </a:stretch>
        </p:blipFill>
        <p:spPr>
          <a:xfrm>
            <a:off x="6172200" y="1600200"/>
            <a:ext cx="5349240" cy="3620767"/>
          </a:xfrm>
          <a:prstGeom prst="rect">
            <a:avLst/>
          </a:prstGeom>
        </p:spPr>
      </p:pic>
      <p:sp>
        <p:nvSpPr>
          <p:cNvPr id="7" name="Text 3"/>
          <p:cNvSpPr txBox="1"/>
          <p:nvPr/>
        </p:nvSpPr>
        <p:spPr>
          <a:xfrm>
            <a:off x="617220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Exploded — every v2 part at its real size</a:t>
            </a:r>
            <a:endParaRPr lang="en-US" sz="1100" dirty="0"/>
          </a:p>
        </p:txBody>
      </p:sp>
      <p:sp>
        <p:nvSpPr>
          <p:cNvPr id="8" name="Text 4"/>
          <p:cNvSpPr txBox="1"/>
          <p:nvPr/>
        </p:nvSpPr>
        <p:spPr>
          <a:xfrm>
            <a:off x="64008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Prototype v1</a:t>
            </a:r>
            <a:endParaRPr lang="en-US" sz="2000" dirty="0"/>
          </a:p>
        </p:txBody>
      </p:sp>
      <p:sp>
        <p:nvSpPr>
          <p:cNvPr id="9" name="Text 5"/>
          <p:cNvSpPr txBox="1"/>
          <p:nvPr/>
        </p:nvSpPr>
        <p:spPr>
          <a:xfrm>
            <a:off x="64008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armband + plug-in wires</a:t>
            </a:r>
            <a:endParaRPr lang="en-US" sz="1200" dirty="0"/>
          </a:p>
        </p:txBody>
      </p:sp>
      <p:sp>
        <p:nvSpPr>
          <p:cNvPr id="10" name="Text 6"/>
          <p:cNvSpPr txBox="1"/>
          <p:nvPr/>
        </p:nvSpPr>
        <p:spPr>
          <a:xfrm>
            <a:off x="297180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All night</a:t>
            </a:r>
            <a:endParaRPr lang="en-US" sz="2000" dirty="0"/>
          </a:p>
        </p:txBody>
      </p:sp>
      <p:sp>
        <p:nvSpPr>
          <p:cNvPr id="11" name="Text 7"/>
          <p:cNvSpPr txBox="1"/>
          <p:nvPr/>
        </p:nvSpPr>
        <p:spPr>
          <a:xfrm>
            <a:off x="297180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USB power</a:t>
            </a:r>
            <a:endParaRPr lang="en-US" sz="1200" dirty="0"/>
          </a:p>
        </p:txBody>
      </p:sp>
      <p:sp>
        <p:nvSpPr>
          <p:cNvPr id="12" name="Text 8"/>
          <p:cNvSpPr txBox="1"/>
          <p:nvPr/>
        </p:nvSpPr>
        <p:spPr>
          <a:xfrm>
            <a:off x="530352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14 × 14 mm</a:t>
            </a:r>
            <a:endParaRPr lang="en-US" sz="2000" dirty="0"/>
          </a:p>
        </p:txBody>
      </p:sp>
      <p:sp>
        <p:nvSpPr>
          <p:cNvPr id="13" name="Text 9"/>
          <p:cNvSpPr txBox="1"/>
          <p:nvPr/>
        </p:nvSpPr>
        <p:spPr>
          <a:xfrm>
            <a:off x="530352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finger sensor</a:t>
            </a:r>
            <a:endParaRPr lang="en-US" sz="1200" dirty="0"/>
          </a:p>
        </p:txBody>
      </p:sp>
      <p:sp>
        <p:nvSpPr>
          <p:cNvPr id="14" name="Text 10"/>
          <p:cNvSpPr txBox="1"/>
          <p:nvPr/>
        </p:nvSpPr>
        <p:spPr>
          <a:xfrm>
            <a:off x="763524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 / second</a:t>
            </a:r>
            <a:endParaRPr lang="en-US" sz="2000" dirty="0"/>
          </a:p>
        </p:txBody>
      </p:sp>
      <p:sp>
        <p:nvSpPr>
          <p:cNvPr id="15" name="Text 11"/>
          <p:cNvSpPr txBox="1"/>
          <p:nvPr/>
        </p:nvSpPr>
        <p:spPr>
          <a:xfrm>
            <a:off x="763524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readings</a:t>
            </a:r>
            <a:endParaRPr lang="en-US" sz="1200" dirty="0"/>
          </a:p>
        </p:txBody>
      </p:sp>
      <p:pic>
        <p:nvPicPr>
          <p:cNvPr id="16" name="Image 2" descr="/home/user/teetomivV2/science-fair/night-signal/slides/assets/qr_3d.png">
            <a:hlinkClick r:id="rId4" tooltip="Interactive 3D model"/>
          </p:cNvPr>
          <p:cNvPicPr>
            <a:picLocks noChangeAspect="1"/>
          </p:cNvPicPr>
          <p:nvPr/>
        </p:nvPicPr>
        <p:blipFill>
          <a:blip r:embed="rId3"/>
          <a:stretch>
            <a:fillRect/>
          </a:stretch>
        </p:blipFill>
        <p:spPr>
          <a:xfrm>
            <a:off x="10561320" y="5394960"/>
            <a:ext cx="960120" cy="960120"/>
          </a:xfrm>
          <a:prstGeom prst="rect">
            <a:avLst/>
          </a:prstGeom>
        </p:spPr>
      </p:pic>
      <p:sp>
        <p:nvSpPr>
          <p:cNvPr id="17" name="Text 12"/>
          <p:cNvSpPr txBox="1"/>
          <p:nvPr/>
        </p:nvSpPr>
        <p:spPr>
          <a:xfrm>
            <a:off x="9281160" y="5715000"/>
            <a:ext cx="1234440" cy="292608"/>
          </a:xfrm>
          <a:prstGeom prst="rect">
            <a:avLst/>
          </a:prstGeom>
          <a:noFill/>
          <a:ln/>
        </p:spPr>
        <p:txBody>
          <a:bodyPr wrap="square" lIns="0" tIns="0" rIns="0" bIns="0" rtlCol="0" anchor="ctr"/>
          <a:lstStyle/>
          <a:p>
            <a:pPr indent="0" marL="0">
              <a:buNone/>
            </a:pPr>
            <a:r>
              <a:rPr lang="en-US" sz="1200" u="sng" dirty="0">
                <a:solidFill>
                  <a:srgbClr val="3FB8CC"/>
                </a:solidFill>
                <a:latin typeface="Calibri" pitchFamily="34" charset="0"/>
                <a:ea typeface="Calibri" pitchFamily="34" charset="-122"/>
                <a:cs typeface="Calibri" pitchFamily="34" charset="-120"/>
                <a:hlinkClick r:id="rId5" invalidUrl="" action="" tgtFrame="" tooltip="https://claude.ai/artifact/7wqAASJ8qWxBBKBuVHAqLt" history="1" highlightClick="0" endSnd="0">
                  <a:extLst>
                    <a:ext uri="{A12FA001-AC4F-418D-AE19-62706E023703}">
                      <ahyp:hlinkClr xmlns:ahyp="http://schemas.microsoft.com/office/drawing/2018/hyperlinkcolor" val="tx"/>
                    </a:ext>
                  </a:extLst>
                </a:hlinkClick>
              </a:rPr>
              <a:t>Interactive 3D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HOW IT WORKS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From fingertip to sleep report</a:t>
            </a:r>
            <a:endParaRPr lang="en-US" sz="3200" dirty="0"/>
          </a:p>
        </p:txBody>
      </p:sp>
      <p:sp>
        <p:nvSpPr>
          <p:cNvPr id="4" name="Shape 2"/>
          <p:cNvSpPr/>
          <p:nvPr/>
        </p:nvSpPr>
        <p:spPr>
          <a:xfrm>
            <a:off x="640080" y="1691640"/>
            <a:ext cx="2514600" cy="1234440"/>
          </a:xfrm>
          <a:prstGeom prst="roundRect">
            <a:avLst>
              <a:gd name="adj" fmla="val 7407"/>
            </a:avLst>
          </a:prstGeom>
          <a:solidFill>
            <a:srgbClr val="F3F5F9"/>
          </a:solidFill>
          <a:ln w="12700">
            <a:solidFill>
              <a:srgbClr val="DBE1EC"/>
            </a:solidFill>
            <a:prstDash val="solid"/>
          </a:ln>
        </p:spPr>
      </p:sp>
      <p:sp>
        <p:nvSpPr>
          <p:cNvPr id="5" name="Text 3"/>
          <p:cNvSpPr txBox="1"/>
          <p:nvPr/>
        </p:nvSpPr>
        <p:spPr>
          <a:xfrm>
            <a:off x="77724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Finger sensor</a:t>
            </a:r>
            <a:endParaRPr lang="en-US" sz="1600" dirty="0"/>
          </a:p>
        </p:txBody>
      </p:sp>
      <p:sp>
        <p:nvSpPr>
          <p:cNvPr id="6" name="Text 4"/>
          <p:cNvSpPr txBox="1"/>
          <p:nvPr/>
        </p:nvSpPr>
        <p:spPr>
          <a:xfrm>
            <a:off x="77724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MAX30102 · red + infrared light</a:t>
            </a:r>
            <a:endParaRPr lang="en-US" sz="1200" dirty="0"/>
          </a:p>
        </p:txBody>
      </p:sp>
      <p:sp>
        <p:nvSpPr>
          <p:cNvPr id="7" name="Text 5"/>
          <p:cNvSpPr txBox="1"/>
          <p:nvPr/>
        </p:nvSpPr>
        <p:spPr>
          <a:xfrm>
            <a:off x="315468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8" name="Shape 6"/>
          <p:cNvSpPr/>
          <p:nvPr/>
        </p:nvSpPr>
        <p:spPr>
          <a:xfrm>
            <a:off x="3474720" y="1691640"/>
            <a:ext cx="2514600" cy="1234440"/>
          </a:xfrm>
          <a:prstGeom prst="roundRect">
            <a:avLst>
              <a:gd name="adj" fmla="val 7407"/>
            </a:avLst>
          </a:prstGeom>
          <a:solidFill>
            <a:srgbClr val="F3F5F9"/>
          </a:solidFill>
          <a:ln w="12700">
            <a:solidFill>
              <a:srgbClr val="DBE1EC"/>
            </a:solidFill>
            <a:prstDash val="solid"/>
          </a:ln>
        </p:spPr>
      </p:sp>
      <p:sp>
        <p:nvSpPr>
          <p:cNvPr id="9" name="Text 7"/>
          <p:cNvSpPr txBox="1"/>
          <p:nvPr/>
        </p:nvSpPr>
        <p:spPr>
          <a:xfrm>
            <a:off x="361188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ESP32 on the arm</a:t>
            </a:r>
            <a:endParaRPr lang="en-US" sz="1600" dirty="0"/>
          </a:p>
        </p:txBody>
      </p:sp>
      <p:sp>
        <p:nvSpPr>
          <p:cNvPr id="10" name="Text 8"/>
          <p:cNvSpPr txBox="1"/>
          <p:nvPr/>
        </p:nvSpPr>
        <p:spPr>
          <a:xfrm>
            <a:off x="361188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computes SpO₂ + pulse, reads position</a:t>
            </a:r>
            <a:endParaRPr lang="en-US" sz="1200" dirty="0"/>
          </a:p>
        </p:txBody>
      </p:sp>
      <p:sp>
        <p:nvSpPr>
          <p:cNvPr id="11" name="Text 9"/>
          <p:cNvSpPr txBox="1"/>
          <p:nvPr/>
        </p:nvSpPr>
        <p:spPr>
          <a:xfrm>
            <a:off x="598932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6309360" y="1691640"/>
            <a:ext cx="2514600" cy="1234440"/>
          </a:xfrm>
          <a:prstGeom prst="roundRect">
            <a:avLst>
              <a:gd name="adj" fmla="val 7407"/>
            </a:avLst>
          </a:prstGeom>
          <a:solidFill>
            <a:srgbClr val="F3F5F9"/>
          </a:solidFill>
          <a:ln w="12700">
            <a:solidFill>
              <a:srgbClr val="DBE1EC"/>
            </a:solidFill>
            <a:prstDash val="solid"/>
          </a:ln>
        </p:spPr>
      </p:sp>
      <p:sp>
        <p:nvSpPr>
          <p:cNvPr id="13" name="Text 11"/>
          <p:cNvSpPr txBox="1"/>
          <p:nvPr/>
        </p:nvSpPr>
        <p:spPr>
          <a:xfrm>
            <a:off x="644652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Bluetooth / USB</a:t>
            </a:r>
            <a:endParaRPr lang="en-US" sz="1600" dirty="0"/>
          </a:p>
        </p:txBody>
      </p:sp>
      <p:sp>
        <p:nvSpPr>
          <p:cNvPr id="14" name="Text 12"/>
          <p:cNvSpPr txBox="1"/>
          <p:nvPr/>
        </p:nvSpPr>
        <p:spPr>
          <a:xfrm>
            <a:off x="644652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one line of data every second</a:t>
            </a:r>
            <a:endParaRPr lang="en-US" sz="1200" dirty="0"/>
          </a:p>
        </p:txBody>
      </p:sp>
      <p:sp>
        <p:nvSpPr>
          <p:cNvPr id="15" name="Text 13"/>
          <p:cNvSpPr txBox="1"/>
          <p:nvPr/>
        </p:nvSpPr>
        <p:spPr>
          <a:xfrm>
            <a:off x="882396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6" name="Shape 14"/>
          <p:cNvSpPr/>
          <p:nvPr/>
        </p:nvSpPr>
        <p:spPr>
          <a:xfrm>
            <a:off x="9144000" y="1691640"/>
            <a:ext cx="2514600" cy="1234440"/>
          </a:xfrm>
          <a:prstGeom prst="roundRect">
            <a:avLst>
              <a:gd name="adj" fmla="val 7407"/>
            </a:avLst>
          </a:prstGeom>
          <a:solidFill>
            <a:srgbClr val="F3F5F9"/>
          </a:solidFill>
          <a:ln w="12700">
            <a:solidFill>
              <a:srgbClr val="DBE1EC"/>
            </a:solidFill>
            <a:prstDash val="solid"/>
          </a:ln>
        </p:spPr>
      </p:sp>
      <p:sp>
        <p:nvSpPr>
          <p:cNvPr id="17" name="Text 15"/>
          <p:cNvSpPr txBox="1"/>
          <p:nvPr/>
        </p:nvSpPr>
        <p:spPr>
          <a:xfrm>
            <a:off x="928116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App + analysis</a:t>
            </a:r>
            <a:endParaRPr lang="en-US" sz="1600" dirty="0"/>
          </a:p>
        </p:txBody>
      </p:sp>
      <p:sp>
        <p:nvSpPr>
          <p:cNvPr id="18" name="Text 16"/>
          <p:cNvSpPr txBox="1"/>
          <p:nvPr/>
        </p:nvSpPr>
        <p:spPr>
          <a:xfrm>
            <a:off x="928116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events, AHI, heart, breathing</a:t>
            </a:r>
            <a:endParaRPr lang="en-US" sz="1200" dirty="0"/>
          </a:p>
        </p:txBody>
      </p:sp>
      <p:sp>
        <p:nvSpPr>
          <p:cNvPr id="19" name="Text 17"/>
          <p:cNvSpPr txBox="1"/>
          <p:nvPr/>
        </p:nvSpPr>
        <p:spPr>
          <a:xfrm>
            <a:off x="640080" y="3246120"/>
            <a:ext cx="6400800" cy="365760"/>
          </a:xfrm>
          <a:prstGeom prst="rect">
            <a:avLst/>
          </a:prstGeom>
          <a:noFill/>
          <a:ln/>
        </p:spPr>
        <p:txBody>
          <a:bodyPr wrap="square" lIns="0" tIns="0" rIns="0" bIns="0" rtlCol="0" anchor="ctr"/>
          <a:lstStyle/>
          <a:p>
            <a:pPr indent="0" marL="0">
              <a:buNone/>
            </a:pPr>
            <a:r>
              <a:rPr lang="en-US" sz="1600" b="1" dirty="0">
                <a:solidFill>
                  <a:srgbClr val="141A26"/>
                </a:solidFill>
                <a:latin typeface="Calibri" pitchFamily="34" charset="0"/>
                <a:ea typeface="Calibri" pitchFamily="34" charset="-122"/>
                <a:cs typeface="Calibri" pitchFamily="34" charset="-120"/>
              </a:rPr>
              <a:t>Built-in self-test — proves it’s working before every recording</a:t>
            </a:r>
            <a:endParaRPr lang="en-US" sz="1600" dirty="0"/>
          </a:p>
        </p:txBody>
      </p:sp>
      <p:sp>
        <p:nvSpPr>
          <p:cNvPr id="20" name="Shape 18"/>
          <p:cNvSpPr/>
          <p:nvPr/>
        </p:nvSpPr>
        <p:spPr>
          <a:xfrm>
            <a:off x="640080" y="3657600"/>
            <a:ext cx="6400800" cy="2514600"/>
          </a:xfrm>
          <a:prstGeom prst="roundRect">
            <a:avLst>
              <a:gd name="adj" fmla="val 3636"/>
            </a:avLst>
          </a:prstGeom>
          <a:solidFill>
            <a:srgbClr val="0E1830"/>
          </a:solidFill>
          <a:ln w="12700">
            <a:solidFill>
              <a:srgbClr val="0E1830"/>
            </a:solidFill>
            <a:prstDash val="solid"/>
          </a:ln>
        </p:spPr>
      </p:sp>
      <p:sp>
        <p:nvSpPr>
          <p:cNvPr id="21" name="Text 19"/>
          <p:cNvSpPr txBox="1"/>
          <p:nvPr/>
        </p:nvSpPr>
        <p:spPr>
          <a:xfrm>
            <a:off x="868680" y="3794760"/>
            <a:ext cx="6035040" cy="2286000"/>
          </a:xfrm>
          <a:prstGeom prst="rect">
            <a:avLst/>
          </a:prstGeom>
          <a:noFill/>
          <a:ln/>
        </p:spPr>
        <p:txBody>
          <a:bodyPr wrap="square" lIns="0" tIns="0" rIns="0" bIns="0" rtlCol="0" anchor="t"/>
          <a:lstStyle/>
          <a:p>
            <a:pPr indent="0" marL="0">
              <a:spcAft>
                <a:spcPts val="300"/>
              </a:spcAft>
              <a:buNone/>
            </a:pPr>
            <a:r>
              <a:rPr lang="en-US" sz="1300" dirty="0">
                <a:solidFill>
                  <a:srgbClr val="A9B8D2"/>
                </a:solidFill>
                <a:latin typeface="Courier New" pitchFamily="34" charset="0"/>
                <a:ea typeface="Courier New" pitchFamily="34" charset="-122"/>
                <a:cs typeface="Courier New" pitchFamily="34" charset="-120"/>
              </a:rPr>
              <a:t>$ python check_device.py --port COM5</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Data arriving        1 reading/s</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Self-test            oxygen OK · motion OK</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Finger on sensor     100%</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Believable values    SpO2 97–98%, HR 60–64</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Motion sensor        100% near 1 g</a:t>
            </a:r>
            <a:endParaRPr lang="en-US" sz="1300" dirty="0"/>
          </a:p>
          <a:p>
            <a:pPr indent="0" marL="0">
              <a:spcAft>
                <a:spcPts val="300"/>
              </a:spcAft>
              <a:buNone/>
            </a:pPr>
            <a:r>
              <a:rPr lang="en-US" sz="1300" b="1" dirty="0">
                <a:solidFill>
                  <a:srgbClr val="FFFFFF"/>
                </a:solidFill>
                <a:latin typeface="Courier New" pitchFamily="34" charset="0"/>
                <a:ea typeface="Courier New" pitchFamily="34" charset="-122"/>
                <a:cs typeface="Courier New" pitchFamily="34" charset="-120"/>
              </a:rPr>
              <a:t>RESULT: READY — sending real data</a:t>
            </a:r>
            <a:endParaRPr lang="en-US" sz="1300" dirty="0"/>
          </a:p>
        </p:txBody>
      </p:sp>
      <p:sp>
        <p:nvSpPr>
          <p:cNvPr id="22" name="Shape 20"/>
          <p:cNvSpPr/>
          <p:nvPr/>
        </p:nvSpPr>
        <p:spPr>
          <a:xfrm>
            <a:off x="7406640" y="3785616"/>
            <a:ext cx="118872" cy="118872"/>
          </a:xfrm>
          <a:prstGeom prst="ellipse">
            <a:avLst/>
          </a:prstGeom>
          <a:solidFill>
            <a:srgbClr val="1F8A9C"/>
          </a:solidFill>
          <a:ln/>
        </p:spPr>
      </p:sp>
      <p:sp>
        <p:nvSpPr>
          <p:cNvPr id="23" name="Text 21"/>
          <p:cNvSpPr txBox="1"/>
          <p:nvPr/>
        </p:nvSpPr>
        <p:spPr>
          <a:xfrm>
            <a:off x="7680960" y="3685032"/>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Firmware re-checks both sensors every 30 s and reports it.</a:t>
            </a:r>
            <a:endParaRPr lang="en-US" sz="1400" dirty="0"/>
          </a:p>
        </p:txBody>
      </p:sp>
      <p:sp>
        <p:nvSpPr>
          <p:cNvPr id="24" name="Shape 22"/>
          <p:cNvSpPr/>
          <p:nvPr/>
        </p:nvSpPr>
        <p:spPr>
          <a:xfrm>
            <a:off x="7406640" y="4546397"/>
            <a:ext cx="118872" cy="118872"/>
          </a:xfrm>
          <a:prstGeom prst="ellipse">
            <a:avLst/>
          </a:prstGeom>
          <a:solidFill>
            <a:srgbClr val="1F8A9C"/>
          </a:solidFill>
          <a:ln/>
        </p:spPr>
      </p:sp>
      <p:sp>
        <p:nvSpPr>
          <p:cNvPr id="25" name="Text 23"/>
          <p:cNvSpPr txBox="1"/>
          <p:nvPr/>
        </p:nvSpPr>
        <p:spPr>
          <a:xfrm>
            <a:off x="7680960" y="4445813"/>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No finger → readings are marked invalid, never trusted.</a:t>
            </a:r>
            <a:endParaRPr lang="en-US" sz="1400" dirty="0"/>
          </a:p>
        </p:txBody>
      </p:sp>
      <p:sp>
        <p:nvSpPr>
          <p:cNvPr id="26" name="Shape 24"/>
          <p:cNvSpPr/>
          <p:nvPr/>
        </p:nvSpPr>
        <p:spPr>
          <a:xfrm>
            <a:off x="7406640" y="5307178"/>
            <a:ext cx="118872" cy="118872"/>
          </a:xfrm>
          <a:prstGeom prst="ellipse">
            <a:avLst/>
          </a:prstGeom>
          <a:solidFill>
            <a:srgbClr val="1F8A9C"/>
          </a:solidFill>
          <a:ln/>
        </p:spPr>
      </p:sp>
      <p:sp>
        <p:nvSpPr>
          <p:cNvPr id="27" name="Text 25"/>
          <p:cNvSpPr txBox="1"/>
          <p:nvPr/>
        </p:nvSpPr>
        <p:spPr>
          <a:xfrm>
            <a:off x="7680960" y="5206594"/>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The app shows the same checks live, every second.</a:t>
            </a:r>
            <a:endParaRPr lang="en-US" sz="1400" dirty="0"/>
          </a:p>
        </p:txBody>
      </p:sp>
      <p:sp>
        <p:nvSpPr>
          <p:cNvPr id="28" name="Shape 26"/>
          <p:cNvSpPr/>
          <p:nvPr/>
        </p:nvSpPr>
        <p:spPr>
          <a:xfrm>
            <a:off x="7406640" y="6067958"/>
            <a:ext cx="118872" cy="118872"/>
          </a:xfrm>
          <a:prstGeom prst="ellipse">
            <a:avLst/>
          </a:prstGeom>
          <a:solidFill>
            <a:srgbClr val="1F8A9C"/>
          </a:solidFill>
          <a:ln/>
        </p:spPr>
      </p:sp>
      <p:sp>
        <p:nvSpPr>
          <p:cNvPr id="29" name="Text 27"/>
          <p:cNvSpPr txBox="1"/>
          <p:nvPr/>
        </p:nvSpPr>
        <p:spPr>
          <a:xfrm>
            <a:off x="7680960" y="5967374"/>
            <a:ext cx="3840480" cy="420624"/>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A broken sensor is caught: “NOT READY”.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EXPERIMENTAL PROTOCOL · KEY MANIPULATIONS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How I test it</a:t>
            </a:r>
            <a:endParaRPr lang="en-US" sz="3200" dirty="0"/>
          </a:p>
        </p:txBody>
      </p:sp>
      <p:sp>
        <p:nvSpPr>
          <p:cNvPr id="4" name="Shape 2"/>
          <p:cNvSpPr/>
          <p:nvPr/>
        </p:nvSpPr>
        <p:spPr>
          <a:xfrm>
            <a:off x="640080" y="1737360"/>
            <a:ext cx="502920" cy="502920"/>
          </a:xfrm>
          <a:prstGeom prst="roundRect">
            <a:avLst>
              <a:gd name="adj" fmla="val 18182"/>
            </a:avLst>
          </a:prstGeom>
          <a:solidFill>
            <a:srgbClr val="1F8A9C"/>
          </a:solidFill>
          <a:ln/>
        </p:spPr>
      </p:sp>
      <p:sp>
        <p:nvSpPr>
          <p:cNvPr id="5" name="Text 3"/>
          <p:cNvSpPr txBox="1"/>
          <p:nvPr/>
        </p:nvSpPr>
        <p:spPr>
          <a:xfrm>
            <a:off x="640080"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80136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Device check  </a:t>
            </a:r>
            <a:pPr indent="0" marL="0">
              <a:buNone/>
            </a:pPr>
            <a:r>
              <a:rPr lang="en-US" sz="1500" dirty="0">
                <a:solidFill>
                  <a:srgbClr val="44515F"/>
                </a:solidFill>
                <a:latin typeface="Calibri" pitchFamily="34" charset="0"/>
                <a:ea typeface="Calibri" pitchFamily="34" charset="-122"/>
                <a:cs typeface="Calibri" pitchFamily="34" charset="-120"/>
              </a:rPr>
              <a:t>every session must pass check_device.py</a:t>
            </a:r>
            <a:endParaRPr lang="en-US" sz="1500" dirty="0"/>
          </a:p>
        </p:txBody>
      </p:sp>
      <p:sp>
        <p:nvSpPr>
          <p:cNvPr id="7" name="Shape 5"/>
          <p:cNvSpPr/>
          <p:nvPr/>
        </p:nvSpPr>
        <p:spPr>
          <a:xfrm>
            <a:off x="640080" y="2606040"/>
            <a:ext cx="502920" cy="502920"/>
          </a:xfrm>
          <a:prstGeom prst="roundRect">
            <a:avLst>
              <a:gd name="adj" fmla="val 18182"/>
            </a:avLst>
          </a:prstGeom>
          <a:solidFill>
            <a:srgbClr val="1F8A9C"/>
          </a:solidFill>
          <a:ln/>
        </p:spPr>
      </p:sp>
      <p:sp>
        <p:nvSpPr>
          <p:cNvPr id="8" name="Text 6"/>
          <p:cNvSpPr txBox="1"/>
          <p:nvPr/>
        </p:nvSpPr>
        <p:spPr>
          <a:xfrm>
            <a:off x="640080" y="2606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325880" y="267004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Accuracy test  </a:t>
            </a:r>
            <a:pPr indent="0" marL="0">
              <a:buNone/>
            </a:pPr>
            <a:r>
              <a:rPr lang="en-US" sz="1500" dirty="0">
                <a:solidFill>
                  <a:srgbClr val="44515F"/>
                </a:solidFill>
                <a:latin typeface="Calibri" pitchFamily="34" charset="0"/>
                <a:ea typeface="Calibri" pitchFamily="34" charset="-122"/>
                <a:cs typeface="Calibri" pitchFamily="34" charset="-120"/>
              </a:rPr>
              <a:t>awake, side-by-side with a store-bought oximeter every 2 min for 30 min</a:t>
            </a:r>
            <a:endParaRPr lang="en-US" sz="1500" dirty="0"/>
          </a:p>
        </p:txBody>
      </p:sp>
      <p:sp>
        <p:nvSpPr>
          <p:cNvPr id="10" name="Shape 8"/>
          <p:cNvSpPr/>
          <p:nvPr/>
        </p:nvSpPr>
        <p:spPr>
          <a:xfrm>
            <a:off x="640080" y="3474720"/>
            <a:ext cx="502920" cy="502920"/>
          </a:xfrm>
          <a:prstGeom prst="roundRect">
            <a:avLst>
              <a:gd name="adj" fmla="val 18182"/>
            </a:avLst>
          </a:prstGeom>
          <a:solidFill>
            <a:srgbClr val="1F8A9C"/>
          </a:solidFill>
          <a:ln/>
        </p:spPr>
      </p:sp>
      <p:sp>
        <p:nvSpPr>
          <p:cNvPr id="11" name="Text 9"/>
          <p:cNvSpPr txBox="1"/>
          <p:nvPr/>
        </p:nvSpPr>
        <p:spPr>
          <a:xfrm>
            <a:off x="640080" y="3474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325880" y="353872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Detection test  </a:t>
            </a:r>
            <a:pPr indent="0" marL="0">
              <a:buNone/>
            </a:pPr>
            <a:r>
              <a:rPr lang="en-US" sz="1500" dirty="0">
                <a:solidFill>
                  <a:srgbClr val="44515F"/>
                </a:solidFill>
                <a:latin typeface="Calibri" pitchFamily="34" charset="0"/>
                <a:ea typeface="Calibri" pitchFamily="34" charset="-122"/>
                <a:cs typeface="Calibri" pitchFamily="34" charset="-120"/>
              </a:rPr>
              <a:t>supervised, awake breath-holds of 10, 15 and 20 s — known events</a:t>
            </a:r>
            <a:endParaRPr lang="en-US" sz="1500" dirty="0"/>
          </a:p>
        </p:txBody>
      </p:sp>
      <p:sp>
        <p:nvSpPr>
          <p:cNvPr id="13" name="Shape 11"/>
          <p:cNvSpPr/>
          <p:nvPr/>
        </p:nvSpPr>
        <p:spPr>
          <a:xfrm>
            <a:off x="640080" y="4343400"/>
            <a:ext cx="502920" cy="502920"/>
          </a:xfrm>
          <a:prstGeom prst="roundRect">
            <a:avLst>
              <a:gd name="adj" fmla="val 18182"/>
            </a:avLst>
          </a:prstGeom>
          <a:solidFill>
            <a:srgbClr val="1F8A9C"/>
          </a:solidFill>
          <a:ln/>
        </p:spPr>
      </p:sp>
      <p:sp>
        <p:nvSpPr>
          <p:cNvPr id="14" name="Text 12"/>
          <p:cNvSpPr txBox="1"/>
          <p:nvPr/>
        </p:nvSpPr>
        <p:spPr>
          <a:xfrm>
            <a:off x="640080" y="43434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325880" y="440740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Full-night power test  </a:t>
            </a:r>
            <a:pPr indent="0" marL="0">
              <a:buNone/>
            </a:pPr>
            <a:r>
              <a:rPr lang="en-US" sz="1500" dirty="0">
                <a:solidFill>
                  <a:srgbClr val="44515F"/>
                </a:solidFill>
                <a:latin typeface="Calibri" pitchFamily="34" charset="0"/>
                <a:ea typeface="Calibri" pitchFamily="34" charset="-122"/>
                <a:cs typeface="Calibri" pitchFamily="34" charset="-120"/>
              </a:rPr>
              <a:t>USB power → 8 h of data with no gaps</a:t>
            </a:r>
            <a:endParaRPr lang="en-US" sz="1500" dirty="0"/>
          </a:p>
        </p:txBody>
      </p:sp>
      <p:sp>
        <p:nvSpPr>
          <p:cNvPr id="16" name="Shape 14"/>
          <p:cNvSpPr/>
          <p:nvPr/>
        </p:nvSpPr>
        <p:spPr>
          <a:xfrm>
            <a:off x="640080" y="5212080"/>
            <a:ext cx="502920" cy="502920"/>
          </a:xfrm>
          <a:prstGeom prst="roundRect">
            <a:avLst>
              <a:gd name="adj" fmla="val 18182"/>
            </a:avLst>
          </a:prstGeom>
          <a:solidFill>
            <a:srgbClr val="1F8A9C"/>
          </a:solidFill>
          <a:ln/>
        </p:spPr>
      </p:sp>
      <p:sp>
        <p:nvSpPr>
          <p:cNvPr id="17" name="Text 15"/>
          <p:cNvSpPr txBox="1"/>
          <p:nvPr/>
        </p:nvSpPr>
        <p:spPr>
          <a:xfrm>
            <a:off x="640080" y="5212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325880" y="527608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Recorded nights  </a:t>
            </a:r>
            <a:pPr indent="0" marL="0">
              <a:buNone/>
            </a:pPr>
            <a:r>
              <a:rPr lang="en-US" sz="1500" dirty="0">
                <a:solidFill>
                  <a:srgbClr val="44515F"/>
                </a:solidFill>
                <a:latin typeface="Calibri" pitchFamily="34" charset="0"/>
                <a:ea typeface="Calibri" pitchFamily="34" charset="-122"/>
                <a:cs typeface="Calibri" pitchFamily="34" charset="-120"/>
              </a:rPr>
              <a:t>≥ 5 nights; armband on forearm, clip on index finger</a:t>
            </a:r>
            <a:endParaRPr lang="en-US" sz="1500" dirty="0"/>
          </a:p>
        </p:txBody>
      </p:sp>
      <p:sp>
        <p:nvSpPr>
          <p:cNvPr id="19" name="Shape 17"/>
          <p:cNvSpPr/>
          <p:nvPr/>
        </p:nvSpPr>
        <p:spPr>
          <a:xfrm>
            <a:off x="7955280" y="1691640"/>
            <a:ext cx="3566160" cy="4206240"/>
          </a:xfrm>
          <a:prstGeom prst="roundRect">
            <a:avLst>
              <a:gd name="adj" fmla="val 2564"/>
            </a:avLst>
          </a:prstGeom>
          <a:solidFill>
            <a:srgbClr val="F3F5F9"/>
          </a:solidFill>
          <a:ln w="12700">
            <a:solidFill>
              <a:srgbClr val="DBE1EC"/>
            </a:solidFill>
            <a:prstDash val="solid"/>
          </a:ln>
        </p:spPr>
      </p:sp>
      <p:sp>
        <p:nvSpPr>
          <p:cNvPr id="20" name="Text 18"/>
          <p:cNvSpPr txBox="1"/>
          <p:nvPr/>
        </p:nvSpPr>
        <p:spPr>
          <a:xfrm>
            <a:off x="8183880" y="1874520"/>
            <a:ext cx="3108960" cy="274320"/>
          </a:xfrm>
          <a:prstGeom prst="rect">
            <a:avLst/>
          </a:prstGeom>
          <a:noFill/>
          <a:ln/>
        </p:spPr>
        <p:txBody>
          <a:bodyPr wrap="square" lIns="0" tIns="0" rIns="0" bIns="0" rtlCol="0" anchor="ctr"/>
          <a:lstStyle/>
          <a:p>
            <a:pPr indent="0" marL="0">
              <a:buNone/>
            </a:pPr>
            <a:r>
              <a:rPr lang="en-US" sz="1200" b="1" spc="200" kern="0" dirty="0">
                <a:solidFill>
                  <a:srgbClr val="CF4747"/>
                </a:solidFill>
                <a:latin typeface="Calibri" pitchFamily="34" charset="0"/>
                <a:ea typeface="Calibri" pitchFamily="34" charset="-122"/>
                <a:cs typeface="Calibri" pitchFamily="34" charset="-120"/>
              </a:rPr>
              <a:t>SAFETY</a:t>
            </a:r>
            <a:endParaRPr lang="en-US" sz="1200" dirty="0"/>
          </a:p>
        </p:txBody>
      </p:sp>
      <p:sp>
        <p:nvSpPr>
          <p:cNvPr id="21" name="Shape 19"/>
          <p:cNvSpPr/>
          <p:nvPr/>
        </p:nvSpPr>
        <p:spPr>
          <a:xfrm>
            <a:off x="8183880" y="2368296"/>
            <a:ext cx="118872" cy="118872"/>
          </a:xfrm>
          <a:prstGeom prst="ellipse">
            <a:avLst/>
          </a:prstGeom>
          <a:solidFill>
            <a:srgbClr val="1F8A9C"/>
          </a:solidFill>
          <a:ln/>
        </p:spPr>
      </p:sp>
      <p:sp>
        <p:nvSpPr>
          <p:cNvPr id="22" name="Text 20"/>
          <p:cNvSpPr txBox="1"/>
          <p:nvPr/>
        </p:nvSpPr>
        <p:spPr>
          <a:xfrm>
            <a:off x="8458200" y="226771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Breath-holds only while awake and supervised — never asleep</a:t>
            </a:r>
            <a:endParaRPr lang="en-US" sz="1400" dirty="0"/>
          </a:p>
        </p:txBody>
      </p:sp>
      <p:sp>
        <p:nvSpPr>
          <p:cNvPr id="23" name="Shape 21"/>
          <p:cNvSpPr/>
          <p:nvPr/>
        </p:nvSpPr>
        <p:spPr>
          <a:xfrm>
            <a:off x="8183880" y="3147365"/>
            <a:ext cx="118872" cy="118872"/>
          </a:xfrm>
          <a:prstGeom prst="ellipse">
            <a:avLst/>
          </a:prstGeom>
          <a:solidFill>
            <a:srgbClr val="1F8A9C"/>
          </a:solidFill>
          <a:ln/>
        </p:spPr>
      </p:sp>
      <p:sp>
        <p:nvSpPr>
          <p:cNvPr id="24" name="Text 22"/>
          <p:cNvSpPr txBox="1"/>
          <p:nvPr/>
        </p:nvSpPr>
        <p:spPr>
          <a:xfrm>
            <a:off x="8458200" y="304678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Stop at any dizziness</a:t>
            </a:r>
            <a:endParaRPr lang="en-US" sz="1400" dirty="0"/>
          </a:p>
        </p:txBody>
      </p:sp>
      <p:sp>
        <p:nvSpPr>
          <p:cNvPr id="25" name="Shape 23"/>
          <p:cNvSpPr/>
          <p:nvPr/>
        </p:nvSpPr>
        <p:spPr>
          <a:xfrm>
            <a:off x="8183880" y="3619195"/>
            <a:ext cx="118872" cy="118872"/>
          </a:xfrm>
          <a:prstGeom prst="ellipse">
            <a:avLst/>
          </a:prstGeom>
          <a:solidFill>
            <a:srgbClr val="1F8A9C"/>
          </a:solidFill>
          <a:ln/>
        </p:spPr>
      </p:sp>
      <p:sp>
        <p:nvSpPr>
          <p:cNvPr id="26" name="Text 24"/>
          <p:cNvSpPr txBox="1"/>
          <p:nvPr/>
        </p:nvSpPr>
        <p:spPr>
          <a:xfrm>
            <a:off x="8458200" y="351861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Parent/guardian consent</a:t>
            </a:r>
            <a:endParaRPr lang="en-US" sz="1400" dirty="0"/>
          </a:p>
        </p:txBody>
      </p:sp>
      <p:sp>
        <p:nvSpPr>
          <p:cNvPr id="27" name="Shape 25"/>
          <p:cNvSpPr/>
          <p:nvPr/>
        </p:nvSpPr>
        <p:spPr>
          <a:xfrm>
            <a:off x="8183880" y="4091026"/>
            <a:ext cx="118872" cy="118872"/>
          </a:xfrm>
          <a:prstGeom prst="ellipse">
            <a:avLst/>
          </a:prstGeom>
          <a:solidFill>
            <a:srgbClr val="1F8A9C"/>
          </a:solidFill>
          <a:ln/>
        </p:spPr>
      </p:sp>
      <p:sp>
        <p:nvSpPr>
          <p:cNvPr id="28" name="Text 26"/>
          <p:cNvSpPr txBox="1"/>
          <p:nvPr/>
        </p:nvSpPr>
        <p:spPr>
          <a:xfrm>
            <a:off x="8458200" y="399044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Ethics committee form (human subject) submitted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THE APP</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The companion app measures real data</a:t>
            </a:r>
            <a:endParaRPr lang="en-US" sz="3200" dirty="0"/>
          </a:p>
        </p:txBody>
      </p:sp>
      <p:sp>
        <p:nvSpPr>
          <p:cNvPr id="4" name="Shape 2"/>
          <p:cNvSpPr/>
          <p:nvPr/>
        </p:nvSpPr>
        <p:spPr>
          <a:xfrm>
            <a:off x="685800" y="1508760"/>
            <a:ext cx="2514600" cy="4965895"/>
          </a:xfrm>
          <a:prstGeom prst="roundRect">
            <a:avLst>
              <a:gd name="adj" fmla="val 3636"/>
            </a:avLst>
          </a:prstGeom>
          <a:solidFill>
            <a:srgbClr val="0E1830"/>
          </a:solidFill>
          <a:ln w="12700">
            <a:solidFill>
              <a:srgbClr val="18233F"/>
            </a:solidFill>
            <a:prstDash val="solid"/>
          </a:ln>
        </p:spPr>
      </p:sp>
      <p:pic>
        <p:nvPicPr>
          <p:cNvPr id="5" name="Image 0" descr="/home/user/teetomivV2/science-fair/night-signal/slides/assets/phone_sleep.png">    </p:cNvPr>
          <p:cNvPicPr>
            <a:picLocks noChangeAspect="1"/>
          </p:cNvPicPr>
          <p:nvPr/>
        </p:nvPicPr>
        <p:blipFill>
          <a:blip r:embed="rId1"/>
          <a:stretch>
            <a:fillRect/>
          </a:stretch>
        </p:blipFill>
        <p:spPr>
          <a:xfrm>
            <a:off x="777240" y="1600200"/>
            <a:ext cx="2331720" cy="4783015"/>
          </a:xfrm>
          <a:prstGeom prst="rect">
            <a:avLst/>
          </a:prstGeom>
        </p:spPr>
      </p:pic>
      <p:sp>
        <p:nvSpPr>
          <p:cNvPr id="6" name="Shape 3"/>
          <p:cNvSpPr/>
          <p:nvPr/>
        </p:nvSpPr>
        <p:spPr>
          <a:xfrm>
            <a:off x="3337560" y="1508760"/>
            <a:ext cx="2514600" cy="4965895"/>
          </a:xfrm>
          <a:prstGeom prst="roundRect">
            <a:avLst>
              <a:gd name="adj" fmla="val 3636"/>
            </a:avLst>
          </a:prstGeom>
          <a:solidFill>
            <a:srgbClr val="0E1830"/>
          </a:solidFill>
          <a:ln w="12700">
            <a:solidFill>
              <a:srgbClr val="18233F"/>
            </a:solidFill>
            <a:prstDash val="solid"/>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600200"/>
            <a:ext cx="2331720" cy="4783015"/>
          </a:xfrm>
          <a:prstGeom prst="rect">
            <a:avLst/>
          </a:prstGeom>
        </p:spPr>
      </p:pic>
      <p:sp>
        <p:nvSpPr>
          <p:cNvPr id="8" name="Text 4"/>
          <p:cNvSpPr txBox="1"/>
          <p:nvPr/>
        </p:nvSpPr>
        <p:spPr>
          <a:xfrm>
            <a:off x="77724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Sleep report</a:t>
            </a:r>
            <a:endParaRPr lang="en-US" sz="1100" dirty="0"/>
          </a:p>
        </p:txBody>
      </p:sp>
      <p:sp>
        <p:nvSpPr>
          <p:cNvPr id="9" name="Text 5"/>
          <p:cNvSpPr txBox="1"/>
          <p:nvPr/>
        </p:nvSpPr>
        <p:spPr>
          <a:xfrm>
            <a:off x="342900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Live + device health</a:t>
            </a:r>
            <a:endParaRPr lang="en-US" sz="1100" dirty="0"/>
          </a:p>
        </p:txBody>
      </p:sp>
      <p:sp>
        <p:nvSpPr>
          <p:cNvPr id="10" name="Shape 6"/>
          <p:cNvSpPr/>
          <p:nvPr/>
        </p:nvSpPr>
        <p:spPr>
          <a:xfrm>
            <a:off x="6263640" y="1819656"/>
            <a:ext cx="118872" cy="118872"/>
          </a:xfrm>
          <a:prstGeom prst="ellipse">
            <a:avLst/>
          </a:prstGeom>
          <a:solidFill>
            <a:srgbClr val="1F8A9C"/>
          </a:solidFill>
          <a:ln/>
        </p:spPr>
      </p:sp>
      <p:sp>
        <p:nvSpPr>
          <p:cNvPr id="11" name="Text 7"/>
          <p:cNvSpPr txBox="1"/>
          <p:nvPr/>
        </p:nvSpPr>
        <p:spPr>
          <a:xfrm>
            <a:off x="6537960" y="1719072"/>
            <a:ext cx="4983480" cy="1078992"/>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Live tab connects straight to the wearable (USB or Bluetooth) and shows oxygen, heart rate and position every second.</a:t>
            </a:r>
            <a:endParaRPr lang="en-US" sz="1500" dirty="0"/>
          </a:p>
        </p:txBody>
      </p:sp>
      <p:sp>
        <p:nvSpPr>
          <p:cNvPr id="12" name="Shape 8"/>
          <p:cNvSpPr/>
          <p:nvPr/>
        </p:nvSpPr>
        <p:spPr>
          <a:xfrm>
            <a:off x="6263640" y="2990088"/>
            <a:ext cx="118872" cy="118872"/>
          </a:xfrm>
          <a:prstGeom prst="ellipse">
            <a:avLst/>
          </a:prstGeom>
          <a:solidFill>
            <a:srgbClr val="1F8A9C"/>
          </a:solidFill>
          <a:ln/>
        </p:spPr>
      </p:sp>
      <p:sp>
        <p:nvSpPr>
          <p:cNvPr id="13" name="Text 9"/>
          <p:cNvSpPr txBox="1"/>
          <p:nvPr/>
        </p:nvSpPr>
        <p:spPr>
          <a:xfrm>
            <a:off x="6537960" y="2889504"/>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Device health checks run continuously — data flowing, self-test, finger on, battery.</a:t>
            </a:r>
            <a:endParaRPr lang="en-US" sz="1500" dirty="0"/>
          </a:p>
        </p:txBody>
      </p:sp>
      <p:sp>
        <p:nvSpPr>
          <p:cNvPr id="14" name="Shape 10"/>
          <p:cNvSpPr/>
          <p:nvPr/>
        </p:nvSpPr>
        <p:spPr>
          <a:xfrm>
            <a:off x="6263640" y="3831336"/>
            <a:ext cx="118872" cy="118872"/>
          </a:xfrm>
          <a:prstGeom prst="ellipse">
            <a:avLst/>
          </a:prstGeom>
          <a:solidFill>
            <a:srgbClr val="1F8A9C"/>
          </a:solidFill>
          <a:ln/>
        </p:spPr>
      </p:sp>
      <p:sp>
        <p:nvSpPr>
          <p:cNvPr id="15" name="Text 11"/>
          <p:cNvSpPr txBox="1"/>
          <p:nvPr/>
        </p:nvSpPr>
        <p:spPr>
          <a:xfrm>
            <a:off x="6537960" y="3730752"/>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Save a session → the same CSV the analysis uses, so every number is traceable.</a:t>
            </a:r>
            <a:endParaRPr lang="en-US" sz="1500" dirty="0"/>
          </a:p>
        </p:txBody>
      </p:sp>
      <p:sp>
        <p:nvSpPr>
          <p:cNvPr id="16" name="Shape 12"/>
          <p:cNvSpPr/>
          <p:nvPr/>
        </p:nvSpPr>
        <p:spPr>
          <a:xfrm>
            <a:off x="6263640" y="4672584"/>
            <a:ext cx="118872" cy="118872"/>
          </a:xfrm>
          <a:prstGeom prst="ellipse">
            <a:avLst/>
          </a:prstGeom>
          <a:solidFill>
            <a:srgbClr val="1F8A9C"/>
          </a:solidFill>
          <a:ln/>
        </p:spPr>
      </p:sp>
      <p:sp>
        <p:nvSpPr>
          <p:cNvPr id="17" name="Text 13"/>
          <p:cNvSpPr txBox="1"/>
          <p:nvPr/>
        </p:nvSpPr>
        <p:spPr>
          <a:xfrm>
            <a:off x="6537960" y="4572000"/>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Heart, Asthma and Progress tabs for the spin-offs and my build log.</a:t>
            </a:r>
            <a:endParaRPr lang="en-US" sz="1500" dirty="0"/>
          </a:p>
        </p:txBody>
      </p:sp>
      <p:pic>
        <p:nvPicPr>
          <p:cNvPr id="18" name="Image 2" descr="/home/user/teetomivV2/science-fair/night-signal/slides/assets/qr_app.png">
            <a:hlinkClick r:id="rId4" tooltip="Open the app"/>
          </p:cNvPr>
          <p:cNvPicPr>
            <a:picLocks noChangeAspect="1"/>
          </p:cNvPicPr>
          <p:nvPr/>
        </p:nvPicPr>
        <p:blipFill>
          <a:blip r:embed="rId3"/>
          <a:stretch>
            <a:fillRect/>
          </a:stretch>
        </p:blipFill>
        <p:spPr>
          <a:xfrm>
            <a:off x="6355080" y="5074920"/>
            <a:ext cx="1051560" cy="1051560"/>
          </a:xfrm>
          <a:prstGeom prst="rect">
            <a:avLst/>
          </a:prstGeom>
        </p:spPr>
      </p:pic>
      <p:sp>
        <p:nvSpPr>
          <p:cNvPr id="19" name="Text 14"/>
          <p:cNvSpPr txBox="1"/>
          <p:nvPr/>
        </p:nvSpPr>
        <p:spPr>
          <a:xfrm>
            <a:off x="7589520" y="5349240"/>
            <a:ext cx="2743200" cy="292608"/>
          </a:xfrm>
          <a:prstGeom prst="rect">
            <a:avLst/>
          </a:prstGeom>
          <a:noFill/>
          <a:ln/>
        </p:spPr>
        <p:txBody>
          <a:bodyPr wrap="square" lIns="0" tIns="0" rIns="0" bIns="0" rtlCol="0" anchor="ctr"/>
          <a:lstStyle/>
          <a:p>
            <a:pPr indent="0" marL="0">
              <a:buNone/>
            </a:pPr>
            <a:r>
              <a:rPr lang="en-US" sz="1500" u="sng" dirty="0">
                <a:solidFill>
                  <a:srgbClr val="1F8A9C"/>
                </a:solidFill>
                <a:latin typeface="Calibri" pitchFamily="34" charset="0"/>
                <a:ea typeface="Calibri" pitchFamily="34" charset="-122"/>
                <a:cs typeface="Calibri" pitchFamily="34" charset="-120"/>
                <a:hlinkClick r:id="rId5" invalidUrl="" action="" tgtFrame="" tooltip="https://claude.ai/artifact/KCkbwVKfmBhQoC9cxCn7qZ" history="1" highlightClick="0" endSnd="0">
                  <a:extLst>
                    <a:ext uri="{A12FA001-AC4F-418D-AE19-62706E023703}">
                      <ahyp:hlinkClr xmlns:ahyp="http://schemas.microsoft.com/office/drawing/2018/hyperlinkcolor" val="tx"/>
                    </a:ext>
                  </a:extLst>
                </a:hlinkClick>
              </a:rPr>
              <a:t>Open the app →</a:t>
            </a:r>
            <a:endParaRPr lang="en-US" sz="1500" dirty="0"/>
          </a:p>
        </p:txBody>
      </p:sp>
      <p:sp>
        <p:nvSpPr>
          <p:cNvPr id="20" name="Text 15"/>
          <p:cNvSpPr txBox="1"/>
          <p:nvPr/>
        </p:nvSpPr>
        <p:spPr>
          <a:xfrm>
            <a:off x="7589520" y="5669280"/>
            <a:ext cx="3657600" cy="274320"/>
          </a:xfrm>
          <a:prstGeom prst="rect">
            <a:avLst/>
          </a:prstGeom>
          <a:noFill/>
          <a:ln/>
        </p:spPr>
        <p:txBody>
          <a:bodyPr wrap="square" lIns="0" tIns="0" rIns="0" bIns="0" rtlCol="0" anchor="ctr"/>
          <a:lstStyle/>
          <a:p>
            <a:pPr indent="0" marL="0">
              <a:buNone/>
            </a:pPr>
            <a:r>
              <a:rPr lang="en-US" sz="1200" dirty="0">
                <a:solidFill>
                  <a:srgbClr val="6B7889"/>
                </a:solidFill>
                <a:latin typeface="Calibri" pitchFamily="34" charset="0"/>
                <a:ea typeface="Calibri" pitchFamily="34" charset="-122"/>
                <a:cs typeface="Calibri" pitchFamily="34" charset="-120"/>
              </a:rPr>
              <a:t>Scan to try it (demo device built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SUMMARY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What one night showed</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3108960"/>
                <a:gridCol w="3931920"/>
                <a:gridCol w="384048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Recording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7.0 h · 25,200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 full night captured</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Apnea events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19  →  AHI 2.7 / hour</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Normal range (&lt; 5)</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Blood oxygen (avg / lowest)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97.5 % / 84 %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lowest point during an event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Accuracy vs reference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0.56 %  (r = 0.88)</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210 paired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Events caught: rule / ML</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63 % / 63 %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precision 1.00 / 0.92</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Sleep position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back 3.8 / h  vs  sides 1.1–1.3 / h</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3 × more events on the back</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Spin-offs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3 heart episodes · breathing 13 → 22 / min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patterns flagged correctly</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Example data from my simulator —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DETECTION AND ACCURACY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Every dip found, and the readings agree</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40080" y="1691640"/>
            <a:ext cx="6355080" cy="2912745"/>
          </a:xfrm>
          <a:prstGeom prst="rect">
            <a:avLst/>
          </a:prstGeom>
        </p:spPr>
      </p:pic>
      <p:sp>
        <p:nvSpPr>
          <p:cNvPr id="7" name="Text 4"/>
          <p:cNvSpPr txBox="1"/>
          <p:nvPr/>
        </p:nvSpPr>
        <p:spPr>
          <a:xfrm>
            <a:off x="640080" y="4677537"/>
            <a:ext cx="63550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One night: each red band is an apnea event found automatically</a:t>
            </a:r>
            <a:endParaRPr lang="en-US" sz="1100" dirty="0"/>
          </a:p>
        </p:txBody>
      </p:sp>
      <p:pic>
        <p:nvPicPr>
          <p:cNvPr id="8" name="Image 1" descr="/home/user/teetomivV2/science-fair/night-signal/slides/assets/validation.png">    </p:cNvPr>
          <p:cNvPicPr>
            <a:picLocks noChangeAspect="1"/>
          </p:cNvPicPr>
          <p:nvPr/>
        </p:nvPicPr>
        <p:blipFill>
          <a:blip r:embed="rId2"/>
          <a:stretch>
            <a:fillRect/>
          </a:stretch>
        </p:blipFill>
        <p:spPr>
          <a:xfrm>
            <a:off x="7223760" y="1691640"/>
            <a:ext cx="4297680" cy="2626360"/>
          </a:xfrm>
          <a:prstGeom prst="rect">
            <a:avLst/>
          </a:prstGeom>
        </p:spPr>
      </p:pic>
      <p:sp>
        <p:nvSpPr>
          <p:cNvPr id="9" name="Text 5"/>
          <p:cNvSpPr txBox="1"/>
          <p:nvPr/>
        </p:nvSpPr>
        <p:spPr>
          <a:xfrm>
            <a:off x="7223760" y="4391152"/>
            <a:ext cx="42976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Bland–Altman: 95% of readings within −1.5 to +1.7 %</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SLEEP POSITION AND MACHINE LEARNING</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Back-sleeping and two detectors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40080" y="1691640"/>
            <a:ext cx="5303520" cy="3314700"/>
          </a:xfrm>
          <a:prstGeom prst="rect">
            <a:avLst/>
          </a:prstGeom>
        </p:spPr>
      </p:pic>
      <p:sp>
        <p:nvSpPr>
          <p:cNvPr id="7" name="Text 4"/>
          <p:cNvSpPr txBox="1"/>
          <p:nvPr/>
        </p:nvSpPr>
        <p:spPr>
          <a:xfrm>
            <a:off x="640080" y="5052060"/>
            <a:ext cx="53035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Apnea events per hour by position</a:t>
            </a:r>
            <a:endParaRPr lang="en-US" sz="1100" dirty="0"/>
          </a:p>
        </p:txBody>
      </p:sp>
      <p:graphicFrame>
        <p:nvGraphicFramePr>
          <p:cNvPr id="8" name="Chart 0" descr=""/>
          <p:cNvGraphicFramePr/>
          <p:nvPr/>
        </p:nvGraphicFramePr>
        <p:xfrm>
          <a:off x="6309360" y="1691640"/>
          <a:ext cx="5212080"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INTERPRETATION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the results mean</a:t>
            </a:r>
            <a:endParaRPr lang="en-US" sz="3200" dirty="0"/>
          </a:p>
        </p:txBody>
      </p:sp>
      <p:sp>
        <p:nvSpPr>
          <p:cNvPr id="4" name="Shape 2"/>
          <p:cNvSpPr/>
          <p:nvPr/>
        </p:nvSpPr>
        <p:spPr>
          <a:xfrm>
            <a:off x="640080" y="1691640"/>
            <a:ext cx="5349240" cy="2011680"/>
          </a:xfrm>
          <a:prstGeom prst="roundRect">
            <a:avLst>
              <a:gd name="adj" fmla="val 4545"/>
            </a:avLst>
          </a:prstGeom>
          <a:solidFill>
            <a:srgbClr val="18233F"/>
          </a:solidFill>
          <a:ln w="12700">
            <a:solidFill>
              <a:srgbClr val="2C3D60"/>
            </a:solidFill>
            <a:prstDash val="solid"/>
          </a:ln>
        </p:spPr>
      </p:sp>
      <p:sp>
        <p:nvSpPr>
          <p:cNvPr id="5" name="Text 3"/>
          <p:cNvSpPr txBox="1"/>
          <p:nvPr/>
        </p:nvSpPr>
        <p:spPr>
          <a:xfrm>
            <a:off x="91440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Accurate enough to trust</a:t>
            </a:r>
            <a:endParaRPr lang="en-US" sz="1800" dirty="0"/>
          </a:p>
        </p:txBody>
      </p:sp>
      <p:sp>
        <p:nvSpPr>
          <p:cNvPr id="6" name="Text 4"/>
          <p:cNvSpPr txBox="1"/>
          <p:nvPr/>
        </p:nvSpPr>
        <p:spPr>
          <a:xfrm>
            <a:off x="91440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Agreement within about ±1.6 % is in line with commercial fingertip oximeters (about ±2–3 %), so the drops it sees are real, not sensor noise.</a:t>
            </a:r>
            <a:endParaRPr lang="en-US" sz="1400" dirty="0"/>
          </a:p>
        </p:txBody>
      </p:sp>
      <p:sp>
        <p:nvSpPr>
          <p:cNvPr id="7" name="Shape 5"/>
          <p:cNvSpPr/>
          <p:nvPr/>
        </p:nvSpPr>
        <p:spPr>
          <a:xfrm>
            <a:off x="6172200" y="1691640"/>
            <a:ext cx="5349240" cy="2011680"/>
          </a:xfrm>
          <a:prstGeom prst="roundRect">
            <a:avLst>
              <a:gd name="adj" fmla="val 4545"/>
            </a:avLst>
          </a:prstGeom>
          <a:solidFill>
            <a:srgbClr val="18233F"/>
          </a:solidFill>
          <a:ln w="12700">
            <a:solidFill>
              <a:srgbClr val="2C3D60"/>
            </a:solidFill>
            <a:prstDash val="solid"/>
          </a:ln>
        </p:spPr>
      </p:sp>
      <p:sp>
        <p:nvSpPr>
          <p:cNvPr id="8" name="Text 6"/>
          <p:cNvSpPr txBox="1"/>
          <p:nvPr/>
        </p:nvSpPr>
        <p:spPr>
          <a:xfrm>
            <a:off x="644652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Cautious, not over-eager</a:t>
            </a:r>
            <a:endParaRPr lang="en-US" sz="1800" dirty="0"/>
          </a:p>
        </p:txBody>
      </p:sp>
      <p:sp>
        <p:nvSpPr>
          <p:cNvPr id="9" name="Text 7"/>
          <p:cNvSpPr txBox="1"/>
          <p:nvPr/>
        </p:nvSpPr>
        <p:spPr>
          <a:xfrm>
            <a:off x="644652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Perfect precision but 63 % recall means it misses shallow events — so my AHI is probably an under-estimate, the safe direction for a screening tool.</a:t>
            </a:r>
            <a:endParaRPr lang="en-US" sz="1400" dirty="0"/>
          </a:p>
        </p:txBody>
      </p:sp>
      <p:sp>
        <p:nvSpPr>
          <p:cNvPr id="10" name="Shape 8"/>
          <p:cNvSpPr/>
          <p:nvPr/>
        </p:nvSpPr>
        <p:spPr>
          <a:xfrm>
            <a:off x="640080" y="3931920"/>
            <a:ext cx="5349240" cy="2011680"/>
          </a:xfrm>
          <a:prstGeom prst="roundRect">
            <a:avLst>
              <a:gd name="adj" fmla="val 4545"/>
            </a:avLst>
          </a:prstGeom>
          <a:solidFill>
            <a:srgbClr val="18233F"/>
          </a:solidFill>
          <a:ln w="12700">
            <a:solidFill>
              <a:srgbClr val="2C3D60"/>
            </a:solidFill>
            <a:prstDash val="solid"/>
          </a:ln>
        </p:spPr>
      </p:sp>
      <p:sp>
        <p:nvSpPr>
          <p:cNvPr id="11" name="Text 9"/>
          <p:cNvSpPr txBox="1"/>
          <p:nvPr/>
        </p:nvSpPr>
        <p:spPr>
          <a:xfrm>
            <a:off x="91440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Position matters</a:t>
            </a:r>
            <a:endParaRPr lang="en-US" sz="1800" dirty="0"/>
          </a:p>
        </p:txBody>
      </p:sp>
      <p:sp>
        <p:nvSpPr>
          <p:cNvPr id="12" name="Text 10"/>
          <p:cNvSpPr txBox="1"/>
          <p:nvPr/>
        </p:nvSpPr>
        <p:spPr>
          <a:xfrm>
            <a:off x="91440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Three times more events on the back matches “positional” sleep apnea in the literature — a simple, free change (side-sleeping) could help.</a:t>
            </a:r>
            <a:endParaRPr lang="en-US" sz="1400" dirty="0"/>
          </a:p>
        </p:txBody>
      </p:sp>
      <p:sp>
        <p:nvSpPr>
          <p:cNvPr id="13" name="Shape 11"/>
          <p:cNvSpPr/>
          <p:nvPr/>
        </p:nvSpPr>
        <p:spPr>
          <a:xfrm>
            <a:off x="6172200" y="3931920"/>
            <a:ext cx="5349240" cy="2011680"/>
          </a:xfrm>
          <a:prstGeom prst="roundRect">
            <a:avLst>
              <a:gd name="adj" fmla="val 4545"/>
            </a:avLst>
          </a:prstGeom>
          <a:solidFill>
            <a:srgbClr val="18233F"/>
          </a:solidFill>
          <a:ln w="12700">
            <a:solidFill>
              <a:srgbClr val="2C3D60"/>
            </a:solidFill>
            <a:prstDash val="solid"/>
          </a:ln>
        </p:spPr>
      </p:sp>
      <p:sp>
        <p:nvSpPr>
          <p:cNvPr id="14" name="Text 12"/>
          <p:cNvSpPr txBox="1"/>
          <p:nvPr/>
        </p:nvSpPr>
        <p:spPr>
          <a:xfrm>
            <a:off x="644652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More data beats fancier code</a:t>
            </a:r>
            <a:endParaRPr lang="en-US" sz="1800" dirty="0"/>
          </a:p>
        </p:txBody>
      </p:sp>
      <p:sp>
        <p:nvSpPr>
          <p:cNvPr id="15" name="Text 13"/>
          <p:cNvSpPr txBox="1"/>
          <p:nvPr/>
        </p:nvSpPr>
        <p:spPr>
          <a:xfrm>
            <a:off x="644652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Machine learning only tied the rule because it trained on one night; it needs many labeled nights to learn more than a rule.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SOURCES OF ERROR</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could make it wrong</a:t>
            </a:r>
            <a:endParaRPr lang="en-US" sz="3200" dirty="0"/>
          </a:p>
        </p:txBody>
      </p:sp>
      <p:sp>
        <p:nvSpPr>
          <p:cNvPr id="4" name="Text 2"/>
          <p:cNvSpPr txBox="1"/>
          <p:nvPr/>
        </p:nvSpPr>
        <p:spPr>
          <a:xfrm>
            <a:off x="64008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Measurement</a:t>
            </a:r>
            <a:endParaRPr lang="en-US" sz="1700" dirty="0"/>
          </a:p>
        </p:txBody>
      </p:sp>
      <p:sp>
        <p:nvSpPr>
          <p:cNvPr id="5" name="Shape 3"/>
          <p:cNvSpPr/>
          <p:nvPr/>
        </p:nvSpPr>
        <p:spPr>
          <a:xfrm>
            <a:off x="640080" y="2185416"/>
            <a:ext cx="118872" cy="118872"/>
          </a:xfrm>
          <a:prstGeom prst="ellipse">
            <a:avLst/>
          </a:prstGeom>
          <a:solidFill>
            <a:srgbClr val="1F8A9C"/>
          </a:solidFill>
          <a:ln/>
        </p:spPr>
      </p:sp>
      <p:sp>
        <p:nvSpPr>
          <p:cNvPr id="6" name="Text 4"/>
          <p:cNvSpPr txBox="1"/>
          <p:nvPr/>
        </p:nvSpPr>
        <p:spPr>
          <a:xfrm>
            <a:off x="914400" y="2084832"/>
            <a:ext cx="493776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Finger movement, pressure and cold hands distort the light signal</a:t>
            </a:r>
            <a:endParaRPr lang="en-US" sz="1400" dirty="0"/>
          </a:p>
        </p:txBody>
      </p:sp>
      <p:sp>
        <p:nvSpPr>
          <p:cNvPr id="7" name="Shape 5"/>
          <p:cNvSpPr/>
          <p:nvPr/>
        </p:nvSpPr>
        <p:spPr>
          <a:xfrm>
            <a:off x="640080" y="2937053"/>
            <a:ext cx="118872" cy="118872"/>
          </a:xfrm>
          <a:prstGeom prst="ellipse">
            <a:avLst/>
          </a:prstGeom>
          <a:solidFill>
            <a:srgbClr val="1F8A9C"/>
          </a:solidFill>
          <a:ln/>
        </p:spPr>
      </p:sp>
      <p:sp>
        <p:nvSpPr>
          <p:cNvPr id="8" name="Text 6"/>
          <p:cNvSpPr txBox="1"/>
          <p:nvPr/>
        </p:nvSpPr>
        <p:spPr>
          <a:xfrm>
            <a:off x="914400" y="2836469"/>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4-second averaging window smooths very short dips</a:t>
            </a:r>
            <a:endParaRPr lang="en-US" sz="1400" dirty="0"/>
          </a:p>
        </p:txBody>
      </p:sp>
      <p:sp>
        <p:nvSpPr>
          <p:cNvPr id="9" name="Shape 7"/>
          <p:cNvSpPr/>
          <p:nvPr/>
        </p:nvSpPr>
        <p:spPr>
          <a:xfrm>
            <a:off x="640080" y="3381451"/>
            <a:ext cx="118872" cy="118872"/>
          </a:xfrm>
          <a:prstGeom prst="ellipse">
            <a:avLst/>
          </a:prstGeom>
          <a:solidFill>
            <a:srgbClr val="1F8A9C"/>
          </a:solidFill>
          <a:ln/>
        </p:spPr>
      </p:sp>
      <p:sp>
        <p:nvSpPr>
          <p:cNvPr id="10" name="Text 8"/>
          <p:cNvSpPr txBox="1"/>
          <p:nvPr/>
        </p:nvSpPr>
        <p:spPr>
          <a:xfrm>
            <a:off x="914400" y="3280867"/>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The reference oximeter itself is only ±2 %</a:t>
            </a:r>
            <a:endParaRPr lang="en-US" sz="1400" dirty="0"/>
          </a:p>
        </p:txBody>
      </p:sp>
      <p:sp>
        <p:nvSpPr>
          <p:cNvPr id="11" name="Shape 9"/>
          <p:cNvSpPr/>
          <p:nvPr/>
        </p:nvSpPr>
        <p:spPr>
          <a:xfrm>
            <a:off x="640080" y="3825850"/>
            <a:ext cx="118872" cy="118872"/>
          </a:xfrm>
          <a:prstGeom prst="ellipse">
            <a:avLst/>
          </a:prstGeom>
          <a:solidFill>
            <a:srgbClr val="1F8A9C"/>
          </a:solidFill>
          <a:ln/>
        </p:spPr>
      </p:sp>
      <p:sp>
        <p:nvSpPr>
          <p:cNvPr id="12" name="Text 10"/>
          <p:cNvSpPr txBox="1"/>
          <p:nvPr/>
        </p:nvSpPr>
        <p:spPr>
          <a:xfrm>
            <a:off x="914400" y="3725266"/>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Arm angle approximates body position</a:t>
            </a:r>
            <a:endParaRPr lang="en-US" sz="1400" dirty="0"/>
          </a:p>
        </p:txBody>
      </p:sp>
      <p:sp>
        <p:nvSpPr>
          <p:cNvPr id="13" name="Text 11"/>
          <p:cNvSpPr txBox="1"/>
          <p:nvPr/>
        </p:nvSpPr>
        <p:spPr>
          <a:xfrm>
            <a:off x="617220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Method</a:t>
            </a:r>
            <a:endParaRPr lang="en-US" sz="1700" dirty="0"/>
          </a:p>
        </p:txBody>
      </p:sp>
      <p:sp>
        <p:nvSpPr>
          <p:cNvPr id="14" name="Shape 12"/>
          <p:cNvSpPr/>
          <p:nvPr/>
        </p:nvSpPr>
        <p:spPr>
          <a:xfrm>
            <a:off x="6172200" y="2185416"/>
            <a:ext cx="118872" cy="118872"/>
          </a:xfrm>
          <a:prstGeom prst="ellipse">
            <a:avLst/>
          </a:prstGeom>
          <a:solidFill>
            <a:srgbClr val="1F8A9C"/>
          </a:solidFill>
          <a:ln/>
        </p:spPr>
      </p:sp>
      <p:sp>
        <p:nvSpPr>
          <p:cNvPr id="15" name="Text 13"/>
          <p:cNvSpPr txBox="1"/>
          <p:nvPr/>
        </p:nvSpPr>
        <p:spPr>
          <a:xfrm>
            <a:off x="6446520" y="2084832"/>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Awake breath-holds aren’t the same as real obstructive apnea</a:t>
            </a:r>
            <a:endParaRPr lang="en-US" sz="1400" dirty="0"/>
          </a:p>
        </p:txBody>
      </p:sp>
      <p:sp>
        <p:nvSpPr>
          <p:cNvPr id="16" name="Shape 14"/>
          <p:cNvSpPr/>
          <p:nvPr/>
        </p:nvSpPr>
        <p:spPr>
          <a:xfrm>
            <a:off x="6172200" y="2629814"/>
            <a:ext cx="118872" cy="118872"/>
          </a:xfrm>
          <a:prstGeom prst="ellipse">
            <a:avLst/>
          </a:prstGeom>
          <a:solidFill>
            <a:srgbClr val="1F8A9C"/>
          </a:solidFill>
          <a:ln/>
        </p:spPr>
      </p:sp>
      <p:sp>
        <p:nvSpPr>
          <p:cNvPr id="17" name="Text 15"/>
          <p:cNvSpPr txBox="1"/>
          <p:nvPr/>
        </p:nvSpPr>
        <p:spPr>
          <a:xfrm>
            <a:off x="6446520" y="2529230"/>
            <a:ext cx="507492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Oxygen only — no airflow or brain-wave sensors like a lab study</a:t>
            </a:r>
            <a:endParaRPr lang="en-US" sz="1400" dirty="0"/>
          </a:p>
        </p:txBody>
      </p:sp>
      <p:sp>
        <p:nvSpPr>
          <p:cNvPr id="18" name="Shape 16"/>
          <p:cNvSpPr/>
          <p:nvPr/>
        </p:nvSpPr>
        <p:spPr>
          <a:xfrm>
            <a:off x="6172200" y="3381451"/>
            <a:ext cx="118872" cy="118872"/>
          </a:xfrm>
          <a:prstGeom prst="ellipse">
            <a:avLst/>
          </a:prstGeom>
          <a:solidFill>
            <a:srgbClr val="1F8A9C"/>
          </a:solidFill>
          <a:ln/>
        </p:spPr>
      </p:sp>
      <p:sp>
        <p:nvSpPr>
          <p:cNvPr id="19" name="Text 17"/>
          <p:cNvSpPr txBox="1"/>
          <p:nvPr/>
        </p:nvSpPr>
        <p:spPr>
          <a:xfrm>
            <a:off x="6446520" y="3280867"/>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One person, few nights: can’t generalize yet</a:t>
            </a:r>
            <a:endParaRPr lang="en-US" sz="1400" dirty="0"/>
          </a:p>
        </p:txBody>
      </p:sp>
      <p:sp>
        <p:nvSpPr>
          <p:cNvPr id="20" name="Shape 18"/>
          <p:cNvSpPr/>
          <p:nvPr/>
        </p:nvSpPr>
        <p:spPr>
          <a:xfrm>
            <a:off x="6172200" y="3825850"/>
            <a:ext cx="118872" cy="118872"/>
          </a:xfrm>
          <a:prstGeom prst="ellipse">
            <a:avLst/>
          </a:prstGeom>
          <a:solidFill>
            <a:srgbClr val="1F8A9C"/>
          </a:solidFill>
          <a:ln/>
        </p:spPr>
      </p:sp>
      <p:sp>
        <p:nvSpPr>
          <p:cNvPr id="21" name="Text 19"/>
          <p:cNvSpPr txBox="1"/>
          <p:nvPr/>
        </p:nvSpPr>
        <p:spPr>
          <a:xfrm>
            <a:off x="6446520" y="3725266"/>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Results so far use simulated example data</a:t>
            </a:r>
            <a:endParaRPr lang="en-US" sz="1400" dirty="0"/>
          </a:p>
        </p:txBody>
      </p:sp>
      <p:sp>
        <p:nvSpPr>
          <p:cNvPr id="22" name="Shape 20"/>
          <p:cNvSpPr/>
          <p:nvPr/>
        </p:nvSpPr>
        <p:spPr>
          <a:xfrm>
            <a:off x="640080" y="4846320"/>
            <a:ext cx="10881360" cy="1234440"/>
          </a:xfrm>
          <a:prstGeom prst="roundRect">
            <a:avLst>
              <a:gd name="adj" fmla="val 7407"/>
            </a:avLst>
          </a:prstGeom>
          <a:solidFill>
            <a:srgbClr val="18233F"/>
          </a:solidFill>
          <a:ln w="12700">
            <a:solidFill>
              <a:srgbClr val="C98A1E"/>
            </a:solidFill>
            <a:prstDash val="solid"/>
          </a:ln>
        </p:spPr>
      </p:sp>
      <p:sp>
        <p:nvSpPr>
          <p:cNvPr id="23" name="Text 21"/>
          <p:cNvSpPr txBox="1"/>
          <p:nvPr/>
        </p:nvSpPr>
        <p:spPr>
          <a:xfrm>
            <a:off x="914400" y="4983480"/>
            <a:ext cx="10332720" cy="1005840"/>
          </a:xfrm>
          <a:prstGeom prst="rect">
            <a:avLst/>
          </a:prstGeom>
          <a:noFill/>
          <a:ln/>
        </p:spPr>
        <p:txBody>
          <a:bodyPr wrap="square" lIns="0" tIns="0" rIns="0" bIns="0" rtlCol="0" anchor="t"/>
          <a:lstStyle/>
          <a:p>
            <a:pPr indent="0" marL="0">
              <a:buNone/>
            </a:pPr>
            <a:r>
              <a:rPr lang="en-US" sz="1500" b="1" dirty="0">
                <a:solidFill>
                  <a:srgbClr val="C98A1E"/>
                </a:solidFill>
                <a:latin typeface="Calibri" pitchFamily="34" charset="0"/>
                <a:ea typeface="Calibri" pitchFamily="34" charset="-122"/>
                <a:cs typeface="Calibri" pitchFamily="34" charset="-120"/>
              </a:rPr>
              <a:t>Engineering finding:  </a:t>
            </a:r>
            <a:pPr indent="0" marL="0">
              <a:buNone/>
            </a:pPr>
            <a:r>
              <a:rPr lang="en-US" sz="1500" dirty="0">
                <a:solidFill>
                  <a:srgbClr val="FFFFFF"/>
                </a:solidFill>
                <a:latin typeface="Calibri" pitchFamily="34" charset="0"/>
                <a:ea typeface="Calibri" pitchFamily="34" charset="-122"/>
                <a:cs typeface="Calibri" pitchFamily="34" charset="-120"/>
              </a:rPr>
              <a:t>Bluetooth draws about 100 mA, so a 500 mAh battery would last only 4–5 hours — not a full night. So prototype v1 runs on USB power, and the sealed v2 case needs a bigger battery or Bluetooth Low Energy.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FURTHER CONSIDERATIONS · SPIN-OFFS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Same sensor, two more uses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heart.png">    </p:cNvPr>
          <p:cNvPicPr>
            <a:picLocks noChangeAspect="1"/>
          </p:cNvPicPr>
          <p:nvPr/>
        </p:nvPicPr>
        <p:blipFill>
          <a:blip r:embed="rId1"/>
          <a:stretch>
            <a:fillRect/>
          </a:stretch>
        </p:blipFill>
        <p:spPr>
          <a:xfrm>
            <a:off x="640080" y="1645920"/>
            <a:ext cx="5349240" cy="2318004"/>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72200" y="1645920"/>
            <a:ext cx="5349240" cy="2318004"/>
          </a:xfrm>
          <a:prstGeom prst="rect">
            <a:avLst/>
          </a:prstGeom>
        </p:spPr>
      </p:pic>
      <p:sp>
        <p:nvSpPr>
          <p:cNvPr id="8" name="Text 4"/>
          <p:cNvSpPr txBox="1"/>
          <p:nvPr/>
        </p:nvSpPr>
        <p:spPr>
          <a:xfrm>
            <a:off x="640080" y="4101084"/>
            <a:ext cx="5349240" cy="914400"/>
          </a:xfrm>
          <a:prstGeom prst="rect">
            <a:avLst/>
          </a:prstGeom>
          <a:noFill/>
          <a:ln/>
        </p:spPr>
        <p:txBody>
          <a:bodyPr wrap="square" lIns="0" tIns="0" rIns="0" bIns="0" rtlCol="0" anchor="t"/>
          <a:lstStyle/>
          <a:p>
            <a:pPr indent="0" marL="0">
              <a:buNone/>
            </a:pPr>
            <a:r>
              <a:rPr lang="en-US" sz="1400" b="1" dirty="0">
                <a:solidFill>
                  <a:srgbClr val="E4568A"/>
                </a:solidFill>
                <a:latin typeface="Calibri" pitchFamily="34" charset="0"/>
                <a:ea typeface="Calibri" pitchFamily="34" charset="-122"/>
                <a:cs typeface="Calibri" pitchFamily="34" charset="-120"/>
              </a:rPr>
              <a:t>Heart  </a:t>
            </a:r>
            <a:pPr indent="0" marL="0">
              <a:buNone/>
            </a:pPr>
            <a:r>
              <a:rPr lang="en-US" sz="1400" dirty="0">
                <a:solidFill>
                  <a:srgbClr val="44515F"/>
                </a:solidFill>
                <a:latin typeface="Calibri" pitchFamily="34" charset="0"/>
                <a:ea typeface="Calibri" pitchFamily="34" charset="-122"/>
                <a:cs typeface="Calibri" pitchFamily="34" charset="-120"/>
              </a:rPr>
              <a:t>flags racing (&gt;100 bpm), very slow (&lt;40 bpm) and irregular-rhythm episodes, plus resting heart rate and HRV.</a:t>
            </a:r>
            <a:endParaRPr lang="en-US" sz="1400" dirty="0"/>
          </a:p>
        </p:txBody>
      </p:sp>
      <p:sp>
        <p:nvSpPr>
          <p:cNvPr id="9" name="Text 5"/>
          <p:cNvSpPr txBox="1"/>
          <p:nvPr/>
        </p:nvSpPr>
        <p:spPr>
          <a:xfrm>
            <a:off x="6172200" y="4101084"/>
            <a:ext cx="5349240" cy="914400"/>
          </a:xfrm>
          <a:prstGeom prst="rect">
            <a:avLst/>
          </a:prstGeom>
          <a:noFill/>
          <a:ln/>
        </p:spPr>
        <p:txBody>
          <a:bodyPr wrap="square" lIns="0" tIns="0" rIns="0" bIns="0" rtlCol="0" anchor="t"/>
          <a:lstStyle/>
          <a:p>
            <a:pPr indent="0" marL="0">
              <a:buNone/>
            </a:pPr>
            <a:r>
              <a:rPr lang="en-US" sz="1400" b="1" dirty="0">
                <a:solidFill>
                  <a:srgbClr val="1F8A9C"/>
                </a:solidFill>
                <a:latin typeface="Calibri" pitchFamily="34" charset="0"/>
                <a:ea typeface="Calibri" pitchFamily="34" charset="-122"/>
                <a:cs typeface="Calibri" pitchFamily="34" charset="-120"/>
              </a:rPr>
              <a:t>Asthma  </a:t>
            </a:r>
            <a:pPr indent="0" marL="0">
              <a:buNone/>
            </a:pPr>
            <a:r>
              <a:rPr lang="en-US" sz="1400" dirty="0">
                <a:solidFill>
                  <a:srgbClr val="44515F"/>
                </a:solidFill>
                <a:latin typeface="Calibri" pitchFamily="34" charset="0"/>
                <a:ea typeface="Calibri" pitchFamily="34" charset="-122"/>
                <a:cs typeface="Calibri" pitchFamily="34" charset="-120"/>
              </a:rPr>
              <a:t>tracks breathing rate from the heart’s rhythm and coughs from the motion sensor — catching early-morning worsening (13 → 22 breaths/min).</a:t>
            </a:r>
            <a:endParaRPr lang="en-US" sz="1400" dirty="0"/>
          </a:p>
        </p:txBody>
      </p:sp>
      <p:sp>
        <p:nvSpPr>
          <p:cNvPr id="10" name="Text 6"/>
          <p:cNvSpPr txBox="1"/>
          <p:nvPr/>
        </p:nvSpPr>
        <p:spPr>
          <a:xfrm>
            <a:off x="640080" y="617220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Screening ideas only —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Back to the hypothesis</a:t>
            </a:r>
            <a:endParaRPr lang="en-US" sz="3200" dirty="0"/>
          </a:p>
        </p:txBody>
      </p:sp>
      <p:sp>
        <p:nvSpPr>
          <p:cNvPr id="4" name="Shape 2"/>
          <p:cNvSpPr/>
          <p:nvPr/>
        </p:nvSpPr>
        <p:spPr>
          <a:xfrm>
            <a:off x="640080" y="1600200"/>
            <a:ext cx="10881360" cy="1371600"/>
          </a:xfrm>
          <a:prstGeom prst="roundRect">
            <a:avLst>
              <a:gd name="adj" fmla="val 6667"/>
            </a:avLst>
          </a:prstGeom>
          <a:solidFill>
            <a:srgbClr val="18233F"/>
          </a:solidFill>
          <a:ln w="12700">
            <a:solidFill>
              <a:srgbClr val="1F8A9C"/>
            </a:solidFill>
            <a:prstDash val="solid"/>
          </a:ln>
        </p:spPr>
      </p:sp>
      <p:sp>
        <p:nvSpPr>
          <p:cNvPr id="5" name="Text 3"/>
          <p:cNvSpPr txBox="1"/>
          <p:nvPr/>
        </p:nvSpPr>
        <p:spPr>
          <a:xfrm>
            <a:off x="914400" y="1755648"/>
            <a:ext cx="10332720" cy="1097280"/>
          </a:xfrm>
          <a:prstGeom prst="rect">
            <a:avLst/>
          </a:prstGeom>
          <a:noFill/>
          <a:ln/>
        </p:spPr>
        <p:txBody>
          <a:bodyPr wrap="square" lIns="0" tIns="0" rIns="0" bIns="0" rtlCol="0" anchor="t"/>
          <a:lstStyle/>
          <a:p>
            <a:pPr indent="0" marL="0">
              <a:buNone/>
            </a:pPr>
            <a:r>
              <a:rPr lang="en-US" sz="1700" b="1" dirty="0">
                <a:solidFill>
                  <a:srgbClr val="3FB8CC"/>
                </a:solidFill>
                <a:latin typeface="Calibri" pitchFamily="34" charset="0"/>
                <a:ea typeface="Calibri" pitchFamily="34" charset="-122"/>
                <a:cs typeface="Calibri" pitchFamily="34" charset="-120"/>
              </a:rPr>
              <a:t>Supported (so far). </a:t>
            </a:r>
            <a:pPr indent="0" marL="0">
              <a:buNone/>
            </a:pPr>
            <a:r>
              <a:rPr lang="en-US" sz="1700" dirty="0">
                <a:solidFill>
                  <a:srgbClr val="FFFFFF"/>
                </a:solidFill>
                <a:latin typeface="Calibri" pitchFamily="34" charset="0"/>
                <a:ea typeface="Calibri" pitchFamily="34" charset="-122"/>
                <a:cs typeface="Calibri" pitchFamily="34" charset="-120"/>
              </a:rPr>
              <a:t>A low-cost wearable measured blood oxygen within about half a percent of a reference, found apnea events on its own, scored the night’s severity, and showed back-sleeping triples events.</a:t>
            </a:r>
            <a:endParaRPr lang="en-US" sz="1700" dirty="0"/>
          </a:p>
        </p:txBody>
      </p:sp>
      <p:sp>
        <p:nvSpPr>
          <p:cNvPr id="6" name="Text 4"/>
          <p:cNvSpPr txBox="1"/>
          <p:nvPr/>
        </p:nvSpPr>
        <p:spPr>
          <a:xfrm>
            <a:off x="640080" y="3246120"/>
            <a:ext cx="548640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Improvements</a:t>
            </a:r>
            <a:endParaRPr lang="en-US" sz="1700" dirty="0"/>
          </a:p>
        </p:txBody>
      </p:sp>
      <p:sp>
        <p:nvSpPr>
          <p:cNvPr id="7" name="Shape 5"/>
          <p:cNvSpPr/>
          <p:nvPr/>
        </p:nvSpPr>
        <p:spPr>
          <a:xfrm>
            <a:off x="640080" y="3785616"/>
            <a:ext cx="118872" cy="118872"/>
          </a:xfrm>
          <a:prstGeom prst="ellipse">
            <a:avLst/>
          </a:prstGeom>
          <a:solidFill>
            <a:srgbClr val="1F8A9C"/>
          </a:solidFill>
          <a:ln/>
        </p:spPr>
      </p:sp>
      <p:sp>
        <p:nvSpPr>
          <p:cNvPr id="8" name="Text 6"/>
          <p:cNvSpPr txBox="1"/>
          <p:nvPr/>
        </p:nvSpPr>
        <p:spPr>
          <a:xfrm>
            <a:off x="914400" y="3685032"/>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Record more people and many more nights</a:t>
            </a:r>
            <a:endParaRPr lang="en-US" sz="1500" dirty="0"/>
          </a:p>
        </p:txBody>
      </p:sp>
      <p:sp>
        <p:nvSpPr>
          <p:cNvPr id="9" name="Shape 7"/>
          <p:cNvSpPr/>
          <p:nvPr/>
        </p:nvSpPr>
        <p:spPr>
          <a:xfrm>
            <a:off x="640080" y="4261104"/>
            <a:ext cx="118872" cy="118872"/>
          </a:xfrm>
          <a:prstGeom prst="ellipse">
            <a:avLst/>
          </a:prstGeom>
          <a:solidFill>
            <a:srgbClr val="1F8A9C"/>
          </a:solidFill>
          <a:ln/>
        </p:spPr>
      </p:sp>
      <p:sp>
        <p:nvSpPr>
          <p:cNvPr id="10" name="Text 8"/>
          <p:cNvSpPr txBox="1"/>
          <p:nvPr/>
        </p:nvSpPr>
        <p:spPr>
          <a:xfrm>
            <a:off x="914400" y="4160520"/>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Add a nasal airflow sensor to separate apnea from hypopnea</a:t>
            </a:r>
            <a:endParaRPr lang="en-US" sz="1500" dirty="0"/>
          </a:p>
        </p:txBody>
      </p:sp>
      <p:sp>
        <p:nvSpPr>
          <p:cNvPr id="11" name="Shape 9"/>
          <p:cNvSpPr/>
          <p:nvPr/>
        </p:nvSpPr>
        <p:spPr>
          <a:xfrm>
            <a:off x="640080" y="4736592"/>
            <a:ext cx="118872" cy="118872"/>
          </a:xfrm>
          <a:prstGeom prst="ellipse">
            <a:avLst/>
          </a:prstGeom>
          <a:solidFill>
            <a:srgbClr val="1F8A9C"/>
          </a:solidFill>
          <a:ln/>
        </p:spPr>
      </p:sp>
      <p:sp>
        <p:nvSpPr>
          <p:cNvPr id="12" name="Text 10"/>
          <p:cNvSpPr txBox="1"/>
          <p:nvPr/>
        </p:nvSpPr>
        <p:spPr>
          <a:xfrm>
            <a:off x="914400" y="4636008"/>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Bigger battery or Bluetooth Low Energy for full nights</a:t>
            </a:r>
            <a:endParaRPr lang="en-US" sz="1500" dirty="0"/>
          </a:p>
        </p:txBody>
      </p:sp>
      <p:sp>
        <p:nvSpPr>
          <p:cNvPr id="13" name="Shape 11"/>
          <p:cNvSpPr/>
          <p:nvPr/>
        </p:nvSpPr>
        <p:spPr>
          <a:xfrm>
            <a:off x="640080" y="5212080"/>
            <a:ext cx="118872" cy="118872"/>
          </a:xfrm>
          <a:prstGeom prst="ellipse">
            <a:avLst/>
          </a:prstGeom>
          <a:solidFill>
            <a:srgbClr val="1F8A9C"/>
          </a:solidFill>
          <a:ln/>
        </p:spPr>
      </p:sp>
      <p:sp>
        <p:nvSpPr>
          <p:cNvPr id="14" name="Text 12"/>
          <p:cNvSpPr txBox="1"/>
          <p:nvPr/>
        </p:nvSpPr>
        <p:spPr>
          <a:xfrm>
            <a:off x="914400" y="5111496"/>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Shrink it into a finger-ring and compare with a real sleep lab</a:t>
            </a:r>
            <a:endParaRPr lang="en-US" sz="1500" dirty="0"/>
          </a:p>
        </p:txBody>
      </p:sp>
      <p:pic>
        <p:nvPicPr>
          <p:cNvPr id="15" name="Image 0" descr="/home/user/teetomivV2/science-fair/night-signal/slides/assets/qr_app.png">
            <a:hlinkClick r:id="rId2" tooltip="App"/>
          </p:cNvPr>
          <p:cNvPicPr>
            <a:picLocks noChangeAspect="1"/>
          </p:cNvPicPr>
          <p:nvPr/>
        </p:nvPicPr>
        <p:blipFill>
          <a:blip r:embed="rId1"/>
          <a:stretch>
            <a:fillRect/>
          </a:stretch>
        </p:blipFill>
        <p:spPr>
          <a:xfrm>
            <a:off x="8001000" y="3383280"/>
            <a:ext cx="1463040" cy="1463040"/>
          </a:xfrm>
          <a:prstGeom prst="rect">
            <a:avLst/>
          </a:prstGeom>
        </p:spPr>
      </p:pic>
      <p:pic>
        <p:nvPicPr>
          <p:cNvPr id="16" name="Image 1" descr="/home/user/teetomivV2/science-fair/night-signal/slides/assets/qr_3d.png">
            <a:hlinkClick r:id="rId4" tooltip="3D model"/>
          </p:cNvPr>
          <p:cNvPicPr>
            <a:picLocks noChangeAspect="1"/>
          </p:cNvPicPr>
          <p:nvPr/>
        </p:nvPicPr>
        <p:blipFill>
          <a:blip r:embed="rId3"/>
          <a:stretch>
            <a:fillRect/>
          </a:stretch>
        </p:blipFill>
        <p:spPr>
          <a:xfrm>
            <a:off x="9921240" y="3383280"/>
            <a:ext cx="1463040" cy="1463040"/>
          </a:xfrm>
          <a:prstGeom prst="rect">
            <a:avLst/>
          </a:prstGeom>
        </p:spPr>
      </p:pic>
      <p:sp>
        <p:nvSpPr>
          <p:cNvPr id="17" name="Text 13"/>
          <p:cNvSpPr txBox="1"/>
          <p:nvPr/>
        </p:nvSpPr>
        <p:spPr>
          <a:xfrm>
            <a:off x="800100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App</a:t>
            </a:r>
            <a:endParaRPr lang="en-US" sz="1300" dirty="0"/>
          </a:p>
        </p:txBody>
      </p:sp>
      <p:sp>
        <p:nvSpPr>
          <p:cNvPr id="18" name="Text 14"/>
          <p:cNvSpPr txBox="1"/>
          <p:nvPr/>
        </p:nvSpPr>
        <p:spPr>
          <a:xfrm>
            <a:off x="992124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3D model</a:t>
            </a:r>
            <a:endParaRPr lang="en-US" sz="1300" dirty="0"/>
          </a:p>
        </p:txBody>
      </p:sp>
      <p:sp>
        <p:nvSpPr>
          <p:cNvPr id="19" name="Text 15"/>
          <p:cNvSpPr txBox="1"/>
          <p:nvPr/>
        </p:nvSpPr>
        <p:spPr>
          <a:xfrm>
            <a:off x="640080" y="5989320"/>
            <a:ext cx="1088136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Thank you — questions?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A · MATERIALS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Parts, exact sizes and where to buy</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3840480"/>
                <a:gridCol w="3200400"/>
                <a:gridCol w="2560320"/>
                <a:gridCol w="128016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Buy</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AITRIP ESP32 ESP-WROOM-32 (30-pin, CP2102, USB-C)</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52 × 28 mm · pins pre-soldered</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Processor + Bluetooth Classic</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HiLetgo MAX30102 sensor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14 × 14 mm · 4 pins to solder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SpO₂ + heart rate (finger clip)</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SHILLEHTEK GY-521 MPU-6050, pre-soldered (2-pack)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21 × 16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Sleep position + cough jolts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ELEGOO 120 Dupont jumper wires (F-F, M-F,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20 cm each</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Plug-in wiring, no soldering</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Running armband phone pouch</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fits phones up to 6.9 in</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Holds the ESP32 on the forearm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Anker Powerline+ USB-A to USB-C cable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3 m (10 ft)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All-night power from a phone charger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Anker USB-C to USB-A adapter (2-pack)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USB-C → USB-A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Plug the cable into a MacBook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VELCRO Brand 1 in × 30 ft roll</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25 mm wide · cut ≈ 80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Finger loop</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Elite Medica fingertip pulse oximeter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Health Canada authorized</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Reference for the accuracy test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150" i="1" dirty="0">
                <a:solidFill>
                  <a:srgbClr val="6B7889"/>
                </a:solidFill>
                <a:latin typeface="Calibri" pitchFamily="34" charset="0"/>
                <a:ea typeface="Calibri" pitchFamily="34" charset="-122"/>
                <a:cs typeface="Calibri"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B · FULL PROTOCOL</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Full experimental protocol</a:t>
            </a:r>
            <a:endParaRPr lang="en-US" sz="2800" dirty="0"/>
          </a:p>
        </p:txBody>
      </p:sp>
      <p:sp>
        <p:nvSpPr>
          <p:cNvPr id="6" name="Text 4"/>
          <p:cNvSpPr txBox="1"/>
          <p:nvPr/>
        </p:nvSpPr>
        <p:spPr>
          <a:xfrm>
            <a:off x="640080" y="146304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05840" y="146304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Build: plug the MAX30102 into 3V3 / GND / GPIO 21 / 22 and the GY-521 into VIN / GND / SDA→GPIO 33 / SCL→GPIO 32 (two separate I²C buses, no splices); ESP32 in the armband, USB power. Flash firmware v3.1.</a:t>
            </a:r>
            <a:endParaRPr lang="en-US" sz="1250" dirty="0"/>
          </a:p>
        </p:txBody>
      </p:sp>
      <p:sp>
        <p:nvSpPr>
          <p:cNvPr id="8" name="Text 6"/>
          <p:cNvSpPr txBox="1"/>
          <p:nvPr/>
        </p:nvSpPr>
        <p:spPr>
          <a:xfrm>
            <a:off x="640080" y="204825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05840" y="204825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Device check: run check_device.py; record the result. Do not continue unless it says READY.</a:t>
            </a:r>
            <a:endParaRPr lang="en-US" sz="1250" dirty="0"/>
          </a:p>
        </p:txBody>
      </p:sp>
      <p:sp>
        <p:nvSpPr>
          <p:cNvPr id="10" name="Text 8"/>
          <p:cNvSpPr txBox="1"/>
          <p:nvPr/>
        </p:nvSpPr>
        <p:spPr>
          <a:xfrm>
            <a:off x="640080" y="263347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3</a:t>
            </a:r>
            <a:endParaRPr lang="en-US" sz="1400" dirty="0"/>
          </a:p>
        </p:txBody>
      </p:sp>
      <p:sp>
        <p:nvSpPr>
          <p:cNvPr id="11" name="Text 9"/>
          <p:cNvSpPr txBox="1"/>
          <p:nvPr/>
        </p:nvSpPr>
        <p:spPr>
          <a:xfrm>
            <a:off x="1005840" y="263347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Full-night power test: on USB power, stream with a finger on the sensor for 8 h; confirm there are no gaps in the data.</a:t>
            </a:r>
            <a:endParaRPr lang="en-US" sz="1250" dirty="0"/>
          </a:p>
        </p:txBody>
      </p:sp>
      <p:sp>
        <p:nvSpPr>
          <p:cNvPr id="12" name="Text 10"/>
          <p:cNvSpPr txBox="1"/>
          <p:nvPr/>
        </p:nvSpPr>
        <p:spPr>
          <a:xfrm>
            <a:off x="640080" y="3218688"/>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4</a:t>
            </a:r>
            <a:endParaRPr lang="en-US" sz="1400" dirty="0"/>
          </a:p>
        </p:txBody>
      </p:sp>
      <p:sp>
        <p:nvSpPr>
          <p:cNvPr id="13" name="Text 11"/>
          <p:cNvSpPr txBox="1"/>
          <p:nvPr/>
        </p:nvSpPr>
        <p:spPr>
          <a:xfrm>
            <a:off x="1005840" y="3218688"/>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40080" y="3803904"/>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5</a:t>
            </a:r>
            <a:endParaRPr lang="en-US" sz="1400" dirty="0"/>
          </a:p>
        </p:txBody>
      </p:sp>
      <p:sp>
        <p:nvSpPr>
          <p:cNvPr id="15" name="Text 13"/>
          <p:cNvSpPr txBox="1"/>
          <p:nvPr/>
        </p:nvSpPr>
        <p:spPr>
          <a:xfrm>
            <a:off x="1005840" y="3803904"/>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Detection test: supervised, awake; 5 breath-holds each of 10, 15 and 20 s, 2 min apart; log start/end times as ground-truth labels. Score with train_model.py.</a:t>
            </a:r>
            <a:endParaRPr lang="en-US" sz="1250" dirty="0"/>
          </a:p>
        </p:txBody>
      </p:sp>
      <p:sp>
        <p:nvSpPr>
          <p:cNvPr id="16" name="Text 14"/>
          <p:cNvSpPr txBox="1"/>
          <p:nvPr/>
        </p:nvSpPr>
        <p:spPr>
          <a:xfrm>
            <a:off x="640080" y="438912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6</a:t>
            </a:r>
            <a:endParaRPr lang="en-US" sz="1400" dirty="0"/>
          </a:p>
        </p:txBody>
      </p:sp>
      <p:sp>
        <p:nvSpPr>
          <p:cNvPr id="17" name="Text 15"/>
          <p:cNvSpPr txBox="1"/>
          <p:nvPr/>
        </p:nvSpPr>
        <p:spPr>
          <a:xfrm>
            <a:off x="1005840" y="438912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Recorded nights: ≥ 5 nights; armband on the forearm, finger clip on the index finger; record.py logs all night; note bedtime and wake time.</a:t>
            </a:r>
            <a:endParaRPr lang="en-US" sz="1250" dirty="0"/>
          </a:p>
        </p:txBody>
      </p:sp>
      <p:sp>
        <p:nvSpPr>
          <p:cNvPr id="18" name="Text 16"/>
          <p:cNvSpPr txBox="1"/>
          <p:nvPr/>
        </p:nvSpPr>
        <p:spPr>
          <a:xfrm>
            <a:off x="640080" y="497433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7</a:t>
            </a:r>
            <a:endParaRPr lang="en-US" sz="1400" dirty="0"/>
          </a:p>
        </p:txBody>
      </p:sp>
      <p:sp>
        <p:nvSpPr>
          <p:cNvPr id="19" name="Text 17"/>
          <p:cNvSpPr txBox="1"/>
          <p:nvPr/>
        </p:nvSpPr>
        <p:spPr>
          <a:xfrm>
            <a:off x="1005840" y="497433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40080" y="555955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8</a:t>
            </a:r>
            <a:endParaRPr lang="en-US" sz="1400" dirty="0"/>
          </a:p>
        </p:txBody>
      </p:sp>
      <p:sp>
        <p:nvSpPr>
          <p:cNvPr id="21" name="Text 19"/>
          <p:cNvSpPr txBox="1"/>
          <p:nvPr/>
        </p:nvSpPr>
        <p:spPr>
          <a:xfrm>
            <a:off x="1005840" y="555955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Controls: same finger, cuff tightness, room temperature, firmware v3.1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C · DESIGN PLANS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Wiring (v1) and case layout (v2)</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6126480" cy="914400"/>
        </p:xfrm>
        <a:graphic>
          <a:graphicData uri="http://schemas.openxmlformats.org/drawingml/2006/table">
            <a:tbl>
              <a:tblPr/>
              <a:tblGrid>
                <a:gridCol w="2743200"/>
                <a:gridCol w="1737360"/>
                <a:gridCol w="164592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From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 (ESP32)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never 5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I²C bus 0</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GY-521 (MPU-6050) VCC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5 V from USB</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GY-521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33 / 32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I²C bus 1, 100 kHz</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Power</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USB-C port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 m cable to charger</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Status LED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blinks each reading</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920240" y="4343400"/>
            <a:ext cx="3566160" cy="2062358"/>
          </a:xfrm>
          <a:prstGeom prst="rect">
            <a:avLst/>
          </a:prstGeom>
        </p:spPr>
      </p:pic>
      <p:pic>
        <p:nvPicPr>
          <p:cNvPr id="8" name="Image 1" descr="/home/user/teetomivV2/science-fair/night-signal/slides/assets/3d_exploded.jpg">    </p:cNvPr>
          <p:cNvPicPr>
            <a:picLocks noChangeAspect="1"/>
          </p:cNvPicPr>
          <p:nvPr/>
        </p:nvPicPr>
        <p:blipFill>
          <a:blip r:embed="rId2"/>
          <a:stretch>
            <a:fillRect/>
          </a:stretch>
        </p:blipFill>
        <p:spPr>
          <a:xfrm>
            <a:off x="7040880" y="1463040"/>
            <a:ext cx="4480560" cy="3032779"/>
          </a:xfrm>
          <a:prstGeom prst="rect">
            <a:avLst/>
          </a:prstGeom>
        </p:spPr>
      </p:pic>
      <p:sp>
        <p:nvSpPr>
          <p:cNvPr id="9" name="Text 4"/>
          <p:cNvSpPr txBox="1"/>
          <p:nvPr/>
        </p:nvSpPr>
        <p:spPr>
          <a:xfrm>
            <a:off x="7040880" y="4541539"/>
            <a:ext cx="448056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v2: stack inside the 25 mm-tall case</a:t>
            </a:r>
            <a:endParaRPr lang="en-US" sz="1100" dirty="0"/>
          </a:p>
        </p:txBody>
      </p:sp>
      <p:sp>
        <p:nvSpPr>
          <p:cNvPr id="10" name="Text 5"/>
          <p:cNvSpPr txBox="1"/>
          <p:nvPr/>
        </p:nvSpPr>
        <p:spPr>
          <a:xfrm>
            <a:off x="7040880" y="4907299"/>
            <a:ext cx="4480560" cy="1097280"/>
          </a:xfrm>
          <a:prstGeom prst="rect">
            <a:avLst/>
          </a:prstGeom>
          <a:noFill/>
          <a:ln/>
        </p:spPr>
        <p:txBody>
          <a:bodyPr wrap="square" lIns="0" tIns="0" rIns="0" bIns="0" rtlCol="0" anchor="t"/>
          <a:lstStyle/>
          <a:p>
            <a:pPr indent="0" marL="0">
              <a:buNone/>
            </a:pPr>
            <a:r>
              <a:rPr lang="en-US" sz="1200" dirty="0">
                <a:solidFill>
                  <a:srgbClr val="44515F"/>
                </a:solidFill>
                <a:latin typeface="Calibri" pitchFamily="34" charset="0"/>
                <a:ea typeface="Calibri" pitchFamily="34" charset="-122"/>
                <a:cs typeface="Calibri"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D · DATA AND ADDITIONAL PICTURES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More data and pictures</a:t>
            </a:r>
            <a:endParaRPr lang="en-US" sz="2800" dirty="0"/>
          </a:p>
        </p:txBody>
      </p:sp>
      <p:sp>
        <p:nvSpPr>
          <p:cNvPr id="6" name="Shape 4"/>
          <p:cNvSpPr/>
          <p:nvPr/>
        </p:nvSpPr>
        <p:spPr>
          <a:xfrm>
            <a:off x="685800" y="1417320"/>
            <a:ext cx="2286000" cy="4496972"/>
          </a:xfrm>
          <a:prstGeom prst="roundRect">
            <a:avLst>
              <a:gd name="adj" fmla="val 4000"/>
            </a:avLst>
          </a:prstGeom>
          <a:solidFill>
            <a:srgbClr val="0E1830"/>
          </a:solidFill>
          <a:ln w="12700">
            <a:solidFill>
              <a:srgbClr val="18233F"/>
            </a:solidFill>
            <a:prstDash val="solid"/>
          </a:ln>
        </p:spPr>
      </p:sp>
      <p:pic>
        <p:nvPicPr>
          <p:cNvPr id="7" name="Image 0" descr="/home/user/teetomivV2/science-fair/night-signal/slides/assets/phone_heart.png">    </p:cNvPr>
          <p:cNvPicPr>
            <a:picLocks noChangeAspect="1"/>
          </p:cNvPicPr>
          <p:nvPr/>
        </p:nvPicPr>
        <p:blipFill>
          <a:blip r:embed="rId1"/>
          <a:stretch>
            <a:fillRect/>
          </a:stretch>
        </p:blipFill>
        <p:spPr>
          <a:xfrm>
            <a:off x="777240" y="1508760"/>
            <a:ext cx="2103120" cy="4314092"/>
          </a:xfrm>
          <a:prstGeom prst="rect">
            <a:avLst/>
          </a:prstGeom>
        </p:spPr>
      </p:pic>
      <p:sp>
        <p:nvSpPr>
          <p:cNvPr id="8" name="Text 5"/>
          <p:cNvSpPr txBox="1"/>
          <p:nvPr/>
        </p:nvSpPr>
        <p:spPr>
          <a:xfrm>
            <a:off x="777240" y="5932580"/>
            <a:ext cx="21031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App · heart tab</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291840" y="1508760"/>
          <a:ext cx="8229600" cy="914400"/>
        </p:xfrm>
        <a:graphic>
          <a:graphicData uri="http://schemas.openxmlformats.org/drawingml/2006/table">
            <a:tbl>
              <a:tblPr/>
              <a:tblGrid>
                <a:gridCol w="2834640"/>
                <a:gridCol w="539496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Analysis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 (example data)</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Breathing rate (signals.py)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13.5 breaths/min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HRV (SDNN / RMSSD)</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69 / 50 ms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Lowest heart rate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46 bpm</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racing 3.3 min (106–118 bpm) · slow 2.5 min (34–39) · irregular 5.9 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Asthma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normal 13.4 → early morning 21.6 /min · 85 min fast · 24 cough-like jolts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ML model relies on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heart-rate swing and jitter, then oxygen swing</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Device check (simulated device)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healthy → READY · broken motion sensor → NOT READY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10" name="Text 6"/>
          <p:cNvSpPr txBox="1"/>
          <p:nvPr/>
        </p:nvSpPr>
        <p:spPr>
          <a:xfrm>
            <a:off x="3291840" y="530352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00" dirty="0"/>
          </a:p>
        </p:txBody>
      </p:sp>
      <p:sp>
        <p:nvSpPr>
          <p:cNvPr id="11" name="Text 7"/>
          <p:cNvSpPr txBox="1"/>
          <p:nvPr/>
        </p:nvSpPr>
        <p:spPr>
          <a:xfrm>
            <a:off x="3291840" y="566928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3" invalidUrl="" action="" tgtFrame="" tooltip="https://claude.ai/artifact/4xLvQVUaMqndpLeRDXtp4A" history="1" highlightClick="0" endSnd="0">
                  <a:extLst>
                    <a:ext uri="{A12FA001-AC4F-418D-AE19-62706E023703}">
                      <ahyp:hlinkClr xmlns:ahyp="http://schemas.microsoft.com/office/drawing/2018/hyperlinkcolor" val="tx"/>
                    </a:ext>
                  </a:extLst>
                </a:hlinkClick>
              </a:rPr>
              <a:t>Arduino setup guide →</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BIBLIOGRAPHY · APA</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References</a:t>
            </a:r>
            <a:endParaRPr lang="en-US" sz="2800" dirty="0"/>
          </a:p>
        </p:txBody>
      </p:sp>
      <p:sp>
        <p:nvSpPr>
          <p:cNvPr id="6" name="Text 4"/>
          <p:cNvSpPr txBox="1"/>
          <p:nvPr/>
        </p:nvSpPr>
        <p:spPr>
          <a:xfrm>
            <a:off x="640080" y="146304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American Academy of Sleep Medicine. (2014). International classification of sleep disorders (3rd ed.).</a:t>
            </a:r>
            <a:endParaRPr lang="en-US" sz="1300" dirty="0"/>
          </a:p>
        </p:txBody>
      </p:sp>
      <p:sp>
        <p:nvSpPr>
          <p:cNvPr id="7" name="Text 5"/>
          <p:cNvSpPr txBox="1"/>
          <p:nvPr/>
        </p:nvSpPr>
        <p:spPr>
          <a:xfrm>
            <a:off x="640080" y="204825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40080" y="263347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40080" y="3218688"/>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40080" y="3803904"/>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Global Initiative for Asthma. (2024). Global strategy for asthma management and prevention.</a:t>
            </a:r>
            <a:endParaRPr lang="en-US" sz="1300" dirty="0"/>
          </a:p>
        </p:txBody>
      </p:sp>
      <p:sp>
        <p:nvSpPr>
          <p:cNvPr id="11" name="Text 9"/>
          <p:cNvSpPr txBox="1"/>
          <p:nvPr/>
        </p:nvSpPr>
        <p:spPr>
          <a:xfrm>
            <a:off x="640080" y="438912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Jubran, A. (2015). Pulse oximetry. Critical Care, 19, 272.</a:t>
            </a:r>
            <a:endParaRPr lang="en-US" sz="1300" dirty="0"/>
          </a:p>
        </p:txBody>
      </p:sp>
      <p:sp>
        <p:nvSpPr>
          <p:cNvPr id="12" name="Text 10"/>
          <p:cNvSpPr txBox="1"/>
          <p:nvPr/>
        </p:nvSpPr>
        <p:spPr>
          <a:xfrm>
            <a:off x="640080" y="497433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Maxim Integrated. (2020). MAX30102 high-sensitivity pulse oximeter and heart-rate sensor [Datasheet].</a:t>
            </a:r>
            <a:endParaRPr lang="en-US" sz="1300" dirty="0"/>
          </a:p>
        </p:txBody>
      </p:sp>
      <p:sp>
        <p:nvSpPr>
          <p:cNvPr id="13" name="Text 11"/>
          <p:cNvSpPr txBox="1"/>
          <p:nvPr/>
        </p:nvSpPr>
        <p:spPr>
          <a:xfrm>
            <a:off x="640080" y="555955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2026-10-02T13:09:17Z</dcterms:created>
  <dcterms:modified xsi:type="dcterms:W3CDTF">2026-10-02T13:09:17Z</dcterms:modified>
</cp:coreProperties>
</file>