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Helvetica Neue"/>
              </a:defRPr>
            </a:pPr>
            <a:r>
              <a:rPr sz="1400" b="0" i="0" u="none" strike="noStrike">
                <a:solidFill>
                  <a:srgbClr val="1D1D1F"/>
                </a:solidFill>
                <a:latin typeface="Helvetica Neue"/>
              </a:rPr>
              <a:t>Detector scores on unseen data</a:t>
            </a: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0071E3"/>
            </a:solidFill>
            <a:effectLst/>
          </c:spPr>
          <c:invertIfNegative val="0"/>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Sheet1!$B$2:$B$3</c:f>
              <c:numCache>
                <c:formatCode>General</c:formatCode>
                <c:ptCount val="2"/>
                <c:pt idx="0">
                  <c:v>1</c:v>
                </c:pt>
                <c:pt idx="1">
                  <c:v>0.92</c:v>
                </c:pt>
              </c:numCache>
            </c:numRef>
          </c:val>
        </c:ser>
        <c:ser>
          <c:idx val="1"/>
          <c:order val="1"/>
          <c:tx>
            <c:strRef>
              <c:f>Sheet1!$C$1</c:f>
              <c:strCache>
                <c:ptCount val="1"/>
                <c:pt idx="0">
                  <c:v>Recall (events caught)</c:v>
                </c:pt>
              </c:strCache>
            </c:strRef>
          </c:tx>
          <c:spPr>
            <a:solidFill>
              <a:srgbClr val="FF375F"/>
            </a:solidFill>
            <a:effectLst/>
          </c:spPr>
          <c:invertIfNegative val="0"/>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cat>
            <c:multiLvlStrRef>
              <c:f>Sheet1!$A$2:$A$3</c:f>
              <c:multiLvlStrCache>
                <c:ptCount val="2"/>
                <c:lvl>
                  <c:pt idx="0">
                    <c:v>Rule-based</c:v>
                  </c:pt>
                  <c:pt idx="1">
                    <c:v>Machine learning</c:v>
                  </c:pt>
                </c:lvl>
              </c:multiLvlStrCache>
            </c:multiLvlStrRef>
          </c:cat>
          <c:val>
            <c:numRef>
              <c:f>Sheet1!$C$2:$C$3</c:f>
              <c:numCache>
                <c:formatCode>General</c:formatCode>
                <c:ptCount val="2"/>
                <c:pt idx="0">
                  <c:v>0.63</c:v>
                </c:pt>
                <c:pt idx="1">
                  <c:v>0.63</c:v>
                </c:pt>
              </c:numCache>
            </c:numRef>
          </c:val>
        </c:ser>
        <c:dLbls>
          <c:numFmt formatCode="0.00" sourceLinked="0"/>
          <c:txPr>
            <a:bodyPr/>
            <a:lstStyle/>
            <a:p>
              <a:pPr>
                <a:defRPr b="0" i="0" strike="noStrike" sz="1200" u="none">
                  <a:solidFill>
                    <a:srgbClr val="1D1D1F"/>
                  </a:solidFill>
                  <a:latin typeface="Helvetica Neue"/>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1D1D1F"/>
                </a:solidFill>
                <a:latin typeface="Helvetica Neue"/>
              </a:defRPr>
            </a:pPr>
            <a:endParaRPr lang="en-US"/>
          </a:p>
        </c:txPr>
        <c:crossAx val="2094734552"/>
        <c:crosses val="autoZero"/>
        <c:auto val="1"/>
        <c:lblAlgn val="ctr"/>
        <c:noMultiLvlLbl val="1"/>
      </c:catAx>
      <c:valAx>
        <c:axId val="2094734552"/>
        <c:scaling>
          <c:orientation val="minMax"/>
          <c:max val="1.2"/>
          <c:min val="0"/>
        </c:scaling>
        <c:delete val="1"/>
        <c:axPos val="l"/>
        <c:numFmt formatCode="0.0"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6E6E73"/>
              </a:solidFill>
              <a:latin typeface="Helvetica Neue"/>
              <a:cs typeface="Helvetica Neue"/>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Hi, I’m Gabriel. My project is Night Signal: a wearable I designed that watches your blood oxygen while you sleep to catch sleep apnea — and it turns out the same sensor can screen the heart and breathing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My question: can a low-cost wearable catch sleep apnea? My hypothesis: if each breathing pause makes oxygen dip, a fingertip sensor reading once per second will see the dips, and software can count them per hour — the AHI doctors use. What I change is breath-hold length and sleeping position; what I measure is events, the AHI, and how closely my device agrees with a real oximeter.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Sleep apnea is when the airway collapses during sleep and breathing stops for ten seconds or more, over and over. About 936 million adults have it, and most don't know. Every pause drops blood oxygen. A pulse oximeter measures that by shining red and infrared light through the fingertip — oxygen-rich blood absorbs the two colours differently. Doctors count the events per hour — the AHI — and grade it from normal to severe. The problem: the standard test is an overnight lab study that costs thousands.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design. My working prototype, version 1, is built to be simple and reliable: the ESP32 sits in a running armband, each sensor plugs into its own pins with no soldered splices, and a USB cable powers it all night. A velcro finger clip holds the MAX30102 oxygen sensor. The 3D model shows version 2 — a 70 by 45 millimetre sealed case with its own battery on a velcro strap. On the right is the exploded view with every part at its real size; you can spin the interactive version with this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data path: the finger sensor's light readings go to the ESP32, which calculates oxygen and pulse and reads body position, then sends one line per second over Bluetooth or USB to my app and analysis code. To make sure it's really working, I built a self-test: every recording starts with a device check that has to say READY — and when I tested with a broken motion sensor, it correctly said NOT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My key manipulations: one, a device check before every session. Two, an accuracy test — I wear my device and a store-bought oximeter at the same time and compare. Three, a detection test: supervised, awake breath-holds of 10, 15 and 20 seconds — I know exactly when they happened, so I can score my software. Four, a full-night power test — eight hours with no gaps. Five, full recorded nights. Safety first: breath-holds only while awake and supervised, with consent and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This is my companion app. On the Live tab it connects directly to the wearable and shows oxygen, heart rate and position every second, with health checks running the whole time. Saving a session gives the exact CSV my analysis uses, so every number is traceable. Scan the code to try it — there's a demo device built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Here's the summary. Over a seven-hour night, the software found 19 events — an AHI of 2.7, which is in the normal range. Oxygen averaged 97.5% and dropped to 84% at the lowest. Against a reference oximeter, my device was within about half a percent. The detector caught 63% of known events with zero false alarms. And events were about three times more frequent on the back than on the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On the left, a whole night of oxygen — every red band is an event my code found on its own. On the right is a Bland–Altman plot, the standard way medical papers compare two devices: the average difference is almost zero, and 95% of my readings fall within about one and a half percent of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Two more results. Events happened most on the back — 3.8 per hour versus about 1 on the sides. And I compared my simple rule with a machine-learning model: on new data, both caught the same share of events, but the rule had no false alarms, so for now the simpler method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What does it mean? First, accuracy within about one and a half percent is in the same range as store-bought oximeters, so the dips are real. Second, the detector is cautious — no false alarms but it misses shallow events, so my AHI is probably an underestimate, which is the safer mistake for a screening tool. Third, the back-sleeping result matches what doctors call positional sleep apnea. And fourth, machine learning didn't win yet because it only had one night to learn from — more data matters more than fancier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Sources of error: movement, finger pressure and cold hands can distort the light signal; the four-second averaging can blur very short dips; even the reference oximeter is only plus or minus two percent. On the method side, awake breath-holds aren't identical to real apnea, I only measure oxygen — not airflow or brain waves like a sleep lab — and one person isn't enough to generalize. I also caught an engineering problem: Bluetooth draws about 100 milliamps, so a small 500 milliamp-hour battery would last only four to five hours. That's why version 1 runs on USB power all night, and version 2 needs a bigger battery or Bluetooth Low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The same hardware opened two spin-offs. Heart: it flags racing, very slow and irregular-rhythm episodes. Asthma: night-time asthma often gets worse around 4 a.m., and my code tracks breathing rate from the heart's rhythm plus coughs from sudden jolts of the motion sensor — here it caught breathing climbing from 13 to 22 breaths a minute. These are screening ideas, not diagnoses.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Back to my hypothesis: so far it's supported — a low-cost wearable measured oxygen within about half a percent of a reference, found apnea events by itself, scored the night, and showed back-sleeping triples events. Next I'd test more people and nights, add an airflow sensor, fix the battery life, and shrink it into a ring to compare against a real sleep lab.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Full parts list with exact dimensions and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Step-by-step protocol including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Prototype v1 wiring table, and the planned v2 case layout with layer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Remaining numbers, app screenshot and links to all data and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Appendix — not presented. References in APA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5" Type="http://schemas.openxmlformats.org/officeDocument/2006/relationships/hyperlink" Target="https://gabrielamamanestudent-wq.github.io/teetomivV2/science-fair/night-signal/app/3d.html" TargetMode="External"/><Relationship Id="rId6" Type="http://schemas.openxmlformats.org/officeDocument/2006/relationships/hyperlink" Target="https://gabrielamamanestudent-wq.github.io/teetomivV2/science-fair/night-signal/app/3d.html" TargetMode="External"/><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gabrielamamanestudent-wq.github.io/teetomivV2/science-fair/night-signal/app/" TargetMode="External"/><Relationship Id="rId5" Type="http://schemas.openxmlformats.org/officeDocument/2006/relationships/hyperlink" Target="https://gabrielamamanestudent-wq.github.io/teetomivV2/science-fair/night-signal/app/"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abrielamamanestudent-wq.github.io/teetomivV2/science-fair/night-signal/app/" TargetMode="External"/><Relationship Id="rId5" Type="http://schemas.openxmlformats.org/officeDocument/2006/relationships/hyperlink" Target="https://gabrielamamanestudent-wq.github.io/teetomivV2/science-fair/night-signal/app/3d.html" TargetMode="External"/><Relationship Id="rId1" Type="http://schemas.openxmlformats.org/officeDocument/2006/relationships/image" Target="../media/Slide-14-image-1.jpeg"/><Relationship Id="rId2" Type="http://schemas.openxmlformats.org/officeDocument/2006/relationships/image" Target="../media/image-14-2.png"/><Relationship Id="rId4" Type="http://schemas.openxmlformats.org/officeDocument/2006/relationships/image" Target="../media/image-14-3.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amazon.ca/AITRIP-ESP-WROOM-32-Development-Microcontroller-Compatible/dp/B0DF2YJSHN" TargetMode="External"/><Relationship Id="rId2" Type="http://schemas.openxmlformats.org/officeDocument/2006/relationships/hyperlink" Target="https://www.amazon.ca/HiLetgo-MAX30102-Breakout-Oximetry-Solution/dp/B07QC67KMQ" TargetMode="External"/><Relationship Id="rId3" Type="http://schemas.openxmlformats.org/officeDocument/2006/relationships/hyperlink" Target="https://www.amazon.ca/Pre-Soldered-Accelerometer-Raspberry-Compatible-Arduino/dp/B0BMY15TC4" TargetMode="External"/><Relationship Id="rId4" Type="http://schemas.openxmlformats.org/officeDocument/2006/relationships/hyperlink" Target="https://www.amazon.ca/Elegoo-120pcs-Multicolored-Breadboard-arduino/dp/B01EV70C78" TargetMode="External"/><Relationship Id="rId5" Type="http://schemas.openxmlformats.org/officeDocument/2006/relationships/hyperlink" Target="https://www.amazon.ca/Running-Armband-Samsung-Resistant-Emergency/dp/B08HZ3BPK4" TargetMode="External"/><Relationship Id="rId6" Type="http://schemas.openxmlformats.org/officeDocument/2006/relationships/hyperlink" Target="https://www.amazon.ca/Anker-Powerline-Double-Braided-Charging-Samsung/dp/B07G148YMS" TargetMode="External"/><Relationship Id="rId7" Type="http://schemas.openxmlformats.org/officeDocument/2006/relationships/hyperlink" Target="https://www.amazon.ca/Adapter-Anker-High-Speed-Transfer-Notebook/dp/B08HZ6PS61" TargetMode="External"/><Relationship Id="rId8" Type="http://schemas.openxmlformats.org/officeDocument/2006/relationships/hyperlink" Target="https://www.amazon.ca/VELCRO-Brand-VEL-30768-AMS-Self-Gripping-Organization/dp/B09QH2NVM1" TargetMode="External"/><Relationship Id="rId9" Type="http://schemas.openxmlformats.org/officeDocument/2006/relationships/hyperlink" Target="https://www.amazon.ca/Elite-Medica-Fingertip-Saturation-Batteries/dp/B0DSGP91PB" TargetMode="External"/><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github.com/gabrielamamanestudent-wq/teetomivV2/tree/claude/science-fair-medical-project-7k0wk4/science-fair/night-signal" TargetMode="External"/><Relationship Id="rId3" Type="http://schemas.openxmlformats.org/officeDocument/2006/relationships/hyperlink" Target="https://gabrielamamanestudent-wq.github.io/teetomivV2/science-fair/night-signal/build-kit.html"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457200"/>
            <a:ext cx="10817352" cy="292608"/>
          </a:xfrm>
          <a:prstGeom prst="rect">
            <a:avLst/>
          </a:prstGeom>
          <a:noFill/>
          <a:ln/>
        </p:spPr>
        <p:txBody>
          <a:bodyPr wrap="square" lIns="0" tIns="0" rIns="0" bIns="0" rtlCol="0" anchor="t"/>
          <a:lstStyle/>
          <a:p>
            <a:pPr algn="ctr" indent="0" marL="0">
              <a:buNone/>
            </a:pPr>
            <a:r>
              <a:rPr lang="en-US" sz="1400" b="1" dirty="0">
                <a:solidFill>
                  <a:srgbClr val="86868B"/>
                </a:solidFill>
                <a:latin typeface="Helvetica Neue" pitchFamily="34" charset="0"/>
                <a:ea typeface="Helvetica Neue" pitchFamily="34" charset="-122"/>
                <a:cs typeface="Helvetica Neue" pitchFamily="34" charset="-120"/>
              </a:rPr>
              <a:t>Health and Medical Sciences · Experimental project</a:t>
            </a:r>
            <a:endParaRPr lang="en-US" sz="1400" dirty="0"/>
          </a:p>
        </p:txBody>
      </p:sp>
      <p:sp>
        <p:nvSpPr>
          <p:cNvPr id="3" name="Text 1"/>
          <p:cNvSpPr txBox="1"/>
          <p:nvPr/>
        </p:nvSpPr>
        <p:spPr>
          <a:xfrm>
            <a:off x="685800" y="804672"/>
            <a:ext cx="10817352" cy="1005840"/>
          </a:xfrm>
          <a:prstGeom prst="rect">
            <a:avLst/>
          </a:prstGeom>
          <a:noFill/>
          <a:ln/>
        </p:spPr>
        <p:txBody>
          <a:bodyPr wrap="square" lIns="0" tIns="0" rIns="0" bIns="0" rtlCol="0" anchor="t"/>
          <a:lstStyle/>
          <a:p>
            <a:pPr algn="ctr" indent="0" marL="0">
              <a:buNone/>
            </a:pPr>
            <a:r>
              <a:rPr lang="en-US" sz="6600" b="1" dirty="0">
                <a:solidFill>
                  <a:srgbClr val="FFFFFF"/>
                </a:solidFill>
                <a:latin typeface="Helvetica Neue" pitchFamily="34" charset="0"/>
                <a:ea typeface="Helvetica Neue" pitchFamily="34" charset="-122"/>
                <a:cs typeface="Helvetica Neue" pitchFamily="34" charset="-120"/>
              </a:rPr>
              <a:t>Night Signal.</a:t>
            </a:r>
            <a:endParaRPr lang="en-US" sz="6600" dirty="0"/>
          </a:p>
        </p:txBody>
      </p:sp>
      <p:sp>
        <p:nvSpPr>
          <p:cNvPr id="4" name="Text 2"/>
          <p:cNvSpPr txBox="1"/>
          <p:nvPr/>
        </p:nvSpPr>
        <p:spPr>
          <a:xfrm>
            <a:off x="685800" y="1810512"/>
            <a:ext cx="10817352" cy="457200"/>
          </a:xfrm>
          <a:prstGeom prst="rect">
            <a:avLst/>
          </a:prstGeom>
          <a:noFill/>
          <a:ln/>
        </p:spPr>
        <p:txBody>
          <a:bodyPr wrap="square" lIns="0" tIns="0" rIns="0" bIns="0" rtlCol="0" anchor="t"/>
          <a:lstStyle/>
          <a:p>
            <a:pPr algn="ctr" indent="0" marL="0">
              <a:buNone/>
            </a:pPr>
            <a:r>
              <a:rPr lang="en-US" sz="2400" dirty="0">
                <a:solidFill>
                  <a:srgbClr val="86868B"/>
                </a:solidFill>
                <a:latin typeface="Helvetica Neue" pitchFamily="34" charset="0"/>
                <a:ea typeface="Helvetica Neue" pitchFamily="34" charset="-122"/>
                <a:cs typeface="Helvetica Neue" pitchFamily="34" charset="-120"/>
              </a:rPr>
              <a:t>Sleep apnea screening you can wear.</a:t>
            </a:r>
            <a:endParaRPr lang="en-US" sz="2400" dirty="0"/>
          </a:p>
        </p:txBody>
      </p:sp>
      <p:pic>
        <p:nvPicPr>
          <p:cNvPr id="5" name="Image 0" descr="/home/user/teetomivV2/science-fair/night-signal/slides/assets/hero_alpha.png">    </p:cNvPr>
          <p:cNvPicPr>
            <a:picLocks noChangeAspect="1"/>
          </p:cNvPicPr>
          <p:nvPr/>
        </p:nvPicPr>
        <p:blipFill>
          <a:blip r:embed="rId2"/>
          <a:stretch>
            <a:fillRect/>
          </a:stretch>
        </p:blipFill>
        <p:spPr>
          <a:xfrm>
            <a:off x="4245440" y="2359152"/>
            <a:ext cx="3700814" cy="3611880"/>
          </a:xfrm>
          <a:prstGeom prst="rect">
            <a:avLst/>
          </a:prstGeom>
        </p:spPr>
      </p:pic>
      <p:sp>
        <p:nvSpPr>
          <p:cNvPr id="6" name="Text 3"/>
          <p:cNvSpPr txBox="1"/>
          <p:nvPr/>
        </p:nvSpPr>
        <p:spPr>
          <a:xfrm>
            <a:off x="685800" y="6053328"/>
            <a:ext cx="10817352"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Helvetica Neue" pitchFamily="34" charset="0"/>
                <a:ea typeface="Helvetica Neue" pitchFamily="34" charset="-122"/>
                <a:cs typeface="Helvetica Neue" pitchFamily="34" charset="-120"/>
              </a:rPr>
              <a:t>Gabriel Mamane</a:t>
            </a:r>
            <a:pPr algn="ctr" indent="0" marL="0">
              <a:buNone/>
            </a:pPr>
            <a:r>
              <a:rPr lang="en-US" sz="1500" dirty="0">
                <a:solidFill>
                  <a:srgbClr val="86868B"/>
                </a:solidFill>
                <a:latin typeface="Helvetica Neue" pitchFamily="34" charset="0"/>
                <a:ea typeface="Helvetica Neue" pitchFamily="34" charset="-122"/>
                <a:cs typeface="Helvetica Neue" pitchFamily="34" charset="-120"/>
              </a:rPr>
              <a:t>   ·   Grade ___</a:t>
            </a:r>
            <a:endParaRPr lang="en-US" sz="1500" dirty="0"/>
          </a:p>
        </p:txBody>
      </p:sp>
      <p:sp>
        <p:nvSpPr>
          <p:cNvPr id="7" name="Text 4"/>
          <p:cNvSpPr txBox="1"/>
          <p:nvPr/>
        </p:nvSpPr>
        <p:spPr>
          <a:xfrm>
            <a:off x="685800" y="6382512"/>
            <a:ext cx="10817352" cy="256032"/>
          </a:xfrm>
          <a:prstGeom prst="rect">
            <a:avLst/>
          </a:prstGeom>
          <a:noFill/>
          <a:ln/>
        </p:spPr>
        <p:txBody>
          <a:bodyPr wrap="square" lIns="0" tIns="0" rIns="0" bIns="0" rtlCol="0" anchor="t"/>
          <a:lstStyle/>
          <a:p>
            <a:pPr algn="ctr" indent="0" marL="0">
              <a:buNone/>
            </a:pPr>
            <a:r>
              <a:rPr lang="en-US" sz="1050" dirty="0">
                <a:solidFill>
                  <a:srgbClr val="6E6E73"/>
                </a:solidFill>
                <a:latin typeface="Helvetica Neue" pitchFamily="34" charset="0"/>
                <a:ea typeface="Helvetica Neue" pitchFamily="34" charset="-122"/>
                <a:cs typeface="Helvetica Neue" pitchFamily="34" charset="-120"/>
              </a:rPr>
              <a:t>Educational prototype. Not a medical device.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Purpose and hypothesis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Can a low-cost wearable catch sleep apnea?</a:t>
            </a:r>
            <a:endParaRPr lang="en-US" sz="4000" dirty="0"/>
          </a:p>
        </p:txBody>
      </p:sp>
      <p:sp>
        <p:nvSpPr>
          <p:cNvPr id="4" name="Shape 2"/>
          <p:cNvSpPr/>
          <p:nvPr/>
        </p:nvSpPr>
        <p:spPr>
          <a:xfrm>
            <a:off x="685800" y="1920240"/>
            <a:ext cx="5303520" cy="2423160"/>
          </a:xfrm>
          <a:prstGeom prst="roundRect">
            <a:avLst>
              <a:gd name="adj" fmla="val 8302"/>
            </a:avLst>
          </a:prstGeom>
          <a:solidFill>
            <a:srgbClr val="F5F5F7"/>
          </a:solidFill>
          <a:ln/>
        </p:spPr>
      </p:sp>
      <p:sp>
        <p:nvSpPr>
          <p:cNvPr id="5" name="Shape 3"/>
          <p:cNvSpPr/>
          <p:nvPr/>
        </p:nvSpPr>
        <p:spPr>
          <a:xfrm>
            <a:off x="6199632" y="1920240"/>
            <a:ext cx="5303520" cy="2423160"/>
          </a:xfrm>
          <a:prstGeom prst="roundRect">
            <a:avLst>
              <a:gd name="adj" fmla="val 8302"/>
            </a:avLst>
          </a:prstGeom>
          <a:solidFill>
            <a:srgbClr val="F5F5F7"/>
          </a:solidFill>
          <a:ln/>
        </p:spPr>
      </p:sp>
      <p:sp>
        <p:nvSpPr>
          <p:cNvPr id="6" name="Shape 4"/>
          <p:cNvSpPr/>
          <p:nvPr/>
        </p:nvSpPr>
        <p:spPr>
          <a:xfrm>
            <a:off x="1005840" y="2194560"/>
            <a:ext cx="457200" cy="64008"/>
          </a:xfrm>
          <a:prstGeom prst="roundRect">
            <a:avLst>
              <a:gd name="adj" fmla="val 50000"/>
            </a:avLst>
          </a:prstGeom>
          <a:solidFill>
            <a:srgbClr val="E3254B"/>
          </a:solidFill>
          <a:ln/>
        </p:spPr>
      </p:sp>
      <p:sp>
        <p:nvSpPr>
          <p:cNvPr id="7" name="Shape 5"/>
          <p:cNvSpPr/>
          <p:nvPr/>
        </p:nvSpPr>
        <p:spPr>
          <a:xfrm>
            <a:off x="6519672" y="2194560"/>
            <a:ext cx="457200" cy="64008"/>
          </a:xfrm>
          <a:prstGeom prst="roundRect">
            <a:avLst>
              <a:gd name="adj" fmla="val 50000"/>
            </a:avLst>
          </a:prstGeom>
          <a:solidFill>
            <a:srgbClr val="0071E3"/>
          </a:solidFill>
          <a:ln/>
        </p:spPr>
      </p:sp>
      <p:sp>
        <p:nvSpPr>
          <p:cNvPr id="8" name="Text 6"/>
          <p:cNvSpPr txBox="1"/>
          <p:nvPr/>
        </p:nvSpPr>
        <p:spPr>
          <a:xfrm>
            <a:off x="1005840" y="2331720"/>
            <a:ext cx="4663440" cy="320040"/>
          </a:xfrm>
          <a:prstGeom prst="rect">
            <a:avLst/>
          </a:prstGeom>
          <a:noFill/>
          <a:ln/>
        </p:spPr>
        <p:txBody>
          <a:bodyPr wrap="square" lIns="0" tIns="0" rIns="0" bIns="0" rtlCol="0" anchor="t"/>
          <a:lstStyle/>
          <a:p>
            <a:pPr indent="0" marL="0">
              <a:buNone/>
            </a:pPr>
            <a:r>
              <a:rPr lang="en-US" sz="1500" b="1" dirty="0">
                <a:solidFill>
                  <a:srgbClr val="E3254B"/>
                </a:solidFill>
                <a:latin typeface="Helvetica Neue" pitchFamily="34" charset="0"/>
                <a:ea typeface="Helvetica Neue" pitchFamily="34" charset="-122"/>
                <a:cs typeface="Helvetica Neue" pitchFamily="34" charset="-120"/>
              </a:rPr>
              <a:t>Purpose</a:t>
            </a:r>
            <a:endParaRPr lang="en-US" sz="1500" dirty="0"/>
          </a:p>
        </p:txBody>
      </p:sp>
      <p:sp>
        <p:nvSpPr>
          <p:cNvPr id="9" name="Text 7"/>
          <p:cNvSpPr txBox="1"/>
          <p:nvPr/>
        </p:nvSpPr>
        <p:spPr>
          <a:xfrm>
            <a:off x="1005840" y="2724912"/>
            <a:ext cx="4663440" cy="1554480"/>
          </a:xfrm>
          <a:prstGeom prst="rect">
            <a:avLst/>
          </a:prstGeom>
          <a:noFill/>
          <a:ln/>
        </p:spPr>
        <p:txBody>
          <a:bodyPr wrap="square" lIns="0" tIns="0" rIns="0" bIns="0" rtlCol="0" anchor="t"/>
          <a:lstStyle/>
          <a:p>
            <a:pPr indent="0" marL="0">
              <a:lnSpc>
                <a:spcPct val="105000"/>
              </a:lnSpc>
              <a:buNone/>
            </a:pPr>
            <a:r>
              <a:rPr lang="en-US" sz="1700" dirty="0">
                <a:solidFill>
                  <a:srgbClr val="1D1D1F"/>
                </a:solidFill>
                <a:latin typeface="Helvetica Neue" pitchFamily="34" charset="0"/>
                <a:ea typeface="Helvetica Neue" pitchFamily="34" charset="-122"/>
                <a:cs typeface="Helvetica Neue" pitchFamily="34" charset="-120"/>
              </a:rPr>
              <a:t>Find out whether a low-cost wearable can detect the oxygen drops caused by sleep apnea accurately enough to estimate how many events happen per hour: the number doctors use (AHI).</a:t>
            </a:r>
            <a:endParaRPr lang="en-US" sz="1700" dirty="0"/>
          </a:p>
        </p:txBody>
      </p:sp>
      <p:sp>
        <p:nvSpPr>
          <p:cNvPr id="10" name="Text 8"/>
          <p:cNvSpPr txBox="1"/>
          <p:nvPr/>
        </p:nvSpPr>
        <p:spPr>
          <a:xfrm>
            <a:off x="6519672" y="2331720"/>
            <a:ext cx="4663440" cy="320040"/>
          </a:xfrm>
          <a:prstGeom prst="rect">
            <a:avLst/>
          </a:prstGeom>
          <a:noFill/>
          <a:ln/>
        </p:spPr>
        <p:txBody>
          <a:bodyPr wrap="square" lIns="0" tIns="0" rIns="0" bIns="0" rtlCol="0" anchor="t"/>
          <a:lstStyle/>
          <a:p>
            <a:pPr indent="0" marL="0">
              <a:buNone/>
            </a:pPr>
            <a:r>
              <a:rPr lang="en-US" sz="1500" b="1" dirty="0">
                <a:solidFill>
                  <a:srgbClr val="0071E3"/>
                </a:solidFill>
                <a:latin typeface="Helvetica Neue" pitchFamily="34" charset="0"/>
                <a:ea typeface="Helvetica Neue" pitchFamily="34" charset="-122"/>
                <a:cs typeface="Helvetica Neue" pitchFamily="34" charset="-120"/>
              </a:rPr>
              <a:t>Hypothesis</a:t>
            </a:r>
            <a:endParaRPr lang="en-US" sz="1500" dirty="0"/>
          </a:p>
        </p:txBody>
      </p:sp>
      <p:sp>
        <p:nvSpPr>
          <p:cNvPr id="11" name="Text 9"/>
          <p:cNvSpPr txBox="1"/>
          <p:nvPr/>
        </p:nvSpPr>
        <p:spPr>
          <a:xfrm>
            <a:off x="6519672" y="2724912"/>
            <a:ext cx="4663440" cy="1508760"/>
          </a:xfrm>
          <a:prstGeom prst="rect">
            <a:avLst/>
          </a:prstGeom>
          <a:noFill/>
          <a:ln/>
        </p:spPr>
        <p:txBody>
          <a:bodyPr wrap="square" lIns="0" tIns="0" rIns="0" bIns="0" rtlCol="0" anchor="t"/>
          <a:lstStyle/>
          <a:p>
            <a:pPr indent="0" marL="0">
              <a:lnSpc>
                <a:spcPct val="105000"/>
              </a:lnSpc>
              <a:buNone/>
            </a:pPr>
            <a:r>
              <a:rPr lang="en-US" sz="1550" dirty="0">
                <a:solidFill>
                  <a:srgbClr val="1D1D1F"/>
                </a:solidFill>
                <a:latin typeface="Helvetica Neue" pitchFamily="34" charset="0"/>
                <a:ea typeface="Helvetica Neue" pitchFamily="34" charset="-122"/>
                <a:cs typeface="Helvetica Neue" pitchFamily="34" charset="-120"/>
              </a:rPr>
              <a:t>If breathing pauses make blood oxygen dip, then a fingertip sensor read once per second will reveal the dips, and software can count them per hour, because oxygen-rich and oxygen-poor blood absorb red and infrared light differently.</a:t>
            </a:r>
            <a:endParaRPr lang="en-US" sz="1550" dirty="0"/>
          </a:p>
        </p:txBody>
      </p:sp>
      <p:sp>
        <p:nvSpPr>
          <p:cNvPr id="12" name="Shape 10"/>
          <p:cNvSpPr/>
          <p:nvPr/>
        </p:nvSpPr>
        <p:spPr>
          <a:xfrm>
            <a:off x="685800" y="4553712"/>
            <a:ext cx="3502152" cy="1600200"/>
          </a:xfrm>
          <a:prstGeom prst="roundRect">
            <a:avLst>
              <a:gd name="adj" fmla="val 12571"/>
            </a:avLst>
          </a:prstGeom>
          <a:solidFill>
            <a:srgbClr val="F5F5F7"/>
          </a:solidFill>
          <a:ln/>
        </p:spPr>
      </p:sp>
      <p:sp>
        <p:nvSpPr>
          <p:cNvPr id="13" name="Shape 11"/>
          <p:cNvSpPr/>
          <p:nvPr/>
        </p:nvSpPr>
        <p:spPr>
          <a:xfrm>
            <a:off x="960120" y="4773168"/>
            <a:ext cx="457200" cy="64008"/>
          </a:xfrm>
          <a:prstGeom prst="roundRect">
            <a:avLst>
              <a:gd name="adj" fmla="val 50000"/>
            </a:avLst>
          </a:prstGeom>
          <a:solidFill>
            <a:srgbClr val="C45500"/>
          </a:solidFill>
          <a:ln/>
        </p:spPr>
      </p:sp>
      <p:sp>
        <p:nvSpPr>
          <p:cNvPr id="14" name="Text 12"/>
          <p:cNvSpPr txBox="1"/>
          <p:nvPr/>
        </p:nvSpPr>
        <p:spPr>
          <a:xfrm>
            <a:off x="9601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Independent variables</a:t>
            </a:r>
            <a:endParaRPr lang="en-US" sz="1550" dirty="0"/>
          </a:p>
        </p:txBody>
      </p:sp>
      <p:sp>
        <p:nvSpPr>
          <p:cNvPr id="15" name="Text 13"/>
          <p:cNvSpPr txBox="1"/>
          <p:nvPr/>
        </p:nvSpPr>
        <p:spPr>
          <a:xfrm>
            <a:off x="960120" y="5285232"/>
            <a:ext cx="3017520" cy="77724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Breath-hold length (10, 15, 20 s) and sleeping position</a:t>
            </a:r>
            <a:endParaRPr lang="en-US" sz="1350" dirty="0"/>
          </a:p>
        </p:txBody>
      </p:sp>
      <p:sp>
        <p:nvSpPr>
          <p:cNvPr id="16" name="Shape 14"/>
          <p:cNvSpPr/>
          <p:nvPr/>
        </p:nvSpPr>
        <p:spPr>
          <a:xfrm>
            <a:off x="4343400" y="4553712"/>
            <a:ext cx="3502152" cy="1600200"/>
          </a:xfrm>
          <a:prstGeom prst="roundRect">
            <a:avLst>
              <a:gd name="adj" fmla="val 12571"/>
            </a:avLst>
          </a:prstGeom>
          <a:solidFill>
            <a:srgbClr val="F5F5F7"/>
          </a:solidFill>
          <a:ln/>
        </p:spPr>
      </p:sp>
      <p:sp>
        <p:nvSpPr>
          <p:cNvPr id="17" name="Shape 15"/>
          <p:cNvSpPr/>
          <p:nvPr/>
        </p:nvSpPr>
        <p:spPr>
          <a:xfrm>
            <a:off x="4617720" y="4773168"/>
            <a:ext cx="457200" cy="64008"/>
          </a:xfrm>
          <a:prstGeom prst="roundRect">
            <a:avLst>
              <a:gd name="adj" fmla="val 50000"/>
            </a:avLst>
          </a:prstGeom>
          <a:solidFill>
            <a:srgbClr val="248A3D"/>
          </a:solidFill>
          <a:ln/>
        </p:spPr>
      </p:sp>
      <p:sp>
        <p:nvSpPr>
          <p:cNvPr id="18" name="Text 16"/>
          <p:cNvSpPr txBox="1"/>
          <p:nvPr/>
        </p:nvSpPr>
        <p:spPr>
          <a:xfrm>
            <a:off x="46177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Dependent variables</a:t>
            </a:r>
            <a:endParaRPr lang="en-US" sz="1550" dirty="0"/>
          </a:p>
        </p:txBody>
      </p:sp>
      <p:sp>
        <p:nvSpPr>
          <p:cNvPr id="19" name="Text 17"/>
          <p:cNvSpPr txBox="1"/>
          <p:nvPr/>
        </p:nvSpPr>
        <p:spPr>
          <a:xfrm>
            <a:off x="4617720" y="5285232"/>
            <a:ext cx="3017520" cy="77724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Events detected, AHI score, agreement with a reference oximeter</a:t>
            </a:r>
            <a:endParaRPr lang="en-US" sz="1350" dirty="0"/>
          </a:p>
        </p:txBody>
      </p:sp>
      <p:sp>
        <p:nvSpPr>
          <p:cNvPr id="20" name="Shape 18"/>
          <p:cNvSpPr/>
          <p:nvPr/>
        </p:nvSpPr>
        <p:spPr>
          <a:xfrm>
            <a:off x="8001000" y="4553712"/>
            <a:ext cx="3502152" cy="1600200"/>
          </a:xfrm>
          <a:prstGeom prst="roundRect">
            <a:avLst>
              <a:gd name="adj" fmla="val 12571"/>
            </a:avLst>
          </a:prstGeom>
          <a:solidFill>
            <a:srgbClr val="F5F5F7"/>
          </a:solidFill>
          <a:ln/>
        </p:spPr>
      </p:sp>
      <p:sp>
        <p:nvSpPr>
          <p:cNvPr id="21" name="Shape 19"/>
          <p:cNvSpPr/>
          <p:nvPr/>
        </p:nvSpPr>
        <p:spPr>
          <a:xfrm>
            <a:off x="8275320" y="4773168"/>
            <a:ext cx="457200" cy="64008"/>
          </a:xfrm>
          <a:prstGeom prst="roundRect">
            <a:avLst>
              <a:gd name="adj" fmla="val 50000"/>
            </a:avLst>
          </a:prstGeom>
          <a:solidFill>
            <a:srgbClr val="A1A1A6"/>
          </a:solidFill>
          <a:ln/>
        </p:spPr>
      </p:sp>
      <p:sp>
        <p:nvSpPr>
          <p:cNvPr id="22" name="Text 20"/>
          <p:cNvSpPr txBox="1"/>
          <p:nvPr/>
        </p:nvSpPr>
        <p:spPr>
          <a:xfrm>
            <a:off x="8275320" y="4919472"/>
            <a:ext cx="3017520" cy="32004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Controls</a:t>
            </a:r>
            <a:endParaRPr lang="en-US" sz="1550" dirty="0"/>
          </a:p>
        </p:txBody>
      </p:sp>
      <p:sp>
        <p:nvSpPr>
          <p:cNvPr id="23" name="Text 21"/>
          <p:cNvSpPr txBox="1"/>
          <p:nvPr/>
        </p:nvSpPr>
        <p:spPr>
          <a:xfrm>
            <a:off x="8275320" y="5285232"/>
            <a:ext cx="3017520" cy="777240"/>
          </a:xfrm>
          <a:prstGeom prst="rect">
            <a:avLst/>
          </a:prstGeom>
          <a:noFill/>
          <a:ln/>
        </p:spPr>
        <p:txBody>
          <a:bodyPr wrap="square" lIns="0" tIns="0" rIns="0" bIns="0" rtlCol="0" anchor="t"/>
          <a:lstStyle/>
          <a:p>
            <a:pPr indent="0" marL="0">
              <a:buNone/>
            </a:pPr>
            <a:r>
              <a:rPr lang="en-US" sz="1350" dirty="0">
                <a:solidFill>
                  <a:srgbClr val="6E6E73"/>
                </a:solidFill>
                <a:latin typeface="Helvetica Neue" pitchFamily="34" charset="0"/>
                <a:ea typeface="Helvetica Neue" pitchFamily="34" charset="-122"/>
                <a:cs typeface="Helvetica Neue" pitchFamily="34" charset="-120"/>
              </a:rPr>
              <a:t>Same finger, cuff tightness, room, firmware and detection settings</a:t>
            </a:r>
            <a:endParaRPr lang="en-US" sz="1350" dirty="0"/>
          </a:p>
        </p:txBody>
      </p:sp>
      <p:sp>
        <p:nvSpPr>
          <p:cNvPr id="24" name="Text 22"/>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5" name="Text 23"/>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Scientific background</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Breathing stops. Oxygen drops.</a:t>
            </a:r>
            <a:endParaRPr lang="en-US" sz="4000" dirty="0"/>
          </a:p>
        </p:txBody>
      </p:sp>
      <p:sp>
        <p:nvSpPr>
          <p:cNvPr id="4" name="Shape 2"/>
          <p:cNvSpPr/>
          <p:nvPr/>
        </p:nvSpPr>
        <p:spPr>
          <a:xfrm>
            <a:off x="685800" y="2066826"/>
            <a:ext cx="73152" cy="73152"/>
          </a:xfrm>
          <a:prstGeom prst="ellipse">
            <a:avLst/>
          </a:prstGeom>
          <a:solidFill>
            <a:srgbClr val="A1A1A6"/>
          </a:solidFill>
          <a:ln/>
        </p:spPr>
      </p:sp>
      <p:sp>
        <p:nvSpPr>
          <p:cNvPr id="5" name="Text 3"/>
          <p:cNvSpPr txBox="1"/>
          <p:nvPr/>
        </p:nvSpPr>
        <p:spPr>
          <a:xfrm>
            <a:off x="914400" y="1965960"/>
            <a:ext cx="644652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Obstructive sleep apnea: the airway collapses during sleep and breathing pauses for 10 seconds or more, many times a night.</a:t>
            </a:r>
            <a:endParaRPr lang="en-US" sz="1550" dirty="0"/>
          </a:p>
        </p:txBody>
      </p:sp>
      <p:sp>
        <p:nvSpPr>
          <p:cNvPr id="6" name="Shape 4"/>
          <p:cNvSpPr/>
          <p:nvPr/>
        </p:nvSpPr>
        <p:spPr>
          <a:xfrm>
            <a:off x="685800" y="2730020"/>
            <a:ext cx="73152" cy="73152"/>
          </a:xfrm>
          <a:prstGeom prst="ellipse">
            <a:avLst/>
          </a:prstGeom>
          <a:solidFill>
            <a:srgbClr val="A1A1A6"/>
          </a:solidFill>
          <a:ln/>
        </p:spPr>
      </p:sp>
      <p:sp>
        <p:nvSpPr>
          <p:cNvPr id="7" name="Text 5"/>
          <p:cNvSpPr txBox="1"/>
          <p:nvPr/>
        </p:nvSpPr>
        <p:spPr>
          <a:xfrm>
            <a:off x="914400" y="2629154"/>
            <a:ext cx="644652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Each pause lowers blood oxygen (a desaturation) and makes the heart speed up and slow down.</a:t>
            </a:r>
            <a:endParaRPr lang="en-US" sz="1550" dirty="0"/>
          </a:p>
        </p:txBody>
      </p:sp>
      <p:sp>
        <p:nvSpPr>
          <p:cNvPr id="8" name="Shape 6"/>
          <p:cNvSpPr/>
          <p:nvPr/>
        </p:nvSpPr>
        <p:spPr>
          <a:xfrm>
            <a:off x="685800" y="3393214"/>
            <a:ext cx="73152" cy="73152"/>
          </a:xfrm>
          <a:prstGeom prst="ellipse">
            <a:avLst/>
          </a:prstGeom>
          <a:solidFill>
            <a:srgbClr val="A1A1A6"/>
          </a:solidFill>
          <a:ln/>
        </p:spPr>
      </p:sp>
      <p:sp>
        <p:nvSpPr>
          <p:cNvPr id="9" name="Text 7"/>
          <p:cNvSpPr txBox="1"/>
          <p:nvPr/>
        </p:nvSpPr>
        <p:spPr>
          <a:xfrm>
            <a:off x="914400" y="3292348"/>
            <a:ext cx="644652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Pulse oximetry: red (660 nm) and infrared (880 nm) light shine through the fingertip. Oxygen-rich blood absorbs them differently, giving SpO₂.</a:t>
            </a:r>
            <a:endParaRPr lang="en-US" sz="1550" dirty="0"/>
          </a:p>
        </p:txBody>
      </p:sp>
      <p:sp>
        <p:nvSpPr>
          <p:cNvPr id="10" name="Shape 8"/>
          <p:cNvSpPr/>
          <p:nvPr/>
        </p:nvSpPr>
        <p:spPr>
          <a:xfrm>
            <a:off x="685800" y="4296565"/>
            <a:ext cx="73152" cy="73152"/>
          </a:xfrm>
          <a:prstGeom prst="ellipse">
            <a:avLst/>
          </a:prstGeom>
          <a:solidFill>
            <a:srgbClr val="A1A1A6"/>
          </a:solidFill>
          <a:ln/>
        </p:spPr>
      </p:sp>
      <p:sp>
        <p:nvSpPr>
          <p:cNvPr id="11" name="Text 9"/>
          <p:cNvSpPr txBox="1"/>
          <p:nvPr/>
        </p:nvSpPr>
        <p:spPr>
          <a:xfrm>
            <a:off x="914400" y="4195699"/>
            <a:ext cx="644652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Doctors count events per hour of sleep: the Apnea–Hypopnea Index (AHI). A clinical sleep study costs thousands and needs a lab.</a:t>
            </a:r>
            <a:endParaRPr lang="en-US" sz="1550" dirty="0"/>
          </a:p>
        </p:txBody>
      </p:sp>
      <p:sp>
        <p:nvSpPr>
          <p:cNvPr id="12" name="Shape 10"/>
          <p:cNvSpPr/>
          <p:nvPr/>
        </p:nvSpPr>
        <p:spPr>
          <a:xfrm>
            <a:off x="7726680" y="1920240"/>
            <a:ext cx="3776472" cy="2514600"/>
          </a:xfrm>
          <a:prstGeom prst="roundRect">
            <a:avLst>
              <a:gd name="adj" fmla="val 8000"/>
            </a:avLst>
          </a:prstGeom>
          <a:solidFill>
            <a:srgbClr val="000000"/>
          </a:solidFill>
          <a:ln/>
        </p:spPr>
      </p:sp>
      <p:sp>
        <p:nvSpPr>
          <p:cNvPr id="13" name="Text 11"/>
          <p:cNvSpPr txBox="1"/>
          <p:nvPr/>
        </p:nvSpPr>
        <p:spPr>
          <a:xfrm>
            <a:off x="8001000" y="2194560"/>
            <a:ext cx="3291840" cy="685800"/>
          </a:xfrm>
          <a:prstGeom prst="rect">
            <a:avLst/>
          </a:prstGeom>
          <a:noFill/>
          <a:ln/>
        </p:spPr>
        <p:txBody>
          <a:bodyPr wrap="square" lIns="0" tIns="0" rIns="0" bIns="0" rtlCol="0" anchor="t"/>
          <a:lstStyle/>
          <a:p>
            <a:pPr indent="0" marL="0">
              <a:buNone/>
            </a:pPr>
            <a:r>
              <a:rPr lang="en-US" sz="4000" b="1" dirty="0">
                <a:solidFill>
                  <a:srgbClr val="FFFFFF"/>
                </a:solidFill>
                <a:latin typeface="Helvetica Neue" pitchFamily="34" charset="0"/>
                <a:ea typeface="Helvetica Neue" pitchFamily="34" charset="-122"/>
                <a:cs typeface="Helvetica Neue" pitchFamily="34" charset="-120"/>
              </a:rPr>
              <a:t>936 million</a:t>
            </a:r>
            <a:endParaRPr lang="en-US" sz="4000" dirty="0"/>
          </a:p>
        </p:txBody>
      </p:sp>
      <p:sp>
        <p:nvSpPr>
          <p:cNvPr id="14" name="Text 12"/>
          <p:cNvSpPr txBox="1"/>
          <p:nvPr/>
        </p:nvSpPr>
        <p:spPr>
          <a:xfrm>
            <a:off x="8001000" y="2971800"/>
            <a:ext cx="3291840" cy="1280160"/>
          </a:xfrm>
          <a:prstGeom prst="rect">
            <a:avLst/>
          </a:prstGeom>
          <a:noFill/>
          <a:ln/>
        </p:spPr>
        <p:txBody>
          <a:bodyPr wrap="square" lIns="0" tIns="0" rIns="0" bIns="0" rtlCol="0" anchor="t"/>
          <a:lstStyle/>
          <a:p>
            <a:pPr indent="0" marL="0">
              <a:lnSpc>
                <a:spcPct val="105000"/>
              </a:lnSpc>
              <a:buNone/>
            </a:pPr>
            <a:r>
              <a:rPr lang="en-US" sz="1450" dirty="0">
                <a:solidFill>
                  <a:srgbClr val="86868B"/>
                </a:solidFill>
                <a:latin typeface="Helvetica Neue" pitchFamily="34" charset="0"/>
                <a:ea typeface="Helvetica Neue" pitchFamily="34" charset="-122"/>
                <a:cs typeface="Helvetica Neue" pitchFamily="34" charset="-120"/>
              </a:rPr>
              <a:t>adults worldwide have obstructive sleep apnea. Most don’t know it (Benjafield et al., 2019).</a:t>
            </a:r>
            <a:endParaRPr lang="en-US" sz="1450" dirty="0"/>
          </a:p>
        </p:txBody>
      </p:sp>
      <p:sp>
        <p:nvSpPr>
          <p:cNvPr id="15" name="Shape 13"/>
          <p:cNvSpPr/>
          <p:nvPr/>
        </p:nvSpPr>
        <p:spPr>
          <a:xfrm>
            <a:off x="685800" y="4983480"/>
            <a:ext cx="2587752" cy="1234440"/>
          </a:xfrm>
          <a:prstGeom prst="roundRect">
            <a:avLst>
              <a:gd name="adj" fmla="val 16296"/>
            </a:avLst>
          </a:prstGeom>
          <a:solidFill>
            <a:srgbClr val="F5F5F7"/>
          </a:solidFill>
          <a:ln/>
        </p:spPr>
      </p:sp>
      <p:sp>
        <p:nvSpPr>
          <p:cNvPr id="16" name="Text 14"/>
          <p:cNvSpPr txBox="1"/>
          <p:nvPr/>
        </p:nvSpPr>
        <p:spPr>
          <a:xfrm>
            <a:off x="685800" y="5120640"/>
            <a:ext cx="2587752" cy="548640"/>
          </a:xfrm>
          <a:prstGeom prst="rect">
            <a:avLst/>
          </a:prstGeom>
          <a:noFill/>
          <a:ln/>
        </p:spPr>
        <p:txBody>
          <a:bodyPr wrap="square" lIns="0" tIns="0" rIns="0" bIns="0" rtlCol="0" anchor="t"/>
          <a:lstStyle/>
          <a:p>
            <a:pPr algn="ctr" indent="0" marL="0">
              <a:buNone/>
            </a:pPr>
            <a:r>
              <a:rPr lang="en-US" sz="3000" b="1" dirty="0">
                <a:solidFill>
                  <a:srgbClr val="248A3D"/>
                </a:solidFill>
                <a:latin typeface="Helvetica Neue" pitchFamily="34" charset="0"/>
                <a:ea typeface="Helvetica Neue" pitchFamily="34" charset="-122"/>
                <a:cs typeface="Helvetica Neue" pitchFamily="34" charset="-120"/>
              </a:rPr>
              <a:t>&lt; 5</a:t>
            </a:r>
            <a:endParaRPr lang="en-US" sz="3000" dirty="0"/>
          </a:p>
        </p:txBody>
      </p:sp>
      <p:sp>
        <p:nvSpPr>
          <p:cNvPr id="17" name="Text 15"/>
          <p:cNvSpPr txBox="1"/>
          <p:nvPr/>
        </p:nvSpPr>
        <p:spPr>
          <a:xfrm>
            <a:off x="6858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Normal · events per hour</a:t>
            </a:r>
            <a:endParaRPr lang="en-US" sz="1250" dirty="0"/>
          </a:p>
        </p:txBody>
      </p:sp>
      <p:sp>
        <p:nvSpPr>
          <p:cNvPr id="18" name="Shape 16"/>
          <p:cNvSpPr/>
          <p:nvPr/>
        </p:nvSpPr>
        <p:spPr>
          <a:xfrm>
            <a:off x="3429000" y="4983480"/>
            <a:ext cx="2587752" cy="1234440"/>
          </a:xfrm>
          <a:prstGeom prst="roundRect">
            <a:avLst>
              <a:gd name="adj" fmla="val 16296"/>
            </a:avLst>
          </a:prstGeom>
          <a:solidFill>
            <a:srgbClr val="F5F5F7"/>
          </a:solidFill>
          <a:ln/>
        </p:spPr>
      </p:sp>
      <p:sp>
        <p:nvSpPr>
          <p:cNvPr id="19" name="Text 17"/>
          <p:cNvSpPr txBox="1"/>
          <p:nvPr/>
        </p:nvSpPr>
        <p:spPr>
          <a:xfrm>
            <a:off x="3429000" y="5120640"/>
            <a:ext cx="2587752" cy="548640"/>
          </a:xfrm>
          <a:prstGeom prst="rect">
            <a:avLst/>
          </a:prstGeom>
          <a:noFill/>
          <a:ln/>
        </p:spPr>
        <p:txBody>
          <a:bodyPr wrap="square" lIns="0" tIns="0" rIns="0" bIns="0" rtlCol="0" anchor="t"/>
          <a:lstStyle/>
          <a:p>
            <a:pPr algn="ctr" indent="0" marL="0">
              <a:buNone/>
            </a:pPr>
            <a:r>
              <a:rPr lang="en-US" sz="3000" b="1" dirty="0">
                <a:solidFill>
                  <a:srgbClr val="C45500"/>
                </a:solidFill>
                <a:latin typeface="Helvetica Neue" pitchFamily="34" charset="0"/>
                <a:ea typeface="Helvetica Neue" pitchFamily="34" charset="-122"/>
                <a:cs typeface="Helvetica Neue" pitchFamily="34" charset="-120"/>
              </a:rPr>
              <a:t>5–15</a:t>
            </a:r>
            <a:endParaRPr lang="en-US" sz="3000" dirty="0"/>
          </a:p>
        </p:txBody>
      </p:sp>
      <p:sp>
        <p:nvSpPr>
          <p:cNvPr id="20" name="Text 18"/>
          <p:cNvSpPr txBox="1"/>
          <p:nvPr/>
        </p:nvSpPr>
        <p:spPr>
          <a:xfrm>
            <a:off x="34290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Mild · events per hour</a:t>
            </a:r>
            <a:endParaRPr lang="en-US" sz="1250" dirty="0"/>
          </a:p>
        </p:txBody>
      </p:sp>
      <p:sp>
        <p:nvSpPr>
          <p:cNvPr id="21" name="Shape 19"/>
          <p:cNvSpPr/>
          <p:nvPr/>
        </p:nvSpPr>
        <p:spPr>
          <a:xfrm>
            <a:off x="6172200" y="4983480"/>
            <a:ext cx="2587752" cy="1234440"/>
          </a:xfrm>
          <a:prstGeom prst="roundRect">
            <a:avLst>
              <a:gd name="adj" fmla="val 16296"/>
            </a:avLst>
          </a:prstGeom>
          <a:solidFill>
            <a:srgbClr val="F5F5F7"/>
          </a:solidFill>
          <a:ln/>
        </p:spPr>
      </p:sp>
      <p:sp>
        <p:nvSpPr>
          <p:cNvPr id="22" name="Text 20"/>
          <p:cNvSpPr txBox="1"/>
          <p:nvPr/>
        </p:nvSpPr>
        <p:spPr>
          <a:xfrm>
            <a:off x="6172200" y="5120640"/>
            <a:ext cx="2587752" cy="548640"/>
          </a:xfrm>
          <a:prstGeom prst="rect">
            <a:avLst/>
          </a:prstGeom>
          <a:noFill/>
          <a:ln/>
        </p:spPr>
        <p:txBody>
          <a:bodyPr wrap="square" lIns="0" tIns="0" rIns="0" bIns="0" rtlCol="0" anchor="t"/>
          <a:lstStyle/>
          <a:p>
            <a:pPr algn="ctr" indent="0" marL="0">
              <a:buNone/>
            </a:pPr>
            <a:r>
              <a:rPr lang="en-US" sz="3000" b="1" dirty="0">
                <a:solidFill>
                  <a:srgbClr val="B4410B"/>
                </a:solidFill>
                <a:latin typeface="Helvetica Neue" pitchFamily="34" charset="0"/>
                <a:ea typeface="Helvetica Neue" pitchFamily="34" charset="-122"/>
                <a:cs typeface="Helvetica Neue" pitchFamily="34" charset="-120"/>
              </a:rPr>
              <a:t>15–30</a:t>
            </a:r>
            <a:endParaRPr lang="en-US" sz="3000" dirty="0"/>
          </a:p>
        </p:txBody>
      </p:sp>
      <p:sp>
        <p:nvSpPr>
          <p:cNvPr id="23" name="Text 21"/>
          <p:cNvSpPr txBox="1"/>
          <p:nvPr/>
        </p:nvSpPr>
        <p:spPr>
          <a:xfrm>
            <a:off x="61722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Moderate · events per hour</a:t>
            </a:r>
            <a:endParaRPr lang="en-US" sz="1250" dirty="0"/>
          </a:p>
        </p:txBody>
      </p:sp>
      <p:sp>
        <p:nvSpPr>
          <p:cNvPr id="24" name="Shape 22"/>
          <p:cNvSpPr/>
          <p:nvPr/>
        </p:nvSpPr>
        <p:spPr>
          <a:xfrm>
            <a:off x="8915400" y="4983480"/>
            <a:ext cx="2587752" cy="1234440"/>
          </a:xfrm>
          <a:prstGeom prst="roundRect">
            <a:avLst>
              <a:gd name="adj" fmla="val 16296"/>
            </a:avLst>
          </a:prstGeom>
          <a:solidFill>
            <a:srgbClr val="F5F5F7"/>
          </a:solidFill>
          <a:ln/>
        </p:spPr>
      </p:sp>
      <p:sp>
        <p:nvSpPr>
          <p:cNvPr id="25" name="Text 23"/>
          <p:cNvSpPr txBox="1"/>
          <p:nvPr/>
        </p:nvSpPr>
        <p:spPr>
          <a:xfrm>
            <a:off x="8915400" y="5120640"/>
            <a:ext cx="2587752" cy="548640"/>
          </a:xfrm>
          <a:prstGeom prst="rect">
            <a:avLst/>
          </a:prstGeom>
          <a:noFill/>
          <a:ln/>
        </p:spPr>
        <p:txBody>
          <a:bodyPr wrap="square" lIns="0" tIns="0" rIns="0" bIns="0" rtlCol="0" anchor="t"/>
          <a:lstStyle/>
          <a:p>
            <a:pPr algn="ctr" indent="0" marL="0">
              <a:buNone/>
            </a:pPr>
            <a:r>
              <a:rPr lang="en-US" sz="3000" b="1" dirty="0">
                <a:solidFill>
                  <a:srgbClr val="D70015"/>
                </a:solidFill>
                <a:latin typeface="Helvetica Neue" pitchFamily="34" charset="0"/>
                <a:ea typeface="Helvetica Neue" pitchFamily="34" charset="-122"/>
                <a:cs typeface="Helvetica Neue" pitchFamily="34" charset="-120"/>
              </a:rPr>
              <a:t>&gt; 30</a:t>
            </a:r>
            <a:endParaRPr lang="en-US" sz="3000" dirty="0"/>
          </a:p>
        </p:txBody>
      </p:sp>
      <p:sp>
        <p:nvSpPr>
          <p:cNvPr id="26" name="Text 24"/>
          <p:cNvSpPr txBox="1"/>
          <p:nvPr/>
        </p:nvSpPr>
        <p:spPr>
          <a:xfrm>
            <a:off x="8915400" y="5715000"/>
            <a:ext cx="2587752" cy="320040"/>
          </a:xfrm>
          <a:prstGeom prst="rect">
            <a:avLst/>
          </a:prstGeom>
          <a:noFill/>
          <a:ln/>
        </p:spPr>
        <p:txBody>
          <a:bodyPr wrap="square" lIns="0" tIns="0" rIns="0" bIns="0" rtlCol="0" anchor="t"/>
          <a:lstStyle/>
          <a:p>
            <a:pPr algn="ctr" indent="0" marL="0">
              <a:buNone/>
            </a:pPr>
            <a:r>
              <a:rPr lang="en-US" sz="1250" dirty="0">
                <a:solidFill>
                  <a:srgbClr val="6E6E73"/>
                </a:solidFill>
                <a:latin typeface="Helvetica Neue" pitchFamily="34" charset="0"/>
                <a:ea typeface="Helvetica Neue" pitchFamily="34" charset="-122"/>
                <a:cs typeface="Helvetica Neue" pitchFamily="34" charset="-120"/>
              </a:rPr>
              <a:t>Severe · events per hour</a:t>
            </a:r>
            <a:endParaRPr lang="en-US" sz="1250" dirty="0"/>
          </a:p>
        </p:txBody>
      </p:sp>
      <p:sp>
        <p:nvSpPr>
          <p:cNvPr id="27" name="Text 25"/>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8" name="Text 26"/>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algn="ctr" indent="0" marL="0">
              <a:buNone/>
            </a:pPr>
            <a:r>
              <a:rPr lang="en-US" sz="1600" b="1" dirty="0">
                <a:solidFill>
                  <a:srgbClr val="FF375F"/>
                </a:solidFill>
                <a:latin typeface="Helvetica Neue" pitchFamily="34" charset="0"/>
                <a:ea typeface="Helvetica Neue" pitchFamily="34" charset="-122"/>
                <a:cs typeface="Helvetica Neue" pitchFamily="34" charset="-120"/>
              </a:rPr>
              <a:t>Design</a:t>
            </a:r>
            <a:endParaRPr lang="en-US" sz="1600" dirty="0"/>
          </a:p>
        </p:txBody>
      </p:sp>
      <p:sp>
        <p:nvSpPr>
          <p:cNvPr id="3" name="Text 1"/>
          <p:cNvSpPr txBox="1"/>
          <p:nvPr/>
        </p:nvSpPr>
        <p:spPr>
          <a:xfrm>
            <a:off x="685800" y="822960"/>
            <a:ext cx="10789920" cy="868680"/>
          </a:xfrm>
          <a:prstGeom prst="rect">
            <a:avLst/>
          </a:prstGeom>
          <a:noFill/>
          <a:ln/>
        </p:spPr>
        <p:txBody>
          <a:bodyPr wrap="square" lIns="0" tIns="0" rIns="0" bIns="0" rtlCol="0" anchor="t"/>
          <a:lstStyle/>
          <a:p>
            <a:pPr algn="ctr" indent="0" marL="0">
              <a:lnSpc>
                <a:spcPct val="92000"/>
              </a:lnSpc>
              <a:buNone/>
            </a:pPr>
            <a:r>
              <a:rPr lang="en-US" sz="4800" b="1" dirty="0">
                <a:solidFill>
                  <a:srgbClr val="FFFFFF"/>
                </a:solidFill>
                <a:latin typeface="Helvetica Neue" pitchFamily="34" charset="0"/>
                <a:ea typeface="Helvetica Neue" pitchFamily="34" charset="-122"/>
                <a:cs typeface="Helvetica Neue" pitchFamily="34" charset="-120"/>
              </a:rPr>
              <a:t>The wearable.</a:t>
            </a:r>
            <a:endParaRPr lang="en-US" sz="4800" dirty="0"/>
          </a:p>
        </p:txBody>
      </p:sp>
      <p:pic>
        <p:nvPicPr>
          <p:cNvPr id="4" name="Image 0" descr="/home/user/teetomivV2/science-fair/night-signal/slides/assets/hero_alpha.png">    </p:cNvPr>
          <p:cNvPicPr>
            <a:picLocks noChangeAspect="1"/>
          </p:cNvPicPr>
          <p:nvPr/>
        </p:nvPicPr>
        <p:blipFill>
          <a:blip r:embed="rId2"/>
          <a:stretch>
            <a:fillRect/>
          </a:stretch>
        </p:blipFill>
        <p:spPr>
          <a:xfrm>
            <a:off x="2333411" y="1737360"/>
            <a:ext cx="3279203" cy="3200400"/>
          </a:xfrm>
          <a:prstGeom prst="rect">
            <a:avLst/>
          </a:prstGeom>
        </p:spPr>
      </p:pic>
      <p:pic>
        <p:nvPicPr>
          <p:cNvPr id="5" name="Image 1" descr="/home/user/teetomivV2/science-fair/night-signal/slides/assets/exploded_alpha.png">    </p:cNvPr>
          <p:cNvPicPr>
            <a:picLocks noChangeAspect="1"/>
          </p:cNvPicPr>
          <p:nvPr/>
        </p:nvPicPr>
        <p:blipFill>
          <a:blip r:embed="rId3"/>
          <a:stretch>
            <a:fillRect/>
          </a:stretch>
        </p:blipFill>
        <p:spPr>
          <a:xfrm>
            <a:off x="6527013" y="1737360"/>
            <a:ext cx="3331271" cy="3200400"/>
          </a:xfrm>
          <a:prstGeom prst="rect">
            <a:avLst/>
          </a:prstGeom>
        </p:spPr>
      </p:pic>
      <p:sp>
        <p:nvSpPr>
          <p:cNvPr id="6" name="Text 2"/>
          <p:cNvSpPr txBox="1"/>
          <p:nvPr/>
        </p:nvSpPr>
        <p:spPr>
          <a:xfrm>
            <a:off x="2059091" y="4983480"/>
            <a:ext cx="3827843"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v2 design: sealed case on a velcro strap</a:t>
            </a:r>
            <a:endParaRPr lang="en-US" sz="1200" dirty="0"/>
          </a:p>
        </p:txBody>
      </p:sp>
      <p:sp>
        <p:nvSpPr>
          <p:cNvPr id="7" name="Text 3"/>
          <p:cNvSpPr txBox="1"/>
          <p:nvPr/>
        </p:nvSpPr>
        <p:spPr>
          <a:xfrm>
            <a:off x="6252693" y="4983480"/>
            <a:ext cx="3879911" cy="274320"/>
          </a:xfrm>
          <a:prstGeom prst="rect">
            <a:avLst/>
          </a:prstGeom>
          <a:noFill/>
          <a:ln/>
        </p:spPr>
        <p:txBody>
          <a:bodyPr wrap="square" lIns="0" tIns="0" rIns="0" bIns="0" rtlCol="0" anchor="t"/>
          <a:lstStyle/>
          <a:p>
            <a:pPr algn="ctr" indent="0" marL="0">
              <a:buNone/>
            </a:pPr>
            <a:r>
              <a:rPr lang="en-US" sz="1200" dirty="0">
                <a:solidFill>
                  <a:srgbClr val="86868B"/>
                </a:solidFill>
                <a:latin typeface="Helvetica Neue" pitchFamily="34" charset="0"/>
                <a:ea typeface="Helvetica Neue" pitchFamily="34" charset="-122"/>
                <a:cs typeface="Helvetica Neue" pitchFamily="34" charset="-120"/>
              </a:rPr>
              <a:t>Exploded: every v2 part at its real size</a:t>
            </a:r>
            <a:endParaRPr lang="en-US" sz="1200" dirty="0"/>
          </a:p>
        </p:txBody>
      </p:sp>
      <p:sp>
        <p:nvSpPr>
          <p:cNvPr id="8" name="Text 4"/>
          <p:cNvSpPr txBox="1"/>
          <p:nvPr/>
        </p:nvSpPr>
        <p:spPr>
          <a:xfrm>
            <a:off x="68580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Prototype v1</a:t>
            </a:r>
            <a:endParaRPr lang="en-US" sz="2200" dirty="0"/>
          </a:p>
        </p:txBody>
      </p:sp>
      <p:sp>
        <p:nvSpPr>
          <p:cNvPr id="9" name="Text 5"/>
          <p:cNvSpPr txBox="1"/>
          <p:nvPr/>
        </p:nvSpPr>
        <p:spPr>
          <a:xfrm>
            <a:off x="68580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armband + plug-in wires</a:t>
            </a:r>
            <a:endParaRPr lang="en-US" sz="1300" dirty="0"/>
          </a:p>
        </p:txBody>
      </p:sp>
      <p:sp>
        <p:nvSpPr>
          <p:cNvPr id="10" name="Text 6"/>
          <p:cNvSpPr txBox="1"/>
          <p:nvPr/>
        </p:nvSpPr>
        <p:spPr>
          <a:xfrm>
            <a:off x="292608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All night</a:t>
            </a:r>
            <a:endParaRPr lang="en-US" sz="2200" dirty="0"/>
          </a:p>
        </p:txBody>
      </p:sp>
      <p:sp>
        <p:nvSpPr>
          <p:cNvPr id="11" name="Text 7"/>
          <p:cNvSpPr txBox="1"/>
          <p:nvPr/>
        </p:nvSpPr>
        <p:spPr>
          <a:xfrm>
            <a:off x="292608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USB power</a:t>
            </a:r>
            <a:endParaRPr lang="en-US" sz="1300" dirty="0"/>
          </a:p>
        </p:txBody>
      </p:sp>
      <p:sp>
        <p:nvSpPr>
          <p:cNvPr id="12" name="Text 8"/>
          <p:cNvSpPr txBox="1"/>
          <p:nvPr/>
        </p:nvSpPr>
        <p:spPr>
          <a:xfrm>
            <a:off x="516636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14 × 14 mm</a:t>
            </a:r>
            <a:endParaRPr lang="en-US" sz="2200" dirty="0"/>
          </a:p>
        </p:txBody>
      </p:sp>
      <p:sp>
        <p:nvSpPr>
          <p:cNvPr id="13" name="Text 9"/>
          <p:cNvSpPr txBox="1"/>
          <p:nvPr/>
        </p:nvSpPr>
        <p:spPr>
          <a:xfrm>
            <a:off x="516636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finger sensor</a:t>
            </a:r>
            <a:endParaRPr lang="en-US" sz="1300" dirty="0"/>
          </a:p>
        </p:txBody>
      </p:sp>
      <p:sp>
        <p:nvSpPr>
          <p:cNvPr id="14" name="Text 10"/>
          <p:cNvSpPr txBox="1"/>
          <p:nvPr/>
        </p:nvSpPr>
        <p:spPr>
          <a:xfrm>
            <a:off x="7406640" y="5486400"/>
            <a:ext cx="2148840" cy="411480"/>
          </a:xfrm>
          <a:prstGeom prst="rect">
            <a:avLst/>
          </a:prstGeom>
          <a:noFill/>
          <a:ln/>
        </p:spPr>
        <p:txBody>
          <a:bodyPr wrap="square" lIns="0" tIns="0" rIns="0" bIns="0" rtlCol="0" anchor="t"/>
          <a:lstStyle/>
          <a:p>
            <a:pPr indent="0" marL="0">
              <a:buNone/>
            </a:pPr>
            <a:r>
              <a:rPr lang="en-US" sz="2200" b="1" dirty="0">
                <a:solidFill>
                  <a:srgbClr val="FFFFFF"/>
                </a:solidFill>
                <a:latin typeface="Helvetica Neue" pitchFamily="34" charset="0"/>
                <a:ea typeface="Helvetica Neue" pitchFamily="34" charset="-122"/>
                <a:cs typeface="Helvetica Neue" pitchFamily="34" charset="-120"/>
              </a:rPr>
              <a:t>1 / second</a:t>
            </a:r>
            <a:endParaRPr lang="en-US" sz="2200" dirty="0"/>
          </a:p>
        </p:txBody>
      </p:sp>
      <p:sp>
        <p:nvSpPr>
          <p:cNvPr id="15" name="Text 11"/>
          <p:cNvSpPr txBox="1"/>
          <p:nvPr/>
        </p:nvSpPr>
        <p:spPr>
          <a:xfrm>
            <a:off x="7406640" y="5916168"/>
            <a:ext cx="2148840" cy="274320"/>
          </a:xfrm>
          <a:prstGeom prst="rect">
            <a:avLst/>
          </a:prstGeom>
          <a:noFill/>
          <a:ln/>
        </p:spPr>
        <p:txBody>
          <a:bodyPr wrap="square" lIns="0" tIns="0" rIns="0" bIns="0" rtlCol="0" anchor="t"/>
          <a:lstStyle/>
          <a:p>
            <a:pPr indent="0" marL="0">
              <a:buNone/>
            </a:pPr>
            <a:r>
              <a:rPr lang="en-US" sz="1300" dirty="0">
                <a:solidFill>
                  <a:srgbClr val="86868B"/>
                </a:solidFill>
                <a:latin typeface="Helvetica Neue" pitchFamily="34" charset="0"/>
                <a:ea typeface="Helvetica Neue" pitchFamily="34" charset="-122"/>
                <a:cs typeface="Helvetica Neue" pitchFamily="34" charset="-120"/>
              </a:rPr>
              <a:t>readings</a:t>
            </a:r>
            <a:endParaRPr lang="en-US" sz="1300" dirty="0"/>
          </a:p>
        </p:txBody>
      </p:sp>
      <p:sp>
        <p:nvSpPr>
          <p:cNvPr id="16" name="Shape 12"/>
          <p:cNvSpPr/>
          <p:nvPr/>
        </p:nvSpPr>
        <p:spPr>
          <a:xfrm>
            <a:off x="10552176" y="5367528"/>
            <a:ext cx="1014984" cy="1014984"/>
          </a:xfrm>
          <a:prstGeom prst="roundRect">
            <a:avLst>
              <a:gd name="adj" fmla="val 19820"/>
            </a:avLst>
          </a:prstGeom>
          <a:solidFill>
            <a:srgbClr val="FFFFFF"/>
          </a:solidFill>
          <a:ln/>
        </p:spPr>
      </p:sp>
      <p:pic>
        <p:nvPicPr>
          <p:cNvPr id="17" name="Image 2" descr="/home/user/teetomivV2/science-fair/night-signal/slides/assets/qr_3d.png">
            <a:hlinkClick r:id="rId5" tooltip="https://gabrielamamanestudent-wq.github.io/teetomivV2/science-fair/night-signal/app/3d.html"/>
          </p:cNvPr>
          <p:cNvPicPr>
            <a:picLocks noChangeAspect="1"/>
          </p:cNvPicPr>
          <p:nvPr/>
        </p:nvPicPr>
        <p:blipFill>
          <a:blip r:embed="rId4"/>
          <a:stretch>
            <a:fillRect/>
          </a:stretch>
        </p:blipFill>
        <p:spPr>
          <a:xfrm>
            <a:off x="10625328" y="5440680"/>
            <a:ext cx="868680" cy="868680"/>
          </a:xfrm>
          <a:prstGeom prst="rect">
            <a:avLst/>
          </a:prstGeom>
        </p:spPr>
      </p:pic>
      <p:sp>
        <p:nvSpPr>
          <p:cNvPr id="18" name="Text 13"/>
          <p:cNvSpPr txBox="1"/>
          <p:nvPr/>
        </p:nvSpPr>
        <p:spPr>
          <a:xfrm>
            <a:off x="9235440" y="5715000"/>
            <a:ext cx="1280160" cy="310896"/>
          </a:xfrm>
          <a:prstGeom prst="rect">
            <a:avLst/>
          </a:prstGeom>
          <a:noFill/>
          <a:ln/>
        </p:spPr>
        <p:txBody>
          <a:bodyPr wrap="square" lIns="0" tIns="0" rIns="0" bIns="0" rtlCol="0" anchor="ctr"/>
          <a:lstStyle/>
          <a:p>
            <a:pPr algn="r" indent="0" marL="0">
              <a:buNone/>
            </a:pPr>
            <a:r>
              <a:rPr lang="en-US" sz="1300" u="sng" dirty="0">
                <a:solidFill>
                  <a:srgbClr val="2997FF"/>
                </a:solidFill>
                <a:latin typeface="Helvetica Neue" pitchFamily="34" charset="0"/>
                <a:ea typeface="Helvetica Neue" pitchFamily="34" charset="-122"/>
                <a:cs typeface="Helvetica Neue" pitchFamily="34" charset="-120"/>
                <a:hlinkClick r:id="rId6" invalidUrl="" action="" tgtFrame="" tooltip="https://gabrielamamanestudent-wq.github.io/teetomivV2/science-fair/night-signal/app/3d.html" history="1" highlightClick="0" endSnd="0">
                  <a:extLst>
                    <a:ext uri="{A12FA001-AC4F-418D-AE19-62706E023703}">
                      <ahyp:hlinkClr xmlns:ahyp="http://schemas.microsoft.com/office/drawing/2018/hyperlinkcolor" val="tx"/>
                    </a:ext>
                  </a:extLst>
                </a:hlinkClick>
              </a:rPr>
              <a:t>Interactive 3D ›</a:t>
            </a:r>
            <a:endParaRPr lang="en-US" sz="1300" dirty="0"/>
          </a:p>
        </p:txBody>
      </p:sp>
      <p:sp>
        <p:nvSpPr>
          <p:cNvPr id="19" name="Text 14"/>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20" name="Text 15"/>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How it works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From fingertip to sleep report.</a:t>
            </a:r>
            <a:endParaRPr lang="en-US" sz="4000" dirty="0"/>
          </a:p>
        </p:txBody>
      </p:sp>
      <p:sp>
        <p:nvSpPr>
          <p:cNvPr id="4" name="Shape 2"/>
          <p:cNvSpPr/>
          <p:nvPr/>
        </p:nvSpPr>
        <p:spPr>
          <a:xfrm>
            <a:off x="685800" y="1920240"/>
            <a:ext cx="2542032" cy="1417320"/>
          </a:xfrm>
          <a:prstGeom prst="roundRect">
            <a:avLst>
              <a:gd name="adj" fmla="val 14194"/>
            </a:avLst>
          </a:prstGeom>
          <a:solidFill>
            <a:srgbClr val="F5F5F7"/>
          </a:solidFill>
          <a:ln/>
        </p:spPr>
      </p:sp>
      <p:sp>
        <p:nvSpPr>
          <p:cNvPr id="5" name="Text 3"/>
          <p:cNvSpPr txBox="1"/>
          <p:nvPr/>
        </p:nvSpPr>
        <p:spPr>
          <a:xfrm>
            <a:off x="9418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01</a:t>
            </a:r>
            <a:endParaRPr lang="en-US" sz="1300" dirty="0"/>
          </a:p>
        </p:txBody>
      </p:sp>
      <p:sp>
        <p:nvSpPr>
          <p:cNvPr id="6" name="Text 4"/>
          <p:cNvSpPr txBox="1"/>
          <p:nvPr/>
        </p:nvSpPr>
        <p:spPr>
          <a:xfrm>
            <a:off x="9418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Finger sensor</a:t>
            </a:r>
            <a:endParaRPr lang="en-US" sz="1700" dirty="0"/>
          </a:p>
        </p:txBody>
      </p:sp>
      <p:sp>
        <p:nvSpPr>
          <p:cNvPr id="7" name="Text 5"/>
          <p:cNvSpPr txBox="1"/>
          <p:nvPr/>
        </p:nvSpPr>
        <p:spPr>
          <a:xfrm>
            <a:off x="9418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MAX30102 · red + infrared light</a:t>
            </a:r>
            <a:endParaRPr lang="en-US" sz="1250" dirty="0"/>
          </a:p>
        </p:txBody>
      </p:sp>
      <p:sp>
        <p:nvSpPr>
          <p:cNvPr id="8" name="Shape 6"/>
          <p:cNvSpPr/>
          <p:nvPr/>
        </p:nvSpPr>
        <p:spPr>
          <a:xfrm>
            <a:off x="3429000" y="1920240"/>
            <a:ext cx="2542032" cy="1417320"/>
          </a:xfrm>
          <a:prstGeom prst="roundRect">
            <a:avLst>
              <a:gd name="adj" fmla="val 14194"/>
            </a:avLst>
          </a:prstGeom>
          <a:solidFill>
            <a:srgbClr val="F5F5F7"/>
          </a:solidFill>
          <a:ln/>
        </p:spPr>
      </p:sp>
      <p:sp>
        <p:nvSpPr>
          <p:cNvPr id="9" name="Text 7"/>
          <p:cNvSpPr txBox="1"/>
          <p:nvPr/>
        </p:nvSpPr>
        <p:spPr>
          <a:xfrm>
            <a:off x="36850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02</a:t>
            </a:r>
            <a:endParaRPr lang="en-US" sz="1300" dirty="0"/>
          </a:p>
        </p:txBody>
      </p:sp>
      <p:sp>
        <p:nvSpPr>
          <p:cNvPr id="10" name="Text 8"/>
          <p:cNvSpPr txBox="1"/>
          <p:nvPr/>
        </p:nvSpPr>
        <p:spPr>
          <a:xfrm>
            <a:off x="36850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ESP32 on the arm</a:t>
            </a:r>
            <a:endParaRPr lang="en-US" sz="1700" dirty="0"/>
          </a:p>
        </p:txBody>
      </p:sp>
      <p:sp>
        <p:nvSpPr>
          <p:cNvPr id="11" name="Text 9"/>
          <p:cNvSpPr txBox="1"/>
          <p:nvPr/>
        </p:nvSpPr>
        <p:spPr>
          <a:xfrm>
            <a:off x="36850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computes SpO₂ + pulse, reads position</a:t>
            </a:r>
            <a:endParaRPr lang="en-US" sz="1250" dirty="0"/>
          </a:p>
        </p:txBody>
      </p:sp>
      <p:sp>
        <p:nvSpPr>
          <p:cNvPr id="12" name="Shape 10"/>
          <p:cNvSpPr/>
          <p:nvPr/>
        </p:nvSpPr>
        <p:spPr>
          <a:xfrm>
            <a:off x="6172200" y="1920240"/>
            <a:ext cx="2542032" cy="1417320"/>
          </a:xfrm>
          <a:prstGeom prst="roundRect">
            <a:avLst>
              <a:gd name="adj" fmla="val 14194"/>
            </a:avLst>
          </a:prstGeom>
          <a:solidFill>
            <a:srgbClr val="F5F5F7"/>
          </a:solidFill>
          <a:ln/>
        </p:spPr>
      </p:sp>
      <p:sp>
        <p:nvSpPr>
          <p:cNvPr id="13" name="Text 11"/>
          <p:cNvSpPr txBox="1"/>
          <p:nvPr/>
        </p:nvSpPr>
        <p:spPr>
          <a:xfrm>
            <a:off x="64282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03</a:t>
            </a:r>
            <a:endParaRPr lang="en-US" sz="1300" dirty="0"/>
          </a:p>
        </p:txBody>
      </p:sp>
      <p:sp>
        <p:nvSpPr>
          <p:cNvPr id="14" name="Text 12"/>
          <p:cNvSpPr txBox="1"/>
          <p:nvPr/>
        </p:nvSpPr>
        <p:spPr>
          <a:xfrm>
            <a:off x="64282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Bluetooth or USB</a:t>
            </a:r>
            <a:endParaRPr lang="en-US" sz="1700" dirty="0"/>
          </a:p>
        </p:txBody>
      </p:sp>
      <p:sp>
        <p:nvSpPr>
          <p:cNvPr id="15" name="Text 13"/>
          <p:cNvSpPr txBox="1"/>
          <p:nvPr/>
        </p:nvSpPr>
        <p:spPr>
          <a:xfrm>
            <a:off x="64282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one line of data every second</a:t>
            </a:r>
            <a:endParaRPr lang="en-US" sz="1250" dirty="0"/>
          </a:p>
        </p:txBody>
      </p:sp>
      <p:sp>
        <p:nvSpPr>
          <p:cNvPr id="16" name="Shape 14"/>
          <p:cNvSpPr/>
          <p:nvPr/>
        </p:nvSpPr>
        <p:spPr>
          <a:xfrm>
            <a:off x="8915400" y="1920240"/>
            <a:ext cx="2542032" cy="1417320"/>
          </a:xfrm>
          <a:prstGeom prst="roundRect">
            <a:avLst>
              <a:gd name="adj" fmla="val 14194"/>
            </a:avLst>
          </a:prstGeom>
          <a:solidFill>
            <a:srgbClr val="F5F5F7"/>
          </a:solidFill>
          <a:ln/>
        </p:spPr>
      </p:sp>
      <p:sp>
        <p:nvSpPr>
          <p:cNvPr id="17" name="Text 15"/>
          <p:cNvSpPr txBox="1"/>
          <p:nvPr/>
        </p:nvSpPr>
        <p:spPr>
          <a:xfrm>
            <a:off x="9171432" y="2103120"/>
            <a:ext cx="2103120" cy="274320"/>
          </a:xfrm>
          <a:prstGeom prst="rect">
            <a:avLst/>
          </a:prstGeom>
          <a:noFill/>
          <a:ln/>
        </p:spPr>
        <p:txBody>
          <a:bodyPr wrap="square" lIns="0" tIns="0" rIns="0" bIns="0" rtlCol="0" anchor="t"/>
          <a:lstStyle/>
          <a:p>
            <a:pPr indent="0" marL="0">
              <a:buNone/>
            </a:pPr>
            <a:r>
              <a:rPr lang="en-US" sz="1300" b="1" dirty="0">
                <a:solidFill>
                  <a:srgbClr val="0071E3"/>
                </a:solidFill>
                <a:latin typeface="Helvetica Neue" pitchFamily="34" charset="0"/>
                <a:ea typeface="Helvetica Neue" pitchFamily="34" charset="-122"/>
                <a:cs typeface="Helvetica Neue" pitchFamily="34" charset="-120"/>
              </a:rPr>
              <a:t>04</a:t>
            </a:r>
            <a:endParaRPr lang="en-US" sz="1300" dirty="0"/>
          </a:p>
        </p:txBody>
      </p:sp>
      <p:sp>
        <p:nvSpPr>
          <p:cNvPr id="18" name="Text 16"/>
          <p:cNvSpPr txBox="1"/>
          <p:nvPr/>
        </p:nvSpPr>
        <p:spPr>
          <a:xfrm>
            <a:off x="9171432" y="2395728"/>
            <a:ext cx="21031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App + analysis</a:t>
            </a:r>
            <a:endParaRPr lang="en-US" sz="1700" dirty="0"/>
          </a:p>
        </p:txBody>
      </p:sp>
      <p:sp>
        <p:nvSpPr>
          <p:cNvPr id="19" name="Text 17"/>
          <p:cNvSpPr txBox="1"/>
          <p:nvPr/>
        </p:nvSpPr>
        <p:spPr>
          <a:xfrm>
            <a:off x="9171432" y="2770632"/>
            <a:ext cx="2103120" cy="5029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events, AHI, heart, breathing</a:t>
            </a:r>
            <a:endParaRPr lang="en-US" sz="1250" dirty="0"/>
          </a:p>
        </p:txBody>
      </p:sp>
      <p:sp>
        <p:nvSpPr>
          <p:cNvPr id="20" name="Text 18"/>
          <p:cNvSpPr txBox="1"/>
          <p:nvPr/>
        </p:nvSpPr>
        <p:spPr>
          <a:xfrm>
            <a:off x="685800" y="3657600"/>
            <a:ext cx="10789920" cy="365760"/>
          </a:xfrm>
          <a:prstGeom prst="rect">
            <a:avLst/>
          </a:prstGeom>
          <a:noFill/>
          <a:ln/>
        </p:spPr>
        <p:txBody>
          <a:bodyPr wrap="square" lIns="0" tIns="0" rIns="0" bIns="0" rtlCol="0" anchor="t"/>
          <a:lstStyle/>
          <a:p>
            <a:pPr indent="0" marL="0">
              <a:buNone/>
            </a:pPr>
            <a:r>
              <a:rPr lang="en-US" sz="1700" b="1" dirty="0">
                <a:solidFill>
                  <a:srgbClr val="1D1D1F"/>
                </a:solidFill>
                <a:latin typeface="Helvetica Neue" pitchFamily="34" charset="0"/>
                <a:ea typeface="Helvetica Neue" pitchFamily="34" charset="-122"/>
                <a:cs typeface="Helvetica Neue" pitchFamily="34" charset="-120"/>
              </a:rPr>
              <a:t>A built-in self-test proves it’s working before every recording.</a:t>
            </a:r>
            <a:endParaRPr lang="en-US" sz="1700" dirty="0"/>
          </a:p>
        </p:txBody>
      </p:sp>
      <p:sp>
        <p:nvSpPr>
          <p:cNvPr id="21" name="Shape 19"/>
          <p:cNvSpPr/>
          <p:nvPr/>
        </p:nvSpPr>
        <p:spPr>
          <a:xfrm>
            <a:off x="685800" y="4133088"/>
            <a:ext cx="6400800" cy="2194560"/>
          </a:xfrm>
          <a:prstGeom prst="roundRect">
            <a:avLst>
              <a:gd name="adj" fmla="val 9167"/>
            </a:avLst>
          </a:prstGeom>
          <a:solidFill>
            <a:srgbClr val="000000"/>
          </a:solidFill>
          <a:ln/>
        </p:spPr>
      </p:sp>
      <p:sp>
        <p:nvSpPr>
          <p:cNvPr id="22" name="Text 20"/>
          <p:cNvSpPr txBox="1"/>
          <p:nvPr/>
        </p:nvSpPr>
        <p:spPr>
          <a:xfrm>
            <a:off x="960120" y="4315968"/>
            <a:ext cx="5943600" cy="1920240"/>
          </a:xfrm>
          <a:prstGeom prst="rect">
            <a:avLst/>
          </a:prstGeom>
          <a:noFill/>
          <a:ln/>
        </p:spPr>
        <p:txBody>
          <a:bodyPr wrap="square" lIns="0" tIns="0" rIns="0" bIns="0" rtlCol="0" anchor="t"/>
          <a:lstStyle/>
          <a:p>
            <a:pPr indent="0" marL="0">
              <a:spcAft>
                <a:spcPts val="300"/>
              </a:spcAft>
              <a:buNone/>
            </a:pPr>
            <a:r>
              <a:rPr lang="en-US" sz="1250" dirty="0">
                <a:solidFill>
                  <a:srgbClr val="86868B"/>
                </a:solidFill>
                <a:latin typeface="Menlo" pitchFamily="34" charset="0"/>
                <a:ea typeface="Menlo" pitchFamily="34" charset="-122"/>
                <a:cs typeface="Menlo" pitchFamily="34" charset="-120"/>
              </a:rPr>
              <a:t>$ python check_device.py --port /dev/cu.NightSignal</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Data arriving        1 reading/s</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Self-test            oxygen OK · motion OK</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Finger on sensor     100%</a:t>
            </a:r>
            <a:endParaRPr lang="en-US" sz="1250" dirty="0"/>
          </a:p>
          <a:p>
            <a:pPr indent="0" marL="0">
              <a:spcAft>
                <a:spcPts val="300"/>
              </a:spcAft>
              <a:buNone/>
            </a:pPr>
            <a:r>
              <a:rPr lang="en-US" sz="1250" dirty="0">
                <a:solidFill>
                  <a:srgbClr val="30D158"/>
                </a:solidFill>
                <a:latin typeface="Menlo" pitchFamily="34" charset="0"/>
                <a:ea typeface="Menlo" pitchFamily="34" charset="-122"/>
                <a:cs typeface="Menlo" pitchFamily="34" charset="-120"/>
              </a:rPr>
              <a:t>[PASS] Believable values    SpO2 97–98%, HR 60–64</a:t>
            </a:r>
            <a:endParaRPr lang="en-US" sz="1250" dirty="0"/>
          </a:p>
          <a:p>
            <a:pPr indent="0" marL="0">
              <a:spcAft>
                <a:spcPts val="300"/>
              </a:spcAft>
              <a:buNone/>
            </a:pPr>
            <a:r>
              <a:rPr lang="en-US" sz="1250" b="1" dirty="0">
                <a:solidFill>
                  <a:srgbClr val="FFFFFF"/>
                </a:solidFill>
                <a:latin typeface="Menlo" pitchFamily="34" charset="0"/>
                <a:ea typeface="Menlo" pitchFamily="34" charset="-122"/>
                <a:cs typeface="Menlo" pitchFamily="34" charset="-120"/>
              </a:rPr>
              <a:t>RESULT: READY — sending real data</a:t>
            </a:r>
            <a:endParaRPr lang="en-US" sz="1250" dirty="0"/>
          </a:p>
        </p:txBody>
      </p:sp>
      <p:sp>
        <p:nvSpPr>
          <p:cNvPr id="23" name="Shape 21"/>
          <p:cNvSpPr/>
          <p:nvPr/>
        </p:nvSpPr>
        <p:spPr>
          <a:xfrm>
            <a:off x="7452360" y="4303852"/>
            <a:ext cx="73152" cy="73152"/>
          </a:xfrm>
          <a:prstGeom prst="ellipse">
            <a:avLst/>
          </a:prstGeom>
          <a:solidFill>
            <a:srgbClr val="A1A1A6"/>
          </a:solidFill>
          <a:ln/>
        </p:spPr>
      </p:sp>
      <p:sp>
        <p:nvSpPr>
          <p:cNvPr id="24" name="Text 22"/>
          <p:cNvSpPr txBox="1"/>
          <p:nvPr/>
        </p:nvSpPr>
        <p:spPr>
          <a:xfrm>
            <a:off x="7680960" y="4206240"/>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Firmware re-checks both sensors every 30 s.</a:t>
            </a:r>
            <a:endParaRPr lang="en-US" sz="1500" dirty="0"/>
          </a:p>
        </p:txBody>
      </p:sp>
      <p:sp>
        <p:nvSpPr>
          <p:cNvPr id="25" name="Shape 23"/>
          <p:cNvSpPr/>
          <p:nvPr/>
        </p:nvSpPr>
        <p:spPr>
          <a:xfrm>
            <a:off x="7452360" y="4914976"/>
            <a:ext cx="73152" cy="73152"/>
          </a:xfrm>
          <a:prstGeom prst="ellipse">
            <a:avLst/>
          </a:prstGeom>
          <a:solidFill>
            <a:srgbClr val="A1A1A6"/>
          </a:solidFill>
          <a:ln/>
        </p:spPr>
      </p:sp>
      <p:sp>
        <p:nvSpPr>
          <p:cNvPr id="26" name="Text 24"/>
          <p:cNvSpPr txBox="1"/>
          <p:nvPr/>
        </p:nvSpPr>
        <p:spPr>
          <a:xfrm>
            <a:off x="7680960" y="4817364"/>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No finger: readings are marked invalid, never trusted.</a:t>
            </a:r>
            <a:endParaRPr lang="en-US" sz="1500" dirty="0"/>
          </a:p>
        </p:txBody>
      </p:sp>
      <p:sp>
        <p:nvSpPr>
          <p:cNvPr id="27" name="Shape 25"/>
          <p:cNvSpPr/>
          <p:nvPr/>
        </p:nvSpPr>
        <p:spPr>
          <a:xfrm>
            <a:off x="7452360" y="5526100"/>
            <a:ext cx="73152" cy="73152"/>
          </a:xfrm>
          <a:prstGeom prst="ellipse">
            <a:avLst/>
          </a:prstGeom>
          <a:solidFill>
            <a:srgbClr val="A1A1A6"/>
          </a:solidFill>
          <a:ln/>
        </p:spPr>
      </p:sp>
      <p:sp>
        <p:nvSpPr>
          <p:cNvPr id="28" name="Text 26"/>
          <p:cNvSpPr txBox="1"/>
          <p:nvPr/>
        </p:nvSpPr>
        <p:spPr>
          <a:xfrm>
            <a:off x="7680960" y="5428488"/>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The app shows the same checks live, every second.</a:t>
            </a:r>
            <a:endParaRPr lang="en-US" sz="1500" dirty="0"/>
          </a:p>
        </p:txBody>
      </p:sp>
      <p:sp>
        <p:nvSpPr>
          <p:cNvPr id="29" name="Shape 27"/>
          <p:cNvSpPr/>
          <p:nvPr/>
        </p:nvSpPr>
        <p:spPr>
          <a:xfrm>
            <a:off x="7452360" y="6137224"/>
            <a:ext cx="73152" cy="73152"/>
          </a:xfrm>
          <a:prstGeom prst="ellipse">
            <a:avLst/>
          </a:prstGeom>
          <a:solidFill>
            <a:srgbClr val="A1A1A6"/>
          </a:solidFill>
          <a:ln/>
        </p:spPr>
      </p:sp>
      <p:sp>
        <p:nvSpPr>
          <p:cNvPr id="30" name="Text 28"/>
          <p:cNvSpPr txBox="1"/>
          <p:nvPr/>
        </p:nvSpPr>
        <p:spPr>
          <a:xfrm>
            <a:off x="7680960" y="6039612"/>
            <a:ext cx="3840480" cy="537972"/>
          </a:xfrm>
          <a:prstGeom prst="rect">
            <a:avLst/>
          </a:prstGeom>
          <a:noFill/>
          <a:ln/>
        </p:spPr>
        <p:txBody>
          <a:bodyPr wrap="square" lIns="0" tIns="0" rIns="0" bIns="0" rtlCol="0" anchor="t"/>
          <a:lstStyle/>
          <a:p>
            <a:pPr indent="0" marL="0">
              <a:buNone/>
            </a:pPr>
            <a:r>
              <a:rPr lang="en-US" sz="1500" dirty="0">
                <a:solidFill>
                  <a:srgbClr val="1D1D1F"/>
                </a:solidFill>
                <a:latin typeface="Helvetica Neue" pitchFamily="34" charset="0"/>
                <a:ea typeface="Helvetica Neue" pitchFamily="34" charset="-122"/>
                <a:cs typeface="Helvetica Neue" pitchFamily="34" charset="-120"/>
              </a:rPr>
              <a:t>A broken sensor is caught: “NOT READY”.</a:t>
            </a:r>
            <a:endParaRPr lang="en-US" sz="1500" dirty="0"/>
          </a:p>
        </p:txBody>
      </p:sp>
      <p:sp>
        <p:nvSpPr>
          <p:cNvPr id="31" name="Text 29"/>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32" name="Text 30"/>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Experimental protocol</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How I test it.</a:t>
            </a:r>
            <a:endParaRPr lang="en-US" sz="4000" dirty="0"/>
          </a:p>
        </p:txBody>
      </p:sp>
      <p:sp>
        <p:nvSpPr>
          <p:cNvPr id="4" name="Shape 2"/>
          <p:cNvSpPr/>
          <p:nvPr/>
        </p:nvSpPr>
        <p:spPr>
          <a:xfrm>
            <a:off x="685800" y="1920240"/>
            <a:ext cx="475488" cy="475488"/>
          </a:xfrm>
          <a:prstGeom prst="ellipse">
            <a:avLst/>
          </a:prstGeom>
          <a:solidFill>
            <a:srgbClr val="0071E3"/>
          </a:solidFill>
          <a:ln/>
        </p:spPr>
      </p:sp>
      <p:sp>
        <p:nvSpPr>
          <p:cNvPr id="5" name="Text 3"/>
          <p:cNvSpPr txBox="1"/>
          <p:nvPr/>
        </p:nvSpPr>
        <p:spPr>
          <a:xfrm>
            <a:off x="685800" y="192024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1</a:t>
            </a:r>
            <a:endParaRPr lang="en-US" sz="1700" dirty="0"/>
          </a:p>
        </p:txBody>
      </p:sp>
      <p:sp>
        <p:nvSpPr>
          <p:cNvPr id="6" name="Text 4"/>
          <p:cNvSpPr txBox="1"/>
          <p:nvPr/>
        </p:nvSpPr>
        <p:spPr>
          <a:xfrm>
            <a:off x="1371600" y="1984248"/>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Device check   </a:t>
            </a:r>
            <a:pPr indent="0" marL="0">
              <a:buNone/>
            </a:pPr>
            <a:r>
              <a:rPr lang="en-US" sz="1550" dirty="0">
                <a:solidFill>
                  <a:srgbClr val="6E6E73"/>
                </a:solidFill>
                <a:latin typeface="Helvetica Neue" pitchFamily="34" charset="0"/>
                <a:ea typeface="Helvetica Neue" pitchFamily="34" charset="-122"/>
                <a:cs typeface="Helvetica Neue" pitchFamily="34" charset="-120"/>
              </a:rPr>
              <a:t>every session must pass check_device.py</a:t>
            </a:r>
            <a:endParaRPr lang="en-US" sz="1550" dirty="0"/>
          </a:p>
        </p:txBody>
      </p:sp>
      <p:sp>
        <p:nvSpPr>
          <p:cNvPr id="7" name="Shape 5"/>
          <p:cNvSpPr/>
          <p:nvPr/>
        </p:nvSpPr>
        <p:spPr>
          <a:xfrm>
            <a:off x="685800" y="2761488"/>
            <a:ext cx="475488" cy="475488"/>
          </a:xfrm>
          <a:prstGeom prst="ellipse">
            <a:avLst/>
          </a:prstGeom>
          <a:solidFill>
            <a:srgbClr val="0071E3"/>
          </a:solidFill>
          <a:ln/>
        </p:spPr>
      </p:sp>
      <p:sp>
        <p:nvSpPr>
          <p:cNvPr id="8" name="Text 6"/>
          <p:cNvSpPr txBox="1"/>
          <p:nvPr/>
        </p:nvSpPr>
        <p:spPr>
          <a:xfrm>
            <a:off x="685800" y="2761488"/>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2</a:t>
            </a:r>
            <a:endParaRPr lang="en-US" sz="1700" dirty="0"/>
          </a:p>
        </p:txBody>
      </p:sp>
      <p:sp>
        <p:nvSpPr>
          <p:cNvPr id="9" name="Text 7"/>
          <p:cNvSpPr txBox="1"/>
          <p:nvPr/>
        </p:nvSpPr>
        <p:spPr>
          <a:xfrm>
            <a:off x="1371600" y="2825496"/>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Accuracy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awake, side by side with a store-bought oximeter every 2 min for 30 min</a:t>
            </a:r>
            <a:endParaRPr lang="en-US" sz="1550" dirty="0"/>
          </a:p>
        </p:txBody>
      </p:sp>
      <p:sp>
        <p:nvSpPr>
          <p:cNvPr id="10" name="Shape 8"/>
          <p:cNvSpPr/>
          <p:nvPr/>
        </p:nvSpPr>
        <p:spPr>
          <a:xfrm>
            <a:off x="685800" y="3602736"/>
            <a:ext cx="475488" cy="475488"/>
          </a:xfrm>
          <a:prstGeom prst="ellipse">
            <a:avLst/>
          </a:prstGeom>
          <a:solidFill>
            <a:srgbClr val="0071E3"/>
          </a:solidFill>
          <a:ln/>
        </p:spPr>
      </p:sp>
      <p:sp>
        <p:nvSpPr>
          <p:cNvPr id="11" name="Text 9"/>
          <p:cNvSpPr txBox="1"/>
          <p:nvPr/>
        </p:nvSpPr>
        <p:spPr>
          <a:xfrm>
            <a:off x="685800" y="3602736"/>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3</a:t>
            </a:r>
            <a:endParaRPr lang="en-US" sz="1700" dirty="0"/>
          </a:p>
        </p:txBody>
      </p:sp>
      <p:sp>
        <p:nvSpPr>
          <p:cNvPr id="12" name="Text 10"/>
          <p:cNvSpPr txBox="1"/>
          <p:nvPr/>
        </p:nvSpPr>
        <p:spPr>
          <a:xfrm>
            <a:off x="1371600" y="3666744"/>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Detection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supervised, awake breath-holds of 10, 15 and 20 s: known events</a:t>
            </a:r>
            <a:endParaRPr lang="en-US" sz="1550" dirty="0"/>
          </a:p>
        </p:txBody>
      </p:sp>
      <p:sp>
        <p:nvSpPr>
          <p:cNvPr id="13" name="Shape 11"/>
          <p:cNvSpPr/>
          <p:nvPr/>
        </p:nvSpPr>
        <p:spPr>
          <a:xfrm>
            <a:off x="685800" y="4443984"/>
            <a:ext cx="475488" cy="475488"/>
          </a:xfrm>
          <a:prstGeom prst="ellipse">
            <a:avLst/>
          </a:prstGeom>
          <a:solidFill>
            <a:srgbClr val="0071E3"/>
          </a:solidFill>
          <a:ln/>
        </p:spPr>
      </p:sp>
      <p:sp>
        <p:nvSpPr>
          <p:cNvPr id="14" name="Text 12"/>
          <p:cNvSpPr txBox="1"/>
          <p:nvPr/>
        </p:nvSpPr>
        <p:spPr>
          <a:xfrm>
            <a:off x="685800" y="4443984"/>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4</a:t>
            </a:r>
            <a:endParaRPr lang="en-US" sz="1700" dirty="0"/>
          </a:p>
        </p:txBody>
      </p:sp>
      <p:sp>
        <p:nvSpPr>
          <p:cNvPr id="15" name="Text 13"/>
          <p:cNvSpPr txBox="1"/>
          <p:nvPr/>
        </p:nvSpPr>
        <p:spPr>
          <a:xfrm>
            <a:off x="1371600" y="4507992"/>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Full-night power test   </a:t>
            </a:r>
            <a:pPr indent="0" marL="0">
              <a:buNone/>
            </a:pPr>
            <a:r>
              <a:rPr lang="en-US" sz="1550" dirty="0">
                <a:solidFill>
                  <a:srgbClr val="6E6E73"/>
                </a:solidFill>
                <a:latin typeface="Helvetica Neue" pitchFamily="34" charset="0"/>
                <a:ea typeface="Helvetica Neue" pitchFamily="34" charset="-122"/>
                <a:cs typeface="Helvetica Neue" pitchFamily="34" charset="-120"/>
              </a:rPr>
              <a:t>USB power, 8 h of data with no gaps</a:t>
            </a:r>
            <a:endParaRPr lang="en-US" sz="1550" dirty="0"/>
          </a:p>
        </p:txBody>
      </p:sp>
      <p:sp>
        <p:nvSpPr>
          <p:cNvPr id="16" name="Shape 14"/>
          <p:cNvSpPr/>
          <p:nvPr/>
        </p:nvSpPr>
        <p:spPr>
          <a:xfrm>
            <a:off x="685800" y="5285232"/>
            <a:ext cx="475488" cy="475488"/>
          </a:xfrm>
          <a:prstGeom prst="ellipse">
            <a:avLst/>
          </a:prstGeom>
          <a:solidFill>
            <a:srgbClr val="0071E3"/>
          </a:solidFill>
          <a:ln/>
        </p:spPr>
      </p:sp>
      <p:sp>
        <p:nvSpPr>
          <p:cNvPr id="17" name="Text 15"/>
          <p:cNvSpPr txBox="1"/>
          <p:nvPr/>
        </p:nvSpPr>
        <p:spPr>
          <a:xfrm>
            <a:off x="685800" y="5285232"/>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Helvetica Neue" pitchFamily="34" charset="0"/>
                <a:ea typeface="Helvetica Neue" pitchFamily="34" charset="-122"/>
                <a:cs typeface="Helvetica Neue" pitchFamily="34" charset="-120"/>
              </a:rPr>
              <a:t>5</a:t>
            </a:r>
            <a:endParaRPr lang="en-US" sz="1700" dirty="0"/>
          </a:p>
        </p:txBody>
      </p:sp>
      <p:sp>
        <p:nvSpPr>
          <p:cNvPr id="18" name="Text 16"/>
          <p:cNvSpPr txBox="1"/>
          <p:nvPr/>
        </p:nvSpPr>
        <p:spPr>
          <a:xfrm>
            <a:off x="1371600" y="5349240"/>
            <a:ext cx="6355080" cy="457200"/>
          </a:xfrm>
          <a:prstGeom prst="rect">
            <a:avLst/>
          </a:prstGeom>
          <a:noFill/>
          <a:ln/>
        </p:spPr>
        <p:txBody>
          <a:bodyPr wrap="square" lIns="0" tIns="0" rIns="0" bIns="0" rtlCol="0" anchor="t"/>
          <a:lstStyle/>
          <a:p>
            <a:pPr indent="0" marL="0">
              <a:buNone/>
            </a:pPr>
            <a:r>
              <a:rPr lang="en-US" sz="1550" b="1" dirty="0">
                <a:solidFill>
                  <a:srgbClr val="1D1D1F"/>
                </a:solidFill>
                <a:latin typeface="Helvetica Neue" pitchFamily="34" charset="0"/>
                <a:ea typeface="Helvetica Neue" pitchFamily="34" charset="-122"/>
                <a:cs typeface="Helvetica Neue" pitchFamily="34" charset="-120"/>
              </a:rPr>
              <a:t>Recorded nights   </a:t>
            </a:r>
            <a:pPr indent="0" marL="0">
              <a:buNone/>
            </a:pPr>
            <a:r>
              <a:rPr lang="en-US" sz="1550" dirty="0">
                <a:solidFill>
                  <a:srgbClr val="6E6E73"/>
                </a:solidFill>
                <a:latin typeface="Helvetica Neue" pitchFamily="34" charset="0"/>
                <a:ea typeface="Helvetica Neue" pitchFamily="34" charset="-122"/>
                <a:cs typeface="Helvetica Neue" pitchFamily="34" charset="-120"/>
              </a:rPr>
              <a:t>at least 5 nights; armband on forearm, clip on index finger</a:t>
            </a:r>
            <a:endParaRPr lang="en-US" sz="1550" dirty="0"/>
          </a:p>
        </p:txBody>
      </p:sp>
      <p:sp>
        <p:nvSpPr>
          <p:cNvPr id="19" name="Shape 17"/>
          <p:cNvSpPr/>
          <p:nvPr/>
        </p:nvSpPr>
        <p:spPr>
          <a:xfrm>
            <a:off x="8001000" y="1874520"/>
            <a:ext cx="3502152" cy="4160520"/>
          </a:xfrm>
          <a:prstGeom prst="roundRect">
            <a:avLst>
              <a:gd name="adj" fmla="val 5744"/>
            </a:avLst>
          </a:prstGeom>
          <a:solidFill>
            <a:srgbClr val="F5F5F7"/>
          </a:solidFill>
          <a:ln/>
        </p:spPr>
      </p:sp>
      <p:sp>
        <p:nvSpPr>
          <p:cNvPr id="20" name="Text 18"/>
          <p:cNvSpPr txBox="1"/>
          <p:nvPr/>
        </p:nvSpPr>
        <p:spPr>
          <a:xfrm>
            <a:off x="8275320" y="2103120"/>
            <a:ext cx="3017520" cy="320040"/>
          </a:xfrm>
          <a:prstGeom prst="rect">
            <a:avLst/>
          </a:prstGeom>
          <a:noFill/>
          <a:ln/>
        </p:spPr>
        <p:txBody>
          <a:bodyPr wrap="square" lIns="0" tIns="0" rIns="0" bIns="0" rtlCol="0" anchor="t"/>
          <a:lstStyle/>
          <a:p>
            <a:pPr indent="0" marL="0">
              <a:buNone/>
            </a:pPr>
            <a:r>
              <a:rPr lang="en-US" sz="1700" b="1" dirty="0">
                <a:solidFill>
                  <a:srgbClr val="D70015"/>
                </a:solidFill>
                <a:latin typeface="Helvetica Neue" pitchFamily="34" charset="0"/>
                <a:ea typeface="Helvetica Neue" pitchFamily="34" charset="-122"/>
                <a:cs typeface="Helvetica Neue" pitchFamily="34" charset="-120"/>
              </a:rPr>
              <a:t>Safety</a:t>
            </a:r>
            <a:endParaRPr lang="en-US" sz="1700" dirty="0"/>
          </a:p>
        </p:txBody>
      </p:sp>
      <p:sp>
        <p:nvSpPr>
          <p:cNvPr id="21" name="Shape 19"/>
          <p:cNvSpPr/>
          <p:nvPr/>
        </p:nvSpPr>
        <p:spPr>
          <a:xfrm>
            <a:off x="8275320" y="2654678"/>
            <a:ext cx="73152" cy="73152"/>
          </a:xfrm>
          <a:prstGeom prst="ellipse">
            <a:avLst/>
          </a:prstGeom>
          <a:solidFill>
            <a:srgbClr val="A1A1A6"/>
          </a:solidFill>
          <a:ln/>
        </p:spPr>
      </p:sp>
      <p:sp>
        <p:nvSpPr>
          <p:cNvPr id="22" name="Text 20"/>
          <p:cNvSpPr txBox="1"/>
          <p:nvPr/>
        </p:nvSpPr>
        <p:spPr>
          <a:xfrm>
            <a:off x="8503920" y="2560320"/>
            <a:ext cx="2788920" cy="747141"/>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Breath-holds only while awake, seated and supervised. Never asleep.</a:t>
            </a:r>
            <a:endParaRPr lang="en-US" sz="1450" dirty="0"/>
          </a:p>
        </p:txBody>
      </p:sp>
      <p:sp>
        <p:nvSpPr>
          <p:cNvPr id="23" name="Shape 21"/>
          <p:cNvSpPr/>
          <p:nvPr/>
        </p:nvSpPr>
        <p:spPr>
          <a:xfrm>
            <a:off x="8275320" y="3493259"/>
            <a:ext cx="73152" cy="73152"/>
          </a:xfrm>
          <a:prstGeom prst="ellipse">
            <a:avLst/>
          </a:prstGeom>
          <a:solidFill>
            <a:srgbClr val="A1A1A6"/>
          </a:solidFill>
          <a:ln/>
        </p:spPr>
      </p:sp>
      <p:sp>
        <p:nvSpPr>
          <p:cNvPr id="24" name="Text 22"/>
          <p:cNvSpPr txBox="1"/>
          <p:nvPr/>
        </p:nvSpPr>
        <p:spPr>
          <a:xfrm>
            <a:off x="8503920" y="3398901"/>
            <a:ext cx="2788920" cy="522478"/>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20 seconds at most. Stop at any dizziness.</a:t>
            </a:r>
            <a:endParaRPr lang="en-US" sz="1450" dirty="0"/>
          </a:p>
        </p:txBody>
      </p:sp>
      <p:sp>
        <p:nvSpPr>
          <p:cNvPr id="25" name="Shape 23"/>
          <p:cNvSpPr/>
          <p:nvPr/>
        </p:nvSpPr>
        <p:spPr>
          <a:xfrm>
            <a:off x="8275320" y="4107177"/>
            <a:ext cx="73152" cy="73152"/>
          </a:xfrm>
          <a:prstGeom prst="ellipse">
            <a:avLst/>
          </a:prstGeom>
          <a:solidFill>
            <a:srgbClr val="A1A1A6"/>
          </a:solidFill>
          <a:ln/>
        </p:spPr>
      </p:sp>
      <p:sp>
        <p:nvSpPr>
          <p:cNvPr id="26" name="Text 24"/>
          <p:cNvSpPr txBox="1"/>
          <p:nvPr/>
        </p:nvSpPr>
        <p:spPr>
          <a:xfrm>
            <a:off x="8503920" y="4012819"/>
            <a:ext cx="2788920" cy="297815"/>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Parent/guardian consent</a:t>
            </a:r>
            <a:endParaRPr lang="en-US" sz="1450" dirty="0"/>
          </a:p>
        </p:txBody>
      </p:sp>
      <p:sp>
        <p:nvSpPr>
          <p:cNvPr id="27" name="Shape 25"/>
          <p:cNvSpPr/>
          <p:nvPr/>
        </p:nvSpPr>
        <p:spPr>
          <a:xfrm>
            <a:off x="8275320" y="4496432"/>
            <a:ext cx="73152" cy="73152"/>
          </a:xfrm>
          <a:prstGeom prst="ellipse">
            <a:avLst/>
          </a:prstGeom>
          <a:solidFill>
            <a:srgbClr val="A1A1A6"/>
          </a:solidFill>
          <a:ln/>
        </p:spPr>
      </p:sp>
      <p:sp>
        <p:nvSpPr>
          <p:cNvPr id="28" name="Text 26"/>
          <p:cNvSpPr txBox="1"/>
          <p:nvPr/>
        </p:nvSpPr>
        <p:spPr>
          <a:xfrm>
            <a:off x="8503920" y="4402074"/>
            <a:ext cx="2788920" cy="522478"/>
          </a:xfrm>
          <a:prstGeom prst="rect">
            <a:avLst/>
          </a:prstGeom>
          <a:noFill/>
          <a:ln/>
        </p:spPr>
        <p:txBody>
          <a:bodyPr wrap="square" lIns="0" tIns="0" rIns="0" bIns="0" rtlCol="0" anchor="t"/>
          <a:lstStyle/>
          <a:p>
            <a:pPr indent="0" marL="0">
              <a:buNone/>
            </a:pPr>
            <a:r>
              <a:rPr lang="en-US" sz="1450" dirty="0">
                <a:solidFill>
                  <a:srgbClr val="1D1D1F"/>
                </a:solidFill>
                <a:latin typeface="Helvetica Neue" pitchFamily="34" charset="0"/>
                <a:ea typeface="Helvetica Neue" pitchFamily="34" charset="-122"/>
                <a:cs typeface="Helvetica Neue" pitchFamily="34" charset="-120"/>
              </a:rPr>
              <a:t>Ethics approval (human subject) before any test</a:t>
            </a:r>
            <a:endParaRPr lang="en-US" sz="1450" dirty="0"/>
          </a:p>
        </p:txBody>
      </p:sp>
      <p:sp>
        <p:nvSpPr>
          <p:cNvPr id="29" name="Text 2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30" name="Text 2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The app</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The companion app measures real data.</a:t>
            </a:r>
            <a:endParaRPr lang="en-US" sz="4000" dirty="0"/>
          </a:p>
        </p:txBody>
      </p:sp>
      <p:sp>
        <p:nvSpPr>
          <p:cNvPr id="4" name="Shape 2"/>
          <p:cNvSpPr/>
          <p:nvPr/>
        </p:nvSpPr>
        <p:spPr>
          <a:xfrm>
            <a:off x="877824" y="1792224"/>
            <a:ext cx="2130552" cy="4197330"/>
          </a:xfrm>
          <a:prstGeom prst="roundRect">
            <a:avLst>
              <a:gd name="adj" fmla="val 12017"/>
            </a:avLst>
          </a:prstGeom>
          <a:solidFill>
            <a:srgbClr val="1D1D1F"/>
          </a:solidFill>
          <a:ln/>
        </p:spPr>
      </p:sp>
      <p:pic>
        <p:nvPicPr>
          <p:cNvPr id="5" name="Image 0" descr="/home/user/teetomivV2/science-fair/night-signal/slides/assets/phone_sleep.png">    </p:cNvPr>
          <p:cNvPicPr>
            <a:picLocks noChangeAspect="1"/>
          </p:cNvPicPr>
          <p:nvPr/>
        </p:nvPicPr>
        <p:blipFill>
          <a:blip r:embed="rId1"/>
          <a:stretch>
            <a:fillRect/>
          </a:stretch>
        </p:blipFill>
        <p:spPr>
          <a:xfrm>
            <a:off x="960120" y="1874520"/>
            <a:ext cx="1965960" cy="4032738"/>
          </a:xfrm>
          <a:prstGeom prst="rect">
            <a:avLst/>
          </a:prstGeom>
        </p:spPr>
      </p:pic>
      <p:sp>
        <p:nvSpPr>
          <p:cNvPr id="6" name="Shape 3"/>
          <p:cNvSpPr/>
          <p:nvPr/>
        </p:nvSpPr>
        <p:spPr>
          <a:xfrm>
            <a:off x="3346704" y="1792224"/>
            <a:ext cx="2130552" cy="4197330"/>
          </a:xfrm>
          <a:prstGeom prst="roundRect">
            <a:avLst>
              <a:gd name="adj" fmla="val 12017"/>
            </a:avLst>
          </a:prstGeom>
          <a:solidFill>
            <a:srgbClr val="1D1D1F"/>
          </a:solidFill>
          <a:ln/>
        </p:spPr>
      </p:sp>
      <p:pic>
        <p:nvPicPr>
          <p:cNvPr id="7" name="Image 1" descr="/home/user/teetomivV2/science-fair/night-signal/slides/assets/phone_live.png">    </p:cNvPr>
          <p:cNvPicPr>
            <a:picLocks noChangeAspect="1"/>
          </p:cNvPicPr>
          <p:nvPr/>
        </p:nvPicPr>
        <p:blipFill>
          <a:blip r:embed="rId2"/>
          <a:stretch>
            <a:fillRect/>
          </a:stretch>
        </p:blipFill>
        <p:spPr>
          <a:xfrm>
            <a:off x="3429000" y="1874520"/>
            <a:ext cx="1965960" cy="4032738"/>
          </a:xfrm>
          <a:prstGeom prst="rect">
            <a:avLst/>
          </a:prstGeom>
        </p:spPr>
      </p:pic>
      <p:sp>
        <p:nvSpPr>
          <p:cNvPr id="8" name="Text 4"/>
          <p:cNvSpPr txBox="1"/>
          <p:nvPr/>
        </p:nvSpPr>
        <p:spPr>
          <a:xfrm>
            <a:off x="960120" y="6044418"/>
            <a:ext cx="196596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Sleep report</a:t>
            </a:r>
            <a:endParaRPr lang="en-US" sz="1200" dirty="0"/>
          </a:p>
        </p:txBody>
      </p:sp>
      <p:sp>
        <p:nvSpPr>
          <p:cNvPr id="9" name="Text 5"/>
          <p:cNvSpPr txBox="1"/>
          <p:nvPr/>
        </p:nvSpPr>
        <p:spPr>
          <a:xfrm>
            <a:off x="3429000" y="6044418"/>
            <a:ext cx="196596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Live + device health</a:t>
            </a:r>
            <a:endParaRPr lang="en-US" sz="1200" dirty="0"/>
          </a:p>
        </p:txBody>
      </p:sp>
      <p:sp>
        <p:nvSpPr>
          <p:cNvPr id="10" name="Shape 6"/>
          <p:cNvSpPr/>
          <p:nvPr/>
        </p:nvSpPr>
        <p:spPr>
          <a:xfrm>
            <a:off x="6355080" y="2066826"/>
            <a:ext cx="73152" cy="73152"/>
          </a:xfrm>
          <a:prstGeom prst="ellipse">
            <a:avLst/>
          </a:prstGeom>
          <a:solidFill>
            <a:srgbClr val="A1A1A6"/>
          </a:solidFill>
          <a:ln/>
        </p:spPr>
      </p:sp>
      <p:sp>
        <p:nvSpPr>
          <p:cNvPr id="11" name="Text 7"/>
          <p:cNvSpPr txBox="1"/>
          <p:nvPr/>
        </p:nvSpPr>
        <p:spPr>
          <a:xfrm>
            <a:off x="6583680" y="1965960"/>
            <a:ext cx="4937760" cy="793623"/>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The Live tab connects straight to the wearable (USB or Bluetooth) and shows oxygen, heart rate and position every second.</a:t>
            </a:r>
            <a:endParaRPr lang="en-US" sz="1550" dirty="0"/>
          </a:p>
        </p:txBody>
      </p:sp>
      <p:sp>
        <p:nvSpPr>
          <p:cNvPr id="12" name="Shape 8"/>
          <p:cNvSpPr/>
          <p:nvPr/>
        </p:nvSpPr>
        <p:spPr>
          <a:xfrm>
            <a:off x="6355080" y="2988465"/>
            <a:ext cx="73152" cy="73152"/>
          </a:xfrm>
          <a:prstGeom prst="ellipse">
            <a:avLst/>
          </a:prstGeom>
          <a:solidFill>
            <a:srgbClr val="A1A1A6"/>
          </a:solidFill>
          <a:ln/>
        </p:spPr>
      </p:sp>
      <p:sp>
        <p:nvSpPr>
          <p:cNvPr id="13" name="Text 9"/>
          <p:cNvSpPr txBox="1"/>
          <p:nvPr/>
        </p:nvSpPr>
        <p:spPr>
          <a:xfrm>
            <a:off x="6583680" y="2887599"/>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Device health checks run the whole time: data flowing, self-test, finger on, power.</a:t>
            </a:r>
            <a:endParaRPr lang="en-US" sz="1550" dirty="0"/>
          </a:p>
        </p:txBody>
      </p:sp>
      <p:sp>
        <p:nvSpPr>
          <p:cNvPr id="14" name="Shape 10"/>
          <p:cNvSpPr/>
          <p:nvPr/>
        </p:nvSpPr>
        <p:spPr>
          <a:xfrm>
            <a:off x="6355080" y="3669947"/>
            <a:ext cx="73152" cy="73152"/>
          </a:xfrm>
          <a:prstGeom prst="ellipse">
            <a:avLst/>
          </a:prstGeom>
          <a:solidFill>
            <a:srgbClr val="A1A1A6"/>
          </a:solidFill>
          <a:ln/>
        </p:spPr>
      </p:sp>
      <p:sp>
        <p:nvSpPr>
          <p:cNvPr id="15" name="Text 11"/>
          <p:cNvSpPr txBox="1"/>
          <p:nvPr/>
        </p:nvSpPr>
        <p:spPr>
          <a:xfrm>
            <a:off x="6583680" y="3569081"/>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Saving a session gives the same CSV the analysis uses, so every number is traceable.</a:t>
            </a:r>
            <a:endParaRPr lang="en-US" sz="1550" dirty="0"/>
          </a:p>
        </p:txBody>
      </p:sp>
      <p:sp>
        <p:nvSpPr>
          <p:cNvPr id="16" name="Shape 12"/>
          <p:cNvSpPr/>
          <p:nvPr/>
        </p:nvSpPr>
        <p:spPr>
          <a:xfrm>
            <a:off x="6355080" y="4351429"/>
            <a:ext cx="73152" cy="73152"/>
          </a:xfrm>
          <a:prstGeom prst="ellipse">
            <a:avLst/>
          </a:prstGeom>
          <a:solidFill>
            <a:srgbClr val="A1A1A6"/>
          </a:solidFill>
          <a:ln/>
        </p:spPr>
      </p:sp>
      <p:sp>
        <p:nvSpPr>
          <p:cNvPr id="17" name="Text 13"/>
          <p:cNvSpPr txBox="1"/>
          <p:nvPr/>
        </p:nvSpPr>
        <p:spPr>
          <a:xfrm>
            <a:off x="6583680" y="4250563"/>
            <a:ext cx="4937760" cy="553466"/>
          </a:xfrm>
          <a:prstGeom prst="rect">
            <a:avLst/>
          </a:prstGeom>
          <a:noFill/>
          <a:ln/>
        </p:spPr>
        <p:txBody>
          <a:bodyPr wrap="square" lIns="0" tIns="0" rIns="0" bIns="0" rtlCol="0" anchor="t"/>
          <a:lstStyle/>
          <a:p>
            <a:pPr indent="0" marL="0">
              <a:buNone/>
            </a:pPr>
            <a:r>
              <a:rPr lang="en-US" sz="1550" dirty="0">
                <a:solidFill>
                  <a:srgbClr val="1D1D1F"/>
                </a:solidFill>
                <a:latin typeface="Helvetica Neue" pitchFamily="34" charset="0"/>
                <a:ea typeface="Helvetica Neue" pitchFamily="34" charset="-122"/>
                <a:cs typeface="Helvetica Neue" pitchFamily="34" charset="-120"/>
              </a:rPr>
              <a:t>Heart, Asthma and Progress tabs for the spin-offs and my build log.</a:t>
            </a:r>
            <a:endParaRPr lang="en-US" sz="1550" dirty="0"/>
          </a:p>
        </p:txBody>
      </p:sp>
      <p:sp>
        <p:nvSpPr>
          <p:cNvPr id="18" name="Shape 14"/>
          <p:cNvSpPr/>
          <p:nvPr/>
        </p:nvSpPr>
        <p:spPr>
          <a:xfrm>
            <a:off x="6373368" y="5047488"/>
            <a:ext cx="1106424" cy="1106424"/>
          </a:xfrm>
          <a:prstGeom prst="roundRect">
            <a:avLst>
              <a:gd name="adj" fmla="val 18182"/>
            </a:avLst>
          </a:prstGeom>
          <a:solidFill>
            <a:srgbClr val="FFFFFF"/>
          </a:solidFill>
          <a:ln/>
        </p:spPr>
      </p:sp>
      <p:pic>
        <p:nvPicPr>
          <p:cNvPr id="19" name="Image 2" descr="/home/user/teetomivV2/science-fair/night-signal/slides/assets/qr_app.png">
            <a:hlinkClick r:id="rId4" tooltip="https://gabrielamamanestudent-wq.github.io/teetomivV2/science-fair/night-signal/app/"/>
          </p:cNvPr>
          <p:cNvPicPr>
            <a:picLocks noChangeAspect="1"/>
          </p:cNvPicPr>
          <p:nvPr/>
        </p:nvPicPr>
        <p:blipFill>
          <a:blip r:embed="rId3"/>
          <a:stretch>
            <a:fillRect/>
          </a:stretch>
        </p:blipFill>
        <p:spPr>
          <a:xfrm>
            <a:off x="6446520" y="5120640"/>
            <a:ext cx="960120" cy="960120"/>
          </a:xfrm>
          <a:prstGeom prst="rect">
            <a:avLst/>
          </a:prstGeom>
        </p:spPr>
      </p:pic>
      <p:sp>
        <p:nvSpPr>
          <p:cNvPr id="20" name="Text 15"/>
          <p:cNvSpPr txBox="1"/>
          <p:nvPr/>
        </p:nvSpPr>
        <p:spPr>
          <a:xfrm>
            <a:off x="7680960" y="5285232"/>
            <a:ext cx="2743200" cy="310896"/>
          </a:xfrm>
          <a:prstGeom prst="rect">
            <a:avLst/>
          </a:prstGeom>
          <a:noFill/>
          <a:ln/>
        </p:spPr>
        <p:txBody>
          <a:bodyPr wrap="square" lIns="0" tIns="0" rIns="0" bIns="0" rtlCol="0" anchor="ctr"/>
          <a:lstStyle/>
          <a:p>
            <a:pPr algn="l" indent="0" marL="0">
              <a:buNone/>
            </a:pPr>
            <a:r>
              <a:rPr lang="en-US" sz="1600" u="sng" dirty="0">
                <a:solidFill>
                  <a:srgbClr val="0071E3"/>
                </a:solidFill>
                <a:latin typeface="Helvetica Neue" pitchFamily="34" charset="0"/>
                <a:ea typeface="Helvetica Neue" pitchFamily="34" charset="-122"/>
                <a:cs typeface="Helvetica Neue" pitchFamily="34" charset="-120"/>
                <a:hlinkClick r:id="rId5" invalidUrl="" action="" tgtFrame="" tooltip="https://gabrielamamanestudent-wq.github.io/teetomivV2/science-fair/night-signal/app/" history="1" highlightClick="0" endSnd="0">
                  <a:extLst>
                    <a:ext uri="{A12FA001-AC4F-418D-AE19-62706E023703}">
                      <ahyp:hlinkClr xmlns:ahyp="http://schemas.microsoft.com/office/drawing/2018/hyperlinkcolor" val="tx"/>
                    </a:ext>
                  </a:extLst>
                </a:hlinkClick>
              </a:rPr>
              <a:t>Open the app ›</a:t>
            </a:r>
            <a:endParaRPr lang="en-US" sz="1600" dirty="0"/>
          </a:p>
        </p:txBody>
      </p:sp>
      <p:sp>
        <p:nvSpPr>
          <p:cNvPr id="21" name="Text 16"/>
          <p:cNvSpPr txBox="1"/>
          <p:nvPr/>
        </p:nvSpPr>
        <p:spPr>
          <a:xfrm>
            <a:off x="7680960" y="5650992"/>
            <a:ext cx="3840480" cy="27432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Scan to try it. A demo device is built in.</a:t>
            </a:r>
            <a:endParaRPr lang="en-US" sz="1250" dirty="0"/>
          </a:p>
        </p:txBody>
      </p:sp>
      <p:sp>
        <p:nvSpPr>
          <p:cNvPr id="22" name="Text 1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3" name="Text 1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What one night showed.</a:t>
            </a:r>
            <a:endParaRPr lang="en-US" sz="4000" dirty="0"/>
          </a:p>
        </p:txBody>
      </p:sp>
      <p:sp>
        <p:nvSpPr>
          <p:cNvPr id="4" name="Shape 2"/>
          <p:cNvSpPr/>
          <p:nvPr/>
        </p:nvSpPr>
        <p:spPr>
          <a:xfrm>
            <a:off x="9464040" y="502920"/>
            <a:ext cx="2057400" cy="329184"/>
          </a:xfrm>
          <a:prstGeom prst="roundRect">
            <a:avLst>
              <a:gd name="adj" fmla="val 50000"/>
            </a:avLst>
          </a:prstGeom>
          <a:solidFill>
            <a:srgbClr val="F5F5F7"/>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sp>
        <p:nvSpPr>
          <p:cNvPr id="6" name="Shape 4"/>
          <p:cNvSpPr/>
          <p:nvPr/>
        </p:nvSpPr>
        <p:spPr>
          <a:xfrm>
            <a:off x="685800" y="1828800"/>
            <a:ext cx="2587752" cy="1261872"/>
          </a:xfrm>
          <a:prstGeom prst="roundRect">
            <a:avLst>
              <a:gd name="adj" fmla="val 15942"/>
            </a:avLst>
          </a:prstGeom>
          <a:solidFill>
            <a:srgbClr val="F5F5F7"/>
          </a:solidFill>
          <a:ln/>
        </p:spPr>
      </p:sp>
      <p:sp>
        <p:nvSpPr>
          <p:cNvPr id="7" name="Text 5"/>
          <p:cNvSpPr txBox="1"/>
          <p:nvPr/>
        </p:nvSpPr>
        <p:spPr>
          <a:xfrm>
            <a:off x="960120" y="2029968"/>
            <a:ext cx="2130552" cy="594360"/>
          </a:xfrm>
          <a:prstGeom prst="rect">
            <a:avLst/>
          </a:prstGeom>
          <a:noFill/>
          <a:ln/>
        </p:spPr>
        <p:txBody>
          <a:bodyPr wrap="square" lIns="0" tIns="0" rIns="0" bIns="0" rtlCol="0" anchor="t"/>
          <a:lstStyle/>
          <a:p>
            <a:pPr indent="0" marL="0">
              <a:buNone/>
            </a:pPr>
            <a:r>
              <a:rPr lang="en-US" sz="3200" b="1" dirty="0">
                <a:solidFill>
                  <a:srgbClr val="248A3D"/>
                </a:solidFill>
                <a:latin typeface="Helvetica Neue" pitchFamily="34" charset="0"/>
                <a:ea typeface="Helvetica Neue" pitchFamily="34" charset="-122"/>
                <a:cs typeface="Helvetica Neue" pitchFamily="34" charset="-120"/>
              </a:rPr>
              <a:t>2.7</a:t>
            </a:r>
            <a:endParaRPr lang="en-US" sz="3200" dirty="0"/>
          </a:p>
        </p:txBody>
      </p:sp>
      <p:sp>
        <p:nvSpPr>
          <p:cNvPr id="8" name="Text 6"/>
          <p:cNvSpPr txBox="1"/>
          <p:nvPr/>
        </p:nvSpPr>
        <p:spPr>
          <a:xfrm>
            <a:off x="960120" y="2633472"/>
            <a:ext cx="2130552" cy="41148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events per hour (AHI): Normal</a:t>
            </a:r>
            <a:endParaRPr lang="en-US" sz="1250" dirty="0"/>
          </a:p>
        </p:txBody>
      </p:sp>
      <p:sp>
        <p:nvSpPr>
          <p:cNvPr id="9" name="Shape 7"/>
          <p:cNvSpPr/>
          <p:nvPr/>
        </p:nvSpPr>
        <p:spPr>
          <a:xfrm>
            <a:off x="3429000" y="1828800"/>
            <a:ext cx="2587752" cy="1261872"/>
          </a:xfrm>
          <a:prstGeom prst="roundRect">
            <a:avLst>
              <a:gd name="adj" fmla="val 15942"/>
            </a:avLst>
          </a:prstGeom>
          <a:solidFill>
            <a:srgbClr val="F5F5F7"/>
          </a:solidFill>
          <a:ln/>
        </p:spPr>
      </p:sp>
      <p:sp>
        <p:nvSpPr>
          <p:cNvPr id="10" name="Text 8"/>
          <p:cNvSpPr txBox="1"/>
          <p:nvPr/>
        </p:nvSpPr>
        <p:spPr>
          <a:xfrm>
            <a:off x="3703320" y="2029968"/>
            <a:ext cx="2130552" cy="594360"/>
          </a:xfrm>
          <a:prstGeom prst="rect">
            <a:avLst/>
          </a:prstGeom>
          <a:noFill/>
          <a:ln/>
        </p:spPr>
        <p:txBody>
          <a:bodyPr wrap="square" lIns="0" tIns="0" rIns="0" bIns="0" rtlCol="0" anchor="t"/>
          <a:lstStyle/>
          <a:p>
            <a:pPr indent="0" marL="0">
              <a:buNone/>
            </a:pPr>
            <a:r>
              <a:rPr lang="en-US" sz="3200" b="1" dirty="0">
                <a:solidFill>
                  <a:srgbClr val="0071E3"/>
                </a:solidFill>
                <a:latin typeface="Helvetica Neue" pitchFamily="34" charset="0"/>
                <a:ea typeface="Helvetica Neue" pitchFamily="34" charset="-122"/>
                <a:cs typeface="Helvetica Neue" pitchFamily="34" charset="-120"/>
              </a:rPr>
              <a:t>± 0.56 %</a:t>
            </a:r>
            <a:endParaRPr lang="en-US" sz="3200" dirty="0"/>
          </a:p>
        </p:txBody>
      </p:sp>
      <p:sp>
        <p:nvSpPr>
          <p:cNvPr id="11" name="Text 9"/>
          <p:cNvSpPr txBox="1"/>
          <p:nvPr/>
        </p:nvSpPr>
        <p:spPr>
          <a:xfrm>
            <a:off x="3703320" y="2633472"/>
            <a:ext cx="2130552" cy="41148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agreement with the reference</a:t>
            </a:r>
            <a:endParaRPr lang="en-US" sz="1250" dirty="0"/>
          </a:p>
        </p:txBody>
      </p:sp>
      <p:sp>
        <p:nvSpPr>
          <p:cNvPr id="12" name="Shape 10"/>
          <p:cNvSpPr/>
          <p:nvPr/>
        </p:nvSpPr>
        <p:spPr>
          <a:xfrm>
            <a:off x="6172200" y="1828800"/>
            <a:ext cx="2587752" cy="1261872"/>
          </a:xfrm>
          <a:prstGeom prst="roundRect">
            <a:avLst>
              <a:gd name="adj" fmla="val 15942"/>
            </a:avLst>
          </a:prstGeom>
          <a:solidFill>
            <a:srgbClr val="F5F5F7"/>
          </a:solidFill>
          <a:ln/>
        </p:spPr>
      </p:sp>
      <p:sp>
        <p:nvSpPr>
          <p:cNvPr id="13" name="Text 11"/>
          <p:cNvSpPr txBox="1"/>
          <p:nvPr/>
        </p:nvSpPr>
        <p:spPr>
          <a:xfrm>
            <a:off x="6446520" y="2029968"/>
            <a:ext cx="2130552" cy="594360"/>
          </a:xfrm>
          <a:prstGeom prst="rect">
            <a:avLst/>
          </a:prstGeom>
          <a:noFill/>
          <a:ln/>
        </p:spPr>
        <p:txBody>
          <a:bodyPr wrap="square" lIns="0" tIns="0" rIns="0" bIns="0" rtlCol="0" anchor="t"/>
          <a:lstStyle/>
          <a:p>
            <a:pPr indent="0" marL="0">
              <a:buNone/>
            </a:pPr>
            <a:r>
              <a:rPr lang="en-US" sz="3200" b="1" dirty="0">
                <a:solidFill>
                  <a:srgbClr val="E3254B"/>
                </a:solidFill>
                <a:latin typeface="Helvetica Neue" pitchFamily="34" charset="0"/>
                <a:ea typeface="Helvetica Neue" pitchFamily="34" charset="-122"/>
                <a:cs typeface="Helvetica Neue" pitchFamily="34" charset="-120"/>
              </a:rPr>
              <a:t>84 %</a:t>
            </a:r>
            <a:endParaRPr lang="en-US" sz="3200" dirty="0"/>
          </a:p>
        </p:txBody>
      </p:sp>
      <p:sp>
        <p:nvSpPr>
          <p:cNvPr id="14" name="Text 12"/>
          <p:cNvSpPr txBox="1"/>
          <p:nvPr/>
        </p:nvSpPr>
        <p:spPr>
          <a:xfrm>
            <a:off x="6446520" y="2633472"/>
            <a:ext cx="2130552" cy="41148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lowest blood oxygen</a:t>
            </a:r>
            <a:endParaRPr lang="en-US" sz="1250" dirty="0"/>
          </a:p>
        </p:txBody>
      </p:sp>
      <p:sp>
        <p:nvSpPr>
          <p:cNvPr id="15" name="Shape 13"/>
          <p:cNvSpPr/>
          <p:nvPr/>
        </p:nvSpPr>
        <p:spPr>
          <a:xfrm>
            <a:off x="8915400" y="1828800"/>
            <a:ext cx="2587752" cy="1261872"/>
          </a:xfrm>
          <a:prstGeom prst="roundRect">
            <a:avLst>
              <a:gd name="adj" fmla="val 15942"/>
            </a:avLst>
          </a:prstGeom>
          <a:solidFill>
            <a:srgbClr val="F5F5F7"/>
          </a:solidFill>
          <a:ln/>
        </p:spPr>
      </p:sp>
      <p:sp>
        <p:nvSpPr>
          <p:cNvPr id="16" name="Text 14"/>
          <p:cNvSpPr txBox="1"/>
          <p:nvPr/>
        </p:nvSpPr>
        <p:spPr>
          <a:xfrm>
            <a:off x="9189720" y="2029968"/>
            <a:ext cx="2130552" cy="594360"/>
          </a:xfrm>
          <a:prstGeom prst="rect">
            <a:avLst/>
          </a:prstGeom>
          <a:noFill/>
          <a:ln/>
        </p:spPr>
        <p:txBody>
          <a:bodyPr wrap="square" lIns="0" tIns="0" rIns="0" bIns="0" rtlCol="0" anchor="t"/>
          <a:lstStyle/>
          <a:p>
            <a:pPr indent="0" marL="0">
              <a:buNone/>
            </a:pPr>
            <a:r>
              <a:rPr lang="en-US" sz="3200" b="1" dirty="0">
                <a:solidFill>
                  <a:srgbClr val="C45500"/>
                </a:solidFill>
                <a:latin typeface="Helvetica Neue" pitchFamily="34" charset="0"/>
                <a:ea typeface="Helvetica Neue" pitchFamily="34" charset="-122"/>
                <a:cs typeface="Helvetica Neue" pitchFamily="34" charset="-120"/>
              </a:rPr>
              <a:t>3 ×</a:t>
            </a:r>
            <a:endParaRPr lang="en-US" sz="3200" dirty="0"/>
          </a:p>
        </p:txBody>
      </p:sp>
      <p:sp>
        <p:nvSpPr>
          <p:cNvPr id="17" name="Text 15"/>
          <p:cNvSpPr txBox="1"/>
          <p:nvPr/>
        </p:nvSpPr>
        <p:spPr>
          <a:xfrm>
            <a:off x="9189720" y="2633472"/>
            <a:ext cx="2130552" cy="411480"/>
          </a:xfrm>
          <a:prstGeom prst="rect">
            <a:avLst/>
          </a:prstGeom>
          <a:noFill/>
          <a:ln/>
        </p:spPr>
        <p:txBody>
          <a:bodyPr wrap="square" lIns="0" tIns="0" rIns="0" bIns="0" rtlCol="0" anchor="t"/>
          <a:lstStyle/>
          <a:p>
            <a:pPr indent="0" marL="0">
              <a:buNone/>
            </a:pPr>
            <a:r>
              <a:rPr lang="en-US" sz="1250" dirty="0">
                <a:solidFill>
                  <a:srgbClr val="6E6E73"/>
                </a:solidFill>
                <a:latin typeface="Helvetica Neue" pitchFamily="34" charset="0"/>
                <a:ea typeface="Helvetica Neue" pitchFamily="34" charset="-122"/>
                <a:cs typeface="Helvetica Neue" pitchFamily="34" charset="-120"/>
              </a:rPr>
              <a:t>more events on the back</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3310128"/>
          <a:ext cx="10817352" cy="914400"/>
        </p:xfrm>
        <a:graphic>
          <a:graphicData uri="http://schemas.openxmlformats.org/drawingml/2006/table">
            <a:tbl>
              <a:tblPr/>
              <a:tblGrid>
                <a:gridCol w="3200400"/>
                <a:gridCol w="4023360"/>
                <a:gridCol w="3593592"/>
              </a:tblGrid>
              <a:tr h="338328">
                <a:tc>
                  <a:txBody>
                    <a:bodyPr/>
                    <a:lstStyle/>
                    <a:p>
                      <a:pPr indent="0" marL="0">
                        <a:buNone/>
                      </a:pPr>
                      <a:r>
                        <a:rPr lang="en-US" sz="1100" b="1" dirty="0">
                          <a:solidFill>
                            <a:srgbClr val="6E6E73"/>
                          </a:solidFill>
                          <a:latin typeface="Helvetica Neue" pitchFamily="34" charset="0"/>
                          <a:ea typeface="Helvetica Neue" pitchFamily="34" charset="-122"/>
                          <a:cs typeface="Helvetica Neue" pitchFamily="34" charset="-120"/>
                        </a:rPr>
                        <a:t>Measure</a:t>
                      </a:r>
                      <a:endParaRPr lang="en-US" sz="11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100" b="1" dirty="0">
                          <a:solidFill>
                            <a:srgbClr val="6E6E73"/>
                          </a:solidFill>
                          <a:latin typeface="Helvetica Neue" pitchFamily="34" charset="0"/>
                          <a:ea typeface="Helvetica Neue" pitchFamily="34" charset="-122"/>
                          <a:cs typeface="Helvetica Neue" pitchFamily="34" charset="-120"/>
                        </a:rPr>
                        <a:t>Result</a:t>
                      </a:r>
                      <a:endParaRPr lang="en-US" sz="11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100" b="1" dirty="0">
                          <a:solidFill>
                            <a:srgbClr val="6E6E73"/>
                          </a:solidFill>
                          <a:latin typeface="Helvetica Neue" pitchFamily="34" charset="0"/>
                          <a:ea typeface="Helvetica Neue" pitchFamily="34" charset="-122"/>
                          <a:cs typeface="Helvetica Neue" pitchFamily="34" charset="-120"/>
                        </a:rPr>
                        <a:t>Meaning</a:t>
                      </a:r>
                      <a:endParaRPr lang="en-US" sz="11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Recording</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7.0 h · 25,200 readings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 full night captured</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Apnea events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19  →  AHI 2.7 / hour</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Normal range (&lt; 5)</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Blood oxygen (avg / lowest)</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97.5 % / 84 %</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lowest point during an event</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Accuracy vs reference</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 0.56 %  (r = 0.88)</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210 paired readings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Events caught: rule / ML</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63 % / 63 %</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precision 1.00 / 0.92</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Sleep position</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back 3.8 / h  vs  sides 1.1–1.3 / h</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 3 × more events on the back</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38328">
                <a:tc>
                  <a:txBody>
                    <a:bodyPr/>
                    <a:lstStyle/>
                    <a:p>
                      <a:pPr indent="0" marL="0">
                        <a:buNone/>
                      </a:pPr>
                      <a:r>
                        <a:rPr lang="en-US" sz="1300" b="1" dirty="0">
                          <a:solidFill>
                            <a:srgbClr val="1D1D1F"/>
                          </a:solidFill>
                          <a:latin typeface="Helvetica Neue" pitchFamily="34" charset="0"/>
                          <a:ea typeface="Helvetica Neue" pitchFamily="34" charset="-122"/>
                          <a:cs typeface="Helvetica Neue" pitchFamily="34" charset="-120"/>
                        </a:rPr>
                        <a:t>Spin-offs</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1D1D1F"/>
                          </a:solidFill>
                          <a:latin typeface="Helvetica Neue" pitchFamily="34" charset="0"/>
                          <a:ea typeface="Helvetica Neue" pitchFamily="34" charset="-122"/>
                          <a:cs typeface="Helvetica Neue" pitchFamily="34" charset="-120"/>
                        </a:rPr>
                        <a:t>3 heart episodes · breathing 13 → 22 / min</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patterns flagged correctly</a:t>
                      </a:r>
                      <a:endParaRPr lang="en-US" sz="13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19" name="Text 16"/>
          <p:cNvSpPr txBox="1"/>
          <p:nvPr/>
        </p:nvSpPr>
        <p:spPr>
          <a:xfrm>
            <a:off x="685800" y="6144768"/>
            <a:ext cx="10789920" cy="256032"/>
          </a:xfrm>
          <a:prstGeom prst="rect">
            <a:avLst/>
          </a:prstGeom>
          <a:noFill/>
          <a:ln/>
        </p:spPr>
        <p:txBody>
          <a:bodyPr wrap="square" lIns="0" tIns="0" rIns="0" bIns="0" rtlCol="0" anchor="t"/>
          <a:lstStyle/>
          <a:p>
            <a:pPr indent="0" marL="0">
              <a:buNone/>
            </a:pPr>
            <a:r>
              <a:rPr lang="en-US" sz="1100" dirty="0">
                <a:solidFill>
                  <a:srgbClr val="6E6E73"/>
                </a:solidFill>
                <a:latin typeface="Helvetica Neue" pitchFamily="34" charset="0"/>
                <a:ea typeface="Helvetica Neue" pitchFamily="34" charset="-122"/>
                <a:cs typeface="Helvetica Neue" pitchFamily="34" charset="-120"/>
              </a:rPr>
              <a:t>Example data from my simulator, replaced with my own recorded nights before the final submission.</a:t>
            </a:r>
            <a:endParaRPr lang="en-US" sz="1100" dirty="0"/>
          </a:p>
        </p:txBody>
      </p:sp>
      <p:sp>
        <p:nvSpPr>
          <p:cNvPr id="20" name="Text 1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21" name="Text 1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Every dip found. And the readings agree.</a:t>
            </a:r>
            <a:endParaRPr lang="en-US" sz="4000" dirty="0"/>
          </a:p>
        </p:txBody>
      </p:sp>
      <p:sp>
        <p:nvSpPr>
          <p:cNvPr id="4" name="Shape 2"/>
          <p:cNvSpPr/>
          <p:nvPr/>
        </p:nvSpPr>
        <p:spPr>
          <a:xfrm>
            <a:off x="9464040" y="502920"/>
            <a:ext cx="2057400" cy="329184"/>
          </a:xfrm>
          <a:prstGeom prst="roundRect">
            <a:avLst>
              <a:gd name="adj" fmla="val 50000"/>
            </a:avLst>
          </a:prstGeom>
          <a:solidFill>
            <a:srgbClr val="FFFFFF"/>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sp>
        <p:nvSpPr>
          <p:cNvPr id="6" name="Shape 4"/>
          <p:cNvSpPr/>
          <p:nvPr/>
        </p:nvSpPr>
        <p:spPr>
          <a:xfrm>
            <a:off x="685800" y="1874520"/>
            <a:ext cx="6583680" cy="3840480"/>
          </a:xfrm>
          <a:prstGeom prst="roundRect">
            <a:avLst>
              <a:gd name="adj" fmla="val 5238"/>
            </a:avLst>
          </a:prstGeom>
          <a:solidFill>
            <a:srgbClr val="FFFFFF"/>
          </a:solidFill>
          <a:ln/>
        </p:spPr>
      </p:sp>
      <p:pic>
        <p:nvPicPr>
          <p:cNvPr id="7" name="Image 0" descr="/home/user/teetomivV2/science-fair/night-signal/slides/assets/oxygen.png">    </p:cNvPr>
          <p:cNvPicPr>
            <a:picLocks noChangeAspect="1"/>
          </p:cNvPicPr>
          <p:nvPr/>
        </p:nvPicPr>
        <p:blipFill>
          <a:blip r:embed="rId1"/>
          <a:stretch>
            <a:fillRect/>
          </a:stretch>
        </p:blipFill>
        <p:spPr>
          <a:xfrm>
            <a:off x="886968" y="2208757"/>
            <a:ext cx="6181344" cy="3172005"/>
          </a:xfrm>
          <a:prstGeom prst="rect">
            <a:avLst/>
          </a:prstGeom>
        </p:spPr>
      </p:pic>
      <p:sp>
        <p:nvSpPr>
          <p:cNvPr id="8" name="Shape 5"/>
          <p:cNvSpPr/>
          <p:nvPr/>
        </p:nvSpPr>
        <p:spPr>
          <a:xfrm>
            <a:off x="7452360" y="1874520"/>
            <a:ext cx="4050792" cy="3840480"/>
          </a:xfrm>
          <a:prstGeom prst="roundRect">
            <a:avLst>
              <a:gd name="adj" fmla="val 5238"/>
            </a:avLst>
          </a:prstGeom>
          <a:solidFill>
            <a:srgbClr val="FFFFFF"/>
          </a:solidFill>
          <a:ln/>
        </p:spPr>
      </p:sp>
      <p:pic>
        <p:nvPicPr>
          <p:cNvPr id="9" name="Image 1" descr="/home/user/teetomivV2/science-fair/night-signal/slides/assets/validation.png">    </p:cNvPr>
          <p:cNvPicPr>
            <a:picLocks noChangeAspect="1"/>
          </p:cNvPicPr>
          <p:nvPr/>
        </p:nvPicPr>
        <p:blipFill>
          <a:blip r:embed="rId2"/>
          <a:stretch>
            <a:fillRect/>
          </a:stretch>
        </p:blipFill>
        <p:spPr>
          <a:xfrm>
            <a:off x="7653528" y="2473767"/>
            <a:ext cx="3648456" cy="2641985"/>
          </a:xfrm>
          <a:prstGeom prst="rect">
            <a:avLst/>
          </a:prstGeom>
        </p:spPr>
      </p:pic>
      <p:sp>
        <p:nvSpPr>
          <p:cNvPr id="10" name="Text 6"/>
          <p:cNvSpPr txBox="1"/>
          <p:nvPr/>
        </p:nvSpPr>
        <p:spPr>
          <a:xfrm>
            <a:off x="7452360" y="5870448"/>
            <a:ext cx="405079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95% of readings within −1.5 to +1.7 % of the reference</a:t>
            </a:r>
            <a:endParaRPr lang="en-US" sz="1200" dirty="0"/>
          </a:p>
        </p:txBody>
      </p:sp>
      <p:sp>
        <p:nvSpPr>
          <p:cNvPr id="11" name="Text 7"/>
          <p:cNvSpPr txBox="1"/>
          <p:nvPr/>
        </p:nvSpPr>
        <p:spPr>
          <a:xfrm>
            <a:off x="685800" y="5870448"/>
            <a:ext cx="658368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Every red band is an apnea event the software found on its own</a:t>
            </a:r>
            <a:endParaRPr lang="en-US" sz="1200" dirty="0"/>
          </a:p>
        </p:txBody>
      </p:sp>
      <p:sp>
        <p:nvSpPr>
          <p:cNvPr id="12" name="Text 8"/>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13" name="Text 9"/>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9</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Results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Back-sleeping, and two detectors.</a:t>
            </a:r>
            <a:endParaRPr lang="en-US" sz="4000" dirty="0"/>
          </a:p>
        </p:txBody>
      </p:sp>
      <p:sp>
        <p:nvSpPr>
          <p:cNvPr id="4" name="Shape 2"/>
          <p:cNvSpPr/>
          <p:nvPr/>
        </p:nvSpPr>
        <p:spPr>
          <a:xfrm>
            <a:off x="9464040" y="502920"/>
            <a:ext cx="2057400" cy="329184"/>
          </a:xfrm>
          <a:prstGeom prst="roundRect">
            <a:avLst>
              <a:gd name="adj" fmla="val 50000"/>
            </a:avLst>
          </a:prstGeom>
          <a:solidFill>
            <a:srgbClr val="FFFFFF"/>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sp>
        <p:nvSpPr>
          <p:cNvPr id="6" name="Shape 4"/>
          <p:cNvSpPr/>
          <p:nvPr/>
        </p:nvSpPr>
        <p:spPr>
          <a:xfrm>
            <a:off x="685800" y="1874520"/>
            <a:ext cx="5312664" cy="4069080"/>
          </a:xfrm>
          <a:prstGeom prst="roundRect">
            <a:avLst>
              <a:gd name="adj" fmla="val 4944"/>
            </a:avLst>
          </a:prstGeom>
          <a:solidFill>
            <a:srgbClr val="FFFFFF"/>
          </a:solidFill>
          <a:ln/>
        </p:spPr>
      </p:sp>
      <p:pic>
        <p:nvPicPr>
          <p:cNvPr id="7" name="Image 0" descr="/home/user/teetomivV2/science-fair/night-signal/slides/assets/position.png">    </p:cNvPr>
          <p:cNvPicPr>
            <a:picLocks noChangeAspect="1"/>
          </p:cNvPicPr>
          <p:nvPr/>
        </p:nvPicPr>
        <p:blipFill>
          <a:blip r:embed="rId1"/>
          <a:stretch>
            <a:fillRect/>
          </a:stretch>
        </p:blipFill>
        <p:spPr>
          <a:xfrm>
            <a:off x="886968" y="2108606"/>
            <a:ext cx="4910328" cy="3600907"/>
          </a:xfrm>
          <a:prstGeom prst="rect">
            <a:avLst/>
          </a:prstGeom>
        </p:spPr>
      </p:pic>
      <p:sp>
        <p:nvSpPr>
          <p:cNvPr id="8" name="Shape 5"/>
          <p:cNvSpPr/>
          <p:nvPr/>
        </p:nvSpPr>
        <p:spPr>
          <a:xfrm>
            <a:off x="6190488" y="1874520"/>
            <a:ext cx="5312664" cy="4069080"/>
          </a:xfrm>
          <a:prstGeom prst="roundRect">
            <a:avLst>
              <a:gd name="adj" fmla="val 4944"/>
            </a:avLst>
          </a:prstGeom>
          <a:solidFill>
            <a:srgbClr val="FFFFFF"/>
          </a:solidFill>
          <a:ln/>
        </p:spPr>
      </p:sp>
      <p:graphicFrame>
        <p:nvGraphicFramePr>
          <p:cNvPr id="9" name="Chart 0" descr=""/>
          <p:cNvGraphicFramePr/>
          <p:nvPr/>
        </p:nvGraphicFramePr>
        <p:xfrm>
          <a:off x="6400800" y="2057400"/>
          <a:ext cx="4892040" cy="370332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11" name="Text 7"/>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What the results mean.</a:t>
            </a:r>
            <a:endParaRPr lang="en-US" sz="4000" dirty="0"/>
          </a:p>
        </p:txBody>
      </p:sp>
      <p:sp>
        <p:nvSpPr>
          <p:cNvPr id="4" name="Shape 2"/>
          <p:cNvSpPr/>
          <p:nvPr/>
        </p:nvSpPr>
        <p:spPr>
          <a:xfrm>
            <a:off x="685800" y="192024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5" name="Text 3"/>
          <p:cNvSpPr txBox="1"/>
          <p:nvPr/>
        </p:nvSpPr>
        <p:spPr>
          <a:xfrm>
            <a:off x="1005840" y="2176272"/>
            <a:ext cx="4663440" cy="41148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Accurate enough to trust</a:t>
            </a:r>
            <a:endParaRPr lang="en-US" sz="1900" dirty="0"/>
          </a:p>
        </p:txBody>
      </p:sp>
      <p:sp>
        <p:nvSpPr>
          <p:cNvPr id="6" name="Text 4"/>
          <p:cNvSpPr txBox="1"/>
          <p:nvPr/>
        </p:nvSpPr>
        <p:spPr>
          <a:xfrm>
            <a:off x="1005840" y="267004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Agreement within about ±1.6 % is in line with commercial fingertip oximeters (about ±2–3 %), so the drops it sees are real, not sensor noise.</a:t>
            </a:r>
            <a:endParaRPr lang="en-US" sz="1450" dirty="0"/>
          </a:p>
        </p:txBody>
      </p:sp>
      <p:sp>
        <p:nvSpPr>
          <p:cNvPr id="7" name="Shape 5"/>
          <p:cNvSpPr/>
          <p:nvPr/>
        </p:nvSpPr>
        <p:spPr>
          <a:xfrm>
            <a:off x="6190488" y="192024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8" name="Text 6"/>
          <p:cNvSpPr txBox="1"/>
          <p:nvPr/>
        </p:nvSpPr>
        <p:spPr>
          <a:xfrm>
            <a:off x="6510528" y="2176272"/>
            <a:ext cx="4663440" cy="411480"/>
          </a:xfrm>
          <a:prstGeom prst="rect">
            <a:avLst/>
          </a:prstGeom>
          <a:noFill/>
          <a:ln/>
        </p:spPr>
        <p:txBody>
          <a:bodyPr wrap="square" lIns="0" tIns="0" rIns="0" bIns="0" rtlCol="0" anchor="t"/>
          <a:lstStyle/>
          <a:p>
            <a:pPr indent="0" marL="0">
              <a:buNone/>
            </a:pPr>
            <a:r>
              <a:rPr lang="en-US" sz="1900" b="1" dirty="0">
                <a:solidFill>
                  <a:srgbClr val="30D158"/>
                </a:solidFill>
                <a:latin typeface="Helvetica Neue" pitchFamily="34" charset="0"/>
                <a:ea typeface="Helvetica Neue" pitchFamily="34" charset="-122"/>
                <a:cs typeface="Helvetica Neue" pitchFamily="34" charset="-120"/>
              </a:rPr>
              <a:t>Cautious, not over-eager</a:t>
            </a:r>
            <a:endParaRPr lang="en-US" sz="1900" dirty="0"/>
          </a:p>
        </p:txBody>
      </p:sp>
      <p:sp>
        <p:nvSpPr>
          <p:cNvPr id="9" name="Text 7"/>
          <p:cNvSpPr txBox="1"/>
          <p:nvPr/>
        </p:nvSpPr>
        <p:spPr>
          <a:xfrm>
            <a:off x="6510528" y="267004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Perfect precision but 63 % recall means it misses shallow events. My AHI is probably an under-estimate: the safe direction for a screening tool.</a:t>
            </a:r>
            <a:endParaRPr lang="en-US" sz="1450" dirty="0"/>
          </a:p>
        </p:txBody>
      </p:sp>
      <p:sp>
        <p:nvSpPr>
          <p:cNvPr id="10" name="Shape 8"/>
          <p:cNvSpPr/>
          <p:nvPr/>
        </p:nvSpPr>
        <p:spPr>
          <a:xfrm>
            <a:off x="685800" y="411480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11" name="Text 9"/>
          <p:cNvSpPr txBox="1"/>
          <p:nvPr/>
        </p:nvSpPr>
        <p:spPr>
          <a:xfrm>
            <a:off x="1005840" y="4370832"/>
            <a:ext cx="4663440" cy="411480"/>
          </a:xfrm>
          <a:prstGeom prst="rect">
            <a:avLst/>
          </a:prstGeom>
          <a:noFill/>
          <a:ln/>
        </p:spPr>
        <p:txBody>
          <a:bodyPr wrap="square" lIns="0" tIns="0" rIns="0" bIns="0" rtlCol="0" anchor="t"/>
          <a:lstStyle/>
          <a:p>
            <a:pPr indent="0" marL="0">
              <a:buNone/>
            </a:pPr>
            <a:r>
              <a:rPr lang="en-US" sz="1900" b="1" dirty="0">
                <a:solidFill>
                  <a:srgbClr val="FF9F0A"/>
                </a:solidFill>
                <a:latin typeface="Helvetica Neue" pitchFamily="34" charset="0"/>
                <a:ea typeface="Helvetica Neue" pitchFamily="34" charset="-122"/>
                <a:cs typeface="Helvetica Neue" pitchFamily="34" charset="-120"/>
              </a:rPr>
              <a:t>Position matters</a:t>
            </a:r>
            <a:endParaRPr lang="en-US" sz="1900" dirty="0"/>
          </a:p>
        </p:txBody>
      </p:sp>
      <p:sp>
        <p:nvSpPr>
          <p:cNvPr id="12" name="Text 10"/>
          <p:cNvSpPr txBox="1"/>
          <p:nvPr/>
        </p:nvSpPr>
        <p:spPr>
          <a:xfrm>
            <a:off x="1005840" y="486460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Three times more events on the back matches “positional” sleep apnea in the literature. A simple, free change (side-sleeping) could help.</a:t>
            </a:r>
            <a:endParaRPr lang="en-US" sz="1450" dirty="0"/>
          </a:p>
        </p:txBody>
      </p:sp>
      <p:sp>
        <p:nvSpPr>
          <p:cNvPr id="13" name="Shape 11"/>
          <p:cNvSpPr/>
          <p:nvPr/>
        </p:nvSpPr>
        <p:spPr>
          <a:xfrm>
            <a:off x="6190488" y="4114800"/>
            <a:ext cx="5312664" cy="2011680"/>
          </a:xfrm>
          <a:prstGeom prst="roundRect">
            <a:avLst>
              <a:gd name="adj" fmla="val 10000"/>
            </a:avLst>
          </a:prstGeom>
          <a:solidFill>
            <a:srgbClr val="FFFFFF">
              <a:alpha val="9000"/>
            </a:srgbClr>
          </a:solidFill>
          <a:ln w="9525">
            <a:solidFill>
              <a:srgbClr val="FFFFFF">
                <a:alpha val="16000"/>
              </a:srgbClr>
            </a:solidFill>
            <a:prstDash val="solid"/>
          </a:ln>
        </p:spPr>
      </p:sp>
      <p:sp>
        <p:nvSpPr>
          <p:cNvPr id="14" name="Text 12"/>
          <p:cNvSpPr txBox="1"/>
          <p:nvPr/>
        </p:nvSpPr>
        <p:spPr>
          <a:xfrm>
            <a:off x="6510528" y="4370832"/>
            <a:ext cx="4663440" cy="41148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More data beats fancier code</a:t>
            </a:r>
            <a:endParaRPr lang="en-US" sz="1900" dirty="0"/>
          </a:p>
        </p:txBody>
      </p:sp>
      <p:sp>
        <p:nvSpPr>
          <p:cNvPr id="15" name="Text 13"/>
          <p:cNvSpPr txBox="1"/>
          <p:nvPr/>
        </p:nvSpPr>
        <p:spPr>
          <a:xfrm>
            <a:off x="6510528" y="4864608"/>
            <a:ext cx="4663440" cy="1188720"/>
          </a:xfrm>
          <a:prstGeom prst="rect">
            <a:avLst/>
          </a:prstGeom>
          <a:noFill/>
          <a:ln/>
        </p:spPr>
        <p:txBody>
          <a:bodyPr wrap="square" lIns="0" tIns="0" rIns="0" bIns="0" rtlCol="0" anchor="t"/>
          <a:lstStyle/>
          <a:p>
            <a:pPr indent="0" marL="0">
              <a:lnSpc>
                <a:spcPct val="105000"/>
              </a:lnSpc>
              <a:buNone/>
            </a:pPr>
            <a:r>
              <a:rPr lang="en-US" sz="1450" dirty="0">
                <a:solidFill>
                  <a:srgbClr val="A1A1A6"/>
                </a:solidFill>
                <a:latin typeface="Helvetica Neue" pitchFamily="34" charset="0"/>
                <a:ea typeface="Helvetica Neue" pitchFamily="34" charset="-122"/>
                <a:cs typeface="Helvetica Neue" pitchFamily="34" charset="-120"/>
              </a:rPr>
              <a:t>Machine learning only tied the rule because it trained on one night. It needs many labeled nights to learn more than a rule.</a:t>
            </a:r>
            <a:endParaRPr lang="en-US" sz="1450" dirty="0"/>
          </a:p>
        </p:txBody>
      </p:sp>
      <p:sp>
        <p:nvSpPr>
          <p:cNvPr id="16" name="Text 14"/>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17" name="Text 15"/>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Main analysis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FFFFFF"/>
                </a:solidFill>
                <a:latin typeface="Helvetica Neue" pitchFamily="34" charset="0"/>
                <a:ea typeface="Helvetica Neue" pitchFamily="34" charset="-122"/>
                <a:cs typeface="Helvetica Neue" pitchFamily="34" charset="-120"/>
              </a:rPr>
              <a:t>What could make it wrong.</a:t>
            </a:r>
            <a:endParaRPr lang="en-US" sz="4000" dirty="0"/>
          </a:p>
        </p:txBody>
      </p:sp>
      <p:sp>
        <p:nvSpPr>
          <p:cNvPr id="4" name="Text 2"/>
          <p:cNvSpPr txBox="1"/>
          <p:nvPr/>
        </p:nvSpPr>
        <p:spPr>
          <a:xfrm>
            <a:off x="685800" y="1920240"/>
            <a:ext cx="5120640" cy="365760"/>
          </a:xfrm>
          <a:prstGeom prst="rect">
            <a:avLst/>
          </a:prstGeom>
          <a:noFill/>
          <a:ln/>
        </p:spPr>
        <p:txBody>
          <a:bodyPr wrap="square" lIns="0" tIns="0" rIns="0" bIns="0" rtlCol="0" anchor="t"/>
          <a:lstStyle/>
          <a:p>
            <a:pPr indent="0" marL="0">
              <a:buNone/>
            </a:pPr>
            <a:r>
              <a:rPr lang="en-US" sz="1900" b="1" dirty="0">
                <a:solidFill>
                  <a:srgbClr val="2997FF"/>
                </a:solidFill>
                <a:latin typeface="Helvetica Neue" pitchFamily="34" charset="0"/>
                <a:ea typeface="Helvetica Neue" pitchFamily="34" charset="-122"/>
                <a:cs typeface="Helvetica Neue" pitchFamily="34" charset="-120"/>
              </a:rPr>
              <a:t>Measurement</a:t>
            </a:r>
            <a:endParaRPr lang="en-US" sz="1900" dirty="0"/>
          </a:p>
        </p:txBody>
      </p:sp>
      <p:sp>
        <p:nvSpPr>
          <p:cNvPr id="5" name="Shape 3"/>
          <p:cNvSpPr/>
          <p:nvPr/>
        </p:nvSpPr>
        <p:spPr>
          <a:xfrm>
            <a:off x="685800" y="2520772"/>
            <a:ext cx="73152" cy="73152"/>
          </a:xfrm>
          <a:prstGeom prst="ellipse">
            <a:avLst/>
          </a:prstGeom>
          <a:solidFill>
            <a:srgbClr val="86868B"/>
          </a:solidFill>
          <a:ln/>
        </p:spPr>
      </p:sp>
      <p:sp>
        <p:nvSpPr>
          <p:cNvPr id="6" name="Text 4"/>
          <p:cNvSpPr txBox="1"/>
          <p:nvPr/>
        </p:nvSpPr>
        <p:spPr>
          <a:xfrm>
            <a:off x="914400" y="2423160"/>
            <a:ext cx="498348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Finger movement, pressure and cold hands distort the light signal</a:t>
            </a:r>
            <a:endParaRPr lang="en-US" sz="1500" dirty="0"/>
          </a:p>
        </p:txBody>
      </p:sp>
      <p:sp>
        <p:nvSpPr>
          <p:cNvPr id="7" name="Shape 5"/>
          <p:cNvSpPr/>
          <p:nvPr/>
        </p:nvSpPr>
        <p:spPr>
          <a:xfrm>
            <a:off x="685800" y="3131896"/>
            <a:ext cx="73152" cy="73152"/>
          </a:xfrm>
          <a:prstGeom prst="ellipse">
            <a:avLst/>
          </a:prstGeom>
          <a:solidFill>
            <a:srgbClr val="86868B"/>
          </a:solidFill>
          <a:ln/>
        </p:spPr>
      </p:sp>
      <p:sp>
        <p:nvSpPr>
          <p:cNvPr id="8" name="Text 6"/>
          <p:cNvSpPr txBox="1"/>
          <p:nvPr/>
        </p:nvSpPr>
        <p:spPr>
          <a:xfrm>
            <a:off x="914400" y="3034284"/>
            <a:ext cx="498348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The 4-second averaging window smooths very short dips</a:t>
            </a:r>
            <a:endParaRPr lang="en-US" sz="1500" dirty="0"/>
          </a:p>
        </p:txBody>
      </p:sp>
      <p:sp>
        <p:nvSpPr>
          <p:cNvPr id="9" name="Shape 7"/>
          <p:cNvSpPr/>
          <p:nvPr/>
        </p:nvSpPr>
        <p:spPr>
          <a:xfrm>
            <a:off x="685800" y="3743020"/>
            <a:ext cx="73152" cy="73152"/>
          </a:xfrm>
          <a:prstGeom prst="ellipse">
            <a:avLst/>
          </a:prstGeom>
          <a:solidFill>
            <a:srgbClr val="86868B"/>
          </a:solidFill>
          <a:ln/>
        </p:spPr>
      </p:sp>
      <p:sp>
        <p:nvSpPr>
          <p:cNvPr id="10" name="Text 8"/>
          <p:cNvSpPr txBox="1"/>
          <p:nvPr/>
        </p:nvSpPr>
        <p:spPr>
          <a:xfrm>
            <a:off x="914400" y="3645408"/>
            <a:ext cx="498348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The reference oximeter itself is only ±2 %</a:t>
            </a:r>
            <a:endParaRPr lang="en-US" sz="1500" dirty="0"/>
          </a:p>
        </p:txBody>
      </p:sp>
      <p:sp>
        <p:nvSpPr>
          <p:cNvPr id="11" name="Shape 9"/>
          <p:cNvSpPr/>
          <p:nvPr/>
        </p:nvSpPr>
        <p:spPr>
          <a:xfrm>
            <a:off x="685800" y="4121734"/>
            <a:ext cx="73152" cy="73152"/>
          </a:xfrm>
          <a:prstGeom prst="ellipse">
            <a:avLst/>
          </a:prstGeom>
          <a:solidFill>
            <a:srgbClr val="86868B"/>
          </a:solidFill>
          <a:ln/>
        </p:spPr>
      </p:sp>
      <p:sp>
        <p:nvSpPr>
          <p:cNvPr id="12" name="Text 10"/>
          <p:cNvSpPr txBox="1"/>
          <p:nvPr/>
        </p:nvSpPr>
        <p:spPr>
          <a:xfrm>
            <a:off x="914400" y="4024122"/>
            <a:ext cx="498348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Arm angle only approximates body position</a:t>
            </a:r>
            <a:endParaRPr lang="en-US" sz="1500" dirty="0"/>
          </a:p>
        </p:txBody>
      </p:sp>
      <p:sp>
        <p:nvSpPr>
          <p:cNvPr id="13" name="Text 11"/>
          <p:cNvSpPr txBox="1"/>
          <p:nvPr/>
        </p:nvSpPr>
        <p:spPr>
          <a:xfrm>
            <a:off x="6190488" y="1920240"/>
            <a:ext cx="5120640" cy="365760"/>
          </a:xfrm>
          <a:prstGeom prst="rect">
            <a:avLst/>
          </a:prstGeom>
          <a:noFill/>
          <a:ln/>
        </p:spPr>
        <p:txBody>
          <a:bodyPr wrap="square" lIns="0" tIns="0" rIns="0" bIns="0" rtlCol="0" anchor="t"/>
          <a:lstStyle/>
          <a:p>
            <a:pPr indent="0" marL="0">
              <a:buNone/>
            </a:pPr>
            <a:r>
              <a:rPr lang="en-US" sz="1900" b="1" dirty="0">
                <a:solidFill>
                  <a:srgbClr val="FF375F"/>
                </a:solidFill>
                <a:latin typeface="Helvetica Neue" pitchFamily="34" charset="0"/>
                <a:ea typeface="Helvetica Neue" pitchFamily="34" charset="-122"/>
                <a:cs typeface="Helvetica Neue" pitchFamily="34" charset="-120"/>
              </a:rPr>
              <a:t>Method</a:t>
            </a:r>
            <a:endParaRPr lang="en-US" sz="1900" dirty="0"/>
          </a:p>
        </p:txBody>
      </p:sp>
      <p:sp>
        <p:nvSpPr>
          <p:cNvPr id="14" name="Shape 12"/>
          <p:cNvSpPr/>
          <p:nvPr/>
        </p:nvSpPr>
        <p:spPr>
          <a:xfrm>
            <a:off x="6190488" y="2520772"/>
            <a:ext cx="73152" cy="73152"/>
          </a:xfrm>
          <a:prstGeom prst="ellipse">
            <a:avLst/>
          </a:prstGeom>
          <a:solidFill>
            <a:srgbClr val="86868B"/>
          </a:solidFill>
          <a:ln/>
        </p:spPr>
      </p:sp>
      <p:sp>
        <p:nvSpPr>
          <p:cNvPr id="15" name="Text 13"/>
          <p:cNvSpPr txBox="1"/>
          <p:nvPr/>
        </p:nvSpPr>
        <p:spPr>
          <a:xfrm>
            <a:off x="6419088" y="2423160"/>
            <a:ext cx="507492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Awake breath-holds aren’t the same as real obstructive apnea</a:t>
            </a:r>
            <a:endParaRPr lang="en-US" sz="1500" dirty="0"/>
          </a:p>
        </p:txBody>
      </p:sp>
      <p:sp>
        <p:nvSpPr>
          <p:cNvPr id="16" name="Shape 14"/>
          <p:cNvSpPr/>
          <p:nvPr/>
        </p:nvSpPr>
        <p:spPr>
          <a:xfrm>
            <a:off x="6190488" y="3131896"/>
            <a:ext cx="73152" cy="73152"/>
          </a:xfrm>
          <a:prstGeom prst="ellipse">
            <a:avLst/>
          </a:prstGeom>
          <a:solidFill>
            <a:srgbClr val="86868B"/>
          </a:solidFill>
          <a:ln/>
        </p:spPr>
      </p:sp>
      <p:sp>
        <p:nvSpPr>
          <p:cNvPr id="17" name="Text 15"/>
          <p:cNvSpPr txBox="1"/>
          <p:nvPr/>
        </p:nvSpPr>
        <p:spPr>
          <a:xfrm>
            <a:off x="6419088" y="3034284"/>
            <a:ext cx="5074920" cy="53797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Oxygen only: no airflow or brain-wave sensors like a lab study</a:t>
            </a:r>
            <a:endParaRPr lang="en-US" sz="1500" dirty="0"/>
          </a:p>
        </p:txBody>
      </p:sp>
      <p:sp>
        <p:nvSpPr>
          <p:cNvPr id="18" name="Shape 16"/>
          <p:cNvSpPr/>
          <p:nvPr/>
        </p:nvSpPr>
        <p:spPr>
          <a:xfrm>
            <a:off x="6190488" y="3743020"/>
            <a:ext cx="73152" cy="73152"/>
          </a:xfrm>
          <a:prstGeom prst="ellipse">
            <a:avLst/>
          </a:prstGeom>
          <a:solidFill>
            <a:srgbClr val="86868B"/>
          </a:solidFill>
          <a:ln/>
        </p:spPr>
      </p:sp>
      <p:sp>
        <p:nvSpPr>
          <p:cNvPr id="19" name="Text 17"/>
          <p:cNvSpPr txBox="1"/>
          <p:nvPr/>
        </p:nvSpPr>
        <p:spPr>
          <a:xfrm>
            <a:off x="6419088" y="3645408"/>
            <a:ext cx="507492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One person, few nights: can’t generalize yet</a:t>
            </a:r>
            <a:endParaRPr lang="en-US" sz="1500" dirty="0"/>
          </a:p>
        </p:txBody>
      </p:sp>
      <p:sp>
        <p:nvSpPr>
          <p:cNvPr id="20" name="Shape 18"/>
          <p:cNvSpPr/>
          <p:nvPr/>
        </p:nvSpPr>
        <p:spPr>
          <a:xfrm>
            <a:off x="6190488" y="4121734"/>
            <a:ext cx="73152" cy="73152"/>
          </a:xfrm>
          <a:prstGeom prst="ellipse">
            <a:avLst/>
          </a:prstGeom>
          <a:solidFill>
            <a:srgbClr val="86868B"/>
          </a:solidFill>
          <a:ln/>
        </p:spPr>
      </p:sp>
      <p:sp>
        <p:nvSpPr>
          <p:cNvPr id="21" name="Text 19"/>
          <p:cNvSpPr txBox="1"/>
          <p:nvPr/>
        </p:nvSpPr>
        <p:spPr>
          <a:xfrm>
            <a:off x="6419088" y="4024122"/>
            <a:ext cx="5074920" cy="305562"/>
          </a:xfrm>
          <a:prstGeom prst="rect">
            <a:avLst/>
          </a:prstGeom>
          <a:noFill/>
          <a:ln/>
        </p:spPr>
        <p:txBody>
          <a:bodyPr wrap="square" lIns="0" tIns="0" rIns="0" bIns="0" rtlCol="0" anchor="t"/>
          <a:lstStyle/>
          <a:p>
            <a:pPr indent="0" marL="0">
              <a:buNone/>
            </a:pPr>
            <a:r>
              <a:rPr lang="en-US" sz="1500" dirty="0">
                <a:solidFill>
                  <a:srgbClr val="A1A1A6"/>
                </a:solidFill>
                <a:latin typeface="Helvetica Neue" pitchFamily="34" charset="0"/>
                <a:ea typeface="Helvetica Neue" pitchFamily="34" charset="-122"/>
                <a:cs typeface="Helvetica Neue" pitchFamily="34" charset="-120"/>
              </a:rPr>
              <a:t>Results so far use simulated example data</a:t>
            </a:r>
            <a:endParaRPr lang="en-US" sz="1500" dirty="0"/>
          </a:p>
        </p:txBody>
      </p:sp>
      <p:sp>
        <p:nvSpPr>
          <p:cNvPr id="22" name="Shape 20"/>
          <p:cNvSpPr/>
          <p:nvPr/>
        </p:nvSpPr>
        <p:spPr>
          <a:xfrm>
            <a:off x="685800" y="4846320"/>
            <a:ext cx="10817352" cy="1325880"/>
          </a:xfrm>
          <a:prstGeom prst="roundRect">
            <a:avLst>
              <a:gd name="adj" fmla="val 15172"/>
            </a:avLst>
          </a:prstGeom>
          <a:solidFill>
            <a:srgbClr val="FFFFFF">
              <a:alpha val="9000"/>
            </a:srgbClr>
          </a:solidFill>
          <a:ln w="9525">
            <a:solidFill>
              <a:srgbClr val="FFFFFF">
                <a:alpha val="16000"/>
              </a:srgbClr>
            </a:solidFill>
            <a:prstDash val="solid"/>
          </a:ln>
        </p:spPr>
      </p:sp>
      <p:sp>
        <p:nvSpPr>
          <p:cNvPr id="23" name="Text 21"/>
          <p:cNvSpPr txBox="1"/>
          <p:nvPr/>
        </p:nvSpPr>
        <p:spPr>
          <a:xfrm>
            <a:off x="1005840" y="5074920"/>
            <a:ext cx="10195560" cy="960120"/>
          </a:xfrm>
          <a:prstGeom prst="rect">
            <a:avLst/>
          </a:prstGeom>
          <a:noFill/>
          <a:ln/>
        </p:spPr>
        <p:txBody>
          <a:bodyPr wrap="square" lIns="0" tIns="0" rIns="0" bIns="0" rtlCol="0" anchor="t"/>
          <a:lstStyle/>
          <a:p>
            <a:pPr indent="0" marL="0">
              <a:lnSpc>
                <a:spcPct val="105000"/>
              </a:lnSpc>
              <a:buNone/>
            </a:pPr>
            <a:r>
              <a:rPr lang="en-US" sz="1550" b="1" dirty="0">
                <a:solidFill>
                  <a:srgbClr val="FF9F0A"/>
                </a:solidFill>
                <a:latin typeface="Helvetica Neue" pitchFamily="34" charset="0"/>
                <a:ea typeface="Helvetica Neue" pitchFamily="34" charset="-122"/>
                <a:cs typeface="Helvetica Neue" pitchFamily="34" charset="-120"/>
              </a:rPr>
              <a:t>Engineering finding.  </a:t>
            </a:r>
            <a:pPr indent="0" marL="0">
              <a:lnSpc>
                <a:spcPct val="105000"/>
              </a:lnSpc>
              <a:buNone/>
            </a:pPr>
            <a:r>
              <a:rPr lang="en-US" sz="1550" dirty="0">
                <a:solidFill>
                  <a:srgbClr val="FFFFFF"/>
                </a:solidFill>
                <a:latin typeface="Helvetica Neue" pitchFamily="34" charset="0"/>
                <a:ea typeface="Helvetica Neue" pitchFamily="34" charset="-122"/>
                <a:cs typeface="Helvetica Neue" pitchFamily="34" charset="-120"/>
              </a:rPr>
              <a:t>Bluetooth draws about 100 mA, so a 500 mAh battery would last only 4–5 hours: not a full night. So prototype v1 runs on USB power, and the sealed v2 case needs a bigger battery or Bluetooth Low Energy.</a:t>
            </a:r>
            <a:endParaRPr lang="en-US" sz="1550" dirty="0"/>
          </a:p>
        </p:txBody>
      </p:sp>
      <p:sp>
        <p:nvSpPr>
          <p:cNvPr id="24" name="Text 22"/>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25" name="Text 23"/>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5F7"/>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Further considerations</a:t>
            </a:r>
            <a:endParaRPr lang="en-US" sz="1600" dirty="0"/>
          </a:p>
        </p:txBody>
      </p:sp>
      <p:sp>
        <p:nvSpPr>
          <p:cNvPr id="3" name="Text 1"/>
          <p:cNvSpPr txBox="1"/>
          <p:nvPr/>
        </p:nvSpPr>
        <p:spPr>
          <a:xfrm>
            <a:off x="685800" y="841248"/>
            <a:ext cx="10789920" cy="868680"/>
          </a:xfrm>
          <a:prstGeom prst="rect">
            <a:avLst/>
          </a:prstGeom>
          <a:noFill/>
          <a:ln/>
        </p:spPr>
        <p:txBody>
          <a:bodyPr wrap="square" lIns="0" tIns="0" rIns="0" bIns="0" rtlCol="0" anchor="t"/>
          <a:lstStyle/>
          <a:p>
            <a:pPr indent="0" marL="0">
              <a:lnSpc>
                <a:spcPct val="92000"/>
              </a:lnSpc>
              <a:buNone/>
            </a:pPr>
            <a:r>
              <a:rPr lang="en-US" sz="4000" b="1" dirty="0">
                <a:solidFill>
                  <a:srgbClr val="1D1D1F"/>
                </a:solidFill>
                <a:latin typeface="Helvetica Neue" pitchFamily="34" charset="0"/>
                <a:ea typeface="Helvetica Neue" pitchFamily="34" charset="-122"/>
                <a:cs typeface="Helvetica Neue" pitchFamily="34" charset="-120"/>
              </a:rPr>
              <a:t>Same sensor. Two more uses.</a:t>
            </a:r>
            <a:endParaRPr lang="en-US" sz="4000" dirty="0"/>
          </a:p>
        </p:txBody>
      </p:sp>
      <p:sp>
        <p:nvSpPr>
          <p:cNvPr id="4" name="Shape 2"/>
          <p:cNvSpPr/>
          <p:nvPr/>
        </p:nvSpPr>
        <p:spPr>
          <a:xfrm>
            <a:off x="9464040" y="502920"/>
            <a:ext cx="2057400" cy="329184"/>
          </a:xfrm>
          <a:prstGeom prst="roundRect">
            <a:avLst>
              <a:gd name="adj" fmla="val 50000"/>
            </a:avLst>
          </a:prstGeom>
          <a:solidFill>
            <a:srgbClr val="FFFFFF"/>
          </a:solidFill>
          <a:ln/>
        </p:spPr>
      </p:sp>
      <p:sp>
        <p:nvSpPr>
          <p:cNvPr id="5" name="Text 3"/>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Example data</a:t>
            </a:r>
            <a:endParaRPr lang="en-US" sz="1050" dirty="0"/>
          </a:p>
        </p:txBody>
      </p:sp>
      <p:sp>
        <p:nvSpPr>
          <p:cNvPr id="6" name="Shape 4"/>
          <p:cNvSpPr/>
          <p:nvPr/>
        </p:nvSpPr>
        <p:spPr>
          <a:xfrm>
            <a:off x="685800" y="1874520"/>
            <a:ext cx="5312664" cy="3017520"/>
          </a:xfrm>
          <a:prstGeom prst="roundRect">
            <a:avLst>
              <a:gd name="adj" fmla="val 6667"/>
            </a:avLst>
          </a:prstGeom>
          <a:solidFill>
            <a:srgbClr val="FFFFFF"/>
          </a:solidFill>
          <a:ln/>
        </p:spPr>
      </p:sp>
      <p:pic>
        <p:nvPicPr>
          <p:cNvPr id="7" name="Image 0" descr="/home/user/teetomivV2/science-fair/night-signal/slides/assets/heart.png">    </p:cNvPr>
          <p:cNvPicPr>
            <a:picLocks noChangeAspect="1"/>
          </p:cNvPicPr>
          <p:nvPr/>
        </p:nvPicPr>
        <p:blipFill>
          <a:blip r:embed="rId1"/>
          <a:stretch>
            <a:fillRect/>
          </a:stretch>
        </p:blipFill>
        <p:spPr>
          <a:xfrm>
            <a:off x="886968" y="2089342"/>
            <a:ext cx="4910328" cy="2587876"/>
          </a:xfrm>
          <a:prstGeom prst="rect">
            <a:avLst/>
          </a:prstGeom>
        </p:spPr>
      </p:pic>
      <p:sp>
        <p:nvSpPr>
          <p:cNvPr id="8" name="Shape 5"/>
          <p:cNvSpPr/>
          <p:nvPr/>
        </p:nvSpPr>
        <p:spPr>
          <a:xfrm>
            <a:off x="6190488" y="1874520"/>
            <a:ext cx="5312664" cy="3017520"/>
          </a:xfrm>
          <a:prstGeom prst="roundRect">
            <a:avLst>
              <a:gd name="adj" fmla="val 6667"/>
            </a:avLst>
          </a:prstGeom>
          <a:solidFill>
            <a:srgbClr val="FFFFFF"/>
          </a:solidFill>
          <a:ln/>
        </p:spPr>
      </p:sp>
      <p:pic>
        <p:nvPicPr>
          <p:cNvPr id="9" name="Image 1" descr="/home/user/teetomivV2/science-fair/night-signal/slides/assets/asthma.png">    </p:cNvPr>
          <p:cNvPicPr>
            <a:picLocks noChangeAspect="1"/>
          </p:cNvPicPr>
          <p:nvPr/>
        </p:nvPicPr>
        <p:blipFill>
          <a:blip r:embed="rId2"/>
          <a:stretch>
            <a:fillRect/>
          </a:stretch>
        </p:blipFill>
        <p:spPr>
          <a:xfrm>
            <a:off x="6391656" y="2089342"/>
            <a:ext cx="4910328" cy="2587876"/>
          </a:xfrm>
          <a:prstGeom prst="rect">
            <a:avLst/>
          </a:prstGeom>
        </p:spPr>
      </p:pic>
      <p:sp>
        <p:nvSpPr>
          <p:cNvPr id="10" name="Text 6"/>
          <p:cNvSpPr txBox="1"/>
          <p:nvPr/>
        </p:nvSpPr>
        <p:spPr>
          <a:xfrm>
            <a:off x="868680" y="5120640"/>
            <a:ext cx="5029200" cy="914400"/>
          </a:xfrm>
          <a:prstGeom prst="rect">
            <a:avLst/>
          </a:prstGeom>
          <a:noFill/>
          <a:ln/>
        </p:spPr>
        <p:txBody>
          <a:bodyPr wrap="square" lIns="0" tIns="0" rIns="0" bIns="0" rtlCol="0" anchor="t"/>
          <a:lstStyle/>
          <a:p>
            <a:pPr indent="0" marL="0">
              <a:buNone/>
            </a:pPr>
            <a:r>
              <a:rPr lang="en-US" sz="1450" b="1" dirty="0">
                <a:solidFill>
                  <a:srgbClr val="E3254B"/>
                </a:solidFill>
                <a:latin typeface="Helvetica Neue" pitchFamily="34" charset="0"/>
                <a:ea typeface="Helvetica Neue" pitchFamily="34" charset="-122"/>
                <a:cs typeface="Helvetica Neue" pitchFamily="34" charset="-120"/>
              </a:rPr>
              <a:t>Heart.  </a:t>
            </a:r>
            <a:pPr indent="0" marL="0">
              <a:buNone/>
            </a:pPr>
            <a:r>
              <a:rPr lang="en-US" sz="1450" dirty="0">
                <a:solidFill>
                  <a:srgbClr val="6E6E73"/>
                </a:solidFill>
                <a:latin typeface="Helvetica Neue" pitchFamily="34" charset="0"/>
                <a:ea typeface="Helvetica Neue" pitchFamily="34" charset="-122"/>
                <a:cs typeface="Helvetica Neue" pitchFamily="34" charset="-120"/>
              </a:rPr>
              <a:t>Flags racing (&gt;100 bpm), very slow (&lt;40 bpm) and irregular-rhythm episodes, plus resting heart rate and HRV.</a:t>
            </a:r>
            <a:endParaRPr lang="en-US" sz="1450" dirty="0"/>
          </a:p>
        </p:txBody>
      </p:sp>
      <p:sp>
        <p:nvSpPr>
          <p:cNvPr id="11" name="Text 7"/>
          <p:cNvSpPr txBox="1"/>
          <p:nvPr/>
        </p:nvSpPr>
        <p:spPr>
          <a:xfrm>
            <a:off x="6373368" y="5120640"/>
            <a:ext cx="5029200" cy="914400"/>
          </a:xfrm>
          <a:prstGeom prst="rect">
            <a:avLst/>
          </a:prstGeom>
          <a:noFill/>
          <a:ln/>
        </p:spPr>
        <p:txBody>
          <a:bodyPr wrap="square" lIns="0" tIns="0" rIns="0" bIns="0" rtlCol="0" anchor="t"/>
          <a:lstStyle/>
          <a:p>
            <a:pPr indent="0" marL="0">
              <a:buNone/>
            </a:pPr>
            <a:r>
              <a:rPr lang="en-US" sz="1450" b="1" dirty="0">
                <a:solidFill>
                  <a:srgbClr val="0071E3"/>
                </a:solidFill>
                <a:latin typeface="Helvetica Neue" pitchFamily="34" charset="0"/>
                <a:ea typeface="Helvetica Neue" pitchFamily="34" charset="-122"/>
                <a:cs typeface="Helvetica Neue" pitchFamily="34" charset="-120"/>
              </a:rPr>
              <a:t>Asthma.  </a:t>
            </a:r>
            <a:pPr indent="0" marL="0">
              <a:buNone/>
            </a:pPr>
            <a:r>
              <a:rPr lang="en-US" sz="1450" dirty="0">
                <a:solidFill>
                  <a:srgbClr val="6E6E73"/>
                </a:solidFill>
                <a:latin typeface="Helvetica Neue" pitchFamily="34" charset="0"/>
                <a:ea typeface="Helvetica Neue" pitchFamily="34" charset="-122"/>
                <a:cs typeface="Helvetica Neue" pitchFamily="34" charset="-120"/>
              </a:rPr>
              <a:t>Tracks breathing rate from the heart’s rhythm and coughs from the motion sensor, catching early-morning worsening (13 → 22 breaths/min).</a:t>
            </a:r>
            <a:endParaRPr lang="en-US" sz="1450" dirty="0"/>
          </a:p>
        </p:txBody>
      </p:sp>
      <p:sp>
        <p:nvSpPr>
          <p:cNvPr id="12" name="Text 8"/>
          <p:cNvSpPr txBox="1"/>
          <p:nvPr/>
        </p:nvSpPr>
        <p:spPr>
          <a:xfrm>
            <a:off x="685800" y="6053328"/>
            <a:ext cx="10789920" cy="27432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Screening ideas only. Confirming an arrhythmia or asthma needs a doctor.</a:t>
            </a:r>
            <a:endParaRPr lang="en-US" sz="1200" dirty="0"/>
          </a:p>
        </p:txBody>
      </p:sp>
      <p:sp>
        <p:nvSpPr>
          <p:cNvPr id="13" name="Text 9"/>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A1A1A6"/>
                </a:solidFill>
                <a:latin typeface="Helvetica Neue" pitchFamily="34" charset="0"/>
                <a:ea typeface="Helvetica Neue" pitchFamily="34" charset="-122"/>
                <a:cs typeface="Helvetica Neue" pitchFamily="34" charset="-120"/>
              </a:rPr>
              <a:t>Night Signal</a:t>
            </a:r>
            <a:endParaRPr lang="en-US" sz="950" dirty="0"/>
          </a:p>
        </p:txBody>
      </p:sp>
      <p:sp>
        <p:nvSpPr>
          <p:cNvPr id="14" name="Text 10"/>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A1A1A6"/>
                </a:solidFill>
                <a:latin typeface="Helvetica Neue" pitchFamily="34" charset="0"/>
                <a:ea typeface="Helvetica Neue" pitchFamily="34" charset="-122"/>
                <a:cs typeface="Helvetica Neue" pitchFamily="34" charset="-120"/>
              </a:rPr>
              <a:t>13</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FF375F"/>
                </a:solidFill>
                <a:latin typeface="Helvetica Neue" pitchFamily="34" charset="0"/>
                <a:ea typeface="Helvetica Neue" pitchFamily="34" charset="-122"/>
                <a:cs typeface="Helvetica Neue" pitchFamily="34" charset="-120"/>
              </a:rPr>
              <a:t>Conclusion</a:t>
            </a:r>
            <a:endParaRPr lang="en-US" sz="1600" dirty="0"/>
          </a:p>
        </p:txBody>
      </p:sp>
      <p:sp>
        <p:nvSpPr>
          <p:cNvPr id="3" name="Text 1"/>
          <p:cNvSpPr txBox="1"/>
          <p:nvPr/>
        </p:nvSpPr>
        <p:spPr>
          <a:xfrm>
            <a:off x="685800" y="841248"/>
            <a:ext cx="10789920" cy="1005840"/>
          </a:xfrm>
          <a:prstGeom prst="rect">
            <a:avLst/>
          </a:prstGeom>
          <a:noFill/>
          <a:ln/>
        </p:spPr>
        <p:txBody>
          <a:bodyPr wrap="square" lIns="0" tIns="0" rIns="0" bIns="0" rtlCol="0" anchor="t"/>
          <a:lstStyle/>
          <a:p>
            <a:pPr indent="0" marL="0">
              <a:lnSpc>
                <a:spcPct val="92000"/>
              </a:lnSpc>
              <a:buNone/>
            </a:pPr>
            <a:r>
              <a:rPr lang="en-US" sz="5400" b="1" dirty="0">
                <a:solidFill>
                  <a:srgbClr val="FFFFFF"/>
                </a:solidFill>
                <a:latin typeface="Helvetica Neue" pitchFamily="34" charset="0"/>
                <a:ea typeface="Helvetica Neue" pitchFamily="34" charset="-122"/>
                <a:cs typeface="Helvetica Neue" pitchFamily="34" charset="-120"/>
              </a:rPr>
              <a:t>Supported. So far.</a:t>
            </a:r>
            <a:endParaRPr lang="en-US" sz="5400" dirty="0"/>
          </a:p>
        </p:txBody>
      </p:sp>
      <p:sp>
        <p:nvSpPr>
          <p:cNvPr id="4" name="Text 2"/>
          <p:cNvSpPr txBox="1"/>
          <p:nvPr/>
        </p:nvSpPr>
        <p:spPr>
          <a:xfrm>
            <a:off x="685800" y="1965960"/>
            <a:ext cx="10789920" cy="1005840"/>
          </a:xfrm>
          <a:prstGeom prst="rect">
            <a:avLst/>
          </a:prstGeom>
          <a:noFill/>
          <a:ln/>
        </p:spPr>
        <p:txBody>
          <a:bodyPr wrap="square" lIns="0" tIns="0" rIns="0" bIns="0" rtlCol="0" anchor="t"/>
          <a:lstStyle/>
          <a:p>
            <a:pPr indent="0" marL="0">
              <a:lnSpc>
                <a:spcPct val="108000"/>
              </a:lnSpc>
              <a:buNone/>
            </a:pPr>
            <a:r>
              <a:rPr lang="en-US" sz="1900" dirty="0">
                <a:solidFill>
                  <a:srgbClr val="A1A1A6"/>
                </a:solidFill>
                <a:latin typeface="Helvetica Neue" pitchFamily="34" charset="0"/>
                <a:ea typeface="Helvetica Neue" pitchFamily="34" charset="-122"/>
                <a:cs typeface="Helvetica Neue" pitchFamily="34" charset="-120"/>
              </a:rPr>
              <a:t>A low-cost wearable measured blood oxygen within about half a percent of a reference, found apnea events on its own, scored the night’s severity, and showed back-sleeping triples events.</a:t>
            </a:r>
            <a:endParaRPr lang="en-US" sz="1900" dirty="0"/>
          </a:p>
        </p:txBody>
      </p:sp>
      <p:sp>
        <p:nvSpPr>
          <p:cNvPr id="5" name="Text 3"/>
          <p:cNvSpPr txBox="1"/>
          <p:nvPr/>
        </p:nvSpPr>
        <p:spPr>
          <a:xfrm>
            <a:off x="685800" y="3246120"/>
            <a:ext cx="5486400" cy="365760"/>
          </a:xfrm>
          <a:prstGeom prst="rect">
            <a:avLst/>
          </a:prstGeom>
          <a:noFill/>
          <a:ln/>
        </p:spPr>
        <p:txBody>
          <a:bodyPr wrap="square" lIns="0" tIns="0" rIns="0" bIns="0" rtlCol="0" anchor="t"/>
          <a:lstStyle/>
          <a:p>
            <a:pPr indent="0" marL="0">
              <a:buNone/>
            </a:pPr>
            <a:r>
              <a:rPr lang="en-US" sz="1900" b="1" dirty="0">
                <a:solidFill>
                  <a:srgbClr val="FFFFFF"/>
                </a:solidFill>
                <a:latin typeface="Helvetica Neue" pitchFamily="34" charset="0"/>
                <a:ea typeface="Helvetica Neue" pitchFamily="34" charset="-122"/>
                <a:cs typeface="Helvetica Neue" pitchFamily="34" charset="-120"/>
              </a:rPr>
              <a:t>Next</a:t>
            </a:r>
            <a:endParaRPr lang="en-US" sz="1900" dirty="0"/>
          </a:p>
        </p:txBody>
      </p:sp>
      <p:sp>
        <p:nvSpPr>
          <p:cNvPr id="6" name="Shape 4"/>
          <p:cNvSpPr/>
          <p:nvPr/>
        </p:nvSpPr>
        <p:spPr>
          <a:xfrm>
            <a:off x="685800" y="3804186"/>
            <a:ext cx="73152" cy="73152"/>
          </a:xfrm>
          <a:prstGeom prst="ellipse">
            <a:avLst/>
          </a:prstGeom>
          <a:solidFill>
            <a:srgbClr val="86868B"/>
          </a:solidFill>
          <a:ln/>
        </p:spPr>
      </p:sp>
      <p:sp>
        <p:nvSpPr>
          <p:cNvPr id="7" name="Text 5"/>
          <p:cNvSpPr txBox="1"/>
          <p:nvPr/>
        </p:nvSpPr>
        <p:spPr>
          <a:xfrm>
            <a:off x="914400" y="3703320"/>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Record more people and many more nights</a:t>
            </a:r>
            <a:endParaRPr lang="en-US" sz="1550" dirty="0"/>
          </a:p>
        </p:txBody>
      </p:sp>
      <p:sp>
        <p:nvSpPr>
          <p:cNvPr id="8" name="Shape 6"/>
          <p:cNvSpPr/>
          <p:nvPr/>
        </p:nvSpPr>
        <p:spPr>
          <a:xfrm>
            <a:off x="685800" y="4172359"/>
            <a:ext cx="73152" cy="73152"/>
          </a:xfrm>
          <a:prstGeom prst="ellipse">
            <a:avLst/>
          </a:prstGeom>
          <a:solidFill>
            <a:srgbClr val="86868B"/>
          </a:solidFill>
          <a:ln/>
        </p:spPr>
      </p:sp>
      <p:sp>
        <p:nvSpPr>
          <p:cNvPr id="9" name="Text 7"/>
          <p:cNvSpPr txBox="1"/>
          <p:nvPr/>
        </p:nvSpPr>
        <p:spPr>
          <a:xfrm>
            <a:off x="914400" y="4071493"/>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Add a nasal airflow sensor to separate apnea from hypopnea</a:t>
            </a:r>
            <a:endParaRPr lang="en-US" sz="1550" dirty="0"/>
          </a:p>
        </p:txBody>
      </p:sp>
      <p:sp>
        <p:nvSpPr>
          <p:cNvPr id="10" name="Shape 8"/>
          <p:cNvSpPr/>
          <p:nvPr/>
        </p:nvSpPr>
        <p:spPr>
          <a:xfrm>
            <a:off x="685800" y="4540532"/>
            <a:ext cx="73152" cy="73152"/>
          </a:xfrm>
          <a:prstGeom prst="ellipse">
            <a:avLst/>
          </a:prstGeom>
          <a:solidFill>
            <a:srgbClr val="86868B"/>
          </a:solidFill>
          <a:ln/>
        </p:spPr>
      </p:sp>
      <p:sp>
        <p:nvSpPr>
          <p:cNvPr id="11" name="Text 9"/>
          <p:cNvSpPr txBox="1"/>
          <p:nvPr/>
        </p:nvSpPr>
        <p:spPr>
          <a:xfrm>
            <a:off x="914400" y="4439666"/>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Bigger battery or Bluetooth Low Energy for full nights</a:t>
            </a:r>
            <a:endParaRPr lang="en-US" sz="1550" dirty="0"/>
          </a:p>
        </p:txBody>
      </p:sp>
      <p:sp>
        <p:nvSpPr>
          <p:cNvPr id="12" name="Shape 10"/>
          <p:cNvSpPr/>
          <p:nvPr/>
        </p:nvSpPr>
        <p:spPr>
          <a:xfrm>
            <a:off x="685800" y="4908705"/>
            <a:ext cx="73152" cy="73152"/>
          </a:xfrm>
          <a:prstGeom prst="ellipse">
            <a:avLst/>
          </a:prstGeom>
          <a:solidFill>
            <a:srgbClr val="86868B"/>
          </a:solidFill>
          <a:ln/>
        </p:spPr>
      </p:sp>
      <p:sp>
        <p:nvSpPr>
          <p:cNvPr id="13" name="Text 11"/>
          <p:cNvSpPr txBox="1"/>
          <p:nvPr/>
        </p:nvSpPr>
        <p:spPr>
          <a:xfrm>
            <a:off x="914400" y="4807839"/>
            <a:ext cx="6446520" cy="313309"/>
          </a:xfrm>
          <a:prstGeom prst="rect">
            <a:avLst/>
          </a:prstGeom>
          <a:noFill/>
          <a:ln/>
        </p:spPr>
        <p:txBody>
          <a:bodyPr wrap="square" lIns="0" tIns="0" rIns="0" bIns="0" rtlCol="0" anchor="t"/>
          <a:lstStyle/>
          <a:p>
            <a:pPr indent="0" marL="0">
              <a:buNone/>
            </a:pPr>
            <a:r>
              <a:rPr lang="en-US" sz="1550" dirty="0">
                <a:solidFill>
                  <a:srgbClr val="A1A1A6"/>
                </a:solidFill>
                <a:latin typeface="Helvetica Neue" pitchFamily="34" charset="0"/>
                <a:ea typeface="Helvetica Neue" pitchFamily="34" charset="-122"/>
                <a:cs typeface="Helvetica Neue" pitchFamily="34" charset="-120"/>
              </a:rPr>
              <a:t>Shrink it into a finger ring and compare with a real sleep lab</a:t>
            </a:r>
            <a:endParaRPr lang="en-US" sz="1550" dirty="0"/>
          </a:p>
        </p:txBody>
      </p:sp>
      <p:sp>
        <p:nvSpPr>
          <p:cNvPr id="14" name="Shape 12"/>
          <p:cNvSpPr/>
          <p:nvPr/>
        </p:nvSpPr>
        <p:spPr>
          <a:xfrm>
            <a:off x="8110728" y="3355848"/>
            <a:ext cx="1472184" cy="1472184"/>
          </a:xfrm>
          <a:prstGeom prst="roundRect">
            <a:avLst>
              <a:gd name="adj" fmla="val 13665"/>
            </a:avLst>
          </a:prstGeom>
          <a:solidFill>
            <a:srgbClr val="FFFFFF"/>
          </a:solidFill>
          <a:ln/>
        </p:spPr>
      </p:sp>
      <p:pic>
        <p:nvPicPr>
          <p:cNvPr id="15" name="Image 0" descr="/home/user/teetomivV2/science-fair/night-signal/slides/assets/qr_app.png">
            <a:hlinkClick r:id="rId3" tooltip="https://gabrielamamanestudent-wq.github.io/teetomivV2/science-fair/night-signal/app/"/>
          </p:cNvPr>
          <p:cNvPicPr>
            <a:picLocks noChangeAspect="1"/>
          </p:cNvPicPr>
          <p:nvPr/>
        </p:nvPicPr>
        <p:blipFill>
          <a:blip r:embed="rId2"/>
          <a:stretch>
            <a:fillRect/>
          </a:stretch>
        </p:blipFill>
        <p:spPr>
          <a:xfrm>
            <a:off x="8183880" y="3429000"/>
            <a:ext cx="1325880" cy="1325880"/>
          </a:xfrm>
          <a:prstGeom prst="rect">
            <a:avLst/>
          </a:prstGeom>
        </p:spPr>
      </p:pic>
      <p:sp>
        <p:nvSpPr>
          <p:cNvPr id="16" name="Shape 13"/>
          <p:cNvSpPr/>
          <p:nvPr/>
        </p:nvSpPr>
        <p:spPr>
          <a:xfrm>
            <a:off x="9966960" y="3355848"/>
            <a:ext cx="1472184" cy="1472184"/>
          </a:xfrm>
          <a:prstGeom prst="roundRect">
            <a:avLst>
              <a:gd name="adj" fmla="val 13665"/>
            </a:avLst>
          </a:prstGeom>
          <a:solidFill>
            <a:srgbClr val="FFFFFF"/>
          </a:solidFill>
          <a:ln/>
        </p:spPr>
      </p:sp>
      <p:pic>
        <p:nvPicPr>
          <p:cNvPr id="17" name="Image 1" descr="/home/user/teetomivV2/science-fair/night-signal/slides/assets/qr_3d.png">
            <a:hlinkClick r:id="rId5" tooltip="https://gabrielamamanestudent-wq.github.io/teetomivV2/science-fair/night-signal/app/3d.html"/>
          </p:cNvPr>
          <p:cNvPicPr>
            <a:picLocks noChangeAspect="1"/>
          </p:cNvPicPr>
          <p:nvPr/>
        </p:nvPicPr>
        <p:blipFill>
          <a:blip r:embed="rId4"/>
          <a:stretch>
            <a:fillRect/>
          </a:stretch>
        </p:blipFill>
        <p:spPr>
          <a:xfrm>
            <a:off x="10040112" y="3429000"/>
            <a:ext cx="1325880" cy="1325880"/>
          </a:xfrm>
          <a:prstGeom prst="rect">
            <a:avLst/>
          </a:prstGeom>
        </p:spPr>
      </p:pic>
      <p:sp>
        <p:nvSpPr>
          <p:cNvPr id="18" name="Text 14"/>
          <p:cNvSpPr txBox="1"/>
          <p:nvPr/>
        </p:nvSpPr>
        <p:spPr>
          <a:xfrm>
            <a:off x="8183880" y="489204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App</a:t>
            </a:r>
            <a:endParaRPr lang="en-US" sz="1300" dirty="0"/>
          </a:p>
        </p:txBody>
      </p:sp>
      <p:sp>
        <p:nvSpPr>
          <p:cNvPr id="19" name="Text 15"/>
          <p:cNvSpPr txBox="1"/>
          <p:nvPr/>
        </p:nvSpPr>
        <p:spPr>
          <a:xfrm>
            <a:off x="10040112" y="4892040"/>
            <a:ext cx="1325880" cy="274320"/>
          </a:xfrm>
          <a:prstGeom prst="rect">
            <a:avLst/>
          </a:prstGeom>
          <a:noFill/>
          <a:ln/>
        </p:spPr>
        <p:txBody>
          <a:bodyPr wrap="square" lIns="0" tIns="0" rIns="0" bIns="0" rtlCol="0" anchor="t"/>
          <a:lstStyle/>
          <a:p>
            <a:pPr algn="ctr" indent="0" marL="0">
              <a:buNone/>
            </a:pPr>
            <a:r>
              <a:rPr lang="en-US" sz="1300" dirty="0">
                <a:solidFill>
                  <a:srgbClr val="86868B"/>
                </a:solidFill>
                <a:latin typeface="Helvetica Neue" pitchFamily="34" charset="0"/>
                <a:ea typeface="Helvetica Neue" pitchFamily="34" charset="-122"/>
                <a:cs typeface="Helvetica Neue" pitchFamily="34" charset="-120"/>
              </a:rPr>
              <a:t>3D model</a:t>
            </a:r>
            <a:endParaRPr lang="en-US" sz="1300" dirty="0"/>
          </a:p>
        </p:txBody>
      </p:sp>
      <p:sp>
        <p:nvSpPr>
          <p:cNvPr id="20" name="Text 16"/>
          <p:cNvSpPr txBox="1"/>
          <p:nvPr/>
        </p:nvSpPr>
        <p:spPr>
          <a:xfrm>
            <a:off x="685800" y="5760720"/>
            <a:ext cx="10789920" cy="548640"/>
          </a:xfrm>
          <a:prstGeom prst="rect">
            <a:avLst/>
          </a:prstGeom>
          <a:noFill/>
          <a:ln/>
        </p:spPr>
        <p:txBody>
          <a:bodyPr wrap="square" lIns="0" tIns="0" rIns="0" bIns="0" rtlCol="0" anchor="t"/>
          <a:lstStyle/>
          <a:p>
            <a:pPr indent="0" marL="0">
              <a:buNone/>
            </a:pPr>
            <a:r>
              <a:rPr lang="en-US" sz="2800" b="1" dirty="0">
                <a:solidFill>
                  <a:srgbClr val="FFFFFF"/>
                </a:solidFill>
                <a:latin typeface="Helvetica Neue" pitchFamily="34" charset="0"/>
                <a:ea typeface="Helvetica Neue" pitchFamily="34" charset="-122"/>
                <a:cs typeface="Helvetica Neue" pitchFamily="34" charset="-120"/>
              </a:rPr>
              <a:t>Thank you. Questions?</a:t>
            </a:r>
            <a:endParaRPr lang="en-US" sz="2800" dirty="0"/>
          </a:p>
        </p:txBody>
      </p:sp>
      <p:sp>
        <p:nvSpPr>
          <p:cNvPr id="21" name="Text 17"/>
          <p:cNvSpPr txBox="1"/>
          <p:nvPr/>
        </p:nvSpPr>
        <p:spPr>
          <a:xfrm>
            <a:off x="685800" y="6473952"/>
            <a:ext cx="3657600" cy="228600"/>
          </a:xfrm>
          <a:prstGeom prst="rect">
            <a:avLst/>
          </a:prstGeom>
          <a:noFill/>
          <a:ln/>
        </p:spPr>
        <p:txBody>
          <a:bodyPr wrap="square" lIns="0" tIns="0" rIns="0" bIns="0" rtlCol="0" anchor="t"/>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Night Signal</a:t>
            </a:r>
            <a:endParaRPr lang="en-US" sz="950" dirty="0"/>
          </a:p>
        </p:txBody>
      </p:sp>
      <p:sp>
        <p:nvSpPr>
          <p:cNvPr id="22" name="Text 18"/>
          <p:cNvSpPr txBox="1"/>
          <p:nvPr/>
        </p:nvSpPr>
        <p:spPr>
          <a:xfrm>
            <a:off x="10588752" y="6473952"/>
            <a:ext cx="914400" cy="228600"/>
          </a:xfrm>
          <a:prstGeom prst="rect">
            <a:avLst/>
          </a:prstGeom>
          <a:noFill/>
          <a:ln/>
        </p:spPr>
        <p:txBody>
          <a:bodyPr wrap="square" lIns="0" tIns="0" rIns="0" bIns="0" rtlCol="0" anchor="t"/>
          <a:lstStyle/>
          <a:p>
            <a:pPr algn="r" indent="0" marL="0">
              <a:buNone/>
            </a:pPr>
            <a:r>
              <a:rPr lang="en-US" sz="950" dirty="0">
                <a:solidFill>
                  <a:srgbClr val="6E6E73"/>
                </a:solidFill>
                <a:latin typeface="Helvetica Neue" pitchFamily="34" charset="0"/>
                <a:ea typeface="Helvetica Neue" pitchFamily="34" charset="-122"/>
                <a:cs typeface="Helvetica Neue"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A · Materials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Parts, exact sizes and where to buy.</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10817352" cy="914400"/>
        </p:xfrm>
        <a:graphic>
          <a:graphicData uri="http://schemas.openxmlformats.org/drawingml/2006/table">
            <a:tbl>
              <a:tblPr/>
              <a:tblGrid>
                <a:gridCol w="4023360"/>
                <a:gridCol w="3017520"/>
                <a:gridCol w="2587752"/>
                <a:gridCol w="1188720"/>
              </a:tblGrid>
              <a:tr h="393192">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Part</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Size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Purpose</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950" b="1" dirty="0">
                          <a:solidFill>
                            <a:srgbClr val="6E6E73"/>
                          </a:solidFill>
                          <a:latin typeface="Helvetica Neue" pitchFamily="34" charset="0"/>
                          <a:ea typeface="Helvetica Neue" pitchFamily="34" charset="-122"/>
                          <a:cs typeface="Helvetica Neue" pitchFamily="34" charset="-120"/>
                        </a:rPr>
                        <a:t>Buy</a:t>
                      </a:r>
                      <a:endParaRPr lang="en-US" sz="9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AITRIP ESP32 ESP-WROOM-32 (30-pin, CP2102, USB-C)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52 × 28 mm · pins pre-soldered</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Processor + Bluetooth Classic</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1" invalidUrl="" action="" tgtFrame="" tooltip="https://www.amazon.ca/AITRIP-ESP-WROOM-32-Development-Microcontroller-Compatible/dp/B0DF2YJSHN"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HiLetgo MAX30102 sensor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14 × 14 mm · 4 pins to solder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SpO₂ + heart rate (finger clip)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2" invalidUrl="" action="" tgtFrame="" tooltip="https://www.amazon.ca/HiLetgo-MAX30102-Breakout-Oximetry-Solution/dp/B07QC67KMQ"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SHILLEHTEK GY-521 MPU-6050, pre-soldered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 21 × 16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Sleep position + cough jolts</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3" invalidUrl="" action="" tgtFrame="" tooltip="https://www.amazon.ca/Pre-Soldered-Accelerometer-Raspberry-Compatible-Arduino/dp/B0BMY15TC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ELEGOO 120 Dupont jumper wires (F-F, M-F,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20 cm each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Plug-in wiring, no soldering</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4" invalidUrl="" action="" tgtFrame="" tooltip="https://www.amazon.ca/Elegoo-120pcs-Multicolored-Breadboard-arduino/dp/B01EV70C78"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Running armband phone pouch</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fits phones up to 6.9 in</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Holds the ESP32 on the forearm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5" invalidUrl="" action="" tgtFrame="" tooltip="https://www.amazon.ca/Running-Armband-Samsung-Resistant-Emergency/dp/B08HZ3BPK4"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Powerline+ USB-A to USB-C cable</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3 m (10 ft)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All-night power from a phone charger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6" invalidUrl="" action="" tgtFrame="" tooltip="https://www.amazon.ca/Anker-Powerline-Double-Braided-Charging-Samsung/dp/B07G148YMS"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Anker USB-C to USB-A adapter (2-pack)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USB-C → USB-A</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Plug the cable into a MacBook</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7" invalidUrl="" action="" tgtFrame="" tooltip="https://www.amazon.ca/Adapter-Anker-High-Speed-Transfer-Notebook/dp/B08HZ6PS6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VELCRO Brand 1 in × 30 ft roll</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25 mm wide · cut ≈ 80 mm</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Finger loop</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8" invalidUrl="" action="" tgtFrame="" tooltip="https://www.amazon.ca/VELCRO-Brand-VEL-30768-AMS-Self-Gripping-Organization/dp/B09QH2NVM1"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93192">
                <a:tc>
                  <a:txBody>
                    <a:bodyPr/>
                    <a:lstStyle/>
                    <a:p>
                      <a:pPr indent="0" marL="0">
                        <a:buNone/>
                      </a:pPr>
                      <a:r>
                        <a:rPr lang="en-US" sz="1150" b="1" dirty="0">
                          <a:solidFill>
                            <a:srgbClr val="1D1D1F"/>
                          </a:solidFill>
                          <a:latin typeface="Helvetica Neue" pitchFamily="34" charset="0"/>
                          <a:ea typeface="Helvetica Neue" pitchFamily="34" charset="-122"/>
                          <a:cs typeface="Helvetica Neue" pitchFamily="34" charset="-120"/>
                        </a:rPr>
                        <a:t>Elite Medica fingertip pulse oximeter</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Health Canada authorized</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Reference for the accuracy test</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150" u="sng" dirty="0">
                          <a:solidFill>
                            <a:srgbClr val="0071E3"/>
                          </a:solidFill>
                          <a:latin typeface="Helvetica Neue" pitchFamily="34" charset="0"/>
                          <a:ea typeface="Helvetica Neue" pitchFamily="34" charset="-122"/>
                          <a:cs typeface="Helvetica Neue" pitchFamily="34" charset="-120"/>
                          <a:hlinkClick r:id="rId9" invalidUrl="" action="" tgtFrame="" tooltip="https://www.amazon.ca/Elite-Medica-Fingertip-Saturation-Batteries/dp/B0DSGP91PB" history="1" highlightClick="0" endSnd="0">
                            <a:extLst>
                              <a:ext uri="{A12FA001-AC4F-418D-AE19-62706E023703}">
                                <ahyp:hlinkClr xmlns:ahyp="http://schemas.microsoft.com/office/drawing/2018/hyperlinkcolor" val="tx"/>
                              </a:ext>
                            </a:extLst>
                          </a:hlinkClick>
                        </a:rPr>
                        <a:t>Amazon.ca ›</a:t>
                      </a:r>
                      <a:endParaRPr lang="en-US" sz="11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7" name="Text 4"/>
          <p:cNvSpPr txBox="1"/>
          <p:nvPr/>
        </p:nvSpPr>
        <p:spPr>
          <a:xfrm>
            <a:off x="685800" y="5897880"/>
            <a:ext cx="10789920" cy="457200"/>
          </a:xfrm>
          <a:prstGeom prst="rect">
            <a:avLst/>
          </a:prstGeom>
          <a:noFill/>
          <a:ln/>
        </p:spPr>
        <p:txBody>
          <a:bodyPr wrap="square" lIns="0" tIns="0" rIns="0" bIns="0" rtlCol="0" anchor="t"/>
          <a:lstStyle/>
          <a:p>
            <a:pPr indent="0" marL="0">
              <a:buNone/>
            </a:pPr>
            <a:r>
              <a:rPr lang="en-US" sz="1150" dirty="0">
                <a:solidFill>
                  <a:srgbClr val="6E6E73"/>
                </a:solidFill>
                <a:latin typeface="Helvetica Neue" pitchFamily="34" charset="0"/>
                <a:ea typeface="Helvetica Neue" pitchFamily="34" charset="-122"/>
                <a:cs typeface="Helvetica Neue" pitchFamily="34" charset="-120"/>
              </a:rPr>
              <a:t>Every part is on Amazon.ca (click Buy). Prices change and several items are multi-packs. Only the MAX30102’s 4 header pins need soldering (about 5 minutes); everything else plugs in.</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B · Full protocol</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Full experimental protocol.</a:t>
            </a:r>
            <a:endParaRPr lang="en-US" sz="3000" dirty="0"/>
          </a:p>
        </p:txBody>
      </p:sp>
      <p:sp>
        <p:nvSpPr>
          <p:cNvPr id="6" name="Text 4"/>
          <p:cNvSpPr txBox="1"/>
          <p:nvPr/>
        </p:nvSpPr>
        <p:spPr>
          <a:xfrm>
            <a:off x="685800" y="164592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1</a:t>
            </a:r>
            <a:endParaRPr lang="en-US" sz="1400" dirty="0"/>
          </a:p>
        </p:txBody>
      </p:sp>
      <p:sp>
        <p:nvSpPr>
          <p:cNvPr id="7" name="Text 5"/>
          <p:cNvSpPr txBox="1"/>
          <p:nvPr/>
        </p:nvSpPr>
        <p:spPr>
          <a:xfrm>
            <a:off x="1097280" y="1645920"/>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Build: plug the MAX30102 into 3V3 / GND / GPIO 21 / 22 and the GY-521 into VIN / GND / SDA→GPIO 33 / SCL→GPIO 32 (two separate I²C buses, no splices); ESP32 in the armband, USB power. Flash firmware v3.1.</a:t>
            </a:r>
            <a:endParaRPr lang="en-US" sz="1250" dirty="0"/>
          </a:p>
        </p:txBody>
      </p:sp>
      <p:sp>
        <p:nvSpPr>
          <p:cNvPr id="8" name="Text 6"/>
          <p:cNvSpPr txBox="1"/>
          <p:nvPr/>
        </p:nvSpPr>
        <p:spPr>
          <a:xfrm>
            <a:off x="685800" y="221284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2</a:t>
            </a:r>
            <a:endParaRPr lang="en-US" sz="1400" dirty="0"/>
          </a:p>
        </p:txBody>
      </p:sp>
      <p:sp>
        <p:nvSpPr>
          <p:cNvPr id="9" name="Text 7"/>
          <p:cNvSpPr txBox="1"/>
          <p:nvPr/>
        </p:nvSpPr>
        <p:spPr>
          <a:xfrm>
            <a:off x="1097280" y="2212848"/>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Device check: run check_device.py; record the result. Do not continue unless it says READY.</a:t>
            </a:r>
            <a:endParaRPr lang="en-US" sz="1250" dirty="0"/>
          </a:p>
        </p:txBody>
      </p:sp>
      <p:sp>
        <p:nvSpPr>
          <p:cNvPr id="10" name="Text 8"/>
          <p:cNvSpPr txBox="1"/>
          <p:nvPr/>
        </p:nvSpPr>
        <p:spPr>
          <a:xfrm>
            <a:off x="685800" y="277977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3</a:t>
            </a:r>
            <a:endParaRPr lang="en-US" sz="1400" dirty="0"/>
          </a:p>
        </p:txBody>
      </p:sp>
      <p:sp>
        <p:nvSpPr>
          <p:cNvPr id="11" name="Text 9"/>
          <p:cNvSpPr txBox="1"/>
          <p:nvPr/>
        </p:nvSpPr>
        <p:spPr>
          <a:xfrm>
            <a:off x="1097280" y="2779776"/>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Full-night power test: on USB power, stream with a finger on the sensor for 8 h; confirm there are no gaps in the data.</a:t>
            </a:r>
            <a:endParaRPr lang="en-US" sz="1250" dirty="0"/>
          </a:p>
        </p:txBody>
      </p:sp>
      <p:sp>
        <p:nvSpPr>
          <p:cNvPr id="12" name="Text 10"/>
          <p:cNvSpPr txBox="1"/>
          <p:nvPr/>
        </p:nvSpPr>
        <p:spPr>
          <a:xfrm>
            <a:off x="685800" y="3346704"/>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4</a:t>
            </a:r>
            <a:endParaRPr lang="en-US" sz="1400" dirty="0"/>
          </a:p>
        </p:txBody>
      </p:sp>
      <p:sp>
        <p:nvSpPr>
          <p:cNvPr id="13" name="Text 11"/>
          <p:cNvSpPr txBox="1"/>
          <p:nvPr/>
        </p:nvSpPr>
        <p:spPr>
          <a:xfrm>
            <a:off x="1097280" y="3346704"/>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Accuracy test: seated, awake, 30 min. Every 2 min write down the reference oximeter value with the time. Analyse with validate.py (Bland–Altman, r).</a:t>
            </a:r>
            <a:endParaRPr lang="en-US" sz="1250" dirty="0"/>
          </a:p>
        </p:txBody>
      </p:sp>
      <p:sp>
        <p:nvSpPr>
          <p:cNvPr id="14" name="Text 12"/>
          <p:cNvSpPr txBox="1"/>
          <p:nvPr/>
        </p:nvSpPr>
        <p:spPr>
          <a:xfrm>
            <a:off x="685800" y="3913632"/>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5</a:t>
            </a:r>
            <a:endParaRPr lang="en-US" sz="1400" dirty="0"/>
          </a:p>
        </p:txBody>
      </p:sp>
      <p:sp>
        <p:nvSpPr>
          <p:cNvPr id="15" name="Text 13"/>
          <p:cNvSpPr txBox="1"/>
          <p:nvPr/>
        </p:nvSpPr>
        <p:spPr>
          <a:xfrm>
            <a:off x="1097280" y="3913632"/>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Detection test: supervised, awake, seated; 5 breath-holds each of 10, 15 and 20 s after a normal breath out, 2 min apart; log start/end times as ground-truth labels. Score with train_model.py.</a:t>
            </a:r>
            <a:endParaRPr lang="en-US" sz="1250" dirty="0"/>
          </a:p>
        </p:txBody>
      </p:sp>
      <p:sp>
        <p:nvSpPr>
          <p:cNvPr id="16" name="Text 14"/>
          <p:cNvSpPr txBox="1"/>
          <p:nvPr/>
        </p:nvSpPr>
        <p:spPr>
          <a:xfrm>
            <a:off x="685800" y="4480560"/>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6</a:t>
            </a:r>
            <a:endParaRPr lang="en-US" sz="1400" dirty="0"/>
          </a:p>
        </p:txBody>
      </p:sp>
      <p:sp>
        <p:nvSpPr>
          <p:cNvPr id="17" name="Text 15"/>
          <p:cNvSpPr txBox="1"/>
          <p:nvPr/>
        </p:nvSpPr>
        <p:spPr>
          <a:xfrm>
            <a:off x="1097280" y="4480560"/>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Recorded nights: at least 5 nights; armband on the forearm, finger clip on the index finger; record.py logs all night; note bedtime and wake time.</a:t>
            </a:r>
            <a:endParaRPr lang="en-US" sz="1250" dirty="0"/>
          </a:p>
        </p:txBody>
      </p:sp>
      <p:sp>
        <p:nvSpPr>
          <p:cNvPr id="18" name="Text 16"/>
          <p:cNvSpPr txBox="1"/>
          <p:nvPr/>
        </p:nvSpPr>
        <p:spPr>
          <a:xfrm>
            <a:off x="685800" y="5047488"/>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7</a:t>
            </a:r>
            <a:endParaRPr lang="en-US" sz="1400" dirty="0"/>
          </a:p>
        </p:txBody>
      </p:sp>
      <p:sp>
        <p:nvSpPr>
          <p:cNvPr id="19" name="Text 17"/>
          <p:cNvSpPr txBox="1"/>
          <p:nvPr/>
        </p:nvSpPr>
        <p:spPr>
          <a:xfrm>
            <a:off x="1097280" y="5047488"/>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Analysis: analyze.py, signals.py, position.py, heart.py, asthma.py on each night; rebuild the app and slides with build_app.py and build_deck.js.</a:t>
            </a:r>
            <a:endParaRPr lang="en-US" sz="1250" dirty="0"/>
          </a:p>
        </p:txBody>
      </p:sp>
      <p:sp>
        <p:nvSpPr>
          <p:cNvPr id="20" name="Text 18"/>
          <p:cNvSpPr txBox="1"/>
          <p:nvPr/>
        </p:nvSpPr>
        <p:spPr>
          <a:xfrm>
            <a:off x="685800" y="5614416"/>
            <a:ext cx="365760" cy="365760"/>
          </a:xfrm>
          <a:prstGeom prst="rect">
            <a:avLst/>
          </a:prstGeom>
          <a:noFill/>
          <a:ln/>
        </p:spPr>
        <p:txBody>
          <a:bodyPr wrap="square" lIns="0" tIns="0" rIns="0" bIns="0" rtlCol="0" anchor="t"/>
          <a:lstStyle/>
          <a:p>
            <a:pPr indent="0" marL="0">
              <a:buNone/>
            </a:pPr>
            <a:r>
              <a:rPr lang="en-US" sz="1400" b="1" dirty="0">
                <a:solidFill>
                  <a:srgbClr val="0071E3"/>
                </a:solidFill>
                <a:latin typeface="Helvetica Neue" pitchFamily="34" charset="0"/>
                <a:ea typeface="Helvetica Neue" pitchFamily="34" charset="-122"/>
                <a:cs typeface="Helvetica Neue" pitchFamily="34" charset="-120"/>
              </a:rPr>
              <a:t>8</a:t>
            </a:r>
            <a:endParaRPr lang="en-US" sz="1400" dirty="0"/>
          </a:p>
        </p:txBody>
      </p:sp>
      <p:sp>
        <p:nvSpPr>
          <p:cNvPr id="21" name="Text 19"/>
          <p:cNvSpPr txBox="1"/>
          <p:nvPr/>
        </p:nvSpPr>
        <p:spPr>
          <a:xfrm>
            <a:off x="1097280" y="5614416"/>
            <a:ext cx="10424160" cy="548640"/>
          </a:xfrm>
          <a:prstGeom prst="rect">
            <a:avLst/>
          </a:prstGeom>
          <a:noFill/>
          <a:ln/>
        </p:spPr>
        <p:txBody>
          <a:bodyPr wrap="square" lIns="0" tIns="0" rIns="0" bIns="0" rtlCol="0" anchor="t"/>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Controls: same finger, cuff tightness, room temperature, firmware v3.1 and detection settings (3 % drop, 10 s, 120 s baseline).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C · Design plans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Wiring (v1) and case layout (v2).</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6035040" cy="914400"/>
        </p:xfrm>
        <a:graphic>
          <a:graphicData uri="http://schemas.openxmlformats.org/drawingml/2006/table">
            <a:tbl>
              <a:tblPr/>
              <a:tblGrid>
                <a:gridCol w="2468880"/>
                <a:gridCol w="1737360"/>
                <a:gridCol w="1828800"/>
              </a:tblGrid>
              <a:tr h="365760">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From</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To (ESP32)</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00" b="1" dirty="0">
                          <a:solidFill>
                            <a:srgbClr val="6E6E73"/>
                          </a:solidFill>
                          <a:latin typeface="Helvetica Neue" pitchFamily="34" charset="0"/>
                          <a:ea typeface="Helvetica Neue" pitchFamily="34" charset="-122"/>
                          <a:cs typeface="Helvetica Neue" pitchFamily="34" charset="-120"/>
                        </a:rPr>
                        <a:t>Notes</a:t>
                      </a:r>
                      <a:endParaRPr lang="en-US" sz="10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3V3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never 5 V</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MAX30102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21 / 22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0</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VCC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VIN / GND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5 V from USB</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GY-521 SDA / SCL</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33 / 32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I²C bus 1, 100 kHz</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Power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USB-C port</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3 m cable to charger</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365760">
                <a:tc>
                  <a:txBody>
                    <a:bodyPr/>
                    <a:lstStyle/>
                    <a:p>
                      <a:pPr indent="0" marL="0">
                        <a:buNone/>
                      </a:pPr>
                      <a:r>
                        <a:rPr lang="en-US" sz="1200" b="1" dirty="0">
                          <a:solidFill>
                            <a:srgbClr val="1D1D1F"/>
                          </a:solidFill>
                          <a:latin typeface="Helvetica Neue" pitchFamily="34" charset="0"/>
                          <a:ea typeface="Helvetica Neue" pitchFamily="34" charset="-122"/>
                          <a:cs typeface="Helvetica Neue" pitchFamily="34" charset="-120"/>
                        </a:rPr>
                        <a:t>Status LED</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1D1D1F"/>
                          </a:solidFill>
                          <a:latin typeface="Helvetica Neue" pitchFamily="34" charset="0"/>
                          <a:ea typeface="Helvetica Neue" pitchFamily="34" charset="-122"/>
                          <a:cs typeface="Helvetica Neue" pitchFamily="34" charset="-120"/>
                        </a:rPr>
                        <a:t>GPIO 2</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blinks each reading</a:t>
                      </a:r>
                      <a:endParaRPr lang="en-US" sz="120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pic>
        <p:nvPicPr>
          <p:cNvPr id="7" name="Image 0" descr="/home/user/teetomivV2/science-fair/night-signal/slides/assets/wiring_v1.png">    </p:cNvPr>
          <p:cNvPicPr>
            <a:picLocks noChangeAspect="1"/>
          </p:cNvPicPr>
          <p:nvPr/>
        </p:nvPicPr>
        <p:blipFill>
          <a:blip r:embed="rId1"/>
          <a:stretch>
            <a:fillRect/>
          </a:stretch>
        </p:blipFill>
        <p:spPr>
          <a:xfrm>
            <a:off x="1463040" y="4343400"/>
            <a:ext cx="3657600" cy="2115239"/>
          </a:xfrm>
          <a:prstGeom prst="rect">
            <a:avLst/>
          </a:prstGeom>
        </p:spPr>
      </p:pic>
      <p:sp>
        <p:nvSpPr>
          <p:cNvPr id="8" name="Shape 4"/>
          <p:cNvSpPr/>
          <p:nvPr/>
        </p:nvSpPr>
        <p:spPr>
          <a:xfrm>
            <a:off x="7040880" y="1600200"/>
            <a:ext cx="4462272" cy="3291840"/>
          </a:xfrm>
          <a:prstGeom prst="roundRect">
            <a:avLst>
              <a:gd name="adj" fmla="val 6111"/>
            </a:avLst>
          </a:prstGeom>
          <a:solidFill>
            <a:srgbClr val="000000"/>
          </a:solidFill>
          <a:ln/>
        </p:spPr>
      </p:sp>
      <p:pic>
        <p:nvPicPr>
          <p:cNvPr id="9" name="Image 1" descr="/home/user/teetomivV2/science-fair/night-signal/slides/assets/exploded_black.jpg">    </p:cNvPr>
          <p:cNvPicPr>
            <a:picLocks noChangeAspect="1"/>
          </p:cNvPicPr>
          <p:nvPr/>
        </p:nvPicPr>
        <p:blipFill>
          <a:blip r:embed="rId2"/>
          <a:stretch>
            <a:fillRect/>
          </a:stretch>
        </p:blipFill>
        <p:spPr>
          <a:xfrm>
            <a:off x="7745124" y="1783080"/>
            <a:ext cx="3053784" cy="2926080"/>
          </a:xfrm>
          <a:prstGeom prst="rect">
            <a:avLst/>
          </a:prstGeom>
        </p:spPr>
      </p:pic>
      <p:sp>
        <p:nvSpPr>
          <p:cNvPr id="10" name="Text 5"/>
          <p:cNvSpPr txBox="1"/>
          <p:nvPr/>
        </p:nvSpPr>
        <p:spPr>
          <a:xfrm>
            <a:off x="7040880" y="4983480"/>
            <a:ext cx="4462272"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v2: the stack inside the 25 mm-tall case</a:t>
            </a:r>
            <a:endParaRPr lang="en-US" sz="1200" dirty="0"/>
          </a:p>
        </p:txBody>
      </p:sp>
      <p:sp>
        <p:nvSpPr>
          <p:cNvPr id="11" name="Text 6"/>
          <p:cNvSpPr txBox="1"/>
          <p:nvPr/>
        </p:nvSpPr>
        <p:spPr>
          <a:xfrm>
            <a:off x="7040880" y="5349240"/>
            <a:ext cx="4462272" cy="1097280"/>
          </a:xfrm>
          <a:prstGeom prst="rect">
            <a:avLst/>
          </a:prstGeom>
          <a:noFill/>
          <a:ln/>
        </p:spPr>
        <p:txBody>
          <a:bodyPr wrap="square" lIns="0" tIns="0" rIns="0" bIns="0" rtlCol="0" anchor="t"/>
          <a:lstStyle/>
          <a:p>
            <a:pPr indent="0" marL="0">
              <a:buNone/>
            </a:pPr>
            <a:r>
              <a:rPr lang="en-US" sz="1200" dirty="0">
                <a:solidFill>
                  <a:srgbClr val="6E6E73"/>
                </a:solidFill>
                <a:latin typeface="Helvetica Neue" pitchFamily="34" charset="0"/>
                <a:ea typeface="Helvetica Neue" pitchFamily="34" charset="-122"/>
                <a:cs typeface="Helvetica Neue" pitchFamily="34" charset="-120"/>
              </a:rPr>
              <a:t>Planned v2: a 70 × 45 × 29 mm box with its own battery. Layer heights: battery 6 mm + ESP32 with pins ≈ 13 mm + GY-521 ≈ 3 mm ≈ 22 mm, inside the box’s 25 mm. v1 uses each sensor’s own pins, so nothing needs splicing.</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Appendix D · Data and pictures</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More data and pictures.</a:t>
            </a:r>
            <a:endParaRPr lang="en-US" sz="3000" dirty="0"/>
          </a:p>
        </p:txBody>
      </p:sp>
      <p:sp>
        <p:nvSpPr>
          <p:cNvPr id="6" name="Shape 4"/>
          <p:cNvSpPr/>
          <p:nvPr/>
        </p:nvSpPr>
        <p:spPr>
          <a:xfrm>
            <a:off x="786384" y="1609344"/>
            <a:ext cx="2221992" cy="4384900"/>
          </a:xfrm>
          <a:prstGeom prst="roundRect">
            <a:avLst>
              <a:gd name="adj" fmla="val 11523"/>
            </a:avLst>
          </a:prstGeom>
          <a:solidFill>
            <a:srgbClr val="1D1D1F"/>
          </a:solidFill>
          <a:ln/>
        </p:spPr>
      </p:sp>
      <p:pic>
        <p:nvPicPr>
          <p:cNvPr id="7" name="Image 0" descr="/home/user/teetomivV2/science-fair/night-signal/slides/assets/phone_heart.png">    </p:cNvPr>
          <p:cNvPicPr>
            <a:picLocks noChangeAspect="1"/>
          </p:cNvPicPr>
          <p:nvPr/>
        </p:nvPicPr>
        <p:blipFill>
          <a:blip r:embed="rId1"/>
          <a:stretch>
            <a:fillRect/>
          </a:stretch>
        </p:blipFill>
        <p:spPr>
          <a:xfrm>
            <a:off x="868680" y="1691640"/>
            <a:ext cx="2057400" cy="4220308"/>
          </a:xfrm>
          <a:prstGeom prst="rect">
            <a:avLst/>
          </a:prstGeom>
        </p:spPr>
      </p:pic>
      <p:sp>
        <p:nvSpPr>
          <p:cNvPr id="8" name="Text 5"/>
          <p:cNvSpPr txBox="1"/>
          <p:nvPr/>
        </p:nvSpPr>
        <p:spPr>
          <a:xfrm>
            <a:off x="868680" y="6049108"/>
            <a:ext cx="2057400" cy="274320"/>
          </a:xfrm>
          <a:prstGeom prst="rect">
            <a:avLst/>
          </a:prstGeom>
          <a:noFill/>
          <a:ln/>
        </p:spPr>
        <p:txBody>
          <a:bodyPr wrap="square" lIns="0" tIns="0" rIns="0" bIns="0" rtlCol="0" anchor="t"/>
          <a:lstStyle/>
          <a:p>
            <a:pPr algn="ctr" indent="0" marL="0">
              <a:buNone/>
            </a:pPr>
            <a:r>
              <a:rPr lang="en-US" sz="1200" dirty="0">
                <a:solidFill>
                  <a:srgbClr val="6E6E73"/>
                </a:solidFill>
                <a:latin typeface="Helvetica Neue" pitchFamily="34" charset="0"/>
                <a:ea typeface="Helvetica Neue" pitchFamily="34" charset="-122"/>
                <a:cs typeface="Helvetica Neue" pitchFamily="34" charset="-120"/>
              </a:rPr>
              <a:t>App · Heart tab</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383280" y="1645920"/>
          <a:ext cx="8119872" cy="914400"/>
        </p:xfrm>
        <a:graphic>
          <a:graphicData uri="http://schemas.openxmlformats.org/drawingml/2006/table">
            <a:tbl>
              <a:tblPr/>
              <a:tblGrid>
                <a:gridCol w="2743200"/>
                <a:gridCol w="5376672"/>
              </a:tblGrid>
              <a:tr h="420624">
                <a:tc>
                  <a:txBody>
                    <a:bodyPr/>
                    <a:lstStyle/>
                    <a:p>
                      <a:pPr indent="0" marL="0">
                        <a:buNone/>
                      </a:pPr>
                      <a:r>
                        <a:rPr lang="en-US" sz="1050" b="1" dirty="0">
                          <a:solidFill>
                            <a:srgbClr val="6E6E73"/>
                          </a:solidFill>
                          <a:latin typeface="Helvetica Neue" pitchFamily="34" charset="0"/>
                          <a:ea typeface="Helvetica Neue" pitchFamily="34" charset="-122"/>
                          <a:cs typeface="Helvetica Neue" pitchFamily="34" charset="-120"/>
                        </a:rPr>
                        <a:t>Analysis</a:t>
                      </a:r>
                      <a:endParaRPr lang="en-US" sz="10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c>
                  <a:txBody>
                    <a:bodyPr/>
                    <a:lstStyle/>
                    <a:p>
                      <a:pPr indent="0" marL="0">
                        <a:buNone/>
                      </a:pPr>
                      <a:r>
                        <a:rPr lang="en-US" sz="1050" b="1" dirty="0">
                          <a:solidFill>
                            <a:srgbClr val="6E6E73"/>
                          </a:solidFill>
                          <a:latin typeface="Helvetica Neue" pitchFamily="34" charset="0"/>
                          <a:ea typeface="Helvetica Neue" pitchFamily="34" charset="-122"/>
                          <a:cs typeface="Helvetica Neue" pitchFamily="34" charset="-120"/>
                        </a:rPr>
                        <a:t>Result (example data)</a:t>
                      </a:r>
                      <a:endParaRPr lang="en-US" sz="10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15875" cap="flat" cmpd="sng" algn="ctr">
                      <a:solidFill>
                        <a:srgbClr val="1D1D1F"/>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Breathing rate (signals.py)</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13.5 breaths/min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HRV (SDNN / RMSSD)</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69 / 50 ms</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Lowest heart rate</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46 bpm</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Heart spin-off</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racing 3.3 min (106–118 bpm) · slow 2.5 min (34–39) · irregular 5.9 min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Asthma spin-off</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normal 13.4 → early morning 21.6 /min · 85 min fast · 24 cough-like jolts</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ML model relies on</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heart-rate swing and jitter, then oxygen swing</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r h="420624">
                <a:tc>
                  <a:txBody>
                    <a:bodyPr/>
                    <a:lstStyle/>
                    <a:p>
                      <a:pPr indent="0" marL="0">
                        <a:buNone/>
                      </a:pPr>
                      <a:r>
                        <a:rPr lang="en-US" sz="1250" b="1" dirty="0">
                          <a:solidFill>
                            <a:srgbClr val="1D1D1F"/>
                          </a:solidFill>
                          <a:latin typeface="Helvetica Neue" pitchFamily="34" charset="0"/>
                          <a:ea typeface="Helvetica Neue" pitchFamily="34" charset="-122"/>
                          <a:cs typeface="Helvetica Neue" pitchFamily="34" charset="-120"/>
                        </a:rPr>
                        <a:t>Device check (simulated device)</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c>
                  <a:txBody>
                    <a:bodyPr/>
                    <a:lstStyle/>
                    <a:p>
                      <a:pPr indent="0" marL="0">
                        <a:buNone/>
                      </a:pPr>
                      <a:r>
                        <a:rPr lang="en-US" sz="1250" dirty="0">
                          <a:solidFill>
                            <a:srgbClr val="1D1D1F"/>
                          </a:solidFill>
                          <a:latin typeface="Helvetica Neue" pitchFamily="34" charset="0"/>
                          <a:ea typeface="Helvetica Neue" pitchFamily="34" charset="-122"/>
                          <a:cs typeface="Helvetica Neue" pitchFamily="34" charset="-120"/>
                        </a:rPr>
                        <a:t>healthy → READY · broken motion sensor → NOT READY</a:t>
                      </a:r>
                      <a:endParaRPr lang="en-US" sz="1250" dirty="0">
                        <a:latin typeface="Helvetica Neue" charset="0"/>
                        <a:ea typeface="Helvetica Neue" charset="0"/>
                        <a:cs typeface="Helvetica Neue" charset="0"/>
                      </a:endParaRPr>
                    </a:p>
                  </a:txBody>
                  <a:tcPr marL="18288" marR="91440" marT="54864" marB="54864" anchor="ctr">
                    <a:lnL w="0" cap="flat" cmpd="sng" algn="ctr">
                      <a:noFill/>
                    </a:lnL>
                    <a:lnR w="0" cap="flat" cmpd="sng" algn="ctr">
                      <a:noFill/>
                    </a:lnR>
                    <a:lnT w="0" cap="flat" cmpd="sng" algn="ctr">
                      <a:noFill/>
                    </a:lnT>
                    <a:lnB w="9525" cap="flat" cmpd="sng" algn="ctr">
                      <a:solidFill>
                        <a:srgbClr val="D2D2D7"/>
                      </a:solidFill>
                      <a:prstDash val="solid"/>
                      <a:round/>
                      <a:headEnd type="none" w="med" len="med"/>
                      <a:tailEnd type="none" w="med" len="med"/>
                    </a:lnB>
                  </a:tcPr>
                </a:tc>
              </a:tr>
            </a:tbl>
          </a:graphicData>
        </a:graphic>
      </p:graphicFrame>
      <p:sp>
        <p:nvSpPr>
          <p:cNvPr id="10" name="Text 6"/>
          <p:cNvSpPr txBox="1"/>
          <p:nvPr/>
        </p:nvSpPr>
        <p:spPr>
          <a:xfrm>
            <a:off x="3383280" y="5440680"/>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2" invalidUrl="" action="" tgtFrame="" tooltip="https://github.com/gabrielamamanestudent-wq/teetomivV2/tree/claude/science-fair-medical-project-7k0wk4/science-fair/night-signal" history="1" highlightClick="0" endSnd="0">
                  <a:extLst>
                    <a:ext uri="{A12FA001-AC4F-418D-AE19-62706E023703}">
                      <ahyp:hlinkClr xmlns:ahyp="http://schemas.microsoft.com/office/drawing/2018/hyperlinkcolor" val="tx"/>
                    </a:ext>
                  </a:extLst>
                </a:hlinkClick>
              </a:rPr>
              <a:t>All code, data tools and raw CSV format on GitHub ›</a:t>
            </a:r>
            <a:endParaRPr lang="en-US" sz="1350" dirty="0"/>
          </a:p>
        </p:txBody>
      </p:sp>
      <p:sp>
        <p:nvSpPr>
          <p:cNvPr id="11" name="Text 7"/>
          <p:cNvSpPr txBox="1"/>
          <p:nvPr/>
        </p:nvSpPr>
        <p:spPr>
          <a:xfrm>
            <a:off x="3383280" y="5806440"/>
            <a:ext cx="7315200" cy="310896"/>
          </a:xfrm>
          <a:prstGeom prst="rect">
            <a:avLst/>
          </a:prstGeom>
          <a:noFill/>
          <a:ln/>
        </p:spPr>
        <p:txBody>
          <a:bodyPr wrap="square" lIns="0" tIns="0" rIns="0" bIns="0" rtlCol="0" anchor="ctr"/>
          <a:lstStyle/>
          <a:p>
            <a:pPr algn="l" indent="0" marL="0">
              <a:buNone/>
            </a:pPr>
            <a:r>
              <a:rPr lang="en-US" sz="1350" u="sng" dirty="0">
                <a:solidFill>
                  <a:srgbClr val="0071E3"/>
                </a:solidFill>
                <a:latin typeface="Helvetica Neue" pitchFamily="34" charset="0"/>
                <a:ea typeface="Helvetica Neue" pitchFamily="34" charset="-122"/>
                <a:cs typeface="Helvetica Neue" pitchFamily="34" charset="-120"/>
                <a:hlinkClick r:id="rId3" invalidUrl="" action="" tgtFrame="" tooltip="https://gabrielamamanestudent-wq.github.io/teetomivV2/science-fair/night-signal/build-kit.html" history="1" highlightClick="0" endSnd="0">
                  <a:extLst>
                    <a:ext uri="{A12FA001-AC4F-418D-AE19-62706E023703}">
                      <ahyp:hlinkClr xmlns:ahyp="http://schemas.microsoft.com/office/drawing/2018/hyperlinkcolor" val="tx"/>
                    </a:ext>
                  </a:extLst>
                </a:hlinkClick>
              </a:rPr>
              <a:t>Build guide: buy, build, connect ›</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464040" y="502920"/>
            <a:ext cx="2057400" cy="329184"/>
          </a:xfrm>
          <a:prstGeom prst="roundRect">
            <a:avLst>
              <a:gd name="adj" fmla="val 50000"/>
            </a:avLst>
          </a:prstGeom>
          <a:solidFill>
            <a:srgbClr val="F5F5F7"/>
          </a:solidFill>
          <a:ln/>
        </p:spPr>
      </p:sp>
      <p:sp>
        <p:nvSpPr>
          <p:cNvPr id="3" name="Text 1"/>
          <p:cNvSpPr txBox="1"/>
          <p:nvPr/>
        </p:nvSpPr>
        <p:spPr>
          <a:xfrm>
            <a:off x="9464040" y="502920"/>
            <a:ext cx="2057400" cy="329184"/>
          </a:xfrm>
          <a:prstGeom prst="rect">
            <a:avLst/>
          </a:prstGeom>
          <a:noFill/>
          <a:ln/>
        </p:spPr>
        <p:txBody>
          <a:bodyPr wrap="square" lIns="0" tIns="0" rIns="0" bIns="0" rtlCol="0" anchor="ctr"/>
          <a:lstStyle/>
          <a:p>
            <a:pPr algn="ctr" indent="0" marL="0">
              <a:buNone/>
            </a:pPr>
            <a:r>
              <a:rPr lang="en-US" sz="1050" b="1" dirty="0">
                <a:solidFill>
                  <a:srgbClr val="6E6E73"/>
                </a:solidFill>
                <a:latin typeface="Helvetica Neue" pitchFamily="34" charset="0"/>
                <a:ea typeface="Helvetica Neue" pitchFamily="34" charset="-122"/>
                <a:cs typeface="Helvetica Neue" pitchFamily="34" charset="-120"/>
              </a:rPr>
              <a:t>Appendix · not presented</a:t>
            </a:r>
            <a:endParaRPr lang="en-US" sz="1050" dirty="0"/>
          </a:p>
        </p:txBody>
      </p:sp>
      <p:sp>
        <p:nvSpPr>
          <p:cNvPr id="4" name="Text 2"/>
          <p:cNvSpPr txBox="1"/>
          <p:nvPr/>
        </p:nvSpPr>
        <p:spPr>
          <a:xfrm>
            <a:off x="685800" y="502920"/>
            <a:ext cx="10789920" cy="320040"/>
          </a:xfrm>
          <a:prstGeom prst="rect">
            <a:avLst/>
          </a:prstGeom>
          <a:noFill/>
          <a:ln/>
        </p:spPr>
        <p:txBody>
          <a:bodyPr wrap="square" lIns="0" tIns="0" rIns="0" bIns="0" rtlCol="0" anchor="t"/>
          <a:lstStyle/>
          <a:p>
            <a:pPr indent="0" marL="0">
              <a:buNone/>
            </a:pPr>
            <a:r>
              <a:rPr lang="en-US" sz="1600" b="1" dirty="0">
                <a:solidFill>
                  <a:srgbClr val="E3254B"/>
                </a:solidFill>
                <a:latin typeface="Helvetica Neue" pitchFamily="34" charset="0"/>
                <a:ea typeface="Helvetica Neue" pitchFamily="34" charset="-122"/>
                <a:cs typeface="Helvetica Neue" pitchFamily="34" charset="-120"/>
              </a:rPr>
              <a:t>Bibliography · APA</a:t>
            </a:r>
            <a:endParaRPr lang="en-US" sz="1600" dirty="0"/>
          </a:p>
        </p:txBody>
      </p:sp>
      <p:sp>
        <p:nvSpPr>
          <p:cNvPr id="5" name="Text 3"/>
          <p:cNvSpPr txBox="1"/>
          <p:nvPr/>
        </p:nvSpPr>
        <p:spPr>
          <a:xfrm>
            <a:off x="685800" y="841248"/>
            <a:ext cx="10789920" cy="640080"/>
          </a:xfrm>
          <a:prstGeom prst="rect">
            <a:avLst/>
          </a:prstGeom>
          <a:noFill/>
          <a:ln/>
        </p:spPr>
        <p:txBody>
          <a:bodyPr wrap="square" lIns="0" tIns="0" rIns="0" bIns="0" rtlCol="0" anchor="t"/>
          <a:lstStyle/>
          <a:p>
            <a:pPr indent="0" marL="0">
              <a:lnSpc>
                <a:spcPct val="92000"/>
              </a:lnSpc>
              <a:buNone/>
            </a:pPr>
            <a:r>
              <a:rPr lang="en-US" sz="3000" b="1" dirty="0">
                <a:solidFill>
                  <a:srgbClr val="1D1D1F"/>
                </a:solidFill>
                <a:latin typeface="Helvetica Neue" pitchFamily="34" charset="0"/>
                <a:ea typeface="Helvetica Neue" pitchFamily="34" charset="-122"/>
                <a:cs typeface="Helvetica Neue" pitchFamily="34" charset="-120"/>
              </a:rPr>
              <a:t>References.</a:t>
            </a:r>
            <a:endParaRPr lang="en-US" sz="3000" dirty="0"/>
          </a:p>
        </p:txBody>
      </p:sp>
      <p:sp>
        <p:nvSpPr>
          <p:cNvPr id="6" name="Text 4"/>
          <p:cNvSpPr txBox="1"/>
          <p:nvPr/>
        </p:nvSpPr>
        <p:spPr>
          <a:xfrm>
            <a:off x="685800" y="1645920"/>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American Academy of Sleep Medicine. (2014). International classification of sleep disorders (3rd ed.).</a:t>
            </a:r>
            <a:endParaRPr lang="en-US" sz="1300" dirty="0"/>
          </a:p>
        </p:txBody>
      </p:sp>
      <p:sp>
        <p:nvSpPr>
          <p:cNvPr id="7" name="Text 5"/>
          <p:cNvSpPr txBox="1"/>
          <p:nvPr/>
        </p:nvSpPr>
        <p:spPr>
          <a:xfrm>
            <a:off x="685800" y="2212848"/>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Benjafield, A. V., et al. (2019). Estimation of the global prevalence and burden of obstructive sleep apnoea: A literature-based analysis. The Lancet Respiratory Medicine, 7(8), 687–698.</a:t>
            </a:r>
            <a:endParaRPr lang="en-US" sz="1300" dirty="0"/>
          </a:p>
        </p:txBody>
      </p:sp>
      <p:sp>
        <p:nvSpPr>
          <p:cNvPr id="8" name="Text 6"/>
          <p:cNvSpPr txBox="1"/>
          <p:nvPr/>
        </p:nvSpPr>
        <p:spPr>
          <a:xfrm>
            <a:off x="685800" y="2779776"/>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Berry, R. B., et al. (2012). Rules for scoring respiratory events in sleep. Journal of Clinical Sleep Medicine, 8(5), 597–619.</a:t>
            </a:r>
            <a:endParaRPr lang="en-US" sz="1300" dirty="0"/>
          </a:p>
        </p:txBody>
      </p:sp>
      <p:sp>
        <p:nvSpPr>
          <p:cNvPr id="9" name="Text 7"/>
          <p:cNvSpPr txBox="1"/>
          <p:nvPr/>
        </p:nvSpPr>
        <p:spPr>
          <a:xfrm>
            <a:off x="685800" y="3346704"/>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Bland, J. M., &amp; Altman, D. G. (1986). Statistical methods for assessing agreement between two methods of clinical measurement. The Lancet, 327(8476), 307–310.</a:t>
            </a:r>
            <a:endParaRPr lang="en-US" sz="1300" dirty="0"/>
          </a:p>
        </p:txBody>
      </p:sp>
      <p:sp>
        <p:nvSpPr>
          <p:cNvPr id="10" name="Text 8"/>
          <p:cNvSpPr txBox="1"/>
          <p:nvPr/>
        </p:nvSpPr>
        <p:spPr>
          <a:xfrm>
            <a:off x="685800" y="3913632"/>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Global Initiative for Asthma. (2024). Global strategy for asthma management and prevention.</a:t>
            </a:r>
            <a:endParaRPr lang="en-US" sz="1300" dirty="0"/>
          </a:p>
        </p:txBody>
      </p:sp>
      <p:sp>
        <p:nvSpPr>
          <p:cNvPr id="11" name="Text 9"/>
          <p:cNvSpPr txBox="1"/>
          <p:nvPr/>
        </p:nvSpPr>
        <p:spPr>
          <a:xfrm>
            <a:off x="685800" y="4480560"/>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Jubran, A. (2015). Pulse oximetry. Critical Care, 19, 272.</a:t>
            </a:r>
            <a:endParaRPr lang="en-US" sz="1300" dirty="0"/>
          </a:p>
        </p:txBody>
      </p:sp>
      <p:sp>
        <p:nvSpPr>
          <p:cNvPr id="12" name="Text 10"/>
          <p:cNvSpPr txBox="1"/>
          <p:nvPr/>
        </p:nvSpPr>
        <p:spPr>
          <a:xfrm>
            <a:off x="685800" y="5047488"/>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Maxim Integrated. (2020). MAX30102 high-sensitivity pulse oximeter and heart-rate sensor [Datasheet].</a:t>
            </a:r>
            <a:endParaRPr lang="en-US" sz="1300" dirty="0"/>
          </a:p>
        </p:txBody>
      </p:sp>
      <p:sp>
        <p:nvSpPr>
          <p:cNvPr id="13" name="Text 11"/>
          <p:cNvSpPr txBox="1"/>
          <p:nvPr/>
        </p:nvSpPr>
        <p:spPr>
          <a:xfrm>
            <a:off x="685800" y="5614416"/>
            <a:ext cx="10789920" cy="548640"/>
          </a:xfrm>
          <a:prstGeom prst="rect">
            <a:avLst/>
          </a:prstGeom>
          <a:noFill/>
          <a:ln/>
        </p:spPr>
        <p:txBody>
          <a:bodyPr wrap="square" lIns="0" tIns="0" rIns="0" bIns="0" rtlCol="0" anchor="t"/>
          <a:lstStyle/>
          <a:p>
            <a:pPr indent="0" marL="0">
              <a:buNone/>
            </a:pPr>
            <a:r>
              <a:rPr lang="en-US" sz="1300" dirty="0">
                <a:solidFill>
                  <a:srgbClr val="6E6E73"/>
                </a:solidFill>
                <a:latin typeface="Helvetica Neue" pitchFamily="34" charset="0"/>
                <a:ea typeface="Helvetica Neue" pitchFamily="34" charset="-122"/>
                <a:cs typeface="Helvetica Neue" pitchFamily="34" charset="-120"/>
              </a:rPr>
              <a:t>Task Force of the European Society of Cardiology and NASPE. (1996). Heart rate variability: Standards of measurement, physiological interpretation, and clinical use. Circulation, 93(5), 1043–1065.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Night Signal — science fair presentation</dc:title>
  <dc:subject>PptxGenJS Presentation</dc:subject>
  <dc:creator>PptxGenJS</dc:creator>
  <cp:lastModifiedBy>PptxGenJS</cp:lastModifiedBy>
  <cp:revision>1</cp:revision>
  <dcterms:created xsi:type="dcterms:W3CDTF">2026-10-06T18:31:48Z</dcterms:created>
  <dcterms:modified xsi:type="dcterms:W3CDTF">2026-10-06T18:31:48Z</dcterms:modified>
</cp:coreProperties>
</file>