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Helvetica Neue"/>
              </a:defRPr>
            </a:pPr>
            <a:r>
              <a:rPr sz="1400" b="0" i="0" u="none" strike="noStrike">
                <a:solidFill>
                  <a:srgbClr val="1D1D1F"/>
                </a:solidFill>
                <a:latin typeface="Helvetica Neue"/>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0071E3"/>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FF375F"/>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D1D1F"/>
                </a:solidFill>
                <a:latin typeface="Helvetica Neue"/>
              </a:defRPr>
            </a:pPr>
            <a:endParaRPr lang="en-US"/>
          </a:p>
        </c:txPr>
        <c:crossAx val="2094734552"/>
        <c:crosses val="autoZero"/>
        <c:auto val="1"/>
        <c:lblAlgn val="ctr"/>
        <c:noMultiLvlLbl val="1"/>
      </c:catAx>
      <c:valAx>
        <c:axId val="2094734552"/>
        <c:scaling>
          <c:orientation val="minMax"/>
          <c:max val="1.2"/>
          <c:min val="0"/>
        </c:scaling>
        <c:delete val="1"/>
        <c:axPos val="l"/>
        <c:numFmt formatCode="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low-cost wearable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My working prototype, version 1, is built to be simple and reliable: the ESP32 sits in a running armband, each sensor plugs into its own pins with no soldered splices, and a USB cable powers it all night. A velcro finger clip holds the MAX30102 oxygen sensor. The 3D model shows version 2 — a 70 by 45 millimetre sealed case with its own battery on a velcro strap.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full-night power test — eight hours with no gaps.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Bluetooth draws about 100 milliamps, so a small 500 milliamp-hour battery would last only four to five hours. That's why version 1 runs on USB power all night, and version 2 needs a bigger battery or Bluetooth Low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claude.ai/artifact/7wqAASJ8qWxBBKBuVHAqLt" TargetMode="External"/><Relationship Id="rId5" Type="http://schemas.openxmlformats.org/officeDocument/2006/relationships/hyperlink" Target="https://claude.ai/artifact/7wqAASJ8qWxBBKBuVHAqLt"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claude.ai/artifact/KCkbwVKfmBhQoC9cxCn7qZ" TargetMode="External"/><Relationship Id="rId5" Type="http://schemas.openxmlformats.org/officeDocument/2006/relationships/hyperlink" Target="https://claude.ai/artifact/KCkbwVKfmBhQoC9cxCn7qZ"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claude.ai/artifact/KCkbwVKfmBhQoC9cxCn7qZ" TargetMode="External"/><Relationship Id="rId4" Type="http://schemas.openxmlformats.org/officeDocument/2006/relationships/hyperlink" Target="https://claude.ai/artifact/7wqAASJ8qWxBBKBuVHAqLt"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github.com/gabrielamamanestudent-wq/teetomivV2/blob/claude/science-fair-medical-project-7k0wk4/science-fair/night-signal/BUILD_GUIDE.md"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Helvetica Neue" pitchFamily="34" charset="0"/>
                <a:ea typeface="Helvetica Neue" pitchFamily="34" charset="-122"/>
                <a:cs typeface="Helvetica Neue"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Helvetica Neue" pitchFamily="34" charset="0"/>
                <a:ea typeface="Helvetica Neue" pitchFamily="34" charset="-122"/>
                <a:cs typeface="Helvetica Neue"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Helvetica Neue" pitchFamily="34" charset="0"/>
                <a:ea typeface="Helvetica Neue" pitchFamily="34" charset="-122"/>
                <a:cs typeface="Helvetica Neue" pitchFamily="34" charset="-120"/>
              </a:rPr>
              <a:t>Sleep apnea screening you can wear.</a:t>
            </a:r>
            <a:endParaRPr lang="en-US" sz="2400" dirty="0"/>
          </a:p>
        </p:txBody>
      </p:sp>
      <p:pic>
        <p:nvPicPr>
          <p:cNvPr id="5" name="Image 0" descr="/home/user/teetomivV2/science-fair/night-signal/slides/assets/hero_black.jpg">    </p:cNvPr>
          <p:cNvPicPr>
            <a:picLocks noChangeAspect="1"/>
          </p:cNvPicPr>
          <p:nvPr/>
        </p:nvPicPr>
        <p:blipFill>
          <a:blip r:embed="rId1"/>
          <a:stretch>
            <a:fillRect/>
          </a:stretch>
        </p:blipFill>
        <p:spPr>
          <a:xfrm>
            <a:off x="4230642" y="2395728"/>
            <a:ext cx="3730412" cy="352044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Gabriel Mamane</a:t>
            </a:r>
            <a:pPr algn="ctr" indent="0" marL="0">
              <a:buNone/>
            </a:pPr>
            <a:r>
              <a:rPr lang="en-US" sz="1500" dirty="0">
                <a:solidFill>
                  <a:srgbClr val="86868B"/>
                </a:solidFill>
                <a:latin typeface="Helvetica Neue" pitchFamily="34" charset="0"/>
                <a:ea typeface="Helvetica Neue" pitchFamily="34" charset="-122"/>
                <a:cs typeface="Helvetica Neue"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Helvetica Neue" pitchFamily="34" charset="0"/>
                <a:ea typeface="Helvetica Neue" pitchFamily="34" charset="-122"/>
                <a:cs typeface="Helvetica Neue" pitchFamily="34" charset="-120"/>
              </a:rPr>
              <a:t>Educational prototype. Not a medical device.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Can a low-cost wearable catch sleep apnea?</a:t>
            </a:r>
            <a:endParaRPr lang="en-US" sz="4000" dirty="0"/>
          </a:p>
        </p:txBody>
      </p:sp>
      <p:sp>
        <p:nvSpPr>
          <p:cNvPr id="4" name="Shape 2"/>
          <p:cNvSpPr/>
          <p:nvPr/>
        </p:nvSpPr>
        <p:spPr>
          <a:xfrm>
            <a:off x="685800" y="1965960"/>
            <a:ext cx="5303520" cy="2331720"/>
          </a:xfrm>
          <a:prstGeom prst="roundRect">
            <a:avLst>
              <a:gd name="adj" fmla="val 8627"/>
            </a:avLst>
          </a:prstGeom>
          <a:solidFill>
            <a:srgbClr val="F5F5F7"/>
          </a:solidFill>
          <a:ln/>
        </p:spPr>
      </p:sp>
      <p:sp>
        <p:nvSpPr>
          <p:cNvPr id="5" name="Shape 3"/>
          <p:cNvSpPr/>
          <p:nvPr/>
        </p:nvSpPr>
        <p:spPr>
          <a:xfrm>
            <a:off x="6199632" y="1965960"/>
            <a:ext cx="5303520" cy="2331720"/>
          </a:xfrm>
          <a:prstGeom prst="roundRect">
            <a:avLst>
              <a:gd name="adj" fmla="val 8627"/>
            </a:avLst>
          </a:prstGeom>
          <a:solidFill>
            <a:srgbClr val="F5F5F7"/>
          </a:solidFill>
          <a:ln/>
        </p:spPr>
      </p:sp>
      <p:sp>
        <p:nvSpPr>
          <p:cNvPr id="6" name="Text 4"/>
          <p:cNvSpPr txBox="1"/>
          <p:nvPr/>
        </p:nvSpPr>
        <p:spPr>
          <a:xfrm>
            <a:off x="1005840" y="2212848"/>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Helvetica Neue" pitchFamily="34" charset="0"/>
                <a:ea typeface="Helvetica Neue" pitchFamily="34" charset="-122"/>
                <a:cs typeface="Helvetica Neue" pitchFamily="34" charset="-120"/>
              </a:rPr>
              <a:t>Purpose</a:t>
            </a:r>
            <a:endParaRPr lang="en-US" sz="1500" dirty="0"/>
          </a:p>
        </p:txBody>
      </p:sp>
      <p:sp>
        <p:nvSpPr>
          <p:cNvPr id="7" name="Text 5"/>
          <p:cNvSpPr txBox="1"/>
          <p:nvPr/>
        </p:nvSpPr>
        <p:spPr>
          <a:xfrm>
            <a:off x="1005840" y="2606040"/>
            <a:ext cx="4663440" cy="1554480"/>
          </a:xfrm>
          <a:prstGeom prst="rect">
            <a:avLst/>
          </a:prstGeom>
          <a:noFill/>
          <a:ln/>
        </p:spPr>
        <p:txBody>
          <a:bodyPr wrap="square" lIns="0" tIns="0" rIns="0" bIns="0" rtlCol="0" anchor="t"/>
          <a:lstStyle/>
          <a:p>
            <a:pPr indent="0" marL="0">
              <a:lnSpc>
                <a:spcPct val="105000"/>
              </a:lnSpc>
              <a:buNone/>
            </a:pPr>
            <a:r>
              <a:rPr lang="en-US" sz="1700" dirty="0">
                <a:solidFill>
                  <a:srgbClr val="1D1D1F"/>
                </a:solidFill>
                <a:latin typeface="Helvetica Neue" pitchFamily="34" charset="0"/>
                <a:ea typeface="Helvetica Neue" pitchFamily="34" charset="-122"/>
                <a:cs typeface="Helvetica Neue" pitchFamily="34" charset="-120"/>
              </a:rPr>
              <a:t>Find out whether a low-cost wearable can detect the oxygen drops caused by sleep apnea accurately enough to estimate how many events happen per hour: the number doctors use (AHI).</a:t>
            </a:r>
            <a:endParaRPr lang="en-US" sz="1700" dirty="0"/>
          </a:p>
        </p:txBody>
      </p:sp>
      <p:sp>
        <p:nvSpPr>
          <p:cNvPr id="8" name="Text 6"/>
          <p:cNvSpPr txBox="1"/>
          <p:nvPr/>
        </p:nvSpPr>
        <p:spPr>
          <a:xfrm>
            <a:off x="6519672" y="2212848"/>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Helvetica Neue" pitchFamily="34" charset="0"/>
                <a:ea typeface="Helvetica Neue" pitchFamily="34" charset="-122"/>
                <a:cs typeface="Helvetica Neue" pitchFamily="34" charset="-120"/>
              </a:rPr>
              <a:t>Hypothesis</a:t>
            </a:r>
            <a:endParaRPr lang="en-US" sz="1500" dirty="0"/>
          </a:p>
        </p:txBody>
      </p:sp>
      <p:sp>
        <p:nvSpPr>
          <p:cNvPr id="9" name="Text 7"/>
          <p:cNvSpPr txBox="1"/>
          <p:nvPr/>
        </p:nvSpPr>
        <p:spPr>
          <a:xfrm>
            <a:off x="6519672" y="2606040"/>
            <a:ext cx="4663440" cy="1600200"/>
          </a:xfrm>
          <a:prstGeom prst="rect">
            <a:avLst/>
          </a:prstGeom>
          <a:noFill/>
          <a:ln/>
        </p:spPr>
        <p:txBody>
          <a:bodyPr wrap="square" lIns="0" tIns="0" rIns="0" bIns="0" rtlCol="0" anchor="t"/>
          <a:lstStyle/>
          <a:p>
            <a:pPr indent="0" marL="0">
              <a:lnSpc>
                <a:spcPct val="105000"/>
              </a:lnSpc>
              <a:buNone/>
            </a:pPr>
            <a:r>
              <a:rPr lang="en-US" sz="1550" dirty="0">
                <a:solidFill>
                  <a:srgbClr val="1D1D1F"/>
                </a:solidFill>
                <a:latin typeface="Helvetica Neue" pitchFamily="34" charset="0"/>
                <a:ea typeface="Helvetica Neue" pitchFamily="34" charset="-122"/>
                <a:cs typeface="Helvetica Neue" pitchFamily="34" charset="-120"/>
              </a:rPr>
              <a:t>If breathing pauses make blood oxygen dip, then a fingertip sensor read once per second will reveal the dips, and software can count them per hour, because oxygen-rich and oxygen-poor blood absorb red and infrared light differently.</a:t>
            </a:r>
            <a:endParaRPr lang="en-US" sz="1550" dirty="0"/>
          </a:p>
        </p:txBody>
      </p:sp>
      <p:sp>
        <p:nvSpPr>
          <p:cNvPr id="10" name="Text 8"/>
          <p:cNvSpPr txBox="1"/>
          <p:nvPr/>
        </p:nvSpPr>
        <p:spPr>
          <a:xfrm>
            <a:off x="685800"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Independent variables</a:t>
            </a:r>
            <a:endParaRPr lang="en-US" sz="1600" dirty="0"/>
          </a:p>
        </p:txBody>
      </p:sp>
      <p:sp>
        <p:nvSpPr>
          <p:cNvPr id="11" name="Text 9"/>
          <p:cNvSpPr txBox="1"/>
          <p:nvPr/>
        </p:nvSpPr>
        <p:spPr>
          <a:xfrm>
            <a:off x="685800"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Breath-hold length (10, 15, 20 s) and sleeping position</a:t>
            </a:r>
            <a:endParaRPr lang="en-US" sz="1400" dirty="0"/>
          </a:p>
        </p:txBody>
      </p:sp>
      <p:sp>
        <p:nvSpPr>
          <p:cNvPr id="12" name="Text 10"/>
          <p:cNvSpPr txBox="1"/>
          <p:nvPr/>
        </p:nvSpPr>
        <p:spPr>
          <a:xfrm>
            <a:off x="4370832"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Dependent variables</a:t>
            </a:r>
            <a:endParaRPr lang="en-US" sz="1600" dirty="0"/>
          </a:p>
        </p:txBody>
      </p:sp>
      <p:sp>
        <p:nvSpPr>
          <p:cNvPr id="13" name="Text 11"/>
          <p:cNvSpPr txBox="1"/>
          <p:nvPr/>
        </p:nvSpPr>
        <p:spPr>
          <a:xfrm>
            <a:off x="4370832"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Events detected, AHI score, agreement with a reference oximeter</a:t>
            </a:r>
            <a:endParaRPr lang="en-US" sz="1400" dirty="0"/>
          </a:p>
        </p:txBody>
      </p:sp>
      <p:sp>
        <p:nvSpPr>
          <p:cNvPr id="14" name="Text 12"/>
          <p:cNvSpPr txBox="1"/>
          <p:nvPr/>
        </p:nvSpPr>
        <p:spPr>
          <a:xfrm>
            <a:off x="8055864"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Controls</a:t>
            </a:r>
            <a:endParaRPr lang="en-US" sz="1600" dirty="0"/>
          </a:p>
        </p:txBody>
      </p:sp>
      <p:sp>
        <p:nvSpPr>
          <p:cNvPr id="15" name="Text 13"/>
          <p:cNvSpPr txBox="1"/>
          <p:nvPr/>
        </p:nvSpPr>
        <p:spPr>
          <a:xfrm>
            <a:off x="8055864"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Breathing stops. Oxygen drops.</a:t>
            </a:r>
            <a:endParaRPr lang="en-US" sz="4000" dirty="0"/>
          </a:p>
        </p:txBody>
      </p:sp>
      <p:sp>
        <p:nvSpPr>
          <p:cNvPr id="4" name="Shape 2"/>
          <p:cNvSpPr/>
          <p:nvPr/>
        </p:nvSpPr>
        <p:spPr>
          <a:xfrm>
            <a:off x="685800" y="2066826"/>
            <a:ext cx="73152" cy="73152"/>
          </a:xfrm>
          <a:prstGeom prst="ellipse">
            <a:avLst/>
          </a:prstGeom>
          <a:solidFill>
            <a:srgbClr val="A1A1A6"/>
          </a:solidFill>
          <a:ln/>
        </p:spPr>
      </p:sp>
      <p:sp>
        <p:nvSpPr>
          <p:cNvPr id="5" name="Text 3"/>
          <p:cNvSpPr txBox="1"/>
          <p:nvPr/>
        </p:nvSpPr>
        <p:spPr>
          <a:xfrm>
            <a:off x="914400" y="1965960"/>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Obstructive sleep apnea: the airway collapses during sleep and breathing pauses for 10 seconds or more, many times a night.</a:t>
            </a:r>
            <a:endParaRPr lang="en-US" sz="1550" dirty="0"/>
          </a:p>
        </p:txBody>
      </p:sp>
      <p:sp>
        <p:nvSpPr>
          <p:cNvPr id="6" name="Shape 4"/>
          <p:cNvSpPr/>
          <p:nvPr/>
        </p:nvSpPr>
        <p:spPr>
          <a:xfrm>
            <a:off x="685800" y="2730020"/>
            <a:ext cx="73152" cy="73152"/>
          </a:xfrm>
          <a:prstGeom prst="ellipse">
            <a:avLst/>
          </a:prstGeom>
          <a:solidFill>
            <a:srgbClr val="A1A1A6"/>
          </a:solidFill>
          <a:ln/>
        </p:spPr>
      </p:sp>
      <p:sp>
        <p:nvSpPr>
          <p:cNvPr id="7" name="Text 5"/>
          <p:cNvSpPr txBox="1"/>
          <p:nvPr/>
        </p:nvSpPr>
        <p:spPr>
          <a:xfrm>
            <a:off x="914400" y="2629154"/>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Each pause lowers blood oxygen (a desaturation) and makes the heart speed up and slow down.</a:t>
            </a:r>
            <a:endParaRPr lang="en-US" sz="1550" dirty="0"/>
          </a:p>
        </p:txBody>
      </p:sp>
      <p:sp>
        <p:nvSpPr>
          <p:cNvPr id="8" name="Shape 6"/>
          <p:cNvSpPr/>
          <p:nvPr/>
        </p:nvSpPr>
        <p:spPr>
          <a:xfrm>
            <a:off x="685800" y="3393214"/>
            <a:ext cx="73152" cy="73152"/>
          </a:xfrm>
          <a:prstGeom prst="ellipse">
            <a:avLst/>
          </a:prstGeom>
          <a:solidFill>
            <a:srgbClr val="A1A1A6"/>
          </a:solidFill>
          <a:ln/>
        </p:spPr>
      </p:sp>
      <p:sp>
        <p:nvSpPr>
          <p:cNvPr id="9" name="Text 7"/>
          <p:cNvSpPr txBox="1"/>
          <p:nvPr/>
        </p:nvSpPr>
        <p:spPr>
          <a:xfrm>
            <a:off x="914400" y="3292348"/>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Pulse oximetry: red (660 nm) and infrared (880 nm) light shine through the fingertip. Oxygen-rich blood absorbs them differently, giving SpO₂.</a:t>
            </a:r>
            <a:endParaRPr lang="en-US" sz="1550" dirty="0"/>
          </a:p>
        </p:txBody>
      </p:sp>
      <p:sp>
        <p:nvSpPr>
          <p:cNvPr id="10" name="Shape 8"/>
          <p:cNvSpPr/>
          <p:nvPr/>
        </p:nvSpPr>
        <p:spPr>
          <a:xfrm>
            <a:off x="685800" y="4296565"/>
            <a:ext cx="73152" cy="73152"/>
          </a:xfrm>
          <a:prstGeom prst="ellipse">
            <a:avLst/>
          </a:prstGeom>
          <a:solidFill>
            <a:srgbClr val="A1A1A6"/>
          </a:solidFill>
          <a:ln/>
        </p:spPr>
      </p:sp>
      <p:sp>
        <p:nvSpPr>
          <p:cNvPr id="11" name="Text 9"/>
          <p:cNvSpPr txBox="1"/>
          <p:nvPr/>
        </p:nvSpPr>
        <p:spPr>
          <a:xfrm>
            <a:off x="914400" y="4195699"/>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Doctors count events per hour of sleep: the Apnea–Hypopnea Index (AHI). A clinical sleep study costs thousands and needs a lab.</a:t>
            </a:r>
            <a:endParaRPr lang="en-US" sz="155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Helvetica Neue" pitchFamily="34" charset="0"/>
                <a:ea typeface="Helvetica Neue" pitchFamily="34" charset="-122"/>
                <a:cs typeface="Helvetica Neue"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lnSpc>
                <a:spcPct val="105000"/>
              </a:lnSpc>
              <a:buNone/>
            </a:pPr>
            <a:r>
              <a:rPr lang="en-US" sz="1450" dirty="0">
                <a:solidFill>
                  <a:srgbClr val="86868B"/>
                </a:solidFill>
                <a:latin typeface="Helvetica Neue" pitchFamily="34" charset="0"/>
                <a:ea typeface="Helvetica Neue" pitchFamily="34" charset="-122"/>
                <a:cs typeface="Helvetica Neue" pitchFamily="34" charset="-120"/>
              </a:rPr>
              <a:t>adults worldwide have obstructive sleep apnea. Most don’t know it (Benjafield et al., 2019).</a:t>
            </a:r>
            <a:endParaRPr lang="en-US" sz="1450" dirty="0"/>
          </a:p>
        </p:txBody>
      </p:sp>
      <p:sp>
        <p:nvSpPr>
          <p:cNvPr id="15" name="Shape 13"/>
          <p:cNvSpPr/>
          <p:nvPr/>
        </p:nvSpPr>
        <p:spPr>
          <a:xfrm>
            <a:off x="685800" y="4983480"/>
            <a:ext cx="2587752" cy="1234440"/>
          </a:xfrm>
          <a:prstGeom prst="roundRect">
            <a:avLst>
              <a:gd name="adj" fmla="val 16296"/>
            </a:avLst>
          </a:prstGeom>
          <a:solidFill>
            <a:srgbClr val="F5F5F7"/>
          </a:solidFill>
          <a:ln/>
        </p:spPr>
      </p:sp>
      <p:sp>
        <p:nvSpPr>
          <p:cNvPr id="16" name="Text 14"/>
          <p:cNvSpPr txBox="1"/>
          <p:nvPr/>
        </p:nvSpPr>
        <p:spPr>
          <a:xfrm>
            <a:off x="685800" y="5120640"/>
            <a:ext cx="2587752" cy="548640"/>
          </a:xfrm>
          <a:prstGeom prst="rect">
            <a:avLst/>
          </a:prstGeom>
          <a:noFill/>
          <a:ln/>
        </p:spPr>
        <p:txBody>
          <a:bodyPr wrap="square" lIns="0" tIns="0" rIns="0" bIns="0" rtlCol="0" anchor="t"/>
          <a:lstStyle/>
          <a:p>
            <a:pPr algn="ctr" indent="0" marL="0">
              <a:buNone/>
            </a:pPr>
            <a:r>
              <a:rPr lang="en-US" sz="3000" b="1" dirty="0">
                <a:solidFill>
                  <a:srgbClr val="248A3D"/>
                </a:solidFill>
                <a:latin typeface="Helvetica Neue" pitchFamily="34" charset="0"/>
                <a:ea typeface="Helvetica Neue" pitchFamily="34" charset="-122"/>
                <a:cs typeface="Helvetica Neue" pitchFamily="34" charset="-120"/>
              </a:rPr>
              <a:t>&lt; 5</a:t>
            </a:r>
            <a:endParaRPr lang="en-US" sz="3000" dirty="0"/>
          </a:p>
        </p:txBody>
      </p:sp>
      <p:sp>
        <p:nvSpPr>
          <p:cNvPr id="17" name="Text 15"/>
          <p:cNvSpPr txBox="1"/>
          <p:nvPr/>
        </p:nvSpPr>
        <p:spPr>
          <a:xfrm>
            <a:off x="6858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Normal · events per hour</a:t>
            </a:r>
            <a:endParaRPr lang="en-US" sz="1250" dirty="0"/>
          </a:p>
        </p:txBody>
      </p:sp>
      <p:sp>
        <p:nvSpPr>
          <p:cNvPr id="18" name="Shape 16"/>
          <p:cNvSpPr/>
          <p:nvPr/>
        </p:nvSpPr>
        <p:spPr>
          <a:xfrm>
            <a:off x="3429000" y="4983480"/>
            <a:ext cx="2587752" cy="1234440"/>
          </a:xfrm>
          <a:prstGeom prst="roundRect">
            <a:avLst>
              <a:gd name="adj" fmla="val 16296"/>
            </a:avLst>
          </a:prstGeom>
          <a:solidFill>
            <a:srgbClr val="F5F5F7"/>
          </a:solidFill>
          <a:ln/>
        </p:spPr>
      </p:sp>
      <p:sp>
        <p:nvSpPr>
          <p:cNvPr id="19" name="Text 17"/>
          <p:cNvSpPr txBox="1"/>
          <p:nvPr/>
        </p:nvSpPr>
        <p:spPr>
          <a:xfrm>
            <a:off x="3429000" y="5120640"/>
            <a:ext cx="2587752" cy="548640"/>
          </a:xfrm>
          <a:prstGeom prst="rect">
            <a:avLst/>
          </a:prstGeom>
          <a:noFill/>
          <a:ln/>
        </p:spPr>
        <p:txBody>
          <a:bodyPr wrap="square" lIns="0" tIns="0" rIns="0" bIns="0" rtlCol="0" anchor="t"/>
          <a:lstStyle/>
          <a:p>
            <a:pPr algn="ctr" indent="0" marL="0">
              <a:buNone/>
            </a:pPr>
            <a:r>
              <a:rPr lang="en-US" sz="3000" b="1" dirty="0">
                <a:solidFill>
                  <a:srgbClr val="C45500"/>
                </a:solidFill>
                <a:latin typeface="Helvetica Neue" pitchFamily="34" charset="0"/>
                <a:ea typeface="Helvetica Neue" pitchFamily="34" charset="-122"/>
                <a:cs typeface="Helvetica Neue" pitchFamily="34" charset="-120"/>
              </a:rPr>
              <a:t>5–15</a:t>
            </a:r>
            <a:endParaRPr lang="en-US" sz="3000" dirty="0"/>
          </a:p>
        </p:txBody>
      </p:sp>
      <p:sp>
        <p:nvSpPr>
          <p:cNvPr id="20" name="Text 18"/>
          <p:cNvSpPr txBox="1"/>
          <p:nvPr/>
        </p:nvSpPr>
        <p:spPr>
          <a:xfrm>
            <a:off x="34290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Mild · events per hour</a:t>
            </a:r>
            <a:endParaRPr lang="en-US" sz="1250" dirty="0"/>
          </a:p>
        </p:txBody>
      </p:sp>
      <p:sp>
        <p:nvSpPr>
          <p:cNvPr id="21" name="Shape 19"/>
          <p:cNvSpPr/>
          <p:nvPr/>
        </p:nvSpPr>
        <p:spPr>
          <a:xfrm>
            <a:off x="6172200" y="4983480"/>
            <a:ext cx="2587752" cy="1234440"/>
          </a:xfrm>
          <a:prstGeom prst="roundRect">
            <a:avLst>
              <a:gd name="adj" fmla="val 16296"/>
            </a:avLst>
          </a:prstGeom>
          <a:solidFill>
            <a:srgbClr val="F5F5F7"/>
          </a:solidFill>
          <a:ln/>
        </p:spPr>
      </p:sp>
      <p:sp>
        <p:nvSpPr>
          <p:cNvPr id="22" name="Text 20"/>
          <p:cNvSpPr txBox="1"/>
          <p:nvPr/>
        </p:nvSpPr>
        <p:spPr>
          <a:xfrm>
            <a:off x="6172200" y="5120640"/>
            <a:ext cx="2587752" cy="548640"/>
          </a:xfrm>
          <a:prstGeom prst="rect">
            <a:avLst/>
          </a:prstGeom>
          <a:noFill/>
          <a:ln/>
        </p:spPr>
        <p:txBody>
          <a:bodyPr wrap="square" lIns="0" tIns="0" rIns="0" bIns="0" rtlCol="0" anchor="t"/>
          <a:lstStyle/>
          <a:p>
            <a:pPr algn="ctr" indent="0" marL="0">
              <a:buNone/>
            </a:pPr>
            <a:r>
              <a:rPr lang="en-US" sz="3000" b="1" dirty="0">
                <a:solidFill>
                  <a:srgbClr val="B4410B"/>
                </a:solidFill>
                <a:latin typeface="Helvetica Neue" pitchFamily="34" charset="0"/>
                <a:ea typeface="Helvetica Neue" pitchFamily="34" charset="-122"/>
                <a:cs typeface="Helvetica Neue" pitchFamily="34" charset="-120"/>
              </a:rPr>
              <a:t>15–30</a:t>
            </a:r>
            <a:endParaRPr lang="en-US" sz="3000" dirty="0"/>
          </a:p>
        </p:txBody>
      </p:sp>
      <p:sp>
        <p:nvSpPr>
          <p:cNvPr id="23" name="Text 21"/>
          <p:cNvSpPr txBox="1"/>
          <p:nvPr/>
        </p:nvSpPr>
        <p:spPr>
          <a:xfrm>
            <a:off x="61722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Moderate · events per hour</a:t>
            </a:r>
            <a:endParaRPr lang="en-US" sz="1250" dirty="0"/>
          </a:p>
        </p:txBody>
      </p:sp>
      <p:sp>
        <p:nvSpPr>
          <p:cNvPr id="24" name="Shape 22"/>
          <p:cNvSpPr/>
          <p:nvPr/>
        </p:nvSpPr>
        <p:spPr>
          <a:xfrm>
            <a:off x="8915400" y="4983480"/>
            <a:ext cx="2587752" cy="1234440"/>
          </a:xfrm>
          <a:prstGeom prst="roundRect">
            <a:avLst>
              <a:gd name="adj" fmla="val 16296"/>
            </a:avLst>
          </a:prstGeom>
          <a:solidFill>
            <a:srgbClr val="F5F5F7"/>
          </a:solidFill>
          <a:ln/>
        </p:spPr>
      </p:sp>
      <p:sp>
        <p:nvSpPr>
          <p:cNvPr id="25" name="Text 23"/>
          <p:cNvSpPr txBox="1"/>
          <p:nvPr/>
        </p:nvSpPr>
        <p:spPr>
          <a:xfrm>
            <a:off x="8915400" y="5120640"/>
            <a:ext cx="2587752" cy="548640"/>
          </a:xfrm>
          <a:prstGeom prst="rect">
            <a:avLst/>
          </a:prstGeom>
          <a:noFill/>
          <a:ln/>
        </p:spPr>
        <p:txBody>
          <a:bodyPr wrap="square" lIns="0" tIns="0" rIns="0" bIns="0" rtlCol="0" anchor="t"/>
          <a:lstStyle/>
          <a:p>
            <a:pPr algn="ctr" indent="0" marL="0">
              <a:buNone/>
            </a:pPr>
            <a:r>
              <a:rPr lang="en-US" sz="3000" b="1" dirty="0">
                <a:solidFill>
                  <a:srgbClr val="D70015"/>
                </a:solidFill>
                <a:latin typeface="Helvetica Neue" pitchFamily="34" charset="0"/>
                <a:ea typeface="Helvetica Neue" pitchFamily="34" charset="-122"/>
                <a:cs typeface="Helvetica Neue" pitchFamily="34" charset="-120"/>
              </a:rPr>
              <a:t>&gt; 30</a:t>
            </a:r>
            <a:endParaRPr lang="en-US" sz="3000" dirty="0"/>
          </a:p>
        </p:txBody>
      </p:sp>
      <p:sp>
        <p:nvSpPr>
          <p:cNvPr id="26" name="Text 24"/>
          <p:cNvSpPr txBox="1"/>
          <p:nvPr/>
        </p:nvSpPr>
        <p:spPr>
          <a:xfrm>
            <a:off x="89154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Severe · events per hour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Helvetica Neue" pitchFamily="34" charset="0"/>
                <a:ea typeface="Helvetica Neue" pitchFamily="34" charset="-122"/>
                <a:cs typeface="Helvetica Neue"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Helvetica Neue" pitchFamily="34" charset="0"/>
                <a:ea typeface="Helvetica Neue" pitchFamily="34" charset="-122"/>
                <a:cs typeface="Helvetica Neue" pitchFamily="34" charset="-120"/>
              </a:rPr>
              <a:t>The wearable.</a:t>
            </a:r>
            <a:endParaRPr lang="en-US" sz="4800" dirty="0"/>
          </a:p>
        </p:txBody>
      </p:sp>
      <p:pic>
        <p:nvPicPr>
          <p:cNvPr id="4" name="Image 0" descr="/home/user/teetomivV2/science-fair/night-signal/slides/assets/hero_black.jpg">    </p:cNvPr>
          <p:cNvPicPr>
            <a:picLocks noChangeAspect="1"/>
          </p:cNvPicPr>
          <p:nvPr/>
        </p:nvPicPr>
        <p:blipFill>
          <a:blip r:embed="rId1"/>
          <a:stretch>
            <a:fillRect/>
          </a:stretch>
        </p:blipFill>
        <p:spPr>
          <a:xfrm>
            <a:off x="2366769" y="1783080"/>
            <a:ext cx="3342837" cy="3154680"/>
          </a:xfrm>
          <a:prstGeom prst="rect">
            <a:avLst/>
          </a:prstGeom>
        </p:spPr>
      </p:pic>
      <p:pic>
        <p:nvPicPr>
          <p:cNvPr id="5" name="Image 1" descr="/home/user/teetomivV2/science-fair/night-signal/slides/assets/exploded_black.jpg">    </p:cNvPr>
          <p:cNvPicPr>
            <a:picLocks noChangeAspect="1"/>
          </p:cNvPicPr>
          <p:nvPr/>
        </p:nvPicPr>
        <p:blipFill>
          <a:blip r:embed="rId2"/>
          <a:stretch>
            <a:fillRect/>
          </a:stretch>
        </p:blipFill>
        <p:spPr>
          <a:xfrm>
            <a:off x="6532566" y="1783080"/>
            <a:ext cx="3292361" cy="3154680"/>
          </a:xfrm>
          <a:prstGeom prst="rect">
            <a:avLst/>
          </a:prstGeom>
        </p:spPr>
      </p:pic>
      <p:sp>
        <p:nvSpPr>
          <p:cNvPr id="6" name="Text 2"/>
          <p:cNvSpPr txBox="1"/>
          <p:nvPr/>
        </p:nvSpPr>
        <p:spPr>
          <a:xfrm>
            <a:off x="2092449" y="4983480"/>
            <a:ext cx="3891477"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v2 design: sealed case on a velcro strap</a:t>
            </a:r>
            <a:endParaRPr lang="en-US" sz="1200" dirty="0"/>
          </a:p>
        </p:txBody>
      </p:sp>
      <p:sp>
        <p:nvSpPr>
          <p:cNvPr id="7" name="Text 3"/>
          <p:cNvSpPr txBox="1"/>
          <p:nvPr/>
        </p:nvSpPr>
        <p:spPr>
          <a:xfrm>
            <a:off x="6258246" y="4983480"/>
            <a:ext cx="3841001"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All night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USB power</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14 × 14 mm</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readings</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4" tooltip="https://claude.ai/artifact/7wqAASJ8qWxBBKBuVHAqLt"/>
          </p:cNvPr>
          <p:cNvPicPr>
            <a:picLocks noChangeAspect="1"/>
          </p:cNvPicPr>
          <p:nvPr/>
        </p:nvPicPr>
        <p:blipFill>
          <a:blip r:embed="rId3"/>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Helvetica Neue" pitchFamily="34" charset="0"/>
                <a:ea typeface="Helvetica Neue" pitchFamily="34" charset="-122"/>
                <a:cs typeface="Helvetica Neue" pitchFamily="34" charset="-120"/>
                <a:hlinkClick r:id="rId5" invalidUrl="" action="" tgtFrame="" tooltip="https://claude.ai/artifact/7wqAASJ8qWxBBKBuVHAqLt" history="1" highlightClick="0" endSnd="0">
                  <a:extLst>
                    <a:ext uri="{A12FA001-AC4F-418D-AE19-62706E023703}">
                      <ahyp:hlinkClr xmlns:ahyp="http://schemas.microsoft.com/office/drawing/2018/hyperlinkcolor" val="tx"/>
                    </a:ext>
                  </a:extLst>
                </a:hlinkClick>
              </a:rPr>
              <a:t>Interactive 3D ›</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From fingertip to sleep report.</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computes SpO₂ + pulse, reads position</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AHI, heart, breathing</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 built-in self-test proves it’s working before every recording.</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Menlo" pitchFamily="34" charset="0"/>
                <a:ea typeface="Menlo" pitchFamily="34" charset="-122"/>
                <a:cs typeface="Menlo" pitchFamily="34" charset="-120"/>
              </a:rPr>
              <a:t>$ python check_device.py --port /dev/cu.NightSignal</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Data arriving        1 reading/s</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Self-test            oxygen OK · motion OK</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Finger on sensor     100%</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Believable values    SpO2 97–98%, HR 60–64</a:t>
            </a:r>
            <a:endParaRPr lang="en-US" sz="1250" dirty="0"/>
          </a:p>
          <a:p>
            <a:pPr indent="0" marL="0">
              <a:spcAft>
                <a:spcPts val="300"/>
              </a:spcAft>
              <a:buNone/>
            </a:pPr>
            <a:r>
              <a:rPr lang="en-US" sz="1250" b="1" dirty="0">
                <a:solidFill>
                  <a:srgbClr val="FFFFFF"/>
                </a:solidFill>
                <a:latin typeface="Menlo" pitchFamily="34" charset="0"/>
                <a:ea typeface="Menlo" pitchFamily="34" charset="-122"/>
                <a:cs typeface="Menlo" pitchFamily="34" charset="-120"/>
              </a:rPr>
              <a:t>RESULT: READY — sending real data</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 finger: readings are marked invalid, never trusted.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The app shows the same checks live, every second.</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broken sensor is caught: “NOT READY”.</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Experimental protocol</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I test it.</a:t>
            </a:r>
            <a:endParaRPr lang="en-US" sz="4000" dirty="0"/>
          </a:p>
        </p:txBody>
      </p:sp>
      <p:sp>
        <p:nvSpPr>
          <p:cNvPr id="4" name="Shape 2"/>
          <p:cNvSpPr/>
          <p:nvPr/>
        </p:nvSpPr>
        <p:spPr>
          <a:xfrm>
            <a:off x="685800" y="1920240"/>
            <a:ext cx="475488" cy="475488"/>
          </a:xfrm>
          <a:prstGeom prst="ellipse">
            <a:avLst/>
          </a:prstGeom>
          <a:solidFill>
            <a:srgbClr val="0071E3"/>
          </a:solidFill>
          <a:ln/>
        </p:spPr>
      </p:sp>
      <p:sp>
        <p:nvSpPr>
          <p:cNvPr id="5" name="Text 3"/>
          <p:cNvSpPr txBox="1"/>
          <p:nvPr/>
        </p:nvSpPr>
        <p:spPr>
          <a:xfrm>
            <a:off x="685800" y="19202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1</a:t>
            </a:r>
            <a:endParaRPr lang="en-US" sz="1700" dirty="0"/>
          </a:p>
        </p:txBody>
      </p:sp>
      <p:sp>
        <p:nvSpPr>
          <p:cNvPr id="6" name="Text 4"/>
          <p:cNvSpPr txBox="1"/>
          <p:nvPr/>
        </p:nvSpPr>
        <p:spPr>
          <a:xfrm>
            <a:off x="1371600" y="1984248"/>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Device check   </a:t>
            </a:r>
            <a:pPr indent="0" marL="0">
              <a:buNone/>
            </a:pPr>
            <a:r>
              <a:rPr lang="en-US" sz="1550" dirty="0">
                <a:solidFill>
                  <a:srgbClr val="6E6E73"/>
                </a:solidFill>
                <a:latin typeface="Helvetica Neue" pitchFamily="34" charset="0"/>
                <a:ea typeface="Helvetica Neue" pitchFamily="34" charset="-122"/>
                <a:cs typeface="Helvetica Neue" pitchFamily="34" charset="-120"/>
              </a:rPr>
              <a:t>every session must pass check_device.py</a:t>
            </a:r>
            <a:endParaRPr lang="en-US" sz="1550" dirty="0"/>
          </a:p>
        </p:txBody>
      </p:sp>
      <p:sp>
        <p:nvSpPr>
          <p:cNvPr id="7" name="Shape 5"/>
          <p:cNvSpPr/>
          <p:nvPr/>
        </p:nvSpPr>
        <p:spPr>
          <a:xfrm>
            <a:off x="685800" y="2761488"/>
            <a:ext cx="475488" cy="475488"/>
          </a:xfrm>
          <a:prstGeom prst="ellipse">
            <a:avLst/>
          </a:prstGeom>
          <a:solidFill>
            <a:srgbClr val="0071E3"/>
          </a:solidFill>
          <a:ln/>
        </p:spPr>
      </p:sp>
      <p:sp>
        <p:nvSpPr>
          <p:cNvPr id="8" name="Text 6"/>
          <p:cNvSpPr txBox="1"/>
          <p:nvPr/>
        </p:nvSpPr>
        <p:spPr>
          <a:xfrm>
            <a:off x="685800"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2</a:t>
            </a:r>
            <a:endParaRPr lang="en-US" sz="1700" dirty="0"/>
          </a:p>
        </p:txBody>
      </p:sp>
      <p:sp>
        <p:nvSpPr>
          <p:cNvPr id="9" name="Text 7"/>
          <p:cNvSpPr txBox="1"/>
          <p:nvPr/>
        </p:nvSpPr>
        <p:spPr>
          <a:xfrm>
            <a:off x="1371600" y="2825496"/>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Accuracy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awake, side by side with a store-bought oximeter every 2 min for 30 min</a:t>
            </a:r>
            <a:endParaRPr lang="en-US" sz="1550" dirty="0"/>
          </a:p>
        </p:txBody>
      </p:sp>
      <p:sp>
        <p:nvSpPr>
          <p:cNvPr id="10" name="Shape 8"/>
          <p:cNvSpPr/>
          <p:nvPr/>
        </p:nvSpPr>
        <p:spPr>
          <a:xfrm>
            <a:off x="685800" y="3602736"/>
            <a:ext cx="475488" cy="475488"/>
          </a:xfrm>
          <a:prstGeom prst="ellipse">
            <a:avLst/>
          </a:prstGeom>
          <a:solidFill>
            <a:srgbClr val="0071E3"/>
          </a:solidFill>
          <a:ln/>
        </p:spPr>
      </p:sp>
      <p:sp>
        <p:nvSpPr>
          <p:cNvPr id="11" name="Text 9"/>
          <p:cNvSpPr txBox="1"/>
          <p:nvPr/>
        </p:nvSpPr>
        <p:spPr>
          <a:xfrm>
            <a:off x="685800" y="36027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3</a:t>
            </a:r>
            <a:endParaRPr lang="en-US" sz="1700" dirty="0"/>
          </a:p>
        </p:txBody>
      </p:sp>
      <p:sp>
        <p:nvSpPr>
          <p:cNvPr id="12" name="Text 10"/>
          <p:cNvSpPr txBox="1"/>
          <p:nvPr/>
        </p:nvSpPr>
        <p:spPr>
          <a:xfrm>
            <a:off x="1371600" y="3666744"/>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Detection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supervised, awake breath-holds of 10, 15 and 20 s: known events</a:t>
            </a:r>
            <a:endParaRPr lang="en-US" sz="1550" dirty="0"/>
          </a:p>
        </p:txBody>
      </p:sp>
      <p:sp>
        <p:nvSpPr>
          <p:cNvPr id="13" name="Shape 11"/>
          <p:cNvSpPr/>
          <p:nvPr/>
        </p:nvSpPr>
        <p:spPr>
          <a:xfrm>
            <a:off x="685800" y="4443984"/>
            <a:ext cx="475488" cy="475488"/>
          </a:xfrm>
          <a:prstGeom prst="ellipse">
            <a:avLst/>
          </a:prstGeom>
          <a:solidFill>
            <a:srgbClr val="0071E3"/>
          </a:solidFill>
          <a:ln/>
        </p:spPr>
      </p:sp>
      <p:sp>
        <p:nvSpPr>
          <p:cNvPr id="14" name="Text 12"/>
          <p:cNvSpPr txBox="1"/>
          <p:nvPr/>
        </p:nvSpPr>
        <p:spPr>
          <a:xfrm>
            <a:off x="685800" y="44439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4</a:t>
            </a:r>
            <a:endParaRPr lang="en-US" sz="1700" dirty="0"/>
          </a:p>
        </p:txBody>
      </p:sp>
      <p:sp>
        <p:nvSpPr>
          <p:cNvPr id="15" name="Text 13"/>
          <p:cNvSpPr txBox="1"/>
          <p:nvPr/>
        </p:nvSpPr>
        <p:spPr>
          <a:xfrm>
            <a:off x="1371600" y="4507992"/>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Full-night power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USB power, 8 h of data with no gaps</a:t>
            </a:r>
            <a:endParaRPr lang="en-US" sz="1550" dirty="0"/>
          </a:p>
        </p:txBody>
      </p:sp>
      <p:sp>
        <p:nvSpPr>
          <p:cNvPr id="16" name="Shape 14"/>
          <p:cNvSpPr/>
          <p:nvPr/>
        </p:nvSpPr>
        <p:spPr>
          <a:xfrm>
            <a:off x="685800" y="5285232"/>
            <a:ext cx="475488" cy="475488"/>
          </a:xfrm>
          <a:prstGeom prst="ellipse">
            <a:avLst/>
          </a:prstGeom>
          <a:solidFill>
            <a:srgbClr val="0071E3"/>
          </a:solidFill>
          <a:ln/>
        </p:spPr>
      </p:sp>
      <p:sp>
        <p:nvSpPr>
          <p:cNvPr id="17" name="Text 15"/>
          <p:cNvSpPr txBox="1"/>
          <p:nvPr/>
        </p:nvSpPr>
        <p:spPr>
          <a:xfrm>
            <a:off x="685800" y="52852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5</a:t>
            </a:r>
            <a:endParaRPr lang="en-US" sz="1700" dirty="0"/>
          </a:p>
        </p:txBody>
      </p:sp>
      <p:sp>
        <p:nvSpPr>
          <p:cNvPr id="18" name="Text 16"/>
          <p:cNvSpPr txBox="1"/>
          <p:nvPr/>
        </p:nvSpPr>
        <p:spPr>
          <a:xfrm>
            <a:off x="1371600" y="5349240"/>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Recorded nights   </a:t>
            </a:r>
            <a:pPr indent="0" marL="0">
              <a:buNone/>
            </a:pPr>
            <a:r>
              <a:rPr lang="en-US" sz="1550" dirty="0">
                <a:solidFill>
                  <a:srgbClr val="6E6E73"/>
                </a:solidFill>
                <a:latin typeface="Helvetica Neue" pitchFamily="34" charset="0"/>
                <a:ea typeface="Helvetica Neue" pitchFamily="34" charset="-122"/>
                <a:cs typeface="Helvetica Neue" pitchFamily="34" charset="-120"/>
              </a:rPr>
              <a:t>at least 5 nights; armband on forearm, clip on index finger</a:t>
            </a:r>
            <a:endParaRPr lang="en-US" sz="155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Safety</a:t>
            </a:r>
            <a:endParaRPr lang="en-US" sz="1700" dirty="0"/>
          </a:p>
        </p:txBody>
      </p:sp>
      <p:sp>
        <p:nvSpPr>
          <p:cNvPr id="21" name="Shape 19"/>
          <p:cNvSpPr/>
          <p:nvPr/>
        </p:nvSpPr>
        <p:spPr>
          <a:xfrm>
            <a:off x="8275320" y="2654678"/>
            <a:ext cx="73152" cy="73152"/>
          </a:xfrm>
          <a:prstGeom prst="ellipse">
            <a:avLst/>
          </a:prstGeom>
          <a:solidFill>
            <a:srgbClr val="A1A1A6"/>
          </a:solidFill>
          <a:ln/>
        </p:spPr>
      </p:sp>
      <p:sp>
        <p:nvSpPr>
          <p:cNvPr id="22" name="Text 20"/>
          <p:cNvSpPr txBox="1"/>
          <p:nvPr/>
        </p:nvSpPr>
        <p:spPr>
          <a:xfrm>
            <a:off x="8503920" y="2560320"/>
            <a:ext cx="2788920" cy="747141"/>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Breath-holds only while awake, seated and supervised. Never asleep.</a:t>
            </a:r>
            <a:endParaRPr lang="en-US" sz="1450" dirty="0"/>
          </a:p>
        </p:txBody>
      </p:sp>
      <p:sp>
        <p:nvSpPr>
          <p:cNvPr id="23" name="Shape 21"/>
          <p:cNvSpPr/>
          <p:nvPr/>
        </p:nvSpPr>
        <p:spPr>
          <a:xfrm>
            <a:off x="8275320" y="3493259"/>
            <a:ext cx="73152" cy="73152"/>
          </a:xfrm>
          <a:prstGeom prst="ellipse">
            <a:avLst/>
          </a:prstGeom>
          <a:solidFill>
            <a:srgbClr val="A1A1A6"/>
          </a:solidFill>
          <a:ln/>
        </p:spPr>
      </p:sp>
      <p:sp>
        <p:nvSpPr>
          <p:cNvPr id="24" name="Text 22"/>
          <p:cNvSpPr txBox="1"/>
          <p:nvPr/>
        </p:nvSpPr>
        <p:spPr>
          <a:xfrm>
            <a:off x="8503920" y="3398901"/>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20 seconds at most. Stop at any dizziness.</a:t>
            </a:r>
            <a:endParaRPr lang="en-US" sz="1450" dirty="0"/>
          </a:p>
        </p:txBody>
      </p:sp>
      <p:sp>
        <p:nvSpPr>
          <p:cNvPr id="25" name="Shape 23"/>
          <p:cNvSpPr/>
          <p:nvPr/>
        </p:nvSpPr>
        <p:spPr>
          <a:xfrm>
            <a:off x="8275320" y="4107177"/>
            <a:ext cx="73152" cy="73152"/>
          </a:xfrm>
          <a:prstGeom prst="ellipse">
            <a:avLst/>
          </a:prstGeom>
          <a:solidFill>
            <a:srgbClr val="A1A1A6"/>
          </a:solidFill>
          <a:ln/>
        </p:spPr>
      </p:sp>
      <p:sp>
        <p:nvSpPr>
          <p:cNvPr id="26" name="Text 24"/>
          <p:cNvSpPr txBox="1"/>
          <p:nvPr/>
        </p:nvSpPr>
        <p:spPr>
          <a:xfrm>
            <a:off x="8503920" y="4012819"/>
            <a:ext cx="2788920" cy="297815"/>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Parent/guardian consent</a:t>
            </a:r>
            <a:endParaRPr lang="en-US" sz="1450" dirty="0"/>
          </a:p>
        </p:txBody>
      </p:sp>
      <p:sp>
        <p:nvSpPr>
          <p:cNvPr id="27" name="Shape 25"/>
          <p:cNvSpPr/>
          <p:nvPr/>
        </p:nvSpPr>
        <p:spPr>
          <a:xfrm>
            <a:off x="8275320" y="4496432"/>
            <a:ext cx="73152" cy="73152"/>
          </a:xfrm>
          <a:prstGeom prst="ellipse">
            <a:avLst/>
          </a:prstGeom>
          <a:solidFill>
            <a:srgbClr val="A1A1A6"/>
          </a:solidFill>
          <a:ln/>
        </p:spPr>
      </p:sp>
      <p:sp>
        <p:nvSpPr>
          <p:cNvPr id="28" name="Text 26"/>
          <p:cNvSpPr txBox="1"/>
          <p:nvPr/>
        </p:nvSpPr>
        <p:spPr>
          <a:xfrm>
            <a:off x="8503920" y="4402074"/>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Ethics approval (human subject) before any test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The companion app measures real data.</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96012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Sleep report</a:t>
            </a:r>
            <a:endParaRPr lang="en-US" sz="1200" dirty="0"/>
          </a:p>
        </p:txBody>
      </p:sp>
      <p:sp>
        <p:nvSpPr>
          <p:cNvPr id="9" name="Text 5"/>
          <p:cNvSpPr txBox="1"/>
          <p:nvPr/>
        </p:nvSpPr>
        <p:spPr>
          <a:xfrm>
            <a:off x="342900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Live + device health</a:t>
            </a:r>
            <a:endParaRPr lang="en-US" sz="1200" dirty="0"/>
          </a:p>
        </p:txBody>
      </p:sp>
      <p:sp>
        <p:nvSpPr>
          <p:cNvPr id="10" name="Shape 6"/>
          <p:cNvSpPr/>
          <p:nvPr/>
        </p:nvSpPr>
        <p:spPr>
          <a:xfrm>
            <a:off x="6355080" y="2066826"/>
            <a:ext cx="73152" cy="73152"/>
          </a:xfrm>
          <a:prstGeom prst="ellipse">
            <a:avLst/>
          </a:prstGeom>
          <a:solidFill>
            <a:srgbClr val="A1A1A6"/>
          </a:solidFill>
          <a:ln/>
        </p:spPr>
      </p:sp>
      <p:sp>
        <p:nvSpPr>
          <p:cNvPr id="11" name="Text 7"/>
          <p:cNvSpPr txBox="1"/>
          <p:nvPr/>
        </p:nvSpPr>
        <p:spPr>
          <a:xfrm>
            <a:off x="6583680" y="1965960"/>
            <a:ext cx="493776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The Live tab connects straight to the wearable (USB or Bluetooth) and shows oxygen, heart rate and position every second.</a:t>
            </a:r>
            <a:endParaRPr lang="en-US" sz="1550" dirty="0"/>
          </a:p>
        </p:txBody>
      </p:sp>
      <p:sp>
        <p:nvSpPr>
          <p:cNvPr id="12" name="Shape 8"/>
          <p:cNvSpPr/>
          <p:nvPr/>
        </p:nvSpPr>
        <p:spPr>
          <a:xfrm>
            <a:off x="6355080" y="2988465"/>
            <a:ext cx="73152" cy="73152"/>
          </a:xfrm>
          <a:prstGeom prst="ellipse">
            <a:avLst/>
          </a:prstGeom>
          <a:solidFill>
            <a:srgbClr val="A1A1A6"/>
          </a:solidFill>
          <a:ln/>
        </p:spPr>
      </p:sp>
      <p:sp>
        <p:nvSpPr>
          <p:cNvPr id="13" name="Text 9"/>
          <p:cNvSpPr txBox="1"/>
          <p:nvPr/>
        </p:nvSpPr>
        <p:spPr>
          <a:xfrm>
            <a:off x="6583680" y="2887599"/>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Device health checks run the whole time: data flowing, self-test, finger on, power.</a:t>
            </a:r>
            <a:endParaRPr lang="en-US" sz="1550" dirty="0"/>
          </a:p>
        </p:txBody>
      </p:sp>
      <p:sp>
        <p:nvSpPr>
          <p:cNvPr id="14" name="Shape 10"/>
          <p:cNvSpPr/>
          <p:nvPr/>
        </p:nvSpPr>
        <p:spPr>
          <a:xfrm>
            <a:off x="6355080" y="3669947"/>
            <a:ext cx="73152" cy="73152"/>
          </a:xfrm>
          <a:prstGeom prst="ellipse">
            <a:avLst/>
          </a:prstGeom>
          <a:solidFill>
            <a:srgbClr val="A1A1A6"/>
          </a:solidFill>
          <a:ln/>
        </p:spPr>
      </p:sp>
      <p:sp>
        <p:nvSpPr>
          <p:cNvPr id="15" name="Text 11"/>
          <p:cNvSpPr txBox="1"/>
          <p:nvPr/>
        </p:nvSpPr>
        <p:spPr>
          <a:xfrm>
            <a:off x="6583680" y="3569081"/>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Saving a session gives the same CSV the analysis uses, so every number is traceable.</a:t>
            </a:r>
            <a:endParaRPr lang="en-US" sz="1550" dirty="0"/>
          </a:p>
        </p:txBody>
      </p:sp>
      <p:sp>
        <p:nvSpPr>
          <p:cNvPr id="16" name="Shape 12"/>
          <p:cNvSpPr/>
          <p:nvPr/>
        </p:nvSpPr>
        <p:spPr>
          <a:xfrm>
            <a:off x="6355080" y="4351429"/>
            <a:ext cx="73152" cy="73152"/>
          </a:xfrm>
          <a:prstGeom prst="ellipse">
            <a:avLst/>
          </a:prstGeom>
          <a:solidFill>
            <a:srgbClr val="A1A1A6"/>
          </a:solidFill>
          <a:ln/>
        </p:spPr>
      </p:sp>
      <p:sp>
        <p:nvSpPr>
          <p:cNvPr id="17" name="Text 13"/>
          <p:cNvSpPr txBox="1"/>
          <p:nvPr/>
        </p:nvSpPr>
        <p:spPr>
          <a:xfrm>
            <a:off x="6583680" y="4250563"/>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Heart, Asthma and Progress tabs for the spin-offs and my build log.</a:t>
            </a:r>
            <a:endParaRPr lang="en-US" sz="155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claude.ai/artifact/KCkbwVKfmBhQoC9cxCn7qZ"/>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Helvetica Neue" pitchFamily="34" charset="0"/>
                <a:ea typeface="Helvetica Neue" pitchFamily="34" charset="-122"/>
                <a:cs typeface="Helvetica Neue" pitchFamily="34" charset="-120"/>
                <a:hlinkClick r:id="rId5" invalidUrl="" action="" tgtFrame="" tooltip="https://claude.ai/artifact/KCkbwVKfmBhQoC9cxCn7qZ"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Scan to try it. A demo device is built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one night showed.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920240"/>
          <a:ext cx="10817352" cy="914400"/>
        </p:xfrm>
        <a:graphic>
          <a:graphicData uri="http://schemas.openxmlformats.org/drawingml/2006/table">
            <a:tbl>
              <a:tblPr/>
              <a:tblGrid>
                <a:gridCol w="3200400"/>
                <a:gridCol w="4023360"/>
                <a:gridCol w="3593592"/>
              </a:tblGrid>
              <a:tr h="457200">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Measure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Result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Meaning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Recording</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7.0 h · 25,200 readings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a full night captured</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Apnea events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19  →  AHI 2.7 / hour</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Normal range (&lt; 5)</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Blood oxygen (avg / lowest)</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97.5 % / 84 %</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lowest point during an event</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Accuracy vs reference</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 0.56 %  (r = 0.88)</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210 paired readings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Events caught: rule / ML</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63 % / 63 %</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precision 1.00 / 0.92</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Sleep position</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back 3.8 / h  vs  sides 1.1–1.3 / h</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 3 × more events on the back</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Spin-offs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3 heart episodes · breathing 13 → 22 / min</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patterns flagged correctly</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6035040"/>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Example data from my simulator,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Every dip found. And the readings agree.</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85800" y="1920240"/>
            <a:ext cx="6355080" cy="2912745"/>
          </a:xfrm>
          <a:prstGeom prst="rect">
            <a:avLst/>
          </a:prstGeom>
        </p:spPr>
      </p:pic>
      <p:sp>
        <p:nvSpPr>
          <p:cNvPr id="7" name="Text 4"/>
          <p:cNvSpPr txBox="1"/>
          <p:nvPr/>
        </p:nvSpPr>
        <p:spPr>
          <a:xfrm>
            <a:off x="685800" y="4942713"/>
            <a:ext cx="635508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One night: each red band is an apnea event found automatically</a:t>
            </a:r>
            <a:endParaRPr lang="en-US" sz="1200" dirty="0"/>
          </a:p>
        </p:txBody>
      </p:sp>
      <p:pic>
        <p:nvPicPr>
          <p:cNvPr id="8" name="Image 1" descr="/home/user/teetomivV2/science-fair/night-signal/slides/assets/validation.png">    </p:cNvPr>
          <p:cNvPicPr>
            <a:picLocks noChangeAspect="1"/>
          </p:cNvPicPr>
          <p:nvPr/>
        </p:nvPicPr>
        <p:blipFill>
          <a:blip r:embed="rId2"/>
          <a:stretch>
            <a:fillRect/>
          </a:stretch>
        </p:blipFill>
        <p:spPr>
          <a:xfrm>
            <a:off x="7269480" y="1920240"/>
            <a:ext cx="4233672" cy="2587244"/>
          </a:xfrm>
          <a:prstGeom prst="rect">
            <a:avLst/>
          </a:prstGeom>
        </p:spPr>
      </p:pic>
      <p:sp>
        <p:nvSpPr>
          <p:cNvPr id="9" name="Text 5"/>
          <p:cNvSpPr txBox="1"/>
          <p:nvPr/>
        </p:nvSpPr>
        <p:spPr>
          <a:xfrm>
            <a:off x="7269480" y="4617212"/>
            <a:ext cx="42336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Bland–Altman: 95% of readings within −1.5 to +1.7 %</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Back-sleeping, and two detectors.</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85800" y="1920240"/>
            <a:ext cx="5303520" cy="3314700"/>
          </a:xfrm>
          <a:prstGeom prst="rect">
            <a:avLst/>
          </a:prstGeom>
        </p:spPr>
      </p:pic>
      <p:sp>
        <p:nvSpPr>
          <p:cNvPr id="7" name="Text 4"/>
          <p:cNvSpPr txBox="1"/>
          <p:nvPr/>
        </p:nvSpPr>
        <p:spPr>
          <a:xfrm>
            <a:off x="685800" y="5308092"/>
            <a:ext cx="530352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Apnea events per hour by position</a:t>
            </a:r>
            <a:endParaRPr lang="en-US" sz="1200" dirty="0"/>
          </a:p>
        </p:txBody>
      </p:sp>
      <p:graphicFrame>
        <p:nvGraphicFramePr>
          <p:cNvPr id="8" name="Chart 0" descr=""/>
          <p:cNvGraphicFramePr/>
          <p:nvPr/>
        </p:nvGraphicFramePr>
        <p:xfrm>
          <a:off x="6355080" y="1874520"/>
          <a:ext cx="5166360" cy="338328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the results mean.</a:t>
            </a:r>
            <a:endParaRPr lang="en-US" sz="4000" dirty="0"/>
          </a:p>
        </p:txBody>
      </p:sp>
      <p:sp>
        <p:nvSpPr>
          <p:cNvPr id="4" name="Shape 2"/>
          <p:cNvSpPr/>
          <p:nvPr/>
        </p:nvSpPr>
        <p:spPr>
          <a:xfrm>
            <a:off x="685800" y="1920240"/>
            <a:ext cx="5312664" cy="2011680"/>
          </a:xfrm>
          <a:prstGeom prst="roundRect">
            <a:avLst>
              <a:gd name="adj" fmla="val 10000"/>
            </a:avLst>
          </a:prstGeom>
          <a:solidFill>
            <a:srgbClr val="1C1C1E"/>
          </a:solidFill>
          <a:ln/>
        </p:spPr>
      </p:sp>
      <p:sp>
        <p:nvSpPr>
          <p:cNvPr id="5" name="Text 3"/>
          <p:cNvSpPr txBox="1"/>
          <p:nvPr/>
        </p:nvSpPr>
        <p:spPr>
          <a:xfrm>
            <a:off x="1005840" y="217627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Accurate enough to trust</a:t>
            </a:r>
            <a:endParaRPr lang="en-US" sz="1900" dirty="0"/>
          </a:p>
        </p:txBody>
      </p:sp>
      <p:sp>
        <p:nvSpPr>
          <p:cNvPr id="6" name="Text 4"/>
          <p:cNvSpPr txBox="1"/>
          <p:nvPr/>
        </p:nvSpPr>
        <p:spPr>
          <a:xfrm>
            <a:off x="1005840"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Agreement within about ±1.6 % is in line with commercial fingertip oximeters (about ±2–3 %), so the drops it sees are real, not sensor noise.</a:t>
            </a:r>
            <a:endParaRPr lang="en-US" sz="1450" dirty="0"/>
          </a:p>
        </p:txBody>
      </p:sp>
      <p:sp>
        <p:nvSpPr>
          <p:cNvPr id="7" name="Shape 5"/>
          <p:cNvSpPr/>
          <p:nvPr/>
        </p:nvSpPr>
        <p:spPr>
          <a:xfrm>
            <a:off x="6190488" y="1920240"/>
            <a:ext cx="5312664" cy="2011680"/>
          </a:xfrm>
          <a:prstGeom prst="roundRect">
            <a:avLst>
              <a:gd name="adj" fmla="val 10000"/>
            </a:avLst>
          </a:prstGeom>
          <a:solidFill>
            <a:srgbClr val="1C1C1E"/>
          </a:solidFill>
          <a:ln/>
        </p:spPr>
      </p:sp>
      <p:sp>
        <p:nvSpPr>
          <p:cNvPr id="8" name="Text 6"/>
          <p:cNvSpPr txBox="1"/>
          <p:nvPr/>
        </p:nvSpPr>
        <p:spPr>
          <a:xfrm>
            <a:off x="6510528" y="217627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Helvetica Neue" pitchFamily="34" charset="0"/>
                <a:ea typeface="Helvetica Neue" pitchFamily="34" charset="-122"/>
                <a:cs typeface="Helvetica Neue" pitchFamily="34" charset="-120"/>
              </a:rPr>
              <a:t>Cautious, not over-eager</a:t>
            </a:r>
            <a:endParaRPr lang="en-US" sz="1900" dirty="0"/>
          </a:p>
        </p:txBody>
      </p:sp>
      <p:sp>
        <p:nvSpPr>
          <p:cNvPr id="9" name="Text 7"/>
          <p:cNvSpPr txBox="1"/>
          <p:nvPr/>
        </p:nvSpPr>
        <p:spPr>
          <a:xfrm>
            <a:off x="6510528"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Perfect precision but 63 % recall means it misses shallow events. My AHI is probably an under-estimate: the safe direction for a screening tool.</a:t>
            </a:r>
            <a:endParaRPr lang="en-US" sz="1450" dirty="0"/>
          </a:p>
        </p:txBody>
      </p:sp>
      <p:sp>
        <p:nvSpPr>
          <p:cNvPr id="10" name="Shape 8"/>
          <p:cNvSpPr/>
          <p:nvPr/>
        </p:nvSpPr>
        <p:spPr>
          <a:xfrm>
            <a:off x="685800" y="4114800"/>
            <a:ext cx="5312664" cy="2011680"/>
          </a:xfrm>
          <a:prstGeom prst="roundRect">
            <a:avLst>
              <a:gd name="adj" fmla="val 10000"/>
            </a:avLst>
          </a:prstGeom>
          <a:solidFill>
            <a:srgbClr val="1C1C1E"/>
          </a:solidFill>
          <a:ln/>
        </p:spPr>
      </p:sp>
      <p:sp>
        <p:nvSpPr>
          <p:cNvPr id="11" name="Text 9"/>
          <p:cNvSpPr txBox="1"/>
          <p:nvPr/>
        </p:nvSpPr>
        <p:spPr>
          <a:xfrm>
            <a:off x="1005840" y="437083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Helvetica Neue" pitchFamily="34" charset="0"/>
                <a:ea typeface="Helvetica Neue" pitchFamily="34" charset="-122"/>
                <a:cs typeface="Helvetica Neue" pitchFamily="34" charset="-120"/>
              </a:rPr>
              <a:t>Position matters</a:t>
            </a:r>
            <a:endParaRPr lang="en-US" sz="1900" dirty="0"/>
          </a:p>
        </p:txBody>
      </p:sp>
      <p:sp>
        <p:nvSpPr>
          <p:cNvPr id="12" name="Text 10"/>
          <p:cNvSpPr txBox="1"/>
          <p:nvPr/>
        </p:nvSpPr>
        <p:spPr>
          <a:xfrm>
            <a:off x="1005840"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Three times more events on the back matches “positional” sleep apnea in the literature. A simple, free change (side-sleeping) could help.</a:t>
            </a:r>
            <a:endParaRPr lang="en-US" sz="1450" dirty="0"/>
          </a:p>
        </p:txBody>
      </p:sp>
      <p:sp>
        <p:nvSpPr>
          <p:cNvPr id="13" name="Shape 11"/>
          <p:cNvSpPr/>
          <p:nvPr/>
        </p:nvSpPr>
        <p:spPr>
          <a:xfrm>
            <a:off x="6190488" y="4114800"/>
            <a:ext cx="5312664" cy="2011680"/>
          </a:xfrm>
          <a:prstGeom prst="roundRect">
            <a:avLst>
              <a:gd name="adj" fmla="val 10000"/>
            </a:avLst>
          </a:prstGeom>
          <a:solidFill>
            <a:srgbClr val="1C1C1E"/>
          </a:solidFill>
          <a:ln/>
        </p:spPr>
      </p:sp>
      <p:sp>
        <p:nvSpPr>
          <p:cNvPr id="14" name="Text 12"/>
          <p:cNvSpPr txBox="1"/>
          <p:nvPr/>
        </p:nvSpPr>
        <p:spPr>
          <a:xfrm>
            <a:off x="6510528" y="437083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More data beats fancier code</a:t>
            </a:r>
            <a:endParaRPr lang="en-US" sz="1900" dirty="0"/>
          </a:p>
        </p:txBody>
      </p:sp>
      <p:sp>
        <p:nvSpPr>
          <p:cNvPr id="15" name="Text 13"/>
          <p:cNvSpPr txBox="1"/>
          <p:nvPr/>
        </p:nvSpPr>
        <p:spPr>
          <a:xfrm>
            <a:off x="6510528"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Machine learning only tied the rule because it trained on one night. It needs many labeled nights to learn more than a rule.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could make it wrong.</a:t>
            </a:r>
            <a:endParaRPr lang="en-US" sz="4000" dirty="0"/>
          </a:p>
        </p:txBody>
      </p:sp>
      <p:sp>
        <p:nvSpPr>
          <p:cNvPr id="4" name="Text 2"/>
          <p:cNvSpPr txBox="1"/>
          <p:nvPr/>
        </p:nvSpPr>
        <p:spPr>
          <a:xfrm>
            <a:off x="685800" y="192024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Measurement</a:t>
            </a:r>
            <a:endParaRPr lang="en-US" sz="1900" dirty="0"/>
          </a:p>
        </p:txBody>
      </p:sp>
      <p:sp>
        <p:nvSpPr>
          <p:cNvPr id="5" name="Shape 3"/>
          <p:cNvSpPr/>
          <p:nvPr/>
        </p:nvSpPr>
        <p:spPr>
          <a:xfrm>
            <a:off x="685800" y="2520772"/>
            <a:ext cx="73152" cy="73152"/>
          </a:xfrm>
          <a:prstGeom prst="ellipse">
            <a:avLst/>
          </a:prstGeom>
          <a:solidFill>
            <a:srgbClr val="86868B"/>
          </a:solidFill>
          <a:ln/>
        </p:spPr>
      </p:sp>
      <p:sp>
        <p:nvSpPr>
          <p:cNvPr id="6" name="Text 4"/>
          <p:cNvSpPr txBox="1"/>
          <p:nvPr/>
        </p:nvSpPr>
        <p:spPr>
          <a:xfrm>
            <a:off x="914400" y="2423160"/>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Finger movement, pressure and cold hands distort the light signal</a:t>
            </a:r>
            <a:endParaRPr lang="en-US" sz="1500" dirty="0"/>
          </a:p>
        </p:txBody>
      </p:sp>
      <p:sp>
        <p:nvSpPr>
          <p:cNvPr id="7" name="Shape 5"/>
          <p:cNvSpPr/>
          <p:nvPr/>
        </p:nvSpPr>
        <p:spPr>
          <a:xfrm>
            <a:off x="685800" y="3131896"/>
            <a:ext cx="73152" cy="73152"/>
          </a:xfrm>
          <a:prstGeom prst="ellipse">
            <a:avLst/>
          </a:prstGeom>
          <a:solidFill>
            <a:srgbClr val="86868B"/>
          </a:solidFill>
          <a:ln/>
        </p:spPr>
      </p:sp>
      <p:sp>
        <p:nvSpPr>
          <p:cNvPr id="8" name="Text 6"/>
          <p:cNvSpPr txBox="1"/>
          <p:nvPr/>
        </p:nvSpPr>
        <p:spPr>
          <a:xfrm>
            <a:off x="914400" y="3034284"/>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4-second averaging window smooths very short dips</a:t>
            </a:r>
            <a:endParaRPr lang="en-US" sz="1500" dirty="0"/>
          </a:p>
        </p:txBody>
      </p:sp>
      <p:sp>
        <p:nvSpPr>
          <p:cNvPr id="9" name="Shape 7"/>
          <p:cNvSpPr/>
          <p:nvPr/>
        </p:nvSpPr>
        <p:spPr>
          <a:xfrm>
            <a:off x="685800" y="3743020"/>
            <a:ext cx="73152" cy="73152"/>
          </a:xfrm>
          <a:prstGeom prst="ellipse">
            <a:avLst/>
          </a:prstGeom>
          <a:solidFill>
            <a:srgbClr val="86868B"/>
          </a:solidFill>
          <a:ln/>
        </p:spPr>
      </p:sp>
      <p:sp>
        <p:nvSpPr>
          <p:cNvPr id="10" name="Text 8"/>
          <p:cNvSpPr txBox="1"/>
          <p:nvPr/>
        </p:nvSpPr>
        <p:spPr>
          <a:xfrm>
            <a:off x="914400" y="3645408"/>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reference oximeter itself is only ±2 %</a:t>
            </a:r>
            <a:endParaRPr lang="en-US" sz="1500" dirty="0"/>
          </a:p>
        </p:txBody>
      </p:sp>
      <p:sp>
        <p:nvSpPr>
          <p:cNvPr id="11" name="Shape 9"/>
          <p:cNvSpPr/>
          <p:nvPr/>
        </p:nvSpPr>
        <p:spPr>
          <a:xfrm>
            <a:off x="685800" y="4121734"/>
            <a:ext cx="73152" cy="73152"/>
          </a:xfrm>
          <a:prstGeom prst="ellipse">
            <a:avLst/>
          </a:prstGeom>
          <a:solidFill>
            <a:srgbClr val="86868B"/>
          </a:solidFill>
          <a:ln/>
        </p:spPr>
      </p:sp>
      <p:sp>
        <p:nvSpPr>
          <p:cNvPr id="12" name="Text 10"/>
          <p:cNvSpPr txBox="1"/>
          <p:nvPr/>
        </p:nvSpPr>
        <p:spPr>
          <a:xfrm>
            <a:off x="914400" y="4024122"/>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Arm angle only approximates body position</a:t>
            </a:r>
            <a:endParaRPr lang="en-US" sz="1500" dirty="0"/>
          </a:p>
        </p:txBody>
      </p:sp>
      <p:sp>
        <p:nvSpPr>
          <p:cNvPr id="13" name="Text 11"/>
          <p:cNvSpPr txBox="1"/>
          <p:nvPr/>
        </p:nvSpPr>
        <p:spPr>
          <a:xfrm>
            <a:off x="6190488" y="192024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Method</a:t>
            </a:r>
            <a:endParaRPr lang="en-US" sz="1900" dirty="0"/>
          </a:p>
        </p:txBody>
      </p:sp>
      <p:sp>
        <p:nvSpPr>
          <p:cNvPr id="14" name="Shape 12"/>
          <p:cNvSpPr/>
          <p:nvPr/>
        </p:nvSpPr>
        <p:spPr>
          <a:xfrm>
            <a:off x="6190488" y="2520772"/>
            <a:ext cx="73152" cy="73152"/>
          </a:xfrm>
          <a:prstGeom prst="ellipse">
            <a:avLst/>
          </a:prstGeom>
          <a:solidFill>
            <a:srgbClr val="86868B"/>
          </a:solidFill>
          <a:ln/>
        </p:spPr>
      </p:sp>
      <p:sp>
        <p:nvSpPr>
          <p:cNvPr id="15" name="Text 13"/>
          <p:cNvSpPr txBox="1"/>
          <p:nvPr/>
        </p:nvSpPr>
        <p:spPr>
          <a:xfrm>
            <a:off x="6419088" y="2423160"/>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Awake breath-holds aren’t the same as real obstructive apnea</a:t>
            </a:r>
            <a:endParaRPr lang="en-US" sz="1500" dirty="0"/>
          </a:p>
        </p:txBody>
      </p:sp>
      <p:sp>
        <p:nvSpPr>
          <p:cNvPr id="16" name="Shape 14"/>
          <p:cNvSpPr/>
          <p:nvPr/>
        </p:nvSpPr>
        <p:spPr>
          <a:xfrm>
            <a:off x="6190488" y="3131896"/>
            <a:ext cx="73152" cy="73152"/>
          </a:xfrm>
          <a:prstGeom prst="ellipse">
            <a:avLst/>
          </a:prstGeom>
          <a:solidFill>
            <a:srgbClr val="86868B"/>
          </a:solidFill>
          <a:ln/>
        </p:spPr>
      </p:sp>
      <p:sp>
        <p:nvSpPr>
          <p:cNvPr id="17" name="Text 15"/>
          <p:cNvSpPr txBox="1"/>
          <p:nvPr/>
        </p:nvSpPr>
        <p:spPr>
          <a:xfrm>
            <a:off x="6419088" y="3034284"/>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Oxygen only: no airflow or brain-wave sensors like a lab study</a:t>
            </a:r>
            <a:endParaRPr lang="en-US" sz="1500" dirty="0"/>
          </a:p>
        </p:txBody>
      </p:sp>
      <p:sp>
        <p:nvSpPr>
          <p:cNvPr id="18" name="Shape 16"/>
          <p:cNvSpPr/>
          <p:nvPr/>
        </p:nvSpPr>
        <p:spPr>
          <a:xfrm>
            <a:off x="6190488" y="3743020"/>
            <a:ext cx="73152" cy="73152"/>
          </a:xfrm>
          <a:prstGeom prst="ellipse">
            <a:avLst/>
          </a:prstGeom>
          <a:solidFill>
            <a:srgbClr val="86868B"/>
          </a:solidFill>
          <a:ln/>
        </p:spPr>
      </p:sp>
      <p:sp>
        <p:nvSpPr>
          <p:cNvPr id="19" name="Text 17"/>
          <p:cNvSpPr txBox="1"/>
          <p:nvPr/>
        </p:nvSpPr>
        <p:spPr>
          <a:xfrm>
            <a:off x="6419088" y="3645408"/>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One person, few nights: can’t generalize yet</a:t>
            </a:r>
            <a:endParaRPr lang="en-US" sz="1500" dirty="0"/>
          </a:p>
        </p:txBody>
      </p:sp>
      <p:sp>
        <p:nvSpPr>
          <p:cNvPr id="20" name="Shape 18"/>
          <p:cNvSpPr/>
          <p:nvPr/>
        </p:nvSpPr>
        <p:spPr>
          <a:xfrm>
            <a:off x="6190488" y="4121734"/>
            <a:ext cx="73152" cy="73152"/>
          </a:xfrm>
          <a:prstGeom prst="ellipse">
            <a:avLst/>
          </a:prstGeom>
          <a:solidFill>
            <a:srgbClr val="86868B"/>
          </a:solidFill>
          <a:ln/>
        </p:spPr>
      </p:sp>
      <p:sp>
        <p:nvSpPr>
          <p:cNvPr id="21" name="Text 19"/>
          <p:cNvSpPr txBox="1"/>
          <p:nvPr/>
        </p:nvSpPr>
        <p:spPr>
          <a:xfrm>
            <a:off x="6419088" y="4024122"/>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Results so far use simulated example data</a:t>
            </a:r>
            <a:endParaRPr lang="en-US" sz="1500" dirty="0"/>
          </a:p>
        </p:txBody>
      </p:sp>
      <p:sp>
        <p:nvSpPr>
          <p:cNvPr id="22" name="Shape 20"/>
          <p:cNvSpPr/>
          <p:nvPr/>
        </p:nvSpPr>
        <p:spPr>
          <a:xfrm>
            <a:off x="685800" y="4846320"/>
            <a:ext cx="10817352" cy="1325880"/>
          </a:xfrm>
          <a:prstGeom prst="roundRect">
            <a:avLst>
              <a:gd name="adj" fmla="val 15172"/>
            </a:avLst>
          </a:prstGeom>
          <a:solidFill>
            <a:srgbClr val="1C1C1E"/>
          </a:solidFill>
          <a:ln/>
        </p:spPr>
      </p:sp>
      <p:sp>
        <p:nvSpPr>
          <p:cNvPr id="23" name="Text 21"/>
          <p:cNvSpPr txBox="1"/>
          <p:nvPr/>
        </p:nvSpPr>
        <p:spPr>
          <a:xfrm>
            <a:off x="1005840" y="5074920"/>
            <a:ext cx="10195560" cy="960120"/>
          </a:xfrm>
          <a:prstGeom prst="rect">
            <a:avLst/>
          </a:prstGeom>
          <a:noFill/>
          <a:ln/>
        </p:spPr>
        <p:txBody>
          <a:bodyPr wrap="square" lIns="0" tIns="0" rIns="0" bIns="0" rtlCol="0" anchor="t"/>
          <a:lstStyle/>
          <a:p>
            <a:pPr indent="0" marL="0">
              <a:lnSpc>
                <a:spcPct val="105000"/>
              </a:lnSpc>
              <a:buNone/>
            </a:pPr>
            <a:r>
              <a:rPr lang="en-US" sz="1550" b="1" dirty="0">
                <a:solidFill>
                  <a:srgbClr val="FF9F0A"/>
                </a:solidFill>
                <a:latin typeface="Helvetica Neue" pitchFamily="34" charset="0"/>
                <a:ea typeface="Helvetica Neue" pitchFamily="34" charset="-122"/>
                <a:cs typeface="Helvetica Neue" pitchFamily="34" charset="-120"/>
              </a:rPr>
              <a:t>Engineering finding.  </a:t>
            </a:r>
            <a:pPr indent="0" marL="0">
              <a:lnSpc>
                <a:spcPct val="105000"/>
              </a:lnSpc>
              <a:buNone/>
            </a:pPr>
            <a:r>
              <a:rPr lang="en-US" sz="1550" dirty="0">
                <a:solidFill>
                  <a:srgbClr val="FFFFFF"/>
                </a:solidFill>
                <a:latin typeface="Helvetica Neue" pitchFamily="34" charset="0"/>
                <a:ea typeface="Helvetica Neue" pitchFamily="34" charset="-122"/>
                <a:cs typeface="Helvetica Neue" pitchFamily="34" charset="-120"/>
              </a:rPr>
              <a:t>Bluetooth draws about 100 mA, so a 500 mAh battery would last only 4–5 hours: not a full night. So prototype v1 runs on USB power, and the sealed v2 case needs a bigger battery or Bluetooth Low Energy.</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Further considerations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Same sensor. Two more uses.</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heart.png">    </p:cNvPr>
          <p:cNvPicPr>
            <a:picLocks noChangeAspect="1"/>
          </p:cNvPicPr>
          <p:nvPr/>
        </p:nvPicPr>
        <p:blipFill>
          <a:blip r:embed="rId1"/>
          <a:stretch>
            <a:fillRect/>
          </a:stretch>
        </p:blipFill>
        <p:spPr>
          <a:xfrm>
            <a:off x="685800" y="1920240"/>
            <a:ext cx="5312664" cy="2302154"/>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90488" y="1920240"/>
            <a:ext cx="5312664" cy="2302154"/>
          </a:xfrm>
          <a:prstGeom prst="rect">
            <a:avLst/>
          </a:prstGeom>
        </p:spPr>
      </p:pic>
      <p:sp>
        <p:nvSpPr>
          <p:cNvPr id="8" name="Text 4"/>
          <p:cNvSpPr txBox="1"/>
          <p:nvPr/>
        </p:nvSpPr>
        <p:spPr>
          <a:xfrm>
            <a:off x="685800" y="4405274"/>
            <a:ext cx="5312664" cy="914400"/>
          </a:xfrm>
          <a:prstGeom prst="rect">
            <a:avLst/>
          </a:prstGeom>
          <a:noFill/>
          <a:ln/>
        </p:spPr>
        <p:txBody>
          <a:bodyPr wrap="square" lIns="0" tIns="0" rIns="0" bIns="0" rtlCol="0" anchor="t"/>
          <a:lstStyle/>
          <a:p>
            <a:pPr indent="0" marL="0">
              <a:buNone/>
            </a:pPr>
            <a:r>
              <a:rPr lang="en-US" sz="1450" b="1" dirty="0">
                <a:solidFill>
                  <a:srgbClr val="E3254B"/>
                </a:solidFill>
                <a:latin typeface="Helvetica Neue" pitchFamily="34" charset="0"/>
                <a:ea typeface="Helvetica Neue" pitchFamily="34" charset="-122"/>
                <a:cs typeface="Helvetica Neue" pitchFamily="34" charset="-120"/>
              </a:rPr>
              <a:t>Heart.  </a:t>
            </a:r>
            <a:pPr indent="0" marL="0">
              <a:buNone/>
            </a:pPr>
            <a:r>
              <a:rPr lang="en-US" sz="1450" dirty="0">
                <a:solidFill>
                  <a:srgbClr val="6E6E73"/>
                </a:solidFill>
                <a:latin typeface="Helvetica Neue" pitchFamily="34" charset="0"/>
                <a:ea typeface="Helvetica Neue" pitchFamily="34" charset="-122"/>
                <a:cs typeface="Helvetica Neue" pitchFamily="34" charset="-120"/>
              </a:rPr>
              <a:t>Flags racing (&gt;100 bpm), very slow (&lt;40 bpm) and irregular-rhythm episodes, plus resting heart rate and HRV.</a:t>
            </a:r>
            <a:endParaRPr lang="en-US" sz="1450" dirty="0"/>
          </a:p>
        </p:txBody>
      </p:sp>
      <p:sp>
        <p:nvSpPr>
          <p:cNvPr id="9" name="Text 5"/>
          <p:cNvSpPr txBox="1"/>
          <p:nvPr/>
        </p:nvSpPr>
        <p:spPr>
          <a:xfrm>
            <a:off x="6190488" y="4405274"/>
            <a:ext cx="5312664" cy="914400"/>
          </a:xfrm>
          <a:prstGeom prst="rect">
            <a:avLst/>
          </a:prstGeom>
          <a:noFill/>
          <a:ln/>
        </p:spPr>
        <p:txBody>
          <a:bodyPr wrap="square" lIns="0" tIns="0" rIns="0" bIns="0" rtlCol="0" anchor="t"/>
          <a:lstStyle/>
          <a:p>
            <a:pPr indent="0" marL="0">
              <a:buNone/>
            </a:pPr>
            <a:r>
              <a:rPr lang="en-US" sz="1450" b="1" dirty="0">
                <a:solidFill>
                  <a:srgbClr val="0071E3"/>
                </a:solidFill>
                <a:latin typeface="Helvetica Neue" pitchFamily="34" charset="0"/>
                <a:ea typeface="Helvetica Neue" pitchFamily="34" charset="-122"/>
                <a:cs typeface="Helvetica Neue" pitchFamily="34" charset="-120"/>
              </a:rPr>
              <a:t>Asthma.  </a:t>
            </a:r>
            <a:pPr indent="0" marL="0">
              <a:buNone/>
            </a:pPr>
            <a:r>
              <a:rPr lang="en-US" sz="1450" dirty="0">
                <a:solidFill>
                  <a:srgbClr val="6E6E73"/>
                </a:solidFill>
                <a:latin typeface="Helvetica Neue" pitchFamily="34" charset="0"/>
                <a:ea typeface="Helvetica Neue" pitchFamily="34" charset="-122"/>
                <a:cs typeface="Helvetica Neue" pitchFamily="34" charset="-120"/>
              </a:rPr>
              <a:t>Tracks breathing rate from the heart’s rhythm and coughs from the motion sensor, catching early-morning worsening (13 → 22 breaths/min).</a:t>
            </a:r>
            <a:endParaRPr lang="en-US" sz="1450" dirty="0"/>
          </a:p>
        </p:txBody>
      </p:sp>
      <p:sp>
        <p:nvSpPr>
          <p:cNvPr id="10" name="Text 6"/>
          <p:cNvSpPr txBox="1"/>
          <p:nvPr/>
        </p:nvSpPr>
        <p:spPr>
          <a:xfrm>
            <a:off x="685800" y="6172200"/>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Screening ideas only.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Helvetica Neue" pitchFamily="34" charset="0"/>
                <a:ea typeface="Helvetica Neue" pitchFamily="34" charset="-122"/>
                <a:cs typeface="Helvetica Neue" pitchFamily="34" charset="-120"/>
              </a:rPr>
              <a:t>Supported. So far.</a:t>
            </a:r>
            <a:endParaRPr lang="en-US" sz="5400" dirty="0"/>
          </a:p>
        </p:txBody>
      </p:sp>
      <p:sp>
        <p:nvSpPr>
          <p:cNvPr id="4" name="Text 2"/>
          <p:cNvSpPr txBox="1"/>
          <p:nvPr/>
        </p:nvSpPr>
        <p:spPr>
          <a:xfrm>
            <a:off x="685800" y="1965960"/>
            <a:ext cx="10789920" cy="1005840"/>
          </a:xfrm>
          <a:prstGeom prst="rect">
            <a:avLst/>
          </a:prstGeom>
          <a:noFill/>
          <a:ln/>
        </p:spPr>
        <p:txBody>
          <a:bodyPr wrap="square" lIns="0" tIns="0" rIns="0" bIns="0" rtlCol="0" anchor="t"/>
          <a:lstStyle/>
          <a:p>
            <a:pPr indent="0" marL="0">
              <a:lnSpc>
                <a:spcPct val="108000"/>
              </a:lnSpc>
              <a:buNone/>
            </a:pPr>
            <a:r>
              <a:rPr lang="en-US" sz="1900" dirty="0">
                <a:solidFill>
                  <a:srgbClr val="A1A1A6"/>
                </a:solidFill>
                <a:latin typeface="Helvetica Neue" pitchFamily="34" charset="0"/>
                <a:ea typeface="Helvetica Neue" pitchFamily="34" charset="-122"/>
                <a:cs typeface="Helvetica Neue" pitchFamily="34" charset="-120"/>
              </a:rPr>
              <a:t>A low-cost wearable measured blood oxygen within about half a percent of a reference, found apnea events on its own, scored the night’s severity, and showed back-sleeping triples events.</a:t>
            </a:r>
            <a:endParaRPr lang="en-US" sz="1900" dirty="0"/>
          </a:p>
        </p:txBody>
      </p:sp>
      <p:sp>
        <p:nvSpPr>
          <p:cNvPr id="5" name="Text 3"/>
          <p:cNvSpPr txBox="1"/>
          <p:nvPr/>
        </p:nvSpPr>
        <p:spPr>
          <a:xfrm>
            <a:off x="685800" y="3246120"/>
            <a:ext cx="5486400" cy="365760"/>
          </a:xfrm>
          <a:prstGeom prst="rect">
            <a:avLst/>
          </a:prstGeom>
          <a:noFill/>
          <a:ln/>
        </p:spPr>
        <p:txBody>
          <a:bodyPr wrap="square" lIns="0" tIns="0" rIns="0" bIns="0" rtlCol="0" anchor="t"/>
          <a:lstStyle/>
          <a:p>
            <a:pPr indent="0" marL="0">
              <a:buNone/>
            </a:pPr>
            <a:r>
              <a:rPr lang="en-US" sz="1900" b="1" dirty="0">
                <a:solidFill>
                  <a:srgbClr val="FFFFFF"/>
                </a:solidFill>
                <a:latin typeface="Helvetica Neue" pitchFamily="34" charset="0"/>
                <a:ea typeface="Helvetica Neue" pitchFamily="34" charset="-122"/>
                <a:cs typeface="Helvetica Neue" pitchFamily="34" charset="-120"/>
              </a:rPr>
              <a:t>Next</a:t>
            </a:r>
            <a:endParaRPr lang="en-US" sz="1900" dirty="0"/>
          </a:p>
        </p:txBody>
      </p:sp>
      <p:sp>
        <p:nvSpPr>
          <p:cNvPr id="6" name="Shape 4"/>
          <p:cNvSpPr/>
          <p:nvPr/>
        </p:nvSpPr>
        <p:spPr>
          <a:xfrm>
            <a:off x="685800" y="3804186"/>
            <a:ext cx="73152" cy="73152"/>
          </a:xfrm>
          <a:prstGeom prst="ellipse">
            <a:avLst/>
          </a:prstGeom>
          <a:solidFill>
            <a:srgbClr val="86868B"/>
          </a:solidFill>
          <a:ln/>
        </p:spPr>
      </p:sp>
      <p:sp>
        <p:nvSpPr>
          <p:cNvPr id="7" name="Text 5"/>
          <p:cNvSpPr txBox="1"/>
          <p:nvPr/>
        </p:nvSpPr>
        <p:spPr>
          <a:xfrm>
            <a:off x="914400" y="3703320"/>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Record more people and many more nights</a:t>
            </a:r>
            <a:endParaRPr lang="en-US" sz="1550" dirty="0"/>
          </a:p>
        </p:txBody>
      </p:sp>
      <p:sp>
        <p:nvSpPr>
          <p:cNvPr id="8" name="Shape 6"/>
          <p:cNvSpPr/>
          <p:nvPr/>
        </p:nvSpPr>
        <p:spPr>
          <a:xfrm>
            <a:off x="685800" y="4172359"/>
            <a:ext cx="73152" cy="73152"/>
          </a:xfrm>
          <a:prstGeom prst="ellipse">
            <a:avLst/>
          </a:prstGeom>
          <a:solidFill>
            <a:srgbClr val="86868B"/>
          </a:solidFill>
          <a:ln/>
        </p:spPr>
      </p:sp>
      <p:sp>
        <p:nvSpPr>
          <p:cNvPr id="9" name="Text 7"/>
          <p:cNvSpPr txBox="1"/>
          <p:nvPr/>
        </p:nvSpPr>
        <p:spPr>
          <a:xfrm>
            <a:off x="914400" y="4071493"/>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Add a nasal airflow sensor to separate apnea from hypopnea</a:t>
            </a:r>
            <a:endParaRPr lang="en-US" sz="1550" dirty="0"/>
          </a:p>
        </p:txBody>
      </p:sp>
      <p:sp>
        <p:nvSpPr>
          <p:cNvPr id="10" name="Shape 8"/>
          <p:cNvSpPr/>
          <p:nvPr/>
        </p:nvSpPr>
        <p:spPr>
          <a:xfrm>
            <a:off x="685800" y="4540532"/>
            <a:ext cx="73152" cy="73152"/>
          </a:xfrm>
          <a:prstGeom prst="ellipse">
            <a:avLst/>
          </a:prstGeom>
          <a:solidFill>
            <a:srgbClr val="86868B"/>
          </a:solidFill>
          <a:ln/>
        </p:spPr>
      </p:sp>
      <p:sp>
        <p:nvSpPr>
          <p:cNvPr id="11" name="Text 9"/>
          <p:cNvSpPr txBox="1"/>
          <p:nvPr/>
        </p:nvSpPr>
        <p:spPr>
          <a:xfrm>
            <a:off x="914400" y="4439666"/>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Bigger battery or Bluetooth Low Energy for full nights</a:t>
            </a:r>
            <a:endParaRPr lang="en-US" sz="1550" dirty="0"/>
          </a:p>
        </p:txBody>
      </p:sp>
      <p:sp>
        <p:nvSpPr>
          <p:cNvPr id="12" name="Shape 10"/>
          <p:cNvSpPr/>
          <p:nvPr/>
        </p:nvSpPr>
        <p:spPr>
          <a:xfrm>
            <a:off x="685800" y="4908705"/>
            <a:ext cx="73152" cy="73152"/>
          </a:xfrm>
          <a:prstGeom prst="ellipse">
            <a:avLst/>
          </a:prstGeom>
          <a:solidFill>
            <a:srgbClr val="86868B"/>
          </a:solidFill>
          <a:ln/>
        </p:spPr>
      </p:sp>
      <p:sp>
        <p:nvSpPr>
          <p:cNvPr id="13" name="Text 11"/>
          <p:cNvSpPr txBox="1"/>
          <p:nvPr/>
        </p:nvSpPr>
        <p:spPr>
          <a:xfrm>
            <a:off x="914400" y="4807839"/>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Shrink it into a finger ring and compare with a real sleep lab</a:t>
            </a:r>
            <a:endParaRPr lang="en-US" sz="1550" dirty="0"/>
          </a:p>
        </p:txBody>
      </p:sp>
      <p:sp>
        <p:nvSpPr>
          <p:cNvPr id="14" name="Shape 12"/>
          <p:cNvSpPr/>
          <p:nvPr/>
        </p:nvSpPr>
        <p:spPr>
          <a:xfrm>
            <a:off x="8110728" y="3355848"/>
            <a:ext cx="1472184" cy="1472184"/>
          </a:xfrm>
          <a:prstGeom prst="roundRect">
            <a:avLst>
              <a:gd name="adj" fmla="val 13665"/>
            </a:avLst>
          </a:prstGeom>
          <a:solidFill>
            <a:srgbClr val="FFFFFF"/>
          </a:solidFill>
          <a:ln/>
        </p:spPr>
      </p:sp>
      <p:pic>
        <p:nvPicPr>
          <p:cNvPr id="15" name="Image 0" descr="/home/user/teetomivV2/science-fair/night-signal/slides/assets/qr_app.png">
            <a:hlinkClick r:id="rId2" tooltip="https://claude.ai/artifact/KCkbwVKfmBhQoC9cxCn7qZ"/>
          </p:cNvPr>
          <p:cNvPicPr>
            <a:picLocks noChangeAspect="1"/>
          </p:cNvPicPr>
          <p:nvPr/>
        </p:nvPicPr>
        <p:blipFill>
          <a:blip r:embed="rId1"/>
          <a:stretch>
            <a:fillRect/>
          </a:stretch>
        </p:blipFill>
        <p:spPr>
          <a:xfrm>
            <a:off x="8183880" y="3429000"/>
            <a:ext cx="1325880" cy="1325880"/>
          </a:xfrm>
          <a:prstGeom prst="rect">
            <a:avLst/>
          </a:prstGeom>
        </p:spPr>
      </p:pic>
      <p:sp>
        <p:nvSpPr>
          <p:cNvPr id="16" name="Shape 13"/>
          <p:cNvSpPr/>
          <p:nvPr/>
        </p:nvSpPr>
        <p:spPr>
          <a:xfrm>
            <a:off x="9966960" y="3355848"/>
            <a:ext cx="1472184" cy="1472184"/>
          </a:xfrm>
          <a:prstGeom prst="roundRect">
            <a:avLst>
              <a:gd name="adj" fmla="val 13665"/>
            </a:avLst>
          </a:prstGeom>
          <a:solidFill>
            <a:srgbClr val="FFFFFF"/>
          </a:solidFill>
          <a:ln/>
        </p:spPr>
      </p:sp>
      <p:pic>
        <p:nvPicPr>
          <p:cNvPr id="17" name="Image 1" descr="/home/user/teetomivV2/science-fair/night-signal/slides/assets/qr_3d.png">
            <a:hlinkClick r:id="rId4" tooltip="https://claude.ai/artifact/7wqAASJ8qWxBBKBuVHAqLt"/>
          </p:cNvPr>
          <p:cNvPicPr>
            <a:picLocks noChangeAspect="1"/>
          </p:cNvPicPr>
          <p:nvPr/>
        </p:nvPicPr>
        <p:blipFill>
          <a:blip r:embed="rId3"/>
          <a:stretch>
            <a:fillRect/>
          </a:stretch>
        </p:blipFill>
        <p:spPr>
          <a:xfrm>
            <a:off x="10040112" y="3429000"/>
            <a:ext cx="1325880" cy="1325880"/>
          </a:xfrm>
          <a:prstGeom prst="rect">
            <a:avLst/>
          </a:prstGeom>
        </p:spPr>
      </p:pic>
      <p:sp>
        <p:nvSpPr>
          <p:cNvPr id="18" name="Text 14"/>
          <p:cNvSpPr txBox="1"/>
          <p:nvPr/>
        </p:nvSpPr>
        <p:spPr>
          <a:xfrm>
            <a:off x="8183880"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App</a:t>
            </a:r>
            <a:endParaRPr lang="en-US" sz="1300" dirty="0"/>
          </a:p>
        </p:txBody>
      </p:sp>
      <p:sp>
        <p:nvSpPr>
          <p:cNvPr id="19" name="Text 15"/>
          <p:cNvSpPr txBox="1"/>
          <p:nvPr/>
        </p:nvSpPr>
        <p:spPr>
          <a:xfrm>
            <a:off x="10040112"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3D model</a:t>
            </a:r>
            <a:endParaRPr lang="en-US" sz="1300" dirty="0"/>
          </a:p>
        </p:txBody>
      </p:sp>
      <p:sp>
        <p:nvSpPr>
          <p:cNvPr id="20" name="Text 16"/>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Helvetica Neue" pitchFamily="34" charset="0"/>
                <a:ea typeface="Helvetica Neue" pitchFamily="34" charset="-122"/>
                <a:cs typeface="Helvetica Neue" pitchFamily="34" charset="-120"/>
              </a:rPr>
              <a:t>Thank you. Questions?</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4023360"/>
                <a:gridCol w="3017520"/>
                <a:gridCol w="2587752"/>
                <a:gridCol w="1188720"/>
              </a:tblGrid>
              <a:tr h="393192">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Part</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Size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Purpose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Buy</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AITRIP ESP32 ESP-WROOM-32 (30-pin, CP2102, USB-C)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52 × 28 mm · pins pre-soldered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Processor + Bluetooth Classic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HiLetgo MAX30102 sensor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14 × 14 mm · 4 pins to solder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SpO₂ + heart rate (finger clip)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SHILLEHTEK GY-521 MPU-6050, pre-soldered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21 × 16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Sleep position + cough jolts</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ELEGOO 120 Dupont jumper wires (F-F, M-F,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20 cm each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Plug-in wiring, no soldering</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Running armband phone pouch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fits phones up to 6.9 in</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Holds the ESP32 on the forearm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Powerline+ USB-A to USB-C cable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3 m (10 ft)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All-night power from a phone charger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USB-C to USB-A adapter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USB-C → USB-A</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 the cable into a MacBook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VELCRO Brand 1 in × 30 ft roll</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25 mm wide · cut ≈ 80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Finger loop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Elite Medica fingertip pulse oximeter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Health Canada authorized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Reference for the accuracy test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5897880"/>
            <a:ext cx="10789920" cy="457200"/>
          </a:xfrm>
          <a:prstGeom prst="rect">
            <a:avLst/>
          </a:prstGeom>
          <a:noFill/>
          <a:ln/>
        </p:spPr>
        <p:txBody>
          <a:bodyPr wrap="square" lIns="0" tIns="0" rIns="0" bIns="0" rtlCol="0" anchor="t"/>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B · Full protocol</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Full experimental protocol.</a:t>
            </a:r>
            <a:endParaRPr lang="en-US" sz="3000" dirty="0"/>
          </a:p>
        </p:txBody>
      </p:sp>
      <p:sp>
        <p:nvSpPr>
          <p:cNvPr id="6" name="Text 4"/>
          <p:cNvSpPr txBox="1"/>
          <p:nvPr/>
        </p:nvSpPr>
        <p:spPr>
          <a:xfrm>
            <a:off x="685800" y="164592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1</a:t>
            </a:r>
            <a:endParaRPr lang="en-US" sz="1400" dirty="0"/>
          </a:p>
        </p:txBody>
      </p:sp>
      <p:sp>
        <p:nvSpPr>
          <p:cNvPr id="7" name="Text 5"/>
          <p:cNvSpPr txBox="1"/>
          <p:nvPr/>
        </p:nvSpPr>
        <p:spPr>
          <a:xfrm>
            <a:off x="1097280" y="164592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Build: plug the MAX30102 into 3V3 / GND / GPIO 21 / 22 and the GY-521 into VIN / GND / SDA→GPIO 33 / SCL→GPIO 32 (two separate I²C buses, no splices); ESP32 in the armband, USB power. Flash firmware v3.1.</a:t>
            </a:r>
            <a:endParaRPr lang="en-US" sz="1250" dirty="0"/>
          </a:p>
        </p:txBody>
      </p:sp>
      <p:sp>
        <p:nvSpPr>
          <p:cNvPr id="8" name="Text 6"/>
          <p:cNvSpPr txBox="1"/>
          <p:nvPr/>
        </p:nvSpPr>
        <p:spPr>
          <a:xfrm>
            <a:off x="685800" y="221284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2</a:t>
            </a:r>
            <a:endParaRPr lang="en-US" sz="1400" dirty="0"/>
          </a:p>
        </p:txBody>
      </p:sp>
      <p:sp>
        <p:nvSpPr>
          <p:cNvPr id="9" name="Text 7"/>
          <p:cNvSpPr txBox="1"/>
          <p:nvPr/>
        </p:nvSpPr>
        <p:spPr>
          <a:xfrm>
            <a:off x="1097280" y="221284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Device check: run check_device.py; record the result. Do not continue unless it says READY.</a:t>
            </a:r>
            <a:endParaRPr lang="en-US" sz="1250" dirty="0"/>
          </a:p>
        </p:txBody>
      </p:sp>
      <p:sp>
        <p:nvSpPr>
          <p:cNvPr id="10" name="Text 8"/>
          <p:cNvSpPr txBox="1"/>
          <p:nvPr/>
        </p:nvSpPr>
        <p:spPr>
          <a:xfrm>
            <a:off x="685800" y="277977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3</a:t>
            </a:r>
            <a:endParaRPr lang="en-US" sz="1400" dirty="0"/>
          </a:p>
        </p:txBody>
      </p:sp>
      <p:sp>
        <p:nvSpPr>
          <p:cNvPr id="11" name="Text 9"/>
          <p:cNvSpPr txBox="1"/>
          <p:nvPr/>
        </p:nvSpPr>
        <p:spPr>
          <a:xfrm>
            <a:off x="1097280" y="277977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Full-night power test: on USB power, stream with a finger on the sensor for 8 h; confirm there are no gaps in the data.</a:t>
            </a:r>
            <a:endParaRPr lang="en-US" sz="1250" dirty="0"/>
          </a:p>
        </p:txBody>
      </p:sp>
      <p:sp>
        <p:nvSpPr>
          <p:cNvPr id="12" name="Text 10"/>
          <p:cNvSpPr txBox="1"/>
          <p:nvPr/>
        </p:nvSpPr>
        <p:spPr>
          <a:xfrm>
            <a:off x="685800" y="334670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4</a:t>
            </a:r>
            <a:endParaRPr lang="en-US" sz="1400" dirty="0"/>
          </a:p>
        </p:txBody>
      </p:sp>
      <p:sp>
        <p:nvSpPr>
          <p:cNvPr id="13" name="Text 11"/>
          <p:cNvSpPr txBox="1"/>
          <p:nvPr/>
        </p:nvSpPr>
        <p:spPr>
          <a:xfrm>
            <a:off x="1097280" y="3346704"/>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85800" y="39136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5</a:t>
            </a:r>
            <a:endParaRPr lang="en-US" sz="1400" dirty="0"/>
          </a:p>
        </p:txBody>
      </p:sp>
      <p:sp>
        <p:nvSpPr>
          <p:cNvPr id="15" name="Text 13"/>
          <p:cNvSpPr txBox="1"/>
          <p:nvPr/>
        </p:nvSpPr>
        <p:spPr>
          <a:xfrm>
            <a:off x="1097280" y="3913632"/>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Detection test: supervised, awake, seated; 5 breath-holds each of 10, 15 and 20 s after a normal breath out, 2 min apart; log start/end times as ground-truth labels. Score with train_model.py.</a:t>
            </a:r>
            <a:endParaRPr lang="en-US" sz="1250" dirty="0"/>
          </a:p>
        </p:txBody>
      </p:sp>
      <p:sp>
        <p:nvSpPr>
          <p:cNvPr id="16" name="Text 14"/>
          <p:cNvSpPr txBox="1"/>
          <p:nvPr/>
        </p:nvSpPr>
        <p:spPr>
          <a:xfrm>
            <a:off x="685800" y="448056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6</a:t>
            </a:r>
            <a:endParaRPr lang="en-US" sz="1400" dirty="0"/>
          </a:p>
        </p:txBody>
      </p:sp>
      <p:sp>
        <p:nvSpPr>
          <p:cNvPr id="17" name="Text 15"/>
          <p:cNvSpPr txBox="1"/>
          <p:nvPr/>
        </p:nvSpPr>
        <p:spPr>
          <a:xfrm>
            <a:off x="1097280" y="448056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Recorded nights: at least 5 nights; armband on the forearm, finger clip on the index finger; record.py logs all night; note bedtime and wake time.</a:t>
            </a:r>
            <a:endParaRPr lang="en-US" sz="1250" dirty="0"/>
          </a:p>
        </p:txBody>
      </p:sp>
      <p:sp>
        <p:nvSpPr>
          <p:cNvPr id="18" name="Text 16"/>
          <p:cNvSpPr txBox="1"/>
          <p:nvPr/>
        </p:nvSpPr>
        <p:spPr>
          <a:xfrm>
            <a:off x="685800" y="5047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7</a:t>
            </a:r>
            <a:endParaRPr lang="en-US" sz="1400" dirty="0"/>
          </a:p>
        </p:txBody>
      </p:sp>
      <p:sp>
        <p:nvSpPr>
          <p:cNvPr id="19" name="Text 17"/>
          <p:cNvSpPr txBox="1"/>
          <p:nvPr/>
        </p:nvSpPr>
        <p:spPr>
          <a:xfrm>
            <a:off x="1097280" y="504748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85800" y="561441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8</a:t>
            </a:r>
            <a:endParaRPr lang="en-US" sz="1400" dirty="0"/>
          </a:p>
        </p:txBody>
      </p:sp>
      <p:sp>
        <p:nvSpPr>
          <p:cNvPr id="21" name="Text 19"/>
          <p:cNvSpPr txBox="1"/>
          <p:nvPr/>
        </p:nvSpPr>
        <p:spPr>
          <a:xfrm>
            <a:off x="1097280" y="561441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Controls: same finger, cuff tightness, room temperature, firmware v3.1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From</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To (ESP32)</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Notes</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3V3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never 5 V</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21 / 22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0</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VCC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5 V from USB</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33 / 32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1, 100 kHz</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Power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USB-C port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3 m cable to charger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Status LED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blinks each reading</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D · Data and pictures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More data and pictures.</a:t>
            </a:r>
            <a:endParaRPr lang="en-US" sz="3000" dirty="0"/>
          </a:p>
        </p:txBody>
      </p:sp>
      <p:sp>
        <p:nvSpPr>
          <p:cNvPr id="6" name="Shape 4"/>
          <p:cNvSpPr/>
          <p:nvPr/>
        </p:nvSpPr>
        <p:spPr>
          <a:xfrm>
            <a:off x="786384" y="1609344"/>
            <a:ext cx="2221992" cy="4384900"/>
          </a:xfrm>
          <a:prstGeom prst="roundRect">
            <a:avLst>
              <a:gd name="adj" fmla="val 11523"/>
            </a:avLst>
          </a:prstGeom>
          <a:solidFill>
            <a:srgbClr val="1D1D1F"/>
          </a:solidFill>
          <a:ln/>
        </p:spPr>
      </p:sp>
      <p:pic>
        <p:nvPicPr>
          <p:cNvPr id="7" name="Image 0" descr="/home/user/teetomivV2/science-fair/night-signal/slides/assets/phone_heart.png">    </p:cNvPr>
          <p:cNvPicPr>
            <a:picLocks noChangeAspect="1"/>
          </p:cNvPicPr>
          <p:nvPr/>
        </p:nvPicPr>
        <p:blipFill>
          <a:blip r:embed="rId1"/>
          <a:stretch>
            <a:fillRect/>
          </a:stretch>
        </p:blipFill>
        <p:spPr>
          <a:xfrm>
            <a:off x="868680" y="1691640"/>
            <a:ext cx="2057400" cy="4220308"/>
          </a:xfrm>
          <a:prstGeom prst="rect">
            <a:avLst/>
          </a:prstGeom>
        </p:spPr>
      </p:pic>
      <p:sp>
        <p:nvSpPr>
          <p:cNvPr id="8" name="Text 5"/>
          <p:cNvSpPr txBox="1"/>
          <p:nvPr/>
        </p:nvSpPr>
        <p:spPr>
          <a:xfrm>
            <a:off x="868680" y="6049108"/>
            <a:ext cx="205740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App · Heart tab</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83280" y="1645920"/>
          <a:ext cx="8119872" cy="914400"/>
        </p:xfrm>
        <a:graphic>
          <a:graphicData uri="http://schemas.openxmlformats.org/drawingml/2006/table">
            <a:tbl>
              <a:tblPr/>
              <a:tblGrid>
                <a:gridCol w="2743200"/>
                <a:gridCol w="5376672"/>
              </a:tblGrid>
              <a:tr h="420624">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Analysis</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Result (example data)</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Breathing rate (signals.py)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13.5 breaths/min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HRV (SDNN / RMSSD)</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69 / 50 ms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Lowest heart rate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46 bpm</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Heart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racing 3.3 min (106–118 bpm) · slow 2.5 min (34–39) · irregular 5.9 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Asthma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normal 13.4 → early morning 21.6 /min · 85 min fast · 24 cough-like jolts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ML model relies on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heart-rate swing and jitter, then oxygen swing</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Device check (simulated device)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healthy → READY · broken motion sensor → NOT READY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0" name="Text 6"/>
          <p:cNvSpPr txBox="1"/>
          <p:nvPr/>
        </p:nvSpPr>
        <p:spPr>
          <a:xfrm>
            <a:off x="3383280" y="544068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1" name="Text 7"/>
          <p:cNvSpPr txBox="1"/>
          <p:nvPr/>
        </p:nvSpPr>
        <p:spPr>
          <a:xfrm>
            <a:off x="3383280" y="580644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3" invalidUrl="" action="" tgtFrame="" tooltip="https://github.com/gabrielamamanestudent-wq/teetomivV2/blob/claude/science-fair-medical-project-7k0wk4/science-fair/night-signal/BUILD_GUIDE.md"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References.</a:t>
            </a:r>
            <a:endParaRPr lang="en-US" sz="3000" dirty="0"/>
          </a:p>
        </p:txBody>
      </p:sp>
      <p:sp>
        <p:nvSpPr>
          <p:cNvPr id="6" name="Text 4"/>
          <p:cNvSpPr txBox="1"/>
          <p:nvPr/>
        </p:nvSpPr>
        <p:spPr>
          <a:xfrm>
            <a:off x="685800" y="164592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American Academy of Sleep Medicine. (2014). International classification of sleep disorders (3rd ed.).</a:t>
            </a:r>
            <a:endParaRPr lang="en-US" sz="1300" dirty="0"/>
          </a:p>
        </p:txBody>
      </p:sp>
      <p:sp>
        <p:nvSpPr>
          <p:cNvPr id="7" name="Text 5"/>
          <p:cNvSpPr txBox="1"/>
          <p:nvPr/>
        </p:nvSpPr>
        <p:spPr>
          <a:xfrm>
            <a:off x="685800" y="221284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85800" y="277977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85800" y="3346704"/>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85800" y="3913632"/>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Global Initiative for Asthma. (2024). Global strategy for asthma management and prevention.</a:t>
            </a:r>
            <a:endParaRPr lang="en-US" sz="1300" dirty="0"/>
          </a:p>
        </p:txBody>
      </p:sp>
      <p:sp>
        <p:nvSpPr>
          <p:cNvPr id="11" name="Text 9"/>
          <p:cNvSpPr txBox="1"/>
          <p:nvPr/>
        </p:nvSpPr>
        <p:spPr>
          <a:xfrm>
            <a:off x="685800" y="448056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Jubran, A. (2015). Pulse oximetry. Critical Care, 19, 272.</a:t>
            </a:r>
            <a:endParaRPr lang="en-US" sz="1300" dirty="0"/>
          </a:p>
        </p:txBody>
      </p:sp>
      <p:sp>
        <p:nvSpPr>
          <p:cNvPr id="12" name="Text 10"/>
          <p:cNvSpPr txBox="1"/>
          <p:nvPr/>
        </p:nvSpPr>
        <p:spPr>
          <a:xfrm>
            <a:off x="685800" y="504748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Maxim Integrated. (2020). MAX30102 high-sensitivity pulse oximeter and heart-rate sensor [Datasheet].</a:t>
            </a:r>
            <a:endParaRPr lang="en-US" sz="1300" dirty="0"/>
          </a:p>
        </p:txBody>
      </p:sp>
      <p:sp>
        <p:nvSpPr>
          <p:cNvPr id="13" name="Text 11"/>
          <p:cNvSpPr txBox="1"/>
          <p:nvPr/>
        </p:nvSpPr>
        <p:spPr>
          <a:xfrm>
            <a:off x="685800" y="561441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2026-10-05T12:58:49Z</dcterms:created>
  <dcterms:modified xsi:type="dcterms:W3CDTF">2026-10-05T12:58:49Z</dcterms:modified>
</cp:coreProperties>
</file>