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A26"/>
                </a:solidFill>
                <a:latin typeface="Arial"/>
              </a:defRPr>
            </a:pPr>
            <a:r>
              <a:rPr sz="1400" b="0" i="0" u="none" strike="noStrike">
                <a:solidFill>
                  <a:srgbClr val="141A26"/>
                </a:solidFill>
                <a:latin typeface="Arial"/>
              </a:rPr>
              <a:t>Detector scores on unseen data</a:t>
            </a:r>
          </a:p>
        </c:rich>
      </c:tx>
      <c:layout/>
      <c:overlay val="0"/>
    </c:title>
    <c:autoTitleDeleted val="0"/>
    <c:plotArea>
      <c:layout/>
      <c:barChart>
        <c:barDir val="col"/>
        <c:grouping val="clustered"/>
        <c:varyColors val="0"/>
        <c:ser>
          <c:idx val="0"/>
          <c:order val="0"/>
          <c:tx>
            <c:strRef>
              <c:f>Sheet1!$B$1</c:f>
              <c:strCache>
                <c:ptCount val="1"/>
                <c:pt idx="0">
                  <c:v>Precision</c:v>
                </c:pt>
              </c:strCache>
            </c:strRef>
          </c:tx>
          <c:spPr>
            <a:solidFill>
              <a:srgbClr val="1F8A9C"/>
            </a:solidFill>
            <a:effectLst/>
          </c:spPr>
          <c:invertIfNegative val="0"/>
          <c:dLbls>
            <c:numFmt formatCode="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Rule-based</c:v>
                  </c:pt>
                  <c:pt idx="1">
                    <c:v>Machine learning</c:v>
                  </c:pt>
                </c:lvl>
              </c:multiLvlStrCache>
            </c:multiLvlStrRef>
          </c:cat>
          <c:val>
            <c:numRef>
              <c:f>Sheet1!$B$2:$B$3</c:f>
              <c:numCache>
                <c:formatCode>General</c:formatCode>
                <c:ptCount val="2"/>
                <c:pt idx="0">
                  <c:v>1</c:v>
                </c:pt>
                <c:pt idx="1">
                  <c:v>0.92</c:v>
                </c:pt>
              </c:numCache>
            </c:numRef>
          </c:val>
        </c:ser>
        <c:ser>
          <c:idx val="1"/>
          <c:order val="1"/>
          <c:tx>
            <c:strRef>
              <c:f>Sheet1!$C$1</c:f>
              <c:strCache>
                <c:ptCount val="1"/>
                <c:pt idx="0">
                  <c:v>Recall (events caught)</c:v>
                </c:pt>
              </c:strCache>
            </c:strRef>
          </c:tx>
          <c:spPr>
            <a:solidFill>
              <a:srgbClr val="E4568A"/>
            </a:solidFill>
            <a:effectLst/>
          </c:spPr>
          <c:invertIfNegative val="0"/>
          <c:dLbls>
            <c:numFmt formatCode="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Rule-based</c:v>
                  </c:pt>
                  <c:pt idx="1">
                    <c:v>Machine learning</c:v>
                  </c:pt>
                </c:lvl>
              </c:multiLvlStrCache>
            </c:multiLvlStrRef>
          </c:cat>
          <c:val>
            <c:numRef>
              <c:f>Sheet1!$C$2:$C$3</c:f>
              <c:numCache>
                <c:formatCode>General</c:formatCode>
                <c:ptCount val="2"/>
                <c:pt idx="0">
                  <c:v>0.63</c:v>
                </c:pt>
                <c:pt idx="1">
                  <c:v>0.63</c:v>
                </c:pt>
              </c:numCache>
            </c:numRef>
          </c:val>
        </c:ser>
        <c:dLbls>
          <c:numFmt formatCode="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4515F"/>
                </a:solidFill>
                <a:latin typeface="Arial"/>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6350" cap="flat">
              <a:solidFill>
                <a:srgbClr val="E6EAF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88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Hi, I’m Gabriel. My project is Night Signal: a wearable I designed that watches your blood oxygen while you sleep to catch sleep apnea — and it turns out the same sensor can screen the heart and breathing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My question: can a wearable that costs about sixty-five dollars catch sleep apnea? My hypothesis: if each breathing pause makes oxygen dip, a fingertip sensor reading once per second will see the dips, and software can count them per hour — the AHI doctors use. What I change is breath-hold length and sleeping position; what I measure is events, the AHI, and how closely my device agrees with a real oximeter.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Sleep apnea is when the airway collapses during sleep and breathing stops for ten seconds or more, over and over. About 936 million adults have it, and most don't know. Every pause drops blood oxygen. A pulse oximeter measures that by shining red and infrared light through the fingertip — oxygen-rich blood absorbs the two colours differently. Doctors count the events per hour — the AHI — and grade it from normal to severe. The problem: the standard test is an overnight lab study that costs thousands.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Here's the design. A small case — a 70 by 45 millimetre project box — rides on a velcro strap and holds the ESP32 processor, battery, charger and a motion sensor. A cable runs to a velcro finger clip with the MAX30102 oxygen sensor. On the right is the exploded view with every part at its real size; you can spin the interactive version with this QR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The data path: the finger sensor's light readings go to the ESP32, which calculates oxygen and pulse and reads body position, then sends one line per second over Bluetooth or USB to my app and analysis code. To make sure it's really working, I built a self-test: every recording starts with a device check that has to say READY — and when I tested with a broken motion sensor, it correctly said NOT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My key manipulations: one, a device check before every session. Two, an accuracy test — I wear my device and a store-bought oximeter at the same time and compare. Three, a detection test: supervised, awake breath-holds of 10, 15 and 20 seconds — I know exactly when they happened, so I can score my software. Four, a battery runtime test. Five, full recorded nights. Safety first: breath-holds only while awake and supervised, with consent and ethics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This is my companion app. On the Live tab it connects directly to the wearable and shows oxygen, heart rate and position every second, with health checks running the whole time. Saving a session gives the exact CSV my analysis uses, so every number is traceable. Scan the code to try it — there's a demo device built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Here's the summary. Over a seven-hour night, the software found 19 events — an AHI of 2.7, which is in the normal range. Oxygen averaged 97.5% and dropped to 84% at the lowest. Against a reference oximeter, my device was within about half a percent. The detector caught 63% of known events with zero false alarms. And events were about three times more frequent on the back than on the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On the left, a whole night of oxygen — every red band is an event my code found on its own. On the right is a Bland–Altman plot, the standard way medical papers compare two devices: the average difference is almost zero, and 95% of my readings fall within about one and a half percent of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Two more results. Events happened most on the back — 3.8 per hour versus about 1 on the sides. And I compared my simple rule with a machine-learning model: on new data, both caught the same share of events, but the rule had no false alarms, so for now the simpler method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What does it mean? First, accuracy within about one and a half percent is in the same range as store-bought oximeters, so the dips are real. Second, the detector is cautious — no false alarms but it misses shallow events, so my AHI is probably an underestimate, which is the safer mistake for a screening tool. Third, the back-sleeping result matches what doctors call positional sleep apnea. And fourth, machine learning didn't win yet because it only had one night to learn from — more data matters more than fancier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Sources of error: movement, finger pressure and cold hands can distort the light signal; the four-second averaging can blur very short dips; even the reference oximeter is only plus or minus two percent. On the method side, awake breath-holds aren't identical to real apnea, I only measure oxygen — not airflow or brain waves like a sleep lab — and one person isn't enough to generalize. I also caught an engineering problem: the battery only lasts four to five hours with Bluetooth, so I added a runtime test and use a power bank for full nights.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The same hardware opened two spin-offs. Heart: it flags racing, very slow and irregular-rhythm episodes. Asthma: night-time asthma often gets worse around 4 a.m., and my code tracks breathing rate from the heart's rhythm plus coughs from sudden jolts of the motion sensor — here it caught breathing climbing from 13 to 22 breaths a minute. These are screening ideas, not diagnoses.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Back to my hypothesis: so far it's supported — a low-cost wearable measured oxygen within about half a percent of a reference, found apnea events by itself, scored the night, and showed back-sleeping triples events. Next I'd test more people and nights, add an airflow sensor, fix the battery life, and shrink it into a ring to compare against a real sleep lab. Thank you —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Full parts list with exact dimensions, links and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Step-by-step protocol including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Wiring table and the internal layout with layer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Remaining numbers, app screenshot and links to all data and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References in APA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4" Type="http://schemas.openxmlformats.org/officeDocument/2006/relationships/hyperlink" Target="https://claude.ai/artifact/7wqAASJ8qWxBBKBuVHAqLt" TargetMode="External"/><Relationship Id="rId5" Type="http://schemas.openxmlformats.org/officeDocument/2006/relationships/hyperlink" Target="https://claude.ai/artifact/7wqAASJ8qWxBBKBuVHAqLt" TargetMode="External"/><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claude.ai/artifact/KCkbwVKfmBhQoC9cxCn7qZ" TargetMode="External"/><Relationship Id="rId5" Type="http://schemas.openxmlformats.org/officeDocument/2006/relationships/hyperlink" Target="https://claude.ai/artifact/KCkbwVKfmBhQoC9cxCn7qZ"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claude.ai/artifact/KCkbwVKfmBhQoC9cxCn7qZ" TargetMode="External"/><Relationship Id="rId4" Type="http://schemas.openxmlformats.org/officeDocument/2006/relationships/hyperlink" Target="https://claude.ai/artifact/7wqAASJ8qWxBBKBuVHAqLt" TargetMode="External"/><Relationship Id="rId1" Type="http://schemas.openxmlformats.org/officeDocument/2006/relationships/image" Target="../media/image-14-1.png"/><Relationship Id="rId3"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amazon.ca/AITRIP-ESP-WROOM-32-Development-Microcontroller-Compatible/dp/B0DF2YJSHN" TargetMode="External"/><Relationship Id="rId2" Type="http://schemas.openxmlformats.org/officeDocument/2006/relationships/hyperlink" Target="https://www.amazon.ca/HiLetgo-MAX30102-Breakout-Oximetry-Solution/dp/B07QC67KMQ" TargetMode="External"/><Relationship Id="rId3" Type="http://schemas.openxmlformats.org/officeDocument/2006/relationships/hyperlink" Target="https://www.amazon.ca/Hiletgo-MPU6050-Acc%C3%A9l%C3%A9rom%C3%A8tre-gyroscope-convertisseur/dp/B00LP25V1A" TargetMode="External"/><Relationship Id="rId4" Type="http://schemas.openxmlformats.org/officeDocument/2006/relationships/hyperlink" Target="https://www.amazon.ca/Battery-Rechargeable-Lithium-Polymer-Connector/dp/B07S84SBV3" TargetMode="External"/><Relationship Id="rId5" Type="http://schemas.openxmlformats.org/officeDocument/2006/relationships/hyperlink" Target="https://www.amazon.ca/Treedix-Lithium-Charging-Protection-Functions/dp/B09LTVTY5J" TargetMode="External"/><Relationship Id="rId6" Type="http://schemas.openxmlformats.org/officeDocument/2006/relationships/hyperlink" Target="https://www.amazon.ca/Rakstore-TPS63020-Automatic-Buck-Boost-Converter/dp/B09V4SHLTJ" TargetMode="External"/><Relationship Id="rId7" Type="http://schemas.openxmlformats.org/officeDocument/2006/relationships/hyperlink" Target="https://www.amazon.ca/HoHaing-Electrical-Junction-Enclosure-Electronic/dp/B0CGV22KKG" TargetMode="External"/><Relationship Id="rId8" Type="http://schemas.openxmlformats.org/officeDocument/2006/relationships/hyperlink" Target="https://www.amazon.ca/VELCRO-Brand-VEL-30768-AMS-Self-Gripping-Organization/dp/B09QH2NVM1" TargetMode="External"/><Relationship Id="rId9" Type="http://schemas.openxmlformats.org/officeDocument/2006/relationships/hyperlink" Target="https://www.amazon.ca/s?k=100k+ohm+resistor+1%2F4w" TargetMode="External"/><Relationship Id="rId10" Type="http://schemas.openxmlformats.org/officeDocument/2006/relationships/hyperlink" Target="https://www.amazon.ca/Elite-Medica-Fingertip-Saturation-Batteries/dp/B0DSGP91PB" TargetMode="External"/><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gabrielamamanestudent-wq/teetomivV2/tree/claude/science-fair-medical-project-7k0wk4/science-fair/night-signal" TargetMode="External"/><Relationship Id="rId3" Type="http://schemas.openxmlformats.org/officeDocument/2006/relationships/hyperlink" Target="https://claude.ai/artifact/4xLvQVUaMqndpLeRDXtp4A"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SCIENCE FAIR · HEALTH AND MEDICAL SCIENCES · EXPERIMENTAL PROJECT</a:t>
            </a:r>
            <a:endParaRPr lang="en-US" sz="1200" dirty="0"/>
          </a:p>
        </p:txBody>
      </p:sp>
      <p:sp>
        <p:nvSpPr>
          <p:cNvPr id="3" name="Text 1"/>
          <p:cNvSpPr txBox="1"/>
          <p:nvPr/>
        </p:nvSpPr>
        <p:spPr>
          <a:xfrm>
            <a:off x="640080" y="1463040"/>
            <a:ext cx="5852160" cy="1097280"/>
          </a:xfrm>
          <a:prstGeom prst="rect">
            <a:avLst/>
          </a:prstGeom>
          <a:noFill/>
          <a:ln/>
        </p:spPr>
        <p:txBody>
          <a:bodyPr wrap="square" lIns="0" tIns="0" rIns="0" bIns="0" rtlCol="0" anchor="ctr"/>
          <a:lstStyle/>
          <a:p>
            <a:pPr indent="0" marL="0">
              <a:buNone/>
            </a:pPr>
            <a:r>
              <a:rPr lang="en-US" sz="6000" b="1" dirty="0">
                <a:solidFill>
                  <a:srgbClr val="FFFFFF"/>
                </a:solidFill>
                <a:latin typeface="Calibri" pitchFamily="34" charset="0"/>
                <a:ea typeface="Calibri" pitchFamily="34" charset="-122"/>
                <a:cs typeface="Calibri" pitchFamily="34" charset="-120"/>
              </a:rPr>
              <a:t>Night Signal</a:t>
            </a:r>
            <a:endParaRPr lang="en-US" sz="6000" dirty="0"/>
          </a:p>
        </p:txBody>
      </p:sp>
      <p:sp>
        <p:nvSpPr>
          <p:cNvPr id="4" name="Text 2"/>
          <p:cNvSpPr txBox="1"/>
          <p:nvPr/>
        </p:nvSpPr>
        <p:spPr>
          <a:xfrm>
            <a:off x="640080" y="2651760"/>
            <a:ext cx="5394960" cy="1005840"/>
          </a:xfrm>
          <a:prstGeom prst="rect">
            <a:avLst/>
          </a:prstGeom>
          <a:noFill/>
          <a:ln/>
        </p:spPr>
        <p:txBody>
          <a:bodyPr wrap="square" lIns="0" tIns="0" rIns="0" bIns="0" rtlCol="0" anchor="t"/>
          <a:lstStyle/>
          <a:p>
            <a:pPr indent="0" marL="0">
              <a:buNone/>
            </a:pPr>
            <a:r>
              <a:rPr lang="en-US" sz="1900" dirty="0">
                <a:solidFill>
                  <a:srgbClr val="A9B8D2"/>
                </a:solidFill>
                <a:latin typeface="Calibri" pitchFamily="34" charset="0"/>
                <a:ea typeface="Calibri" pitchFamily="34" charset="-122"/>
                <a:cs typeface="Calibri" pitchFamily="34" charset="-120"/>
              </a:rPr>
              <a:t>A low-cost wearable that detects sleep apnea — and screens the heart and breathing too.</a:t>
            </a:r>
            <a:endParaRPr lang="en-US" sz="1900" dirty="0"/>
          </a:p>
        </p:txBody>
      </p:sp>
      <p:sp>
        <p:nvSpPr>
          <p:cNvPr id="5" name="Text 3"/>
          <p:cNvSpPr txBox="1"/>
          <p:nvPr/>
        </p:nvSpPr>
        <p:spPr>
          <a:xfrm>
            <a:off x="640080" y="4206240"/>
            <a:ext cx="54864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Gabriel Mamane</a:t>
            </a:r>
            <a:pPr indent="0" marL="0">
              <a:buNone/>
            </a:pPr>
            <a:r>
              <a:rPr lang="en-US" sz="1600" dirty="0">
                <a:solidFill>
                  <a:srgbClr val="A9B8D2"/>
                </a:solidFill>
                <a:latin typeface="Calibri" pitchFamily="34" charset="0"/>
                <a:ea typeface="Calibri" pitchFamily="34" charset="-122"/>
                <a:cs typeface="Calibri" pitchFamily="34" charset="-120"/>
              </a:rPr>
              <a:t>   ·   Grade ___</a:t>
            </a:r>
            <a:endParaRPr lang="en-US" sz="1600" dirty="0"/>
          </a:p>
        </p:txBody>
      </p:sp>
      <p:pic>
        <p:nvPicPr>
          <p:cNvPr id="6" name="Image 0" descr="/home/user/teetomivV2/science-fair/night-signal/slides/assets/3d_assembled.jpg">    </p:cNvPr>
          <p:cNvPicPr>
            <a:picLocks noChangeAspect="1"/>
          </p:cNvPicPr>
          <p:nvPr/>
        </p:nvPicPr>
        <p:blipFill>
          <a:blip r:embed="rId1"/>
          <a:stretch>
            <a:fillRect/>
          </a:stretch>
        </p:blipFill>
        <p:spPr>
          <a:xfrm>
            <a:off x="6172200" y="1143000"/>
            <a:ext cx="5577840" cy="3775500"/>
          </a:xfrm>
          <a:prstGeom prst="rect">
            <a:avLst/>
          </a:prstGeom>
        </p:spPr>
      </p:pic>
      <p:sp>
        <p:nvSpPr>
          <p:cNvPr id="7" name="Text 4"/>
          <p:cNvSpPr txBox="1"/>
          <p:nvPr/>
        </p:nvSpPr>
        <p:spPr>
          <a:xfrm>
            <a:off x="640080" y="6355080"/>
            <a:ext cx="7315200" cy="274320"/>
          </a:xfrm>
          <a:prstGeom prst="rect">
            <a:avLst/>
          </a:prstGeom>
          <a:noFill/>
          <a:ln/>
        </p:spPr>
        <p:txBody>
          <a:bodyPr wrap="square" lIns="0" tIns="0" rIns="0" bIns="0" rtlCol="0" anchor="ctr"/>
          <a:lstStyle/>
          <a:p>
            <a:pPr indent="0" marL="0">
              <a:buNone/>
            </a:pPr>
            <a:r>
              <a:rPr lang="en-US" sz="1100" dirty="0">
                <a:solidFill>
                  <a:srgbClr val="6B7889"/>
                </a:solidFill>
                <a:latin typeface="Calibri" pitchFamily="34" charset="0"/>
                <a:ea typeface="Calibri" pitchFamily="34" charset="-122"/>
                <a:cs typeface="Calibri" pitchFamily="34" charset="-120"/>
              </a:rPr>
              <a:t>Educational prototype — not a medical device.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PURPOSE &amp; HYPOTHESIS</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Can a ~$65 wearable catch sleep apnea?</a:t>
            </a:r>
            <a:endParaRPr lang="en-US" sz="3200" dirty="0"/>
          </a:p>
        </p:txBody>
      </p:sp>
      <p:sp>
        <p:nvSpPr>
          <p:cNvPr id="4" name="Shape 2"/>
          <p:cNvSpPr/>
          <p:nvPr/>
        </p:nvSpPr>
        <p:spPr>
          <a:xfrm>
            <a:off x="640080" y="1645920"/>
            <a:ext cx="10881360" cy="1143000"/>
          </a:xfrm>
          <a:prstGeom prst="roundRect">
            <a:avLst>
              <a:gd name="adj" fmla="val 8000"/>
            </a:avLst>
          </a:prstGeom>
          <a:solidFill>
            <a:srgbClr val="F3F5F9"/>
          </a:solidFill>
          <a:ln w="12700">
            <a:solidFill>
              <a:srgbClr val="DBE1EC"/>
            </a:solidFill>
            <a:prstDash val="solid"/>
          </a:ln>
        </p:spPr>
      </p:sp>
      <p:sp>
        <p:nvSpPr>
          <p:cNvPr id="5" name="Text 3"/>
          <p:cNvSpPr txBox="1"/>
          <p:nvPr/>
        </p:nvSpPr>
        <p:spPr>
          <a:xfrm>
            <a:off x="914400" y="1783080"/>
            <a:ext cx="10332720" cy="914400"/>
          </a:xfrm>
          <a:prstGeom prst="rect">
            <a:avLst/>
          </a:prstGeom>
          <a:noFill/>
          <a:ln/>
        </p:spPr>
        <p:txBody>
          <a:bodyPr wrap="square" lIns="0" tIns="0" rIns="0" bIns="0" rtlCol="0" anchor="t"/>
          <a:lstStyle/>
          <a:p>
            <a:pPr indent="0" marL="0">
              <a:buNone/>
            </a:pPr>
            <a:r>
              <a:rPr lang="en-US" sz="1600" b="1" dirty="0">
                <a:solidFill>
                  <a:srgbClr val="1F8A9C"/>
                </a:solidFill>
                <a:latin typeface="Calibri" pitchFamily="34" charset="0"/>
                <a:ea typeface="Calibri" pitchFamily="34" charset="-122"/>
                <a:cs typeface="Calibri" pitchFamily="34" charset="-120"/>
              </a:rPr>
              <a:t>Purpose  </a:t>
            </a:r>
            <a:pPr indent="0" marL="0">
              <a:buNone/>
            </a:pPr>
            <a:r>
              <a:rPr lang="en-US" sz="1600" dirty="0">
                <a:solidFill>
                  <a:srgbClr val="141A26"/>
                </a:solidFill>
                <a:latin typeface="Calibri" pitchFamily="34" charset="0"/>
                <a:ea typeface="Calibri" pitchFamily="34" charset="-122"/>
                <a:cs typeface="Calibri" pitchFamily="34" charset="-120"/>
              </a:rPr>
              <a:t>Find out whether a low-cost wearable can detect the oxygen drops caused by sleep apnea accurately enough to estimate how many events happen per hour — the number doctors use (AHI).</a:t>
            </a:r>
            <a:endParaRPr lang="en-US" sz="1600" dirty="0"/>
          </a:p>
        </p:txBody>
      </p:sp>
      <p:sp>
        <p:nvSpPr>
          <p:cNvPr id="6" name="Text 4"/>
          <p:cNvSpPr txBox="1"/>
          <p:nvPr/>
        </p:nvSpPr>
        <p:spPr>
          <a:xfrm>
            <a:off x="640080" y="3017520"/>
            <a:ext cx="10881360" cy="1097280"/>
          </a:xfrm>
          <a:prstGeom prst="rect">
            <a:avLst/>
          </a:prstGeom>
          <a:noFill/>
          <a:ln/>
        </p:spPr>
        <p:txBody>
          <a:bodyPr wrap="square" lIns="0" tIns="0" rIns="0" bIns="0" rtlCol="0" anchor="t"/>
          <a:lstStyle/>
          <a:p>
            <a:pPr indent="0" marL="0">
              <a:buNone/>
            </a:pPr>
            <a:r>
              <a:rPr lang="en-US" sz="1600" b="1" dirty="0">
                <a:solidFill>
                  <a:srgbClr val="E4568A"/>
                </a:solidFill>
                <a:latin typeface="Calibri" pitchFamily="34" charset="0"/>
                <a:ea typeface="Calibri" pitchFamily="34" charset="-122"/>
                <a:cs typeface="Calibri" pitchFamily="34" charset="-120"/>
              </a:rPr>
              <a:t>Hypothesis  </a:t>
            </a:r>
            <a:pPr indent="0" marL="0">
              <a:buNone/>
            </a:pPr>
            <a:r>
              <a:rPr lang="en-US" sz="1600" dirty="0">
                <a:solidFill>
                  <a:srgbClr val="44515F"/>
                </a:solidFill>
                <a:latin typeface="Calibri" pitchFamily="34" charset="0"/>
                <a:ea typeface="Calibri" pitchFamily="34" charset="-122"/>
                <a:cs typeface="Calibri" pitchFamily="34" charset="-120"/>
              </a:rPr>
              <a:t>If breathing pauses make blood oxygen dip, then a fingertip sensor read once per second will reveal those dips, and software can count them to sort a night into Normal, Mild, Moderate or Severe — because oxygen-rich and oxygen-poor blood absorb red and infrared light differently.</a:t>
            </a:r>
            <a:endParaRPr lang="en-US" sz="1600" dirty="0"/>
          </a:p>
        </p:txBody>
      </p:sp>
      <p:sp>
        <p:nvSpPr>
          <p:cNvPr id="7" name="Shape 5"/>
          <p:cNvSpPr/>
          <p:nvPr/>
        </p:nvSpPr>
        <p:spPr>
          <a:xfrm>
            <a:off x="640080" y="4434840"/>
            <a:ext cx="3502152" cy="1417320"/>
          </a:xfrm>
          <a:prstGeom prst="roundRect">
            <a:avLst>
              <a:gd name="adj" fmla="val 6452"/>
            </a:avLst>
          </a:prstGeom>
          <a:solidFill>
            <a:srgbClr val="FFFFFF"/>
          </a:solidFill>
          <a:ln w="12700">
            <a:solidFill>
              <a:srgbClr val="DBE1EC"/>
            </a:solidFill>
            <a:prstDash val="solid"/>
          </a:ln>
        </p:spPr>
      </p:sp>
      <p:sp>
        <p:nvSpPr>
          <p:cNvPr id="8" name="Text 6"/>
          <p:cNvSpPr txBox="1"/>
          <p:nvPr/>
        </p:nvSpPr>
        <p:spPr>
          <a:xfrm>
            <a:off x="841248" y="4572000"/>
            <a:ext cx="3108960" cy="274320"/>
          </a:xfrm>
          <a:prstGeom prst="rect">
            <a:avLst/>
          </a:prstGeom>
          <a:noFill/>
          <a:ln/>
        </p:spPr>
        <p:txBody>
          <a:bodyPr wrap="square" lIns="0" tIns="0" rIns="0" bIns="0" rtlCol="0" anchor="ctr"/>
          <a:lstStyle/>
          <a:p>
            <a:pPr indent="0" marL="0">
              <a:buNone/>
            </a:pPr>
            <a:r>
              <a:rPr lang="en-US" sz="1100" b="1" spc="200" kern="0" dirty="0">
                <a:solidFill>
                  <a:srgbClr val="E4568A"/>
                </a:solidFill>
                <a:latin typeface="Calibri" pitchFamily="34" charset="0"/>
                <a:ea typeface="Calibri" pitchFamily="34" charset="-122"/>
                <a:cs typeface="Calibri" pitchFamily="34" charset="-120"/>
              </a:rPr>
              <a:t>INDEPENDENT VARIABLES</a:t>
            </a:r>
            <a:endParaRPr lang="en-US" sz="1100" dirty="0"/>
          </a:p>
        </p:txBody>
      </p:sp>
      <p:sp>
        <p:nvSpPr>
          <p:cNvPr id="9" name="Text 7"/>
          <p:cNvSpPr txBox="1"/>
          <p:nvPr/>
        </p:nvSpPr>
        <p:spPr>
          <a:xfrm>
            <a:off x="841248" y="4892040"/>
            <a:ext cx="3154680" cy="868680"/>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Breath-hold length (10 / 15 / 20 s) and sleeping position</a:t>
            </a:r>
            <a:endParaRPr lang="en-US" sz="1400" dirty="0"/>
          </a:p>
        </p:txBody>
      </p:sp>
      <p:sp>
        <p:nvSpPr>
          <p:cNvPr id="10" name="Shape 8"/>
          <p:cNvSpPr/>
          <p:nvPr/>
        </p:nvSpPr>
        <p:spPr>
          <a:xfrm>
            <a:off x="4325112" y="4434840"/>
            <a:ext cx="3502152" cy="1417320"/>
          </a:xfrm>
          <a:prstGeom prst="roundRect">
            <a:avLst>
              <a:gd name="adj" fmla="val 6452"/>
            </a:avLst>
          </a:prstGeom>
          <a:solidFill>
            <a:srgbClr val="FFFFFF"/>
          </a:solidFill>
          <a:ln w="12700">
            <a:solidFill>
              <a:srgbClr val="DBE1EC"/>
            </a:solidFill>
            <a:prstDash val="solid"/>
          </a:ln>
        </p:spPr>
      </p:sp>
      <p:sp>
        <p:nvSpPr>
          <p:cNvPr id="11" name="Text 9"/>
          <p:cNvSpPr txBox="1"/>
          <p:nvPr/>
        </p:nvSpPr>
        <p:spPr>
          <a:xfrm>
            <a:off x="4526280" y="4572000"/>
            <a:ext cx="3108960" cy="274320"/>
          </a:xfrm>
          <a:prstGeom prst="rect">
            <a:avLst/>
          </a:prstGeom>
          <a:noFill/>
          <a:ln/>
        </p:spPr>
        <p:txBody>
          <a:bodyPr wrap="square" lIns="0" tIns="0" rIns="0" bIns="0" rtlCol="0" anchor="ctr"/>
          <a:lstStyle/>
          <a:p>
            <a:pPr indent="0" marL="0">
              <a:buNone/>
            </a:pPr>
            <a:r>
              <a:rPr lang="en-US" sz="1100" b="1" spc="200" kern="0" dirty="0">
                <a:solidFill>
                  <a:srgbClr val="1F8A9C"/>
                </a:solidFill>
                <a:latin typeface="Calibri" pitchFamily="34" charset="0"/>
                <a:ea typeface="Calibri" pitchFamily="34" charset="-122"/>
                <a:cs typeface="Calibri" pitchFamily="34" charset="-120"/>
              </a:rPr>
              <a:t>DEPENDENT VARIABLES</a:t>
            </a:r>
            <a:endParaRPr lang="en-US" sz="1100" dirty="0"/>
          </a:p>
        </p:txBody>
      </p:sp>
      <p:sp>
        <p:nvSpPr>
          <p:cNvPr id="12" name="Text 10"/>
          <p:cNvSpPr txBox="1"/>
          <p:nvPr/>
        </p:nvSpPr>
        <p:spPr>
          <a:xfrm>
            <a:off x="4526280" y="4892040"/>
            <a:ext cx="3154680" cy="868680"/>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Events detected, AHI score, agreement with a reference oximeter</a:t>
            </a:r>
            <a:endParaRPr lang="en-US" sz="1400" dirty="0"/>
          </a:p>
        </p:txBody>
      </p:sp>
      <p:sp>
        <p:nvSpPr>
          <p:cNvPr id="13" name="Shape 11"/>
          <p:cNvSpPr/>
          <p:nvPr/>
        </p:nvSpPr>
        <p:spPr>
          <a:xfrm>
            <a:off x="8010144" y="4434840"/>
            <a:ext cx="3502152" cy="1417320"/>
          </a:xfrm>
          <a:prstGeom prst="roundRect">
            <a:avLst>
              <a:gd name="adj" fmla="val 6452"/>
            </a:avLst>
          </a:prstGeom>
          <a:solidFill>
            <a:srgbClr val="FFFFFF"/>
          </a:solidFill>
          <a:ln w="12700">
            <a:solidFill>
              <a:srgbClr val="DBE1EC"/>
            </a:solidFill>
            <a:prstDash val="solid"/>
          </a:ln>
        </p:spPr>
      </p:sp>
      <p:sp>
        <p:nvSpPr>
          <p:cNvPr id="14" name="Text 12"/>
          <p:cNvSpPr txBox="1"/>
          <p:nvPr/>
        </p:nvSpPr>
        <p:spPr>
          <a:xfrm>
            <a:off x="8211312" y="4572000"/>
            <a:ext cx="3108960" cy="274320"/>
          </a:xfrm>
          <a:prstGeom prst="rect">
            <a:avLst/>
          </a:prstGeom>
          <a:noFill/>
          <a:ln/>
        </p:spPr>
        <p:txBody>
          <a:bodyPr wrap="square" lIns="0" tIns="0" rIns="0" bIns="0" rtlCol="0" anchor="ctr"/>
          <a:lstStyle/>
          <a:p>
            <a:pPr indent="0" marL="0">
              <a:buNone/>
            </a:pPr>
            <a:r>
              <a:rPr lang="en-US" sz="1100" b="1" spc="200" kern="0" dirty="0">
                <a:solidFill>
                  <a:srgbClr val="6B7889"/>
                </a:solidFill>
                <a:latin typeface="Calibri" pitchFamily="34" charset="0"/>
                <a:ea typeface="Calibri" pitchFamily="34" charset="-122"/>
                <a:cs typeface="Calibri" pitchFamily="34" charset="-120"/>
              </a:rPr>
              <a:t>CONTROLS</a:t>
            </a:r>
            <a:endParaRPr lang="en-US" sz="1100" dirty="0"/>
          </a:p>
        </p:txBody>
      </p:sp>
      <p:sp>
        <p:nvSpPr>
          <p:cNvPr id="15" name="Text 13"/>
          <p:cNvSpPr txBox="1"/>
          <p:nvPr/>
        </p:nvSpPr>
        <p:spPr>
          <a:xfrm>
            <a:off x="8211312" y="4892040"/>
            <a:ext cx="3154680" cy="868680"/>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Same finger, cuff tightness, room, firmware and detection settings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SCIENTIFIC BACKGROUND</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Sleep apnea: breathing stops, oxygen drops</a:t>
            </a:r>
            <a:endParaRPr lang="en-US" sz="3200" dirty="0"/>
          </a:p>
        </p:txBody>
      </p:sp>
      <p:sp>
        <p:nvSpPr>
          <p:cNvPr id="4" name="Shape 2"/>
          <p:cNvSpPr/>
          <p:nvPr/>
        </p:nvSpPr>
        <p:spPr>
          <a:xfrm>
            <a:off x="640080" y="1773936"/>
            <a:ext cx="118872" cy="118872"/>
          </a:xfrm>
          <a:prstGeom prst="ellipse">
            <a:avLst/>
          </a:prstGeom>
          <a:solidFill>
            <a:srgbClr val="1F8A9C"/>
          </a:solidFill>
          <a:ln/>
        </p:spPr>
      </p:sp>
      <p:sp>
        <p:nvSpPr>
          <p:cNvPr id="5" name="Text 3"/>
          <p:cNvSpPr txBox="1"/>
          <p:nvPr/>
        </p:nvSpPr>
        <p:spPr>
          <a:xfrm>
            <a:off x="914400" y="1673352"/>
            <a:ext cx="640080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Obstructive sleep apnea: the airway collapses during sleep and breathing pauses for 10 seconds or more, many times a night.</a:t>
            </a:r>
            <a:endParaRPr lang="en-US" sz="1500" dirty="0"/>
          </a:p>
        </p:txBody>
      </p:sp>
      <p:sp>
        <p:nvSpPr>
          <p:cNvPr id="6" name="Shape 4"/>
          <p:cNvSpPr/>
          <p:nvPr/>
        </p:nvSpPr>
        <p:spPr>
          <a:xfrm>
            <a:off x="640080" y="2596896"/>
            <a:ext cx="118872" cy="118872"/>
          </a:xfrm>
          <a:prstGeom prst="ellipse">
            <a:avLst/>
          </a:prstGeom>
          <a:solidFill>
            <a:srgbClr val="1F8A9C"/>
          </a:solidFill>
          <a:ln/>
        </p:spPr>
      </p:sp>
      <p:sp>
        <p:nvSpPr>
          <p:cNvPr id="7" name="Text 5"/>
          <p:cNvSpPr txBox="1"/>
          <p:nvPr/>
        </p:nvSpPr>
        <p:spPr>
          <a:xfrm>
            <a:off x="914400" y="2496312"/>
            <a:ext cx="640080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Each pause lowers blood oxygen (a desaturation) and makes the heart speed up and slow down.</a:t>
            </a:r>
            <a:endParaRPr lang="en-US" sz="1500" dirty="0"/>
          </a:p>
        </p:txBody>
      </p:sp>
      <p:sp>
        <p:nvSpPr>
          <p:cNvPr id="8" name="Shape 6"/>
          <p:cNvSpPr/>
          <p:nvPr/>
        </p:nvSpPr>
        <p:spPr>
          <a:xfrm>
            <a:off x="640080" y="3419856"/>
            <a:ext cx="118872" cy="118872"/>
          </a:xfrm>
          <a:prstGeom prst="ellipse">
            <a:avLst/>
          </a:prstGeom>
          <a:solidFill>
            <a:srgbClr val="1F8A9C"/>
          </a:solidFill>
          <a:ln/>
        </p:spPr>
      </p:sp>
      <p:sp>
        <p:nvSpPr>
          <p:cNvPr id="9" name="Text 7"/>
          <p:cNvSpPr txBox="1"/>
          <p:nvPr/>
        </p:nvSpPr>
        <p:spPr>
          <a:xfrm>
            <a:off x="914400" y="3319272"/>
            <a:ext cx="640080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Pulse oximetry: red (660 nm) and infrared (880 nm) light shine through the fingertip; oxygen-rich blood absorbs them differently, giving SpO₂.</a:t>
            </a:r>
            <a:endParaRPr lang="en-US" sz="1500" dirty="0"/>
          </a:p>
        </p:txBody>
      </p:sp>
      <p:sp>
        <p:nvSpPr>
          <p:cNvPr id="10" name="Shape 8"/>
          <p:cNvSpPr/>
          <p:nvPr/>
        </p:nvSpPr>
        <p:spPr>
          <a:xfrm>
            <a:off x="640080" y="4242816"/>
            <a:ext cx="118872" cy="118872"/>
          </a:xfrm>
          <a:prstGeom prst="ellipse">
            <a:avLst/>
          </a:prstGeom>
          <a:solidFill>
            <a:srgbClr val="1F8A9C"/>
          </a:solidFill>
          <a:ln/>
        </p:spPr>
      </p:sp>
      <p:sp>
        <p:nvSpPr>
          <p:cNvPr id="11" name="Text 9"/>
          <p:cNvSpPr txBox="1"/>
          <p:nvPr/>
        </p:nvSpPr>
        <p:spPr>
          <a:xfrm>
            <a:off x="914400" y="4142232"/>
            <a:ext cx="640080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Doctors count events per hour of sleep: the Apnea–Hypopnea Index (AHI). A clinical sleep study costs thousands and needs a lab.</a:t>
            </a:r>
            <a:endParaRPr lang="en-US" sz="1500" dirty="0"/>
          </a:p>
        </p:txBody>
      </p:sp>
      <p:sp>
        <p:nvSpPr>
          <p:cNvPr id="12" name="Shape 10"/>
          <p:cNvSpPr/>
          <p:nvPr/>
        </p:nvSpPr>
        <p:spPr>
          <a:xfrm>
            <a:off x="7680960" y="1645920"/>
            <a:ext cx="3840480" cy="2148840"/>
          </a:xfrm>
          <a:prstGeom prst="roundRect">
            <a:avLst>
              <a:gd name="adj" fmla="val 4255"/>
            </a:avLst>
          </a:prstGeom>
          <a:solidFill>
            <a:srgbClr val="0E1830"/>
          </a:solidFill>
          <a:ln w="12700">
            <a:solidFill>
              <a:srgbClr val="0E1830"/>
            </a:solidFill>
            <a:prstDash val="solid"/>
          </a:ln>
        </p:spPr>
      </p:sp>
      <p:sp>
        <p:nvSpPr>
          <p:cNvPr id="13" name="Text 11"/>
          <p:cNvSpPr txBox="1"/>
          <p:nvPr/>
        </p:nvSpPr>
        <p:spPr>
          <a:xfrm>
            <a:off x="7863840" y="1828800"/>
            <a:ext cx="3566160" cy="685800"/>
          </a:xfrm>
          <a:prstGeom prst="rect">
            <a:avLst/>
          </a:prstGeom>
          <a:noFill/>
          <a:ln/>
        </p:spPr>
        <p:txBody>
          <a:bodyPr wrap="square" lIns="0" tIns="0" rIns="0" bIns="0" rtlCol="0" anchor="ctr"/>
          <a:lstStyle/>
          <a:p>
            <a:pPr indent="0" marL="0">
              <a:buNone/>
            </a:pPr>
            <a:r>
              <a:rPr lang="en-US" sz="4000" b="1" dirty="0">
                <a:solidFill>
                  <a:srgbClr val="3FB8CC"/>
                </a:solidFill>
                <a:latin typeface="Calibri" pitchFamily="34" charset="0"/>
                <a:ea typeface="Calibri" pitchFamily="34" charset="-122"/>
                <a:cs typeface="Calibri" pitchFamily="34" charset="-120"/>
              </a:rPr>
              <a:t>≈ 936 million</a:t>
            </a:r>
            <a:endParaRPr lang="en-US" sz="4000" dirty="0"/>
          </a:p>
        </p:txBody>
      </p:sp>
      <p:sp>
        <p:nvSpPr>
          <p:cNvPr id="14" name="Text 12"/>
          <p:cNvSpPr txBox="1"/>
          <p:nvPr/>
        </p:nvSpPr>
        <p:spPr>
          <a:xfrm>
            <a:off x="7863840" y="2560320"/>
            <a:ext cx="3520440" cy="109728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adults worldwide have obstructive sleep apnea — most don’t know it (Benjafield et al., 2019).</a:t>
            </a:r>
            <a:endParaRPr lang="en-US" sz="1400" dirty="0"/>
          </a:p>
        </p:txBody>
      </p:sp>
      <p:sp>
        <p:nvSpPr>
          <p:cNvPr id="15" name="Shape 13"/>
          <p:cNvSpPr/>
          <p:nvPr/>
        </p:nvSpPr>
        <p:spPr>
          <a:xfrm>
            <a:off x="640080" y="5074920"/>
            <a:ext cx="2560320" cy="1051560"/>
          </a:xfrm>
          <a:prstGeom prst="roundRect">
            <a:avLst>
              <a:gd name="adj" fmla="val 8696"/>
            </a:avLst>
          </a:prstGeom>
          <a:solidFill>
            <a:srgbClr val="F3F5F9"/>
          </a:solidFill>
          <a:ln w="12700">
            <a:solidFill>
              <a:srgbClr val="DBE1EC"/>
            </a:solidFill>
            <a:prstDash val="solid"/>
          </a:ln>
        </p:spPr>
      </p:sp>
      <p:sp>
        <p:nvSpPr>
          <p:cNvPr id="16" name="Text 14"/>
          <p:cNvSpPr txBox="1"/>
          <p:nvPr/>
        </p:nvSpPr>
        <p:spPr>
          <a:xfrm>
            <a:off x="640080" y="5138928"/>
            <a:ext cx="2560320" cy="548640"/>
          </a:xfrm>
          <a:prstGeom prst="rect">
            <a:avLst/>
          </a:prstGeom>
          <a:noFill/>
          <a:ln/>
        </p:spPr>
        <p:txBody>
          <a:bodyPr wrap="square" lIns="0" tIns="0" rIns="0" bIns="0" rtlCol="0" anchor="ctr"/>
          <a:lstStyle/>
          <a:p>
            <a:pPr algn="ctr" indent="0" marL="0">
              <a:buNone/>
            </a:pPr>
            <a:r>
              <a:rPr lang="en-US" sz="2600" b="1" dirty="0">
                <a:solidFill>
                  <a:srgbClr val="2F8F5B"/>
                </a:solidFill>
                <a:latin typeface="Calibri" pitchFamily="34" charset="0"/>
                <a:ea typeface="Calibri" pitchFamily="34" charset="-122"/>
                <a:cs typeface="Calibri" pitchFamily="34" charset="-120"/>
              </a:rPr>
              <a:t>&lt; 5</a:t>
            </a:r>
            <a:endParaRPr lang="en-US" sz="2600" dirty="0"/>
          </a:p>
        </p:txBody>
      </p:sp>
      <p:sp>
        <p:nvSpPr>
          <p:cNvPr id="17" name="Text 15"/>
          <p:cNvSpPr txBox="1"/>
          <p:nvPr/>
        </p:nvSpPr>
        <p:spPr>
          <a:xfrm>
            <a:off x="640080" y="5669280"/>
            <a:ext cx="2560320" cy="32004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Normal · events/hour</a:t>
            </a:r>
            <a:endParaRPr lang="en-US" sz="1200" dirty="0"/>
          </a:p>
        </p:txBody>
      </p:sp>
      <p:sp>
        <p:nvSpPr>
          <p:cNvPr id="18" name="Shape 16"/>
          <p:cNvSpPr/>
          <p:nvPr/>
        </p:nvSpPr>
        <p:spPr>
          <a:xfrm>
            <a:off x="3383280" y="5074920"/>
            <a:ext cx="2560320" cy="1051560"/>
          </a:xfrm>
          <a:prstGeom prst="roundRect">
            <a:avLst>
              <a:gd name="adj" fmla="val 8696"/>
            </a:avLst>
          </a:prstGeom>
          <a:solidFill>
            <a:srgbClr val="F3F5F9"/>
          </a:solidFill>
          <a:ln w="12700">
            <a:solidFill>
              <a:srgbClr val="DBE1EC"/>
            </a:solidFill>
            <a:prstDash val="solid"/>
          </a:ln>
        </p:spPr>
      </p:sp>
      <p:sp>
        <p:nvSpPr>
          <p:cNvPr id="19" name="Text 17"/>
          <p:cNvSpPr txBox="1"/>
          <p:nvPr/>
        </p:nvSpPr>
        <p:spPr>
          <a:xfrm>
            <a:off x="3383280" y="5138928"/>
            <a:ext cx="2560320" cy="548640"/>
          </a:xfrm>
          <a:prstGeom prst="rect">
            <a:avLst/>
          </a:prstGeom>
          <a:noFill/>
          <a:ln/>
        </p:spPr>
        <p:txBody>
          <a:bodyPr wrap="square" lIns="0" tIns="0" rIns="0" bIns="0" rtlCol="0" anchor="ctr"/>
          <a:lstStyle/>
          <a:p>
            <a:pPr algn="ctr" indent="0" marL="0">
              <a:buNone/>
            </a:pPr>
            <a:r>
              <a:rPr lang="en-US" sz="2600" b="1" dirty="0">
                <a:solidFill>
                  <a:srgbClr val="C98A1E"/>
                </a:solidFill>
                <a:latin typeface="Calibri" pitchFamily="34" charset="0"/>
                <a:ea typeface="Calibri" pitchFamily="34" charset="-122"/>
                <a:cs typeface="Calibri" pitchFamily="34" charset="-120"/>
              </a:rPr>
              <a:t>5–15</a:t>
            </a:r>
            <a:endParaRPr lang="en-US" sz="2600" dirty="0"/>
          </a:p>
        </p:txBody>
      </p:sp>
      <p:sp>
        <p:nvSpPr>
          <p:cNvPr id="20" name="Text 18"/>
          <p:cNvSpPr txBox="1"/>
          <p:nvPr/>
        </p:nvSpPr>
        <p:spPr>
          <a:xfrm>
            <a:off x="3383280" y="5669280"/>
            <a:ext cx="2560320" cy="32004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Mild · events/hour</a:t>
            </a:r>
            <a:endParaRPr lang="en-US" sz="1200" dirty="0"/>
          </a:p>
        </p:txBody>
      </p:sp>
      <p:sp>
        <p:nvSpPr>
          <p:cNvPr id="21" name="Shape 19"/>
          <p:cNvSpPr/>
          <p:nvPr/>
        </p:nvSpPr>
        <p:spPr>
          <a:xfrm>
            <a:off x="6126480" y="5074920"/>
            <a:ext cx="2560320" cy="1051560"/>
          </a:xfrm>
          <a:prstGeom prst="roundRect">
            <a:avLst>
              <a:gd name="adj" fmla="val 8696"/>
            </a:avLst>
          </a:prstGeom>
          <a:solidFill>
            <a:srgbClr val="F3F5F9"/>
          </a:solidFill>
          <a:ln w="12700">
            <a:solidFill>
              <a:srgbClr val="DBE1EC"/>
            </a:solidFill>
            <a:prstDash val="solid"/>
          </a:ln>
        </p:spPr>
      </p:sp>
      <p:sp>
        <p:nvSpPr>
          <p:cNvPr id="22" name="Text 20"/>
          <p:cNvSpPr txBox="1"/>
          <p:nvPr/>
        </p:nvSpPr>
        <p:spPr>
          <a:xfrm>
            <a:off x="6126480" y="5138928"/>
            <a:ext cx="2560320" cy="548640"/>
          </a:xfrm>
          <a:prstGeom prst="rect">
            <a:avLst/>
          </a:prstGeom>
          <a:noFill/>
          <a:ln/>
        </p:spPr>
        <p:txBody>
          <a:bodyPr wrap="square" lIns="0" tIns="0" rIns="0" bIns="0" rtlCol="0" anchor="ctr"/>
          <a:lstStyle/>
          <a:p>
            <a:pPr algn="ctr" indent="0" marL="0">
              <a:buNone/>
            </a:pPr>
            <a:r>
              <a:rPr lang="en-US" sz="2600" b="1" dirty="0">
                <a:solidFill>
                  <a:srgbClr val="D9741F"/>
                </a:solidFill>
                <a:latin typeface="Calibri" pitchFamily="34" charset="0"/>
                <a:ea typeface="Calibri" pitchFamily="34" charset="-122"/>
                <a:cs typeface="Calibri" pitchFamily="34" charset="-120"/>
              </a:rPr>
              <a:t>15–30</a:t>
            </a:r>
            <a:endParaRPr lang="en-US" sz="2600" dirty="0"/>
          </a:p>
        </p:txBody>
      </p:sp>
      <p:sp>
        <p:nvSpPr>
          <p:cNvPr id="23" name="Text 21"/>
          <p:cNvSpPr txBox="1"/>
          <p:nvPr/>
        </p:nvSpPr>
        <p:spPr>
          <a:xfrm>
            <a:off x="6126480" y="5669280"/>
            <a:ext cx="2560320" cy="32004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Moderate · events/hour</a:t>
            </a:r>
            <a:endParaRPr lang="en-US" sz="1200" dirty="0"/>
          </a:p>
        </p:txBody>
      </p:sp>
      <p:sp>
        <p:nvSpPr>
          <p:cNvPr id="24" name="Shape 22"/>
          <p:cNvSpPr/>
          <p:nvPr/>
        </p:nvSpPr>
        <p:spPr>
          <a:xfrm>
            <a:off x="8869680" y="5074920"/>
            <a:ext cx="2560320" cy="1051560"/>
          </a:xfrm>
          <a:prstGeom prst="roundRect">
            <a:avLst>
              <a:gd name="adj" fmla="val 8696"/>
            </a:avLst>
          </a:prstGeom>
          <a:solidFill>
            <a:srgbClr val="F3F5F9"/>
          </a:solidFill>
          <a:ln w="12700">
            <a:solidFill>
              <a:srgbClr val="DBE1EC"/>
            </a:solidFill>
            <a:prstDash val="solid"/>
          </a:ln>
        </p:spPr>
      </p:sp>
      <p:sp>
        <p:nvSpPr>
          <p:cNvPr id="25" name="Text 23"/>
          <p:cNvSpPr txBox="1"/>
          <p:nvPr/>
        </p:nvSpPr>
        <p:spPr>
          <a:xfrm>
            <a:off x="8869680" y="5138928"/>
            <a:ext cx="2560320" cy="548640"/>
          </a:xfrm>
          <a:prstGeom prst="rect">
            <a:avLst/>
          </a:prstGeom>
          <a:noFill/>
          <a:ln/>
        </p:spPr>
        <p:txBody>
          <a:bodyPr wrap="square" lIns="0" tIns="0" rIns="0" bIns="0" rtlCol="0" anchor="ctr"/>
          <a:lstStyle/>
          <a:p>
            <a:pPr algn="ctr" indent="0" marL="0">
              <a:buNone/>
            </a:pPr>
            <a:r>
              <a:rPr lang="en-US" sz="2600" b="1" dirty="0">
                <a:solidFill>
                  <a:srgbClr val="CF4747"/>
                </a:solidFill>
                <a:latin typeface="Calibri" pitchFamily="34" charset="0"/>
                <a:ea typeface="Calibri" pitchFamily="34" charset="-122"/>
                <a:cs typeface="Calibri" pitchFamily="34" charset="-120"/>
              </a:rPr>
              <a:t>&gt; 30</a:t>
            </a:r>
            <a:endParaRPr lang="en-US" sz="2600" dirty="0"/>
          </a:p>
        </p:txBody>
      </p:sp>
      <p:sp>
        <p:nvSpPr>
          <p:cNvPr id="26" name="Text 24"/>
          <p:cNvSpPr txBox="1"/>
          <p:nvPr/>
        </p:nvSpPr>
        <p:spPr>
          <a:xfrm>
            <a:off x="8869680" y="5669280"/>
            <a:ext cx="2560320" cy="32004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Severe · events/hour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DESIGN PROTOTYPE</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The wearable</a:t>
            </a:r>
            <a:endParaRPr lang="en-US" sz="3200" dirty="0"/>
          </a:p>
        </p:txBody>
      </p:sp>
      <p:pic>
        <p:nvPicPr>
          <p:cNvPr id="4" name="Image 0" descr="/home/user/teetomivV2/science-fair/night-signal/slides/assets/3d_assembled.jpg">    </p:cNvPr>
          <p:cNvPicPr>
            <a:picLocks noChangeAspect="1"/>
          </p:cNvPicPr>
          <p:nvPr/>
        </p:nvPicPr>
        <p:blipFill>
          <a:blip r:embed="rId1"/>
          <a:stretch>
            <a:fillRect/>
          </a:stretch>
        </p:blipFill>
        <p:spPr>
          <a:xfrm>
            <a:off x="640080" y="1600200"/>
            <a:ext cx="5349240" cy="3620767"/>
          </a:xfrm>
          <a:prstGeom prst="rect">
            <a:avLst/>
          </a:prstGeom>
        </p:spPr>
      </p:pic>
      <p:sp>
        <p:nvSpPr>
          <p:cNvPr id="5" name="Text 2"/>
          <p:cNvSpPr txBox="1"/>
          <p:nvPr/>
        </p:nvSpPr>
        <p:spPr>
          <a:xfrm>
            <a:off x="640080" y="5266687"/>
            <a:ext cx="5349240" cy="274320"/>
          </a:xfrm>
          <a:prstGeom prst="rect">
            <a:avLst/>
          </a:prstGeom>
          <a:noFill/>
          <a:ln/>
        </p:spPr>
        <p:txBody>
          <a:bodyPr wrap="square" lIns="0" tIns="0" rIns="0" bIns="0" rtlCol="0" anchor="ctr"/>
          <a:lstStyle/>
          <a:p>
            <a:pPr algn="ctr" indent="0" marL="0">
              <a:buNone/>
            </a:pPr>
            <a:r>
              <a:rPr lang="en-US" sz="1100" i="1" dirty="0">
                <a:solidFill>
                  <a:srgbClr val="A9B8D2"/>
                </a:solidFill>
                <a:latin typeface="Calibri" pitchFamily="34" charset="0"/>
                <a:ea typeface="Calibri" pitchFamily="34" charset="-122"/>
                <a:cs typeface="Calibri" pitchFamily="34" charset="-120"/>
              </a:rPr>
              <a:t>Assembled — case on a velcro strap, cable to the finger clip</a:t>
            </a:r>
            <a:endParaRPr lang="en-US" sz="1100" dirty="0"/>
          </a:p>
        </p:txBody>
      </p:sp>
      <p:pic>
        <p:nvPicPr>
          <p:cNvPr id="6" name="Image 1" descr="/home/user/teetomivV2/science-fair/night-signal/slides/assets/3d_exploded.jpg">    </p:cNvPr>
          <p:cNvPicPr>
            <a:picLocks noChangeAspect="1"/>
          </p:cNvPicPr>
          <p:nvPr/>
        </p:nvPicPr>
        <p:blipFill>
          <a:blip r:embed="rId2"/>
          <a:stretch>
            <a:fillRect/>
          </a:stretch>
        </p:blipFill>
        <p:spPr>
          <a:xfrm>
            <a:off x="6172200" y="1600200"/>
            <a:ext cx="5349240" cy="3620767"/>
          </a:xfrm>
          <a:prstGeom prst="rect">
            <a:avLst/>
          </a:prstGeom>
        </p:spPr>
      </p:pic>
      <p:sp>
        <p:nvSpPr>
          <p:cNvPr id="7" name="Text 3"/>
          <p:cNvSpPr txBox="1"/>
          <p:nvPr/>
        </p:nvSpPr>
        <p:spPr>
          <a:xfrm>
            <a:off x="6172200" y="5266687"/>
            <a:ext cx="5349240" cy="274320"/>
          </a:xfrm>
          <a:prstGeom prst="rect">
            <a:avLst/>
          </a:prstGeom>
          <a:noFill/>
          <a:ln/>
        </p:spPr>
        <p:txBody>
          <a:bodyPr wrap="square" lIns="0" tIns="0" rIns="0" bIns="0" rtlCol="0" anchor="ctr"/>
          <a:lstStyle/>
          <a:p>
            <a:pPr algn="ctr" indent="0" marL="0">
              <a:buNone/>
            </a:pPr>
            <a:r>
              <a:rPr lang="en-US" sz="1100" i="1" dirty="0">
                <a:solidFill>
                  <a:srgbClr val="A9B8D2"/>
                </a:solidFill>
                <a:latin typeface="Calibri" pitchFamily="34" charset="0"/>
                <a:ea typeface="Calibri" pitchFamily="34" charset="-122"/>
                <a:cs typeface="Calibri" pitchFamily="34" charset="-120"/>
              </a:rPr>
              <a:t>Exploded — every part at its real size</a:t>
            </a:r>
            <a:endParaRPr lang="en-US" sz="1100" dirty="0"/>
          </a:p>
        </p:txBody>
      </p:sp>
      <p:sp>
        <p:nvSpPr>
          <p:cNvPr id="8" name="Text 4"/>
          <p:cNvSpPr txBox="1"/>
          <p:nvPr/>
        </p:nvSpPr>
        <p:spPr>
          <a:xfrm>
            <a:off x="640080" y="5486400"/>
            <a:ext cx="2240280" cy="411480"/>
          </a:xfrm>
          <a:prstGeom prst="rect">
            <a:avLst/>
          </a:prstGeom>
          <a:noFill/>
          <a:ln/>
        </p:spPr>
        <p:txBody>
          <a:bodyPr wrap="square" lIns="0" tIns="0" rIns="0" bIns="0" rtlCol="0" anchor="ctr"/>
          <a:lstStyle/>
          <a:p>
            <a:pPr indent="0" marL="0">
              <a:buNone/>
            </a:pPr>
            <a:r>
              <a:rPr lang="en-US" sz="2000" b="1" dirty="0">
                <a:solidFill>
                  <a:srgbClr val="3FB8CC"/>
                </a:solidFill>
                <a:latin typeface="Calibri" pitchFamily="34" charset="0"/>
                <a:ea typeface="Calibri" pitchFamily="34" charset="-122"/>
                <a:cs typeface="Calibri" pitchFamily="34" charset="-120"/>
              </a:rPr>
              <a:t>70 × 45 × 29 mm</a:t>
            </a:r>
            <a:endParaRPr lang="en-US" sz="2000" dirty="0"/>
          </a:p>
        </p:txBody>
      </p:sp>
      <p:sp>
        <p:nvSpPr>
          <p:cNvPr id="9" name="Text 5"/>
          <p:cNvSpPr txBox="1"/>
          <p:nvPr/>
        </p:nvSpPr>
        <p:spPr>
          <a:xfrm>
            <a:off x="640080" y="5897880"/>
            <a:ext cx="2240280" cy="274320"/>
          </a:xfrm>
          <a:prstGeom prst="rect">
            <a:avLst/>
          </a:prstGeom>
          <a:noFill/>
          <a:ln/>
        </p:spPr>
        <p:txBody>
          <a:bodyPr wrap="square" lIns="0" tIns="0" rIns="0" bIns="0" rtlCol="0" anchor="ctr"/>
          <a:lstStyle/>
          <a:p>
            <a:pPr indent="0" marL="0">
              <a:buNone/>
            </a:pPr>
            <a:r>
              <a:rPr lang="en-US" sz="1200" dirty="0">
                <a:solidFill>
                  <a:srgbClr val="A9B8D2"/>
                </a:solidFill>
                <a:latin typeface="Calibri" pitchFamily="34" charset="0"/>
                <a:ea typeface="Calibri" pitchFamily="34" charset="-122"/>
                <a:cs typeface="Calibri" pitchFamily="34" charset="-120"/>
              </a:rPr>
              <a:t>sensor case</a:t>
            </a:r>
            <a:endParaRPr lang="en-US" sz="1200" dirty="0"/>
          </a:p>
        </p:txBody>
      </p:sp>
      <p:sp>
        <p:nvSpPr>
          <p:cNvPr id="10" name="Text 6"/>
          <p:cNvSpPr txBox="1"/>
          <p:nvPr/>
        </p:nvSpPr>
        <p:spPr>
          <a:xfrm>
            <a:off x="2971800" y="5486400"/>
            <a:ext cx="2240280" cy="411480"/>
          </a:xfrm>
          <a:prstGeom prst="rect">
            <a:avLst/>
          </a:prstGeom>
          <a:noFill/>
          <a:ln/>
        </p:spPr>
        <p:txBody>
          <a:bodyPr wrap="square" lIns="0" tIns="0" rIns="0" bIns="0" rtlCol="0" anchor="ctr"/>
          <a:lstStyle/>
          <a:p>
            <a:pPr indent="0" marL="0">
              <a:buNone/>
            </a:pPr>
            <a:r>
              <a:rPr lang="en-US" sz="2000" b="1" dirty="0">
                <a:solidFill>
                  <a:srgbClr val="3FB8CC"/>
                </a:solidFill>
                <a:latin typeface="Calibri" pitchFamily="34" charset="0"/>
                <a:ea typeface="Calibri" pitchFamily="34" charset="-122"/>
                <a:cs typeface="Calibri" pitchFamily="34" charset="-120"/>
              </a:rPr>
              <a:t>25 mm</a:t>
            </a:r>
            <a:endParaRPr lang="en-US" sz="2000" dirty="0"/>
          </a:p>
        </p:txBody>
      </p:sp>
      <p:sp>
        <p:nvSpPr>
          <p:cNvPr id="11" name="Text 7"/>
          <p:cNvSpPr txBox="1"/>
          <p:nvPr/>
        </p:nvSpPr>
        <p:spPr>
          <a:xfrm>
            <a:off x="2971800" y="5897880"/>
            <a:ext cx="2240280" cy="274320"/>
          </a:xfrm>
          <a:prstGeom prst="rect">
            <a:avLst/>
          </a:prstGeom>
          <a:noFill/>
          <a:ln/>
        </p:spPr>
        <p:txBody>
          <a:bodyPr wrap="square" lIns="0" tIns="0" rIns="0" bIns="0" rtlCol="0" anchor="ctr"/>
          <a:lstStyle/>
          <a:p>
            <a:pPr indent="0" marL="0">
              <a:buNone/>
            </a:pPr>
            <a:r>
              <a:rPr lang="en-US" sz="1200" dirty="0">
                <a:solidFill>
                  <a:srgbClr val="A9B8D2"/>
                </a:solidFill>
                <a:latin typeface="Calibri" pitchFamily="34" charset="0"/>
                <a:ea typeface="Calibri" pitchFamily="34" charset="-122"/>
                <a:cs typeface="Calibri" pitchFamily="34" charset="-120"/>
              </a:rPr>
              <a:t>velcro strap</a:t>
            </a:r>
            <a:endParaRPr lang="en-US" sz="1200" dirty="0"/>
          </a:p>
        </p:txBody>
      </p:sp>
      <p:sp>
        <p:nvSpPr>
          <p:cNvPr id="12" name="Text 8"/>
          <p:cNvSpPr txBox="1"/>
          <p:nvPr/>
        </p:nvSpPr>
        <p:spPr>
          <a:xfrm>
            <a:off x="5303520" y="5486400"/>
            <a:ext cx="2240280" cy="411480"/>
          </a:xfrm>
          <a:prstGeom prst="rect">
            <a:avLst/>
          </a:prstGeom>
          <a:noFill/>
          <a:ln/>
        </p:spPr>
        <p:txBody>
          <a:bodyPr wrap="square" lIns="0" tIns="0" rIns="0" bIns="0" rtlCol="0" anchor="ctr"/>
          <a:lstStyle/>
          <a:p>
            <a:pPr indent="0" marL="0">
              <a:buNone/>
            </a:pPr>
            <a:r>
              <a:rPr lang="en-US" sz="2000" b="1" dirty="0">
                <a:solidFill>
                  <a:srgbClr val="3FB8CC"/>
                </a:solidFill>
                <a:latin typeface="Calibri" pitchFamily="34" charset="0"/>
                <a:ea typeface="Calibri" pitchFamily="34" charset="-122"/>
                <a:cs typeface="Calibri" pitchFamily="34" charset="-120"/>
              </a:rPr>
              <a:t>14 × 14 mm</a:t>
            </a:r>
            <a:endParaRPr lang="en-US" sz="2000" dirty="0"/>
          </a:p>
        </p:txBody>
      </p:sp>
      <p:sp>
        <p:nvSpPr>
          <p:cNvPr id="13" name="Text 9"/>
          <p:cNvSpPr txBox="1"/>
          <p:nvPr/>
        </p:nvSpPr>
        <p:spPr>
          <a:xfrm>
            <a:off x="5303520" y="5897880"/>
            <a:ext cx="2240280" cy="274320"/>
          </a:xfrm>
          <a:prstGeom prst="rect">
            <a:avLst/>
          </a:prstGeom>
          <a:noFill/>
          <a:ln/>
        </p:spPr>
        <p:txBody>
          <a:bodyPr wrap="square" lIns="0" tIns="0" rIns="0" bIns="0" rtlCol="0" anchor="ctr"/>
          <a:lstStyle/>
          <a:p>
            <a:pPr indent="0" marL="0">
              <a:buNone/>
            </a:pPr>
            <a:r>
              <a:rPr lang="en-US" sz="1200" dirty="0">
                <a:solidFill>
                  <a:srgbClr val="A9B8D2"/>
                </a:solidFill>
                <a:latin typeface="Calibri" pitchFamily="34" charset="0"/>
                <a:ea typeface="Calibri" pitchFamily="34" charset="-122"/>
                <a:cs typeface="Calibri" pitchFamily="34" charset="-120"/>
              </a:rPr>
              <a:t>finger sensor</a:t>
            </a:r>
            <a:endParaRPr lang="en-US" sz="1200" dirty="0"/>
          </a:p>
        </p:txBody>
      </p:sp>
      <p:sp>
        <p:nvSpPr>
          <p:cNvPr id="14" name="Text 10"/>
          <p:cNvSpPr txBox="1"/>
          <p:nvPr/>
        </p:nvSpPr>
        <p:spPr>
          <a:xfrm>
            <a:off x="7635240" y="5486400"/>
            <a:ext cx="2240280" cy="411480"/>
          </a:xfrm>
          <a:prstGeom prst="rect">
            <a:avLst/>
          </a:prstGeom>
          <a:noFill/>
          <a:ln/>
        </p:spPr>
        <p:txBody>
          <a:bodyPr wrap="square" lIns="0" tIns="0" rIns="0" bIns="0" rtlCol="0" anchor="ctr"/>
          <a:lstStyle/>
          <a:p>
            <a:pPr indent="0" marL="0">
              <a:buNone/>
            </a:pPr>
            <a:r>
              <a:rPr lang="en-US" sz="2000" b="1" dirty="0">
                <a:solidFill>
                  <a:srgbClr val="3FB8CC"/>
                </a:solidFill>
                <a:latin typeface="Calibri" pitchFamily="34" charset="0"/>
                <a:ea typeface="Calibri" pitchFamily="34" charset="-122"/>
                <a:cs typeface="Calibri" pitchFamily="34" charset="-120"/>
              </a:rPr>
              <a:t>1 / second</a:t>
            </a:r>
            <a:endParaRPr lang="en-US" sz="2000" dirty="0"/>
          </a:p>
        </p:txBody>
      </p:sp>
      <p:sp>
        <p:nvSpPr>
          <p:cNvPr id="15" name="Text 11"/>
          <p:cNvSpPr txBox="1"/>
          <p:nvPr/>
        </p:nvSpPr>
        <p:spPr>
          <a:xfrm>
            <a:off x="7635240" y="5897880"/>
            <a:ext cx="2240280" cy="274320"/>
          </a:xfrm>
          <a:prstGeom prst="rect">
            <a:avLst/>
          </a:prstGeom>
          <a:noFill/>
          <a:ln/>
        </p:spPr>
        <p:txBody>
          <a:bodyPr wrap="square" lIns="0" tIns="0" rIns="0" bIns="0" rtlCol="0" anchor="ctr"/>
          <a:lstStyle/>
          <a:p>
            <a:pPr indent="0" marL="0">
              <a:buNone/>
            </a:pPr>
            <a:r>
              <a:rPr lang="en-US" sz="1200" dirty="0">
                <a:solidFill>
                  <a:srgbClr val="A9B8D2"/>
                </a:solidFill>
                <a:latin typeface="Calibri" pitchFamily="34" charset="0"/>
                <a:ea typeface="Calibri" pitchFamily="34" charset="-122"/>
                <a:cs typeface="Calibri" pitchFamily="34" charset="-120"/>
              </a:rPr>
              <a:t>readings</a:t>
            </a:r>
            <a:endParaRPr lang="en-US" sz="1200" dirty="0"/>
          </a:p>
        </p:txBody>
      </p:sp>
      <p:pic>
        <p:nvPicPr>
          <p:cNvPr id="16" name="Image 2" descr="/home/user/teetomivV2/science-fair/night-signal/slides/assets/qr_3d.png">
            <a:hlinkClick r:id="rId4" tooltip="Interactive 3D model"/>
          </p:cNvPr>
          <p:cNvPicPr>
            <a:picLocks noChangeAspect="1"/>
          </p:cNvPicPr>
          <p:nvPr/>
        </p:nvPicPr>
        <p:blipFill>
          <a:blip r:embed="rId3"/>
          <a:stretch>
            <a:fillRect/>
          </a:stretch>
        </p:blipFill>
        <p:spPr>
          <a:xfrm>
            <a:off x="10561320" y="5394960"/>
            <a:ext cx="960120" cy="960120"/>
          </a:xfrm>
          <a:prstGeom prst="rect">
            <a:avLst/>
          </a:prstGeom>
        </p:spPr>
      </p:pic>
      <p:sp>
        <p:nvSpPr>
          <p:cNvPr id="17" name="Text 12"/>
          <p:cNvSpPr txBox="1"/>
          <p:nvPr/>
        </p:nvSpPr>
        <p:spPr>
          <a:xfrm>
            <a:off x="9281160" y="5715000"/>
            <a:ext cx="1234440" cy="292608"/>
          </a:xfrm>
          <a:prstGeom prst="rect">
            <a:avLst/>
          </a:prstGeom>
          <a:noFill/>
          <a:ln/>
        </p:spPr>
        <p:txBody>
          <a:bodyPr wrap="square" lIns="0" tIns="0" rIns="0" bIns="0" rtlCol="0" anchor="ctr"/>
          <a:lstStyle/>
          <a:p>
            <a:pPr indent="0" marL="0">
              <a:buNone/>
            </a:pPr>
            <a:r>
              <a:rPr lang="en-US" sz="1200" u="sng" dirty="0">
                <a:solidFill>
                  <a:srgbClr val="3FB8CC"/>
                </a:solidFill>
                <a:latin typeface="Calibri" pitchFamily="34" charset="0"/>
                <a:ea typeface="Calibri" pitchFamily="34" charset="-122"/>
                <a:cs typeface="Calibri" pitchFamily="34" charset="-120"/>
                <a:hlinkClick r:id="rId5" invalidUrl="" action="" tgtFrame="" tooltip="https://claude.ai/artifact/7wqAASJ8qWxBBKBuVHAqLt" history="1" highlightClick="0" endSnd="0">
                  <a:extLst>
                    <a:ext uri="{A12FA001-AC4F-418D-AE19-62706E023703}">
                      <ahyp:hlinkClr xmlns:ahyp="http://schemas.microsoft.com/office/drawing/2018/hyperlinkcolor" val="tx"/>
                    </a:ext>
                  </a:extLst>
                </a:hlinkClick>
              </a:rPr>
              <a:t>Interactive 3D →</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DESIGN PROTOTYPE · HOW IT WORKS</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From fingertip to sleep report</a:t>
            </a:r>
            <a:endParaRPr lang="en-US" sz="3200" dirty="0"/>
          </a:p>
        </p:txBody>
      </p:sp>
      <p:sp>
        <p:nvSpPr>
          <p:cNvPr id="4" name="Shape 2"/>
          <p:cNvSpPr/>
          <p:nvPr/>
        </p:nvSpPr>
        <p:spPr>
          <a:xfrm>
            <a:off x="640080" y="1691640"/>
            <a:ext cx="2514600" cy="1234440"/>
          </a:xfrm>
          <a:prstGeom prst="roundRect">
            <a:avLst>
              <a:gd name="adj" fmla="val 7407"/>
            </a:avLst>
          </a:prstGeom>
          <a:solidFill>
            <a:srgbClr val="F3F5F9"/>
          </a:solidFill>
          <a:ln w="12700">
            <a:solidFill>
              <a:srgbClr val="DBE1EC"/>
            </a:solidFill>
            <a:prstDash val="solid"/>
          </a:ln>
        </p:spPr>
      </p:sp>
      <p:sp>
        <p:nvSpPr>
          <p:cNvPr id="5" name="Text 3"/>
          <p:cNvSpPr txBox="1"/>
          <p:nvPr/>
        </p:nvSpPr>
        <p:spPr>
          <a:xfrm>
            <a:off x="777240" y="1828800"/>
            <a:ext cx="2240280" cy="411480"/>
          </a:xfrm>
          <a:prstGeom prst="rect">
            <a:avLst/>
          </a:prstGeom>
          <a:noFill/>
          <a:ln/>
        </p:spPr>
        <p:txBody>
          <a:bodyPr wrap="square" lIns="0" tIns="0" rIns="0" bIns="0" rtlCol="0" anchor="ctr"/>
          <a:lstStyle/>
          <a:p>
            <a:pPr algn="ctr" indent="0" marL="0">
              <a:buNone/>
            </a:pPr>
            <a:r>
              <a:rPr lang="en-US" sz="1600" b="1" dirty="0">
                <a:solidFill>
                  <a:srgbClr val="141A26"/>
                </a:solidFill>
                <a:latin typeface="Calibri" pitchFamily="34" charset="0"/>
                <a:ea typeface="Calibri" pitchFamily="34" charset="-122"/>
                <a:cs typeface="Calibri" pitchFamily="34" charset="-120"/>
              </a:rPr>
              <a:t>Finger sensor</a:t>
            </a:r>
            <a:endParaRPr lang="en-US" sz="1600" dirty="0"/>
          </a:p>
        </p:txBody>
      </p:sp>
      <p:sp>
        <p:nvSpPr>
          <p:cNvPr id="6" name="Text 4"/>
          <p:cNvSpPr txBox="1"/>
          <p:nvPr/>
        </p:nvSpPr>
        <p:spPr>
          <a:xfrm>
            <a:off x="777240" y="2240280"/>
            <a:ext cx="2240280" cy="548640"/>
          </a:xfrm>
          <a:prstGeom prst="rect">
            <a:avLst/>
          </a:prstGeom>
          <a:noFill/>
          <a:ln/>
        </p:spPr>
        <p:txBody>
          <a:bodyPr wrap="square" lIns="0" tIns="0" rIns="0" bIns="0" rtlCol="0" anchor="t"/>
          <a:lstStyle/>
          <a:p>
            <a:pPr algn="ctr" indent="0" marL="0">
              <a:buNone/>
            </a:pPr>
            <a:r>
              <a:rPr lang="en-US" sz="1200" dirty="0">
                <a:solidFill>
                  <a:srgbClr val="44515F"/>
                </a:solidFill>
                <a:latin typeface="Calibri" pitchFamily="34" charset="0"/>
                <a:ea typeface="Calibri" pitchFamily="34" charset="-122"/>
                <a:cs typeface="Calibri" pitchFamily="34" charset="-120"/>
              </a:rPr>
              <a:t>MAX30102 · red + infrared light</a:t>
            </a:r>
            <a:endParaRPr lang="en-US" sz="1200" dirty="0"/>
          </a:p>
        </p:txBody>
      </p:sp>
      <p:sp>
        <p:nvSpPr>
          <p:cNvPr id="7" name="Text 5"/>
          <p:cNvSpPr txBox="1"/>
          <p:nvPr/>
        </p:nvSpPr>
        <p:spPr>
          <a:xfrm>
            <a:off x="3154680" y="1691640"/>
            <a:ext cx="320040" cy="1234440"/>
          </a:xfrm>
          <a:prstGeom prst="rect">
            <a:avLst/>
          </a:prstGeom>
          <a:noFill/>
          <a:ln/>
        </p:spPr>
        <p:txBody>
          <a:bodyPr wrap="square" lIns="0" tIns="0" rIns="0" bIns="0" rtlCol="0" anchor="ctr"/>
          <a:lstStyle/>
          <a:p>
            <a:pPr algn="ctr" indent="0" marL="0">
              <a:buNone/>
            </a:pPr>
            <a:r>
              <a:rPr lang="en-US" sz="3000" b="1" dirty="0">
                <a:solidFill>
                  <a:srgbClr val="E4568A"/>
                </a:solidFill>
                <a:latin typeface="Calibri" pitchFamily="34" charset="0"/>
                <a:ea typeface="Calibri" pitchFamily="34" charset="-122"/>
                <a:cs typeface="Calibri" pitchFamily="34" charset="-120"/>
              </a:rPr>
              <a:t>›</a:t>
            </a:r>
            <a:endParaRPr lang="en-US" sz="3000" dirty="0"/>
          </a:p>
        </p:txBody>
      </p:sp>
      <p:sp>
        <p:nvSpPr>
          <p:cNvPr id="8" name="Shape 6"/>
          <p:cNvSpPr/>
          <p:nvPr/>
        </p:nvSpPr>
        <p:spPr>
          <a:xfrm>
            <a:off x="3474720" y="1691640"/>
            <a:ext cx="2514600" cy="1234440"/>
          </a:xfrm>
          <a:prstGeom prst="roundRect">
            <a:avLst>
              <a:gd name="adj" fmla="val 7407"/>
            </a:avLst>
          </a:prstGeom>
          <a:solidFill>
            <a:srgbClr val="F3F5F9"/>
          </a:solidFill>
          <a:ln w="12700">
            <a:solidFill>
              <a:srgbClr val="DBE1EC"/>
            </a:solidFill>
            <a:prstDash val="solid"/>
          </a:ln>
        </p:spPr>
      </p:sp>
      <p:sp>
        <p:nvSpPr>
          <p:cNvPr id="9" name="Text 7"/>
          <p:cNvSpPr txBox="1"/>
          <p:nvPr/>
        </p:nvSpPr>
        <p:spPr>
          <a:xfrm>
            <a:off x="3611880" y="1828800"/>
            <a:ext cx="2240280" cy="411480"/>
          </a:xfrm>
          <a:prstGeom prst="rect">
            <a:avLst/>
          </a:prstGeom>
          <a:noFill/>
          <a:ln/>
        </p:spPr>
        <p:txBody>
          <a:bodyPr wrap="square" lIns="0" tIns="0" rIns="0" bIns="0" rtlCol="0" anchor="ctr"/>
          <a:lstStyle/>
          <a:p>
            <a:pPr algn="ctr" indent="0" marL="0">
              <a:buNone/>
            </a:pPr>
            <a:r>
              <a:rPr lang="en-US" sz="1600" b="1" dirty="0">
                <a:solidFill>
                  <a:srgbClr val="141A26"/>
                </a:solidFill>
                <a:latin typeface="Calibri" pitchFamily="34" charset="0"/>
                <a:ea typeface="Calibri" pitchFamily="34" charset="-122"/>
                <a:cs typeface="Calibri" pitchFamily="34" charset="-120"/>
              </a:rPr>
              <a:t>ESP32 in the case</a:t>
            </a:r>
            <a:endParaRPr lang="en-US" sz="1600" dirty="0"/>
          </a:p>
        </p:txBody>
      </p:sp>
      <p:sp>
        <p:nvSpPr>
          <p:cNvPr id="10" name="Text 8"/>
          <p:cNvSpPr txBox="1"/>
          <p:nvPr/>
        </p:nvSpPr>
        <p:spPr>
          <a:xfrm>
            <a:off x="3611880" y="2240280"/>
            <a:ext cx="2240280" cy="548640"/>
          </a:xfrm>
          <a:prstGeom prst="rect">
            <a:avLst/>
          </a:prstGeom>
          <a:noFill/>
          <a:ln/>
        </p:spPr>
        <p:txBody>
          <a:bodyPr wrap="square" lIns="0" tIns="0" rIns="0" bIns="0" rtlCol="0" anchor="t"/>
          <a:lstStyle/>
          <a:p>
            <a:pPr algn="ctr" indent="0" marL="0">
              <a:buNone/>
            </a:pPr>
            <a:r>
              <a:rPr lang="en-US" sz="1200" dirty="0">
                <a:solidFill>
                  <a:srgbClr val="44515F"/>
                </a:solidFill>
                <a:latin typeface="Calibri" pitchFamily="34" charset="0"/>
                <a:ea typeface="Calibri" pitchFamily="34" charset="-122"/>
                <a:cs typeface="Calibri" pitchFamily="34" charset="-120"/>
              </a:rPr>
              <a:t>computes SpO₂ + pulse, reads position</a:t>
            </a:r>
            <a:endParaRPr lang="en-US" sz="1200" dirty="0"/>
          </a:p>
        </p:txBody>
      </p:sp>
      <p:sp>
        <p:nvSpPr>
          <p:cNvPr id="11" name="Text 9"/>
          <p:cNvSpPr txBox="1"/>
          <p:nvPr/>
        </p:nvSpPr>
        <p:spPr>
          <a:xfrm>
            <a:off x="5989320" y="1691640"/>
            <a:ext cx="320040" cy="1234440"/>
          </a:xfrm>
          <a:prstGeom prst="rect">
            <a:avLst/>
          </a:prstGeom>
          <a:noFill/>
          <a:ln/>
        </p:spPr>
        <p:txBody>
          <a:bodyPr wrap="square" lIns="0" tIns="0" rIns="0" bIns="0" rtlCol="0" anchor="ctr"/>
          <a:lstStyle/>
          <a:p>
            <a:pPr algn="ctr" indent="0" marL="0">
              <a:buNone/>
            </a:pPr>
            <a:r>
              <a:rPr lang="en-US" sz="3000" b="1" dirty="0">
                <a:solidFill>
                  <a:srgbClr val="E4568A"/>
                </a:solidFill>
                <a:latin typeface="Calibri" pitchFamily="34" charset="0"/>
                <a:ea typeface="Calibri" pitchFamily="34" charset="-122"/>
                <a:cs typeface="Calibri" pitchFamily="34" charset="-120"/>
              </a:rPr>
              <a:t>›</a:t>
            </a:r>
            <a:endParaRPr lang="en-US" sz="3000" dirty="0"/>
          </a:p>
        </p:txBody>
      </p:sp>
      <p:sp>
        <p:nvSpPr>
          <p:cNvPr id="12" name="Shape 10"/>
          <p:cNvSpPr/>
          <p:nvPr/>
        </p:nvSpPr>
        <p:spPr>
          <a:xfrm>
            <a:off x="6309360" y="1691640"/>
            <a:ext cx="2514600" cy="1234440"/>
          </a:xfrm>
          <a:prstGeom prst="roundRect">
            <a:avLst>
              <a:gd name="adj" fmla="val 7407"/>
            </a:avLst>
          </a:prstGeom>
          <a:solidFill>
            <a:srgbClr val="F3F5F9"/>
          </a:solidFill>
          <a:ln w="12700">
            <a:solidFill>
              <a:srgbClr val="DBE1EC"/>
            </a:solidFill>
            <a:prstDash val="solid"/>
          </a:ln>
        </p:spPr>
      </p:sp>
      <p:sp>
        <p:nvSpPr>
          <p:cNvPr id="13" name="Text 11"/>
          <p:cNvSpPr txBox="1"/>
          <p:nvPr/>
        </p:nvSpPr>
        <p:spPr>
          <a:xfrm>
            <a:off x="6446520" y="1828800"/>
            <a:ext cx="2240280" cy="411480"/>
          </a:xfrm>
          <a:prstGeom prst="rect">
            <a:avLst/>
          </a:prstGeom>
          <a:noFill/>
          <a:ln/>
        </p:spPr>
        <p:txBody>
          <a:bodyPr wrap="square" lIns="0" tIns="0" rIns="0" bIns="0" rtlCol="0" anchor="ctr"/>
          <a:lstStyle/>
          <a:p>
            <a:pPr algn="ctr" indent="0" marL="0">
              <a:buNone/>
            </a:pPr>
            <a:r>
              <a:rPr lang="en-US" sz="1600" b="1" dirty="0">
                <a:solidFill>
                  <a:srgbClr val="141A26"/>
                </a:solidFill>
                <a:latin typeface="Calibri" pitchFamily="34" charset="0"/>
                <a:ea typeface="Calibri" pitchFamily="34" charset="-122"/>
                <a:cs typeface="Calibri" pitchFamily="34" charset="-120"/>
              </a:rPr>
              <a:t>Bluetooth / USB</a:t>
            </a:r>
            <a:endParaRPr lang="en-US" sz="1600" dirty="0"/>
          </a:p>
        </p:txBody>
      </p:sp>
      <p:sp>
        <p:nvSpPr>
          <p:cNvPr id="14" name="Text 12"/>
          <p:cNvSpPr txBox="1"/>
          <p:nvPr/>
        </p:nvSpPr>
        <p:spPr>
          <a:xfrm>
            <a:off x="6446520" y="2240280"/>
            <a:ext cx="2240280" cy="548640"/>
          </a:xfrm>
          <a:prstGeom prst="rect">
            <a:avLst/>
          </a:prstGeom>
          <a:noFill/>
          <a:ln/>
        </p:spPr>
        <p:txBody>
          <a:bodyPr wrap="square" lIns="0" tIns="0" rIns="0" bIns="0" rtlCol="0" anchor="t"/>
          <a:lstStyle/>
          <a:p>
            <a:pPr algn="ctr" indent="0" marL="0">
              <a:buNone/>
            </a:pPr>
            <a:r>
              <a:rPr lang="en-US" sz="1200" dirty="0">
                <a:solidFill>
                  <a:srgbClr val="44515F"/>
                </a:solidFill>
                <a:latin typeface="Calibri" pitchFamily="34" charset="0"/>
                <a:ea typeface="Calibri" pitchFamily="34" charset="-122"/>
                <a:cs typeface="Calibri" pitchFamily="34" charset="-120"/>
              </a:rPr>
              <a:t>one line of data every second</a:t>
            </a:r>
            <a:endParaRPr lang="en-US" sz="1200" dirty="0"/>
          </a:p>
        </p:txBody>
      </p:sp>
      <p:sp>
        <p:nvSpPr>
          <p:cNvPr id="15" name="Text 13"/>
          <p:cNvSpPr txBox="1"/>
          <p:nvPr/>
        </p:nvSpPr>
        <p:spPr>
          <a:xfrm>
            <a:off x="8823960" y="1691640"/>
            <a:ext cx="320040" cy="1234440"/>
          </a:xfrm>
          <a:prstGeom prst="rect">
            <a:avLst/>
          </a:prstGeom>
          <a:noFill/>
          <a:ln/>
        </p:spPr>
        <p:txBody>
          <a:bodyPr wrap="square" lIns="0" tIns="0" rIns="0" bIns="0" rtlCol="0" anchor="ctr"/>
          <a:lstStyle/>
          <a:p>
            <a:pPr algn="ctr" indent="0" marL="0">
              <a:buNone/>
            </a:pPr>
            <a:r>
              <a:rPr lang="en-US" sz="3000" b="1" dirty="0">
                <a:solidFill>
                  <a:srgbClr val="E4568A"/>
                </a:solidFill>
                <a:latin typeface="Calibri" pitchFamily="34" charset="0"/>
                <a:ea typeface="Calibri" pitchFamily="34" charset="-122"/>
                <a:cs typeface="Calibri" pitchFamily="34" charset="-120"/>
              </a:rPr>
              <a:t>›</a:t>
            </a:r>
            <a:endParaRPr lang="en-US" sz="3000" dirty="0"/>
          </a:p>
        </p:txBody>
      </p:sp>
      <p:sp>
        <p:nvSpPr>
          <p:cNvPr id="16" name="Shape 14"/>
          <p:cNvSpPr/>
          <p:nvPr/>
        </p:nvSpPr>
        <p:spPr>
          <a:xfrm>
            <a:off x="9144000" y="1691640"/>
            <a:ext cx="2514600" cy="1234440"/>
          </a:xfrm>
          <a:prstGeom prst="roundRect">
            <a:avLst>
              <a:gd name="adj" fmla="val 7407"/>
            </a:avLst>
          </a:prstGeom>
          <a:solidFill>
            <a:srgbClr val="F3F5F9"/>
          </a:solidFill>
          <a:ln w="12700">
            <a:solidFill>
              <a:srgbClr val="DBE1EC"/>
            </a:solidFill>
            <a:prstDash val="solid"/>
          </a:ln>
        </p:spPr>
      </p:sp>
      <p:sp>
        <p:nvSpPr>
          <p:cNvPr id="17" name="Text 15"/>
          <p:cNvSpPr txBox="1"/>
          <p:nvPr/>
        </p:nvSpPr>
        <p:spPr>
          <a:xfrm>
            <a:off x="9281160" y="1828800"/>
            <a:ext cx="2240280" cy="411480"/>
          </a:xfrm>
          <a:prstGeom prst="rect">
            <a:avLst/>
          </a:prstGeom>
          <a:noFill/>
          <a:ln/>
        </p:spPr>
        <p:txBody>
          <a:bodyPr wrap="square" lIns="0" tIns="0" rIns="0" bIns="0" rtlCol="0" anchor="ctr"/>
          <a:lstStyle/>
          <a:p>
            <a:pPr algn="ctr" indent="0" marL="0">
              <a:buNone/>
            </a:pPr>
            <a:r>
              <a:rPr lang="en-US" sz="1600" b="1" dirty="0">
                <a:solidFill>
                  <a:srgbClr val="141A26"/>
                </a:solidFill>
                <a:latin typeface="Calibri" pitchFamily="34" charset="0"/>
                <a:ea typeface="Calibri" pitchFamily="34" charset="-122"/>
                <a:cs typeface="Calibri" pitchFamily="34" charset="-120"/>
              </a:rPr>
              <a:t>App + analysis</a:t>
            </a:r>
            <a:endParaRPr lang="en-US" sz="1600" dirty="0"/>
          </a:p>
        </p:txBody>
      </p:sp>
      <p:sp>
        <p:nvSpPr>
          <p:cNvPr id="18" name="Text 16"/>
          <p:cNvSpPr txBox="1"/>
          <p:nvPr/>
        </p:nvSpPr>
        <p:spPr>
          <a:xfrm>
            <a:off x="9281160" y="2240280"/>
            <a:ext cx="2240280" cy="548640"/>
          </a:xfrm>
          <a:prstGeom prst="rect">
            <a:avLst/>
          </a:prstGeom>
          <a:noFill/>
          <a:ln/>
        </p:spPr>
        <p:txBody>
          <a:bodyPr wrap="square" lIns="0" tIns="0" rIns="0" bIns="0" rtlCol="0" anchor="t"/>
          <a:lstStyle/>
          <a:p>
            <a:pPr algn="ctr" indent="0" marL="0">
              <a:buNone/>
            </a:pPr>
            <a:r>
              <a:rPr lang="en-US" sz="1200" dirty="0">
                <a:solidFill>
                  <a:srgbClr val="44515F"/>
                </a:solidFill>
                <a:latin typeface="Calibri" pitchFamily="34" charset="0"/>
                <a:ea typeface="Calibri" pitchFamily="34" charset="-122"/>
                <a:cs typeface="Calibri" pitchFamily="34" charset="-120"/>
              </a:rPr>
              <a:t>events, AHI, heart, breathing</a:t>
            </a:r>
            <a:endParaRPr lang="en-US" sz="1200" dirty="0"/>
          </a:p>
        </p:txBody>
      </p:sp>
      <p:sp>
        <p:nvSpPr>
          <p:cNvPr id="19" name="Text 17"/>
          <p:cNvSpPr txBox="1"/>
          <p:nvPr/>
        </p:nvSpPr>
        <p:spPr>
          <a:xfrm>
            <a:off x="640080" y="3246120"/>
            <a:ext cx="6400800" cy="365760"/>
          </a:xfrm>
          <a:prstGeom prst="rect">
            <a:avLst/>
          </a:prstGeom>
          <a:noFill/>
          <a:ln/>
        </p:spPr>
        <p:txBody>
          <a:bodyPr wrap="square" lIns="0" tIns="0" rIns="0" bIns="0" rtlCol="0" anchor="ctr"/>
          <a:lstStyle/>
          <a:p>
            <a:pPr indent="0" marL="0">
              <a:buNone/>
            </a:pPr>
            <a:r>
              <a:rPr lang="en-US" sz="1600" b="1" dirty="0">
                <a:solidFill>
                  <a:srgbClr val="141A26"/>
                </a:solidFill>
                <a:latin typeface="Calibri" pitchFamily="34" charset="0"/>
                <a:ea typeface="Calibri" pitchFamily="34" charset="-122"/>
                <a:cs typeface="Calibri" pitchFamily="34" charset="-120"/>
              </a:rPr>
              <a:t>Built-in self-test — proves it’s working before every recording</a:t>
            </a:r>
            <a:endParaRPr lang="en-US" sz="1600" dirty="0"/>
          </a:p>
        </p:txBody>
      </p:sp>
      <p:sp>
        <p:nvSpPr>
          <p:cNvPr id="20" name="Shape 18"/>
          <p:cNvSpPr/>
          <p:nvPr/>
        </p:nvSpPr>
        <p:spPr>
          <a:xfrm>
            <a:off x="640080" y="3657600"/>
            <a:ext cx="6400800" cy="2514600"/>
          </a:xfrm>
          <a:prstGeom prst="roundRect">
            <a:avLst>
              <a:gd name="adj" fmla="val 3636"/>
            </a:avLst>
          </a:prstGeom>
          <a:solidFill>
            <a:srgbClr val="0E1830"/>
          </a:solidFill>
          <a:ln w="12700">
            <a:solidFill>
              <a:srgbClr val="0E1830"/>
            </a:solidFill>
            <a:prstDash val="solid"/>
          </a:ln>
        </p:spPr>
      </p:sp>
      <p:sp>
        <p:nvSpPr>
          <p:cNvPr id="21" name="Text 19"/>
          <p:cNvSpPr txBox="1"/>
          <p:nvPr/>
        </p:nvSpPr>
        <p:spPr>
          <a:xfrm>
            <a:off x="868680" y="3794760"/>
            <a:ext cx="6035040" cy="2286000"/>
          </a:xfrm>
          <a:prstGeom prst="rect">
            <a:avLst/>
          </a:prstGeom>
          <a:noFill/>
          <a:ln/>
        </p:spPr>
        <p:txBody>
          <a:bodyPr wrap="square" lIns="0" tIns="0" rIns="0" bIns="0" rtlCol="0" anchor="t"/>
          <a:lstStyle/>
          <a:p>
            <a:pPr indent="0" marL="0">
              <a:spcAft>
                <a:spcPts val="300"/>
              </a:spcAft>
              <a:buNone/>
            </a:pPr>
            <a:r>
              <a:rPr lang="en-US" sz="1300" dirty="0">
                <a:solidFill>
                  <a:srgbClr val="A9B8D2"/>
                </a:solidFill>
                <a:latin typeface="Courier New" pitchFamily="34" charset="0"/>
                <a:ea typeface="Courier New" pitchFamily="34" charset="-122"/>
                <a:cs typeface="Courier New" pitchFamily="34" charset="-120"/>
              </a:rPr>
              <a:t>$ python check_device.py --port COM5</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Data arriving        1 reading/s</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Self-test            oxygen OK · motion OK</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Finger on sensor     100%</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Believable values    SpO2 97–98%, HR 60–64</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Motion sensor        100% near 1 g</a:t>
            </a:r>
            <a:endParaRPr lang="en-US" sz="1300" dirty="0"/>
          </a:p>
          <a:p>
            <a:pPr indent="0" marL="0">
              <a:spcAft>
                <a:spcPts val="300"/>
              </a:spcAft>
              <a:buNone/>
            </a:pPr>
            <a:r>
              <a:rPr lang="en-US" sz="1300" b="1" dirty="0">
                <a:solidFill>
                  <a:srgbClr val="FFFFFF"/>
                </a:solidFill>
                <a:latin typeface="Courier New" pitchFamily="34" charset="0"/>
                <a:ea typeface="Courier New" pitchFamily="34" charset="-122"/>
                <a:cs typeface="Courier New" pitchFamily="34" charset="-120"/>
              </a:rPr>
              <a:t>RESULT: READY — sending real data</a:t>
            </a:r>
            <a:endParaRPr lang="en-US" sz="1300" dirty="0"/>
          </a:p>
        </p:txBody>
      </p:sp>
      <p:sp>
        <p:nvSpPr>
          <p:cNvPr id="22" name="Shape 20"/>
          <p:cNvSpPr/>
          <p:nvPr/>
        </p:nvSpPr>
        <p:spPr>
          <a:xfrm>
            <a:off x="7406640" y="3785616"/>
            <a:ext cx="118872" cy="118872"/>
          </a:xfrm>
          <a:prstGeom prst="ellipse">
            <a:avLst/>
          </a:prstGeom>
          <a:solidFill>
            <a:srgbClr val="1F8A9C"/>
          </a:solidFill>
          <a:ln/>
        </p:spPr>
      </p:sp>
      <p:sp>
        <p:nvSpPr>
          <p:cNvPr id="23" name="Text 21"/>
          <p:cNvSpPr txBox="1"/>
          <p:nvPr/>
        </p:nvSpPr>
        <p:spPr>
          <a:xfrm>
            <a:off x="7680960" y="3685032"/>
            <a:ext cx="3840480" cy="749808"/>
          </a:xfrm>
          <a:prstGeom prst="rect">
            <a:avLst/>
          </a:prstGeom>
          <a:noFill/>
          <a:ln/>
        </p:spPr>
        <p:txBody>
          <a:bodyPr wrap="square" lIns="0" tIns="0" rIns="0" bIns="0" rtlCol="0" anchor="t"/>
          <a:lstStyle/>
          <a:p>
            <a:pPr indent="0" marL="0">
              <a:buNone/>
            </a:pPr>
            <a:r>
              <a:rPr lang="en-US" sz="1400" dirty="0">
                <a:solidFill>
                  <a:srgbClr val="44515F"/>
                </a:solidFill>
                <a:latin typeface="Calibri" pitchFamily="34" charset="0"/>
                <a:ea typeface="Calibri" pitchFamily="34" charset="-122"/>
                <a:cs typeface="Calibri" pitchFamily="34" charset="-120"/>
              </a:rPr>
              <a:t>Firmware re-checks both sensors every 30 s and reports it.</a:t>
            </a:r>
            <a:endParaRPr lang="en-US" sz="1400" dirty="0"/>
          </a:p>
        </p:txBody>
      </p:sp>
      <p:sp>
        <p:nvSpPr>
          <p:cNvPr id="24" name="Shape 22"/>
          <p:cNvSpPr/>
          <p:nvPr/>
        </p:nvSpPr>
        <p:spPr>
          <a:xfrm>
            <a:off x="7406640" y="4546397"/>
            <a:ext cx="118872" cy="118872"/>
          </a:xfrm>
          <a:prstGeom prst="ellipse">
            <a:avLst/>
          </a:prstGeom>
          <a:solidFill>
            <a:srgbClr val="1F8A9C"/>
          </a:solidFill>
          <a:ln/>
        </p:spPr>
      </p:sp>
      <p:sp>
        <p:nvSpPr>
          <p:cNvPr id="25" name="Text 23"/>
          <p:cNvSpPr txBox="1"/>
          <p:nvPr/>
        </p:nvSpPr>
        <p:spPr>
          <a:xfrm>
            <a:off x="7680960" y="4445813"/>
            <a:ext cx="3840480" cy="749808"/>
          </a:xfrm>
          <a:prstGeom prst="rect">
            <a:avLst/>
          </a:prstGeom>
          <a:noFill/>
          <a:ln/>
        </p:spPr>
        <p:txBody>
          <a:bodyPr wrap="square" lIns="0" tIns="0" rIns="0" bIns="0" rtlCol="0" anchor="t"/>
          <a:lstStyle/>
          <a:p>
            <a:pPr indent="0" marL="0">
              <a:buNone/>
            </a:pPr>
            <a:r>
              <a:rPr lang="en-US" sz="1400" dirty="0">
                <a:solidFill>
                  <a:srgbClr val="44515F"/>
                </a:solidFill>
                <a:latin typeface="Calibri" pitchFamily="34" charset="0"/>
                <a:ea typeface="Calibri" pitchFamily="34" charset="-122"/>
                <a:cs typeface="Calibri" pitchFamily="34" charset="-120"/>
              </a:rPr>
              <a:t>No finger → readings are marked invalid, never trusted.</a:t>
            </a:r>
            <a:endParaRPr lang="en-US" sz="1400" dirty="0"/>
          </a:p>
        </p:txBody>
      </p:sp>
      <p:sp>
        <p:nvSpPr>
          <p:cNvPr id="26" name="Shape 24"/>
          <p:cNvSpPr/>
          <p:nvPr/>
        </p:nvSpPr>
        <p:spPr>
          <a:xfrm>
            <a:off x="7406640" y="5307178"/>
            <a:ext cx="118872" cy="118872"/>
          </a:xfrm>
          <a:prstGeom prst="ellipse">
            <a:avLst/>
          </a:prstGeom>
          <a:solidFill>
            <a:srgbClr val="1F8A9C"/>
          </a:solidFill>
          <a:ln/>
        </p:spPr>
      </p:sp>
      <p:sp>
        <p:nvSpPr>
          <p:cNvPr id="27" name="Text 25"/>
          <p:cNvSpPr txBox="1"/>
          <p:nvPr/>
        </p:nvSpPr>
        <p:spPr>
          <a:xfrm>
            <a:off x="7680960" y="5206594"/>
            <a:ext cx="3840480" cy="749808"/>
          </a:xfrm>
          <a:prstGeom prst="rect">
            <a:avLst/>
          </a:prstGeom>
          <a:noFill/>
          <a:ln/>
        </p:spPr>
        <p:txBody>
          <a:bodyPr wrap="square" lIns="0" tIns="0" rIns="0" bIns="0" rtlCol="0" anchor="t"/>
          <a:lstStyle/>
          <a:p>
            <a:pPr indent="0" marL="0">
              <a:buNone/>
            </a:pPr>
            <a:r>
              <a:rPr lang="en-US" sz="1400" dirty="0">
                <a:solidFill>
                  <a:srgbClr val="44515F"/>
                </a:solidFill>
                <a:latin typeface="Calibri" pitchFamily="34" charset="0"/>
                <a:ea typeface="Calibri" pitchFamily="34" charset="-122"/>
                <a:cs typeface="Calibri" pitchFamily="34" charset="-120"/>
              </a:rPr>
              <a:t>The app shows the same checks live, every second.</a:t>
            </a:r>
            <a:endParaRPr lang="en-US" sz="1400" dirty="0"/>
          </a:p>
        </p:txBody>
      </p:sp>
      <p:sp>
        <p:nvSpPr>
          <p:cNvPr id="28" name="Shape 26"/>
          <p:cNvSpPr/>
          <p:nvPr/>
        </p:nvSpPr>
        <p:spPr>
          <a:xfrm>
            <a:off x="7406640" y="6067958"/>
            <a:ext cx="118872" cy="118872"/>
          </a:xfrm>
          <a:prstGeom prst="ellipse">
            <a:avLst/>
          </a:prstGeom>
          <a:solidFill>
            <a:srgbClr val="1F8A9C"/>
          </a:solidFill>
          <a:ln/>
        </p:spPr>
      </p:sp>
      <p:sp>
        <p:nvSpPr>
          <p:cNvPr id="29" name="Text 27"/>
          <p:cNvSpPr txBox="1"/>
          <p:nvPr/>
        </p:nvSpPr>
        <p:spPr>
          <a:xfrm>
            <a:off x="7680960" y="5967374"/>
            <a:ext cx="3840480" cy="420624"/>
          </a:xfrm>
          <a:prstGeom prst="rect">
            <a:avLst/>
          </a:prstGeom>
          <a:noFill/>
          <a:ln/>
        </p:spPr>
        <p:txBody>
          <a:bodyPr wrap="square" lIns="0" tIns="0" rIns="0" bIns="0" rtlCol="0" anchor="t"/>
          <a:lstStyle/>
          <a:p>
            <a:pPr indent="0" marL="0">
              <a:buNone/>
            </a:pPr>
            <a:r>
              <a:rPr lang="en-US" sz="1400" dirty="0">
                <a:solidFill>
                  <a:srgbClr val="44515F"/>
                </a:solidFill>
                <a:latin typeface="Calibri" pitchFamily="34" charset="0"/>
                <a:ea typeface="Calibri" pitchFamily="34" charset="-122"/>
                <a:cs typeface="Calibri" pitchFamily="34" charset="-120"/>
              </a:rPr>
              <a:t>A broken sensor is caught: “NOT READY”.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EXPERIMENTAL PROTOCOL · KEY MANIPULATIONS</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How I test it</a:t>
            </a:r>
            <a:endParaRPr lang="en-US" sz="3200" dirty="0"/>
          </a:p>
        </p:txBody>
      </p:sp>
      <p:sp>
        <p:nvSpPr>
          <p:cNvPr id="4" name="Shape 2"/>
          <p:cNvSpPr/>
          <p:nvPr/>
        </p:nvSpPr>
        <p:spPr>
          <a:xfrm>
            <a:off x="640080" y="1737360"/>
            <a:ext cx="502920" cy="502920"/>
          </a:xfrm>
          <a:prstGeom prst="roundRect">
            <a:avLst>
              <a:gd name="adj" fmla="val 18182"/>
            </a:avLst>
          </a:prstGeom>
          <a:solidFill>
            <a:srgbClr val="1F8A9C"/>
          </a:solidFill>
          <a:ln/>
        </p:spPr>
      </p:sp>
      <p:sp>
        <p:nvSpPr>
          <p:cNvPr id="5" name="Text 3"/>
          <p:cNvSpPr txBox="1"/>
          <p:nvPr/>
        </p:nvSpPr>
        <p:spPr>
          <a:xfrm>
            <a:off x="640080" y="17373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325880" y="180136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Device check  </a:t>
            </a:r>
            <a:pPr indent="0" marL="0">
              <a:buNone/>
            </a:pPr>
            <a:r>
              <a:rPr lang="en-US" sz="1500" dirty="0">
                <a:solidFill>
                  <a:srgbClr val="44515F"/>
                </a:solidFill>
                <a:latin typeface="Calibri" pitchFamily="34" charset="0"/>
                <a:ea typeface="Calibri" pitchFamily="34" charset="-122"/>
                <a:cs typeface="Calibri" pitchFamily="34" charset="-120"/>
              </a:rPr>
              <a:t>every session must pass check_device.py</a:t>
            </a:r>
            <a:endParaRPr lang="en-US" sz="1500" dirty="0"/>
          </a:p>
        </p:txBody>
      </p:sp>
      <p:sp>
        <p:nvSpPr>
          <p:cNvPr id="7" name="Shape 5"/>
          <p:cNvSpPr/>
          <p:nvPr/>
        </p:nvSpPr>
        <p:spPr>
          <a:xfrm>
            <a:off x="640080" y="2606040"/>
            <a:ext cx="502920" cy="502920"/>
          </a:xfrm>
          <a:prstGeom prst="roundRect">
            <a:avLst>
              <a:gd name="adj" fmla="val 18182"/>
            </a:avLst>
          </a:prstGeom>
          <a:solidFill>
            <a:srgbClr val="1F8A9C"/>
          </a:solidFill>
          <a:ln/>
        </p:spPr>
      </p:sp>
      <p:sp>
        <p:nvSpPr>
          <p:cNvPr id="8" name="Text 6"/>
          <p:cNvSpPr txBox="1"/>
          <p:nvPr/>
        </p:nvSpPr>
        <p:spPr>
          <a:xfrm>
            <a:off x="640080" y="2606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1325880" y="267004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Accuracy test  </a:t>
            </a:r>
            <a:pPr indent="0" marL="0">
              <a:buNone/>
            </a:pPr>
            <a:r>
              <a:rPr lang="en-US" sz="1500" dirty="0">
                <a:solidFill>
                  <a:srgbClr val="44515F"/>
                </a:solidFill>
                <a:latin typeface="Calibri" pitchFamily="34" charset="0"/>
                <a:ea typeface="Calibri" pitchFamily="34" charset="-122"/>
                <a:cs typeface="Calibri" pitchFamily="34" charset="-120"/>
              </a:rPr>
              <a:t>awake, side-by-side with a store-bought oximeter every 2 min for 30 min</a:t>
            </a:r>
            <a:endParaRPr lang="en-US" sz="1500" dirty="0"/>
          </a:p>
        </p:txBody>
      </p:sp>
      <p:sp>
        <p:nvSpPr>
          <p:cNvPr id="10" name="Shape 8"/>
          <p:cNvSpPr/>
          <p:nvPr/>
        </p:nvSpPr>
        <p:spPr>
          <a:xfrm>
            <a:off x="640080" y="3474720"/>
            <a:ext cx="502920" cy="502920"/>
          </a:xfrm>
          <a:prstGeom prst="roundRect">
            <a:avLst>
              <a:gd name="adj" fmla="val 18182"/>
            </a:avLst>
          </a:prstGeom>
          <a:solidFill>
            <a:srgbClr val="1F8A9C"/>
          </a:solidFill>
          <a:ln/>
        </p:spPr>
      </p:sp>
      <p:sp>
        <p:nvSpPr>
          <p:cNvPr id="11" name="Text 9"/>
          <p:cNvSpPr txBox="1"/>
          <p:nvPr/>
        </p:nvSpPr>
        <p:spPr>
          <a:xfrm>
            <a:off x="640080" y="3474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2" name="Text 10"/>
          <p:cNvSpPr txBox="1"/>
          <p:nvPr/>
        </p:nvSpPr>
        <p:spPr>
          <a:xfrm>
            <a:off x="1325880" y="353872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Detection test  </a:t>
            </a:r>
            <a:pPr indent="0" marL="0">
              <a:buNone/>
            </a:pPr>
            <a:r>
              <a:rPr lang="en-US" sz="1500" dirty="0">
                <a:solidFill>
                  <a:srgbClr val="44515F"/>
                </a:solidFill>
                <a:latin typeface="Calibri" pitchFamily="34" charset="0"/>
                <a:ea typeface="Calibri" pitchFamily="34" charset="-122"/>
                <a:cs typeface="Calibri" pitchFamily="34" charset="-120"/>
              </a:rPr>
              <a:t>supervised, awake breath-holds of 10, 15 and 20 s — known events</a:t>
            </a:r>
            <a:endParaRPr lang="en-US" sz="1500" dirty="0"/>
          </a:p>
        </p:txBody>
      </p:sp>
      <p:sp>
        <p:nvSpPr>
          <p:cNvPr id="13" name="Shape 11"/>
          <p:cNvSpPr/>
          <p:nvPr/>
        </p:nvSpPr>
        <p:spPr>
          <a:xfrm>
            <a:off x="640080" y="4343400"/>
            <a:ext cx="502920" cy="502920"/>
          </a:xfrm>
          <a:prstGeom prst="roundRect">
            <a:avLst>
              <a:gd name="adj" fmla="val 18182"/>
            </a:avLst>
          </a:prstGeom>
          <a:solidFill>
            <a:srgbClr val="1F8A9C"/>
          </a:solidFill>
          <a:ln/>
        </p:spPr>
      </p:sp>
      <p:sp>
        <p:nvSpPr>
          <p:cNvPr id="14" name="Text 12"/>
          <p:cNvSpPr txBox="1"/>
          <p:nvPr/>
        </p:nvSpPr>
        <p:spPr>
          <a:xfrm>
            <a:off x="640080" y="43434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5" name="Text 13"/>
          <p:cNvSpPr txBox="1"/>
          <p:nvPr/>
        </p:nvSpPr>
        <p:spPr>
          <a:xfrm>
            <a:off x="1325880" y="440740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Battery runtime test  </a:t>
            </a:r>
            <a:pPr indent="0" marL="0">
              <a:buNone/>
            </a:pPr>
            <a:r>
              <a:rPr lang="en-US" sz="1500" dirty="0">
                <a:solidFill>
                  <a:srgbClr val="44515F"/>
                </a:solidFill>
                <a:latin typeface="Calibri" pitchFamily="34" charset="0"/>
                <a:ea typeface="Calibri" pitchFamily="34" charset="-122"/>
                <a:cs typeface="Calibri" pitchFamily="34" charset="-120"/>
              </a:rPr>
              <a:t>full charge → stream until it stops, 3 times</a:t>
            </a:r>
            <a:endParaRPr lang="en-US" sz="1500" dirty="0"/>
          </a:p>
        </p:txBody>
      </p:sp>
      <p:sp>
        <p:nvSpPr>
          <p:cNvPr id="16" name="Shape 14"/>
          <p:cNvSpPr/>
          <p:nvPr/>
        </p:nvSpPr>
        <p:spPr>
          <a:xfrm>
            <a:off x="640080" y="5212080"/>
            <a:ext cx="502920" cy="502920"/>
          </a:xfrm>
          <a:prstGeom prst="roundRect">
            <a:avLst>
              <a:gd name="adj" fmla="val 18182"/>
            </a:avLst>
          </a:prstGeom>
          <a:solidFill>
            <a:srgbClr val="1F8A9C"/>
          </a:solidFill>
          <a:ln/>
        </p:spPr>
      </p:sp>
      <p:sp>
        <p:nvSpPr>
          <p:cNvPr id="17" name="Text 15"/>
          <p:cNvSpPr txBox="1"/>
          <p:nvPr/>
        </p:nvSpPr>
        <p:spPr>
          <a:xfrm>
            <a:off x="640080" y="52120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8" name="Text 16"/>
          <p:cNvSpPr txBox="1"/>
          <p:nvPr/>
        </p:nvSpPr>
        <p:spPr>
          <a:xfrm>
            <a:off x="1325880" y="527608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Recorded nights  </a:t>
            </a:r>
            <a:pPr indent="0" marL="0">
              <a:buNone/>
            </a:pPr>
            <a:r>
              <a:rPr lang="en-US" sz="1500" dirty="0">
                <a:solidFill>
                  <a:srgbClr val="44515F"/>
                </a:solidFill>
                <a:latin typeface="Calibri" pitchFamily="34" charset="0"/>
                <a:ea typeface="Calibri" pitchFamily="34" charset="-122"/>
                <a:cs typeface="Calibri" pitchFamily="34" charset="-120"/>
              </a:rPr>
              <a:t>≥ 5 nights; case on upper arm, clip on index finger</a:t>
            </a:r>
            <a:endParaRPr lang="en-US" sz="1500" dirty="0"/>
          </a:p>
        </p:txBody>
      </p:sp>
      <p:sp>
        <p:nvSpPr>
          <p:cNvPr id="19" name="Shape 17"/>
          <p:cNvSpPr/>
          <p:nvPr/>
        </p:nvSpPr>
        <p:spPr>
          <a:xfrm>
            <a:off x="7955280" y="1691640"/>
            <a:ext cx="3566160" cy="4206240"/>
          </a:xfrm>
          <a:prstGeom prst="roundRect">
            <a:avLst>
              <a:gd name="adj" fmla="val 2564"/>
            </a:avLst>
          </a:prstGeom>
          <a:solidFill>
            <a:srgbClr val="F3F5F9"/>
          </a:solidFill>
          <a:ln w="12700">
            <a:solidFill>
              <a:srgbClr val="DBE1EC"/>
            </a:solidFill>
            <a:prstDash val="solid"/>
          </a:ln>
        </p:spPr>
      </p:sp>
      <p:sp>
        <p:nvSpPr>
          <p:cNvPr id="20" name="Text 18"/>
          <p:cNvSpPr txBox="1"/>
          <p:nvPr/>
        </p:nvSpPr>
        <p:spPr>
          <a:xfrm>
            <a:off x="8183880" y="1874520"/>
            <a:ext cx="3108960" cy="274320"/>
          </a:xfrm>
          <a:prstGeom prst="rect">
            <a:avLst/>
          </a:prstGeom>
          <a:noFill/>
          <a:ln/>
        </p:spPr>
        <p:txBody>
          <a:bodyPr wrap="square" lIns="0" tIns="0" rIns="0" bIns="0" rtlCol="0" anchor="ctr"/>
          <a:lstStyle/>
          <a:p>
            <a:pPr indent="0" marL="0">
              <a:buNone/>
            </a:pPr>
            <a:r>
              <a:rPr lang="en-US" sz="1200" b="1" spc="200" kern="0" dirty="0">
                <a:solidFill>
                  <a:srgbClr val="CF4747"/>
                </a:solidFill>
                <a:latin typeface="Calibri" pitchFamily="34" charset="0"/>
                <a:ea typeface="Calibri" pitchFamily="34" charset="-122"/>
                <a:cs typeface="Calibri" pitchFamily="34" charset="-120"/>
              </a:rPr>
              <a:t>SAFETY</a:t>
            </a:r>
            <a:endParaRPr lang="en-US" sz="1200" dirty="0"/>
          </a:p>
        </p:txBody>
      </p:sp>
      <p:sp>
        <p:nvSpPr>
          <p:cNvPr id="21" name="Shape 19"/>
          <p:cNvSpPr/>
          <p:nvPr/>
        </p:nvSpPr>
        <p:spPr>
          <a:xfrm>
            <a:off x="8183880" y="2368296"/>
            <a:ext cx="118872" cy="118872"/>
          </a:xfrm>
          <a:prstGeom prst="ellipse">
            <a:avLst/>
          </a:prstGeom>
          <a:solidFill>
            <a:srgbClr val="1F8A9C"/>
          </a:solidFill>
          <a:ln/>
        </p:spPr>
      </p:sp>
      <p:sp>
        <p:nvSpPr>
          <p:cNvPr id="22" name="Text 20"/>
          <p:cNvSpPr txBox="1"/>
          <p:nvPr/>
        </p:nvSpPr>
        <p:spPr>
          <a:xfrm>
            <a:off x="8458200" y="2267712"/>
            <a:ext cx="2926080" cy="749808"/>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Breath-holds only while awake and supervised — never asleep</a:t>
            </a:r>
            <a:endParaRPr lang="en-US" sz="1400" dirty="0"/>
          </a:p>
        </p:txBody>
      </p:sp>
      <p:sp>
        <p:nvSpPr>
          <p:cNvPr id="23" name="Shape 21"/>
          <p:cNvSpPr/>
          <p:nvPr/>
        </p:nvSpPr>
        <p:spPr>
          <a:xfrm>
            <a:off x="8183880" y="3147365"/>
            <a:ext cx="118872" cy="118872"/>
          </a:xfrm>
          <a:prstGeom prst="ellipse">
            <a:avLst/>
          </a:prstGeom>
          <a:solidFill>
            <a:srgbClr val="1F8A9C"/>
          </a:solidFill>
          <a:ln/>
        </p:spPr>
      </p:sp>
      <p:sp>
        <p:nvSpPr>
          <p:cNvPr id="24" name="Text 22"/>
          <p:cNvSpPr txBox="1"/>
          <p:nvPr/>
        </p:nvSpPr>
        <p:spPr>
          <a:xfrm>
            <a:off x="8458200" y="3046781"/>
            <a:ext cx="2926080" cy="420624"/>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Stop at any dizziness</a:t>
            </a:r>
            <a:endParaRPr lang="en-US" sz="1400" dirty="0"/>
          </a:p>
        </p:txBody>
      </p:sp>
      <p:sp>
        <p:nvSpPr>
          <p:cNvPr id="25" name="Shape 23"/>
          <p:cNvSpPr/>
          <p:nvPr/>
        </p:nvSpPr>
        <p:spPr>
          <a:xfrm>
            <a:off x="8183880" y="3619195"/>
            <a:ext cx="118872" cy="118872"/>
          </a:xfrm>
          <a:prstGeom prst="ellipse">
            <a:avLst/>
          </a:prstGeom>
          <a:solidFill>
            <a:srgbClr val="1F8A9C"/>
          </a:solidFill>
          <a:ln/>
        </p:spPr>
      </p:sp>
      <p:sp>
        <p:nvSpPr>
          <p:cNvPr id="26" name="Text 24"/>
          <p:cNvSpPr txBox="1"/>
          <p:nvPr/>
        </p:nvSpPr>
        <p:spPr>
          <a:xfrm>
            <a:off x="8458200" y="3518611"/>
            <a:ext cx="2926080" cy="420624"/>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Parent/guardian consent</a:t>
            </a:r>
            <a:endParaRPr lang="en-US" sz="1400" dirty="0"/>
          </a:p>
        </p:txBody>
      </p:sp>
      <p:sp>
        <p:nvSpPr>
          <p:cNvPr id="27" name="Shape 25"/>
          <p:cNvSpPr/>
          <p:nvPr/>
        </p:nvSpPr>
        <p:spPr>
          <a:xfrm>
            <a:off x="8183880" y="4091026"/>
            <a:ext cx="118872" cy="118872"/>
          </a:xfrm>
          <a:prstGeom prst="ellipse">
            <a:avLst/>
          </a:prstGeom>
          <a:solidFill>
            <a:srgbClr val="1F8A9C"/>
          </a:solidFill>
          <a:ln/>
        </p:spPr>
      </p:sp>
      <p:sp>
        <p:nvSpPr>
          <p:cNvPr id="28" name="Text 26"/>
          <p:cNvSpPr txBox="1"/>
          <p:nvPr/>
        </p:nvSpPr>
        <p:spPr>
          <a:xfrm>
            <a:off x="8458200" y="3990442"/>
            <a:ext cx="2926080" cy="749808"/>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Ethics committee form (human subject) submitted</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DESIGN PROTOTYPE · THE APP</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The companion app measures real data</a:t>
            </a:r>
            <a:endParaRPr lang="en-US" sz="3200" dirty="0"/>
          </a:p>
        </p:txBody>
      </p:sp>
      <p:sp>
        <p:nvSpPr>
          <p:cNvPr id="4" name="Shape 2"/>
          <p:cNvSpPr/>
          <p:nvPr/>
        </p:nvSpPr>
        <p:spPr>
          <a:xfrm>
            <a:off x="685800" y="1508760"/>
            <a:ext cx="2514600" cy="4965895"/>
          </a:xfrm>
          <a:prstGeom prst="roundRect">
            <a:avLst>
              <a:gd name="adj" fmla="val 3636"/>
            </a:avLst>
          </a:prstGeom>
          <a:solidFill>
            <a:srgbClr val="0E1830"/>
          </a:solidFill>
          <a:ln w="12700">
            <a:solidFill>
              <a:srgbClr val="18233F"/>
            </a:solidFill>
            <a:prstDash val="solid"/>
          </a:ln>
        </p:spPr>
      </p:sp>
      <p:pic>
        <p:nvPicPr>
          <p:cNvPr id="5" name="Image 0" descr="/home/user/teetomivV2/science-fair/night-signal/slides/assets/phone_sleep.png">    </p:cNvPr>
          <p:cNvPicPr>
            <a:picLocks noChangeAspect="1"/>
          </p:cNvPicPr>
          <p:nvPr/>
        </p:nvPicPr>
        <p:blipFill>
          <a:blip r:embed="rId1"/>
          <a:stretch>
            <a:fillRect/>
          </a:stretch>
        </p:blipFill>
        <p:spPr>
          <a:xfrm>
            <a:off x="777240" y="1600200"/>
            <a:ext cx="2331720" cy="4783015"/>
          </a:xfrm>
          <a:prstGeom prst="rect">
            <a:avLst/>
          </a:prstGeom>
        </p:spPr>
      </p:pic>
      <p:sp>
        <p:nvSpPr>
          <p:cNvPr id="6" name="Shape 3"/>
          <p:cNvSpPr/>
          <p:nvPr/>
        </p:nvSpPr>
        <p:spPr>
          <a:xfrm>
            <a:off x="3337560" y="1508760"/>
            <a:ext cx="2514600" cy="4965895"/>
          </a:xfrm>
          <a:prstGeom prst="roundRect">
            <a:avLst>
              <a:gd name="adj" fmla="val 3636"/>
            </a:avLst>
          </a:prstGeom>
          <a:solidFill>
            <a:srgbClr val="0E1830"/>
          </a:solidFill>
          <a:ln w="12700">
            <a:solidFill>
              <a:srgbClr val="18233F"/>
            </a:solidFill>
            <a:prstDash val="solid"/>
          </a:ln>
        </p:spPr>
      </p:sp>
      <p:pic>
        <p:nvPicPr>
          <p:cNvPr id="7" name="Image 1" descr="/home/user/teetomivV2/science-fair/night-signal/slides/assets/phone_live.png">    </p:cNvPr>
          <p:cNvPicPr>
            <a:picLocks noChangeAspect="1"/>
          </p:cNvPicPr>
          <p:nvPr/>
        </p:nvPicPr>
        <p:blipFill>
          <a:blip r:embed="rId2"/>
          <a:stretch>
            <a:fillRect/>
          </a:stretch>
        </p:blipFill>
        <p:spPr>
          <a:xfrm>
            <a:off x="3429000" y="1600200"/>
            <a:ext cx="2331720" cy="4783015"/>
          </a:xfrm>
          <a:prstGeom prst="rect">
            <a:avLst/>
          </a:prstGeom>
        </p:spPr>
      </p:pic>
      <p:sp>
        <p:nvSpPr>
          <p:cNvPr id="8" name="Text 4"/>
          <p:cNvSpPr txBox="1"/>
          <p:nvPr/>
        </p:nvSpPr>
        <p:spPr>
          <a:xfrm>
            <a:off x="777240" y="6520375"/>
            <a:ext cx="233172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Sleep report</a:t>
            </a:r>
            <a:endParaRPr lang="en-US" sz="1100" dirty="0"/>
          </a:p>
        </p:txBody>
      </p:sp>
      <p:sp>
        <p:nvSpPr>
          <p:cNvPr id="9" name="Text 5"/>
          <p:cNvSpPr txBox="1"/>
          <p:nvPr/>
        </p:nvSpPr>
        <p:spPr>
          <a:xfrm>
            <a:off x="3429000" y="6520375"/>
            <a:ext cx="233172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Live + device health</a:t>
            </a:r>
            <a:endParaRPr lang="en-US" sz="1100" dirty="0"/>
          </a:p>
        </p:txBody>
      </p:sp>
      <p:sp>
        <p:nvSpPr>
          <p:cNvPr id="10" name="Shape 6"/>
          <p:cNvSpPr/>
          <p:nvPr/>
        </p:nvSpPr>
        <p:spPr>
          <a:xfrm>
            <a:off x="6263640" y="1819656"/>
            <a:ext cx="118872" cy="118872"/>
          </a:xfrm>
          <a:prstGeom prst="ellipse">
            <a:avLst/>
          </a:prstGeom>
          <a:solidFill>
            <a:srgbClr val="1F8A9C"/>
          </a:solidFill>
          <a:ln/>
        </p:spPr>
      </p:sp>
      <p:sp>
        <p:nvSpPr>
          <p:cNvPr id="11" name="Text 7"/>
          <p:cNvSpPr txBox="1"/>
          <p:nvPr/>
        </p:nvSpPr>
        <p:spPr>
          <a:xfrm>
            <a:off x="6537960" y="1719072"/>
            <a:ext cx="4983480" cy="1078992"/>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Live tab connects straight to the wearable (USB or Bluetooth) and shows oxygen, heart rate and position every second.</a:t>
            </a:r>
            <a:endParaRPr lang="en-US" sz="1500" dirty="0"/>
          </a:p>
        </p:txBody>
      </p:sp>
      <p:sp>
        <p:nvSpPr>
          <p:cNvPr id="12" name="Shape 8"/>
          <p:cNvSpPr/>
          <p:nvPr/>
        </p:nvSpPr>
        <p:spPr>
          <a:xfrm>
            <a:off x="6263640" y="2990088"/>
            <a:ext cx="118872" cy="118872"/>
          </a:xfrm>
          <a:prstGeom prst="ellipse">
            <a:avLst/>
          </a:prstGeom>
          <a:solidFill>
            <a:srgbClr val="1F8A9C"/>
          </a:solidFill>
          <a:ln/>
        </p:spPr>
      </p:sp>
      <p:sp>
        <p:nvSpPr>
          <p:cNvPr id="13" name="Text 9"/>
          <p:cNvSpPr txBox="1"/>
          <p:nvPr/>
        </p:nvSpPr>
        <p:spPr>
          <a:xfrm>
            <a:off x="6537960" y="2889504"/>
            <a:ext cx="498348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Device health checks run continuously — data flowing, self-test, finger on, battery.</a:t>
            </a:r>
            <a:endParaRPr lang="en-US" sz="1500" dirty="0"/>
          </a:p>
        </p:txBody>
      </p:sp>
      <p:sp>
        <p:nvSpPr>
          <p:cNvPr id="14" name="Shape 10"/>
          <p:cNvSpPr/>
          <p:nvPr/>
        </p:nvSpPr>
        <p:spPr>
          <a:xfrm>
            <a:off x="6263640" y="3831336"/>
            <a:ext cx="118872" cy="118872"/>
          </a:xfrm>
          <a:prstGeom prst="ellipse">
            <a:avLst/>
          </a:prstGeom>
          <a:solidFill>
            <a:srgbClr val="1F8A9C"/>
          </a:solidFill>
          <a:ln/>
        </p:spPr>
      </p:sp>
      <p:sp>
        <p:nvSpPr>
          <p:cNvPr id="15" name="Text 11"/>
          <p:cNvSpPr txBox="1"/>
          <p:nvPr/>
        </p:nvSpPr>
        <p:spPr>
          <a:xfrm>
            <a:off x="6537960" y="3730752"/>
            <a:ext cx="498348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Save a session → the same CSV the analysis uses, so every number is traceable.</a:t>
            </a:r>
            <a:endParaRPr lang="en-US" sz="1500" dirty="0"/>
          </a:p>
        </p:txBody>
      </p:sp>
      <p:sp>
        <p:nvSpPr>
          <p:cNvPr id="16" name="Shape 12"/>
          <p:cNvSpPr/>
          <p:nvPr/>
        </p:nvSpPr>
        <p:spPr>
          <a:xfrm>
            <a:off x="6263640" y="4672584"/>
            <a:ext cx="118872" cy="118872"/>
          </a:xfrm>
          <a:prstGeom prst="ellipse">
            <a:avLst/>
          </a:prstGeom>
          <a:solidFill>
            <a:srgbClr val="1F8A9C"/>
          </a:solidFill>
          <a:ln/>
        </p:spPr>
      </p:sp>
      <p:sp>
        <p:nvSpPr>
          <p:cNvPr id="17" name="Text 13"/>
          <p:cNvSpPr txBox="1"/>
          <p:nvPr/>
        </p:nvSpPr>
        <p:spPr>
          <a:xfrm>
            <a:off x="6537960" y="4572000"/>
            <a:ext cx="498348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Heart, Asthma and Progress tabs for the spin-offs and my build log.</a:t>
            </a:r>
            <a:endParaRPr lang="en-US" sz="1500" dirty="0"/>
          </a:p>
        </p:txBody>
      </p:sp>
      <p:pic>
        <p:nvPicPr>
          <p:cNvPr id="18" name="Image 2" descr="/home/user/teetomivV2/science-fair/night-signal/slides/assets/qr_app.png">
            <a:hlinkClick r:id="rId4" tooltip="Open the app"/>
          </p:cNvPr>
          <p:cNvPicPr>
            <a:picLocks noChangeAspect="1"/>
          </p:cNvPicPr>
          <p:nvPr/>
        </p:nvPicPr>
        <p:blipFill>
          <a:blip r:embed="rId3"/>
          <a:stretch>
            <a:fillRect/>
          </a:stretch>
        </p:blipFill>
        <p:spPr>
          <a:xfrm>
            <a:off x="6355080" y="5074920"/>
            <a:ext cx="1051560" cy="1051560"/>
          </a:xfrm>
          <a:prstGeom prst="rect">
            <a:avLst/>
          </a:prstGeom>
        </p:spPr>
      </p:pic>
      <p:sp>
        <p:nvSpPr>
          <p:cNvPr id="19" name="Text 14"/>
          <p:cNvSpPr txBox="1"/>
          <p:nvPr/>
        </p:nvSpPr>
        <p:spPr>
          <a:xfrm>
            <a:off x="7589520" y="5349240"/>
            <a:ext cx="2743200" cy="292608"/>
          </a:xfrm>
          <a:prstGeom prst="rect">
            <a:avLst/>
          </a:prstGeom>
          <a:noFill/>
          <a:ln/>
        </p:spPr>
        <p:txBody>
          <a:bodyPr wrap="square" lIns="0" tIns="0" rIns="0" bIns="0" rtlCol="0" anchor="ctr"/>
          <a:lstStyle/>
          <a:p>
            <a:pPr indent="0" marL="0">
              <a:buNone/>
            </a:pPr>
            <a:r>
              <a:rPr lang="en-US" sz="1500" u="sng" dirty="0">
                <a:solidFill>
                  <a:srgbClr val="1F8A9C"/>
                </a:solidFill>
                <a:latin typeface="Calibri" pitchFamily="34" charset="0"/>
                <a:ea typeface="Calibri" pitchFamily="34" charset="-122"/>
                <a:cs typeface="Calibri" pitchFamily="34" charset="-120"/>
                <a:hlinkClick r:id="rId5" invalidUrl="" action="" tgtFrame="" tooltip="https://claude.ai/artifact/KCkbwVKfmBhQoC9cxCn7qZ" history="1" highlightClick="0" endSnd="0">
                  <a:extLst>
                    <a:ext uri="{A12FA001-AC4F-418D-AE19-62706E023703}">
                      <ahyp:hlinkClr xmlns:ahyp="http://schemas.microsoft.com/office/drawing/2018/hyperlinkcolor" val="tx"/>
                    </a:ext>
                  </a:extLst>
                </a:hlinkClick>
              </a:rPr>
              <a:t>Open the app →</a:t>
            </a:r>
            <a:endParaRPr lang="en-US" sz="1500" dirty="0"/>
          </a:p>
        </p:txBody>
      </p:sp>
      <p:sp>
        <p:nvSpPr>
          <p:cNvPr id="20" name="Text 15"/>
          <p:cNvSpPr txBox="1"/>
          <p:nvPr/>
        </p:nvSpPr>
        <p:spPr>
          <a:xfrm>
            <a:off x="7589520" y="5669280"/>
            <a:ext cx="3657600" cy="274320"/>
          </a:xfrm>
          <a:prstGeom prst="rect">
            <a:avLst/>
          </a:prstGeom>
          <a:noFill/>
          <a:ln/>
        </p:spPr>
        <p:txBody>
          <a:bodyPr wrap="square" lIns="0" tIns="0" rIns="0" bIns="0" rtlCol="0" anchor="ctr"/>
          <a:lstStyle/>
          <a:p>
            <a:pPr indent="0" marL="0">
              <a:buNone/>
            </a:pPr>
            <a:r>
              <a:rPr lang="en-US" sz="1200" dirty="0">
                <a:solidFill>
                  <a:srgbClr val="6B7889"/>
                </a:solidFill>
                <a:latin typeface="Calibri" pitchFamily="34" charset="0"/>
                <a:ea typeface="Calibri" pitchFamily="34" charset="-122"/>
                <a:cs typeface="Calibri" pitchFamily="34" charset="-120"/>
              </a:rPr>
              <a:t>Scan to try it (demo device built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RESULTS · SUMMARY</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What one night showed</a:t>
            </a:r>
            <a:endParaRPr lang="en-US" sz="3200" dirty="0"/>
          </a:p>
        </p:txBody>
      </p:sp>
      <p:sp>
        <p:nvSpPr>
          <p:cNvPr id="4" name="Shape 2"/>
          <p:cNvSpPr/>
          <p:nvPr/>
        </p:nvSpPr>
        <p:spPr>
          <a:xfrm>
            <a:off x="9646920" y="347472"/>
            <a:ext cx="1920240" cy="329184"/>
          </a:xfrm>
          <a:prstGeom prst="roundRect">
            <a:avLst>
              <a:gd name="adj" fmla="val 50000"/>
            </a:avLst>
          </a:prstGeom>
          <a:solidFill>
            <a:srgbClr val="FBF2DF"/>
          </a:solidFill>
          <a:ln w="12700">
            <a:solidFill>
              <a:srgbClr val="C98A1E"/>
            </a:solidFill>
            <a:prstDash val="solid"/>
          </a:ln>
        </p:spPr>
      </p:sp>
      <p:sp>
        <p:nvSpPr>
          <p:cNvPr id="5" name="Text 3"/>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EXAMPLE DATA</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881360" cy="914400"/>
        </p:xfrm>
        <a:graphic>
          <a:graphicData uri="http://schemas.openxmlformats.org/drawingml/2006/table">
            <a:tbl>
              <a:tblPr/>
              <a:tblGrid>
                <a:gridCol w="3108960"/>
                <a:gridCol w="3931920"/>
                <a:gridCol w="3840480"/>
              </a:tblGrid>
              <a:tr h="47548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Measure</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Result</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Meaning</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Recording</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7.0 h · 25,200 readings</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a full night captured</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Apnea events</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19  →  AHI 2.7 / hour</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Normal range (&lt; 5)</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Blood oxygen (avg / lowest)</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97.5 % / 84 %</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lowest point during an event</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Accuracy vs reference</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 0.56 %  (r = 0.88)</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210 paired readings</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Events caught: rule / ML</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63 % / 63 %</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precision 1.00 / 0.92</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Sleep position</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back 3.8 / h  vs  sides 1.1–1.3 / h</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 3 × more events on the back</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Spin-offs</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3 heart episodes · breathing 13 → 22 / min</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patterns flagged correctly</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sp>
        <p:nvSpPr>
          <p:cNvPr id="7" name="Text 4"/>
          <p:cNvSpPr txBox="1"/>
          <p:nvPr/>
        </p:nvSpPr>
        <p:spPr>
          <a:xfrm>
            <a:off x="640080" y="6035040"/>
            <a:ext cx="10881360" cy="274320"/>
          </a:xfrm>
          <a:prstGeom prst="rect">
            <a:avLst/>
          </a:prstGeom>
          <a:noFill/>
          <a:ln/>
        </p:spPr>
        <p:txBody>
          <a:bodyPr wrap="square" lIns="0" tIns="0" rIns="0" bIns="0" rtlCol="0" anchor="ctr"/>
          <a:lstStyle/>
          <a:p>
            <a:pPr indent="0" marL="0">
              <a:buNone/>
            </a:pPr>
            <a:r>
              <a:rPr lang="en-US" sz="1200" i="1" dirty="0">
                <a:solidFill>
                  <a:srgbClr val="6B7889"/>
                </a:solidFill>
                <a:latin typeface="Calibri" pitchFamily="34" charset="0"/>
                <a:ea typeface="Calibri" pitchFamily="34" charset="-122"/>
                <a:cs typeface="Calibri" pitchFamily="34" charset="-120"/>
              </a:rPr>
              <a:t>Example data from my simulator — replaced with my own recorded nights before the final submission.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RESULTS · DETECTION AND ACCURACY</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Every dip found, and the readings agree</a:t>
            </a:r>
            <a:endParaRPr lang="en-US" sz="3200" dirty="0"/>
          </a:p>
        </p:txBody>
      </p:sp>
      <p:sp>
        <p:nvSpPr>
          <p:cNvPr id="4" name="Shape 2"/>
          <p:cNvSpPr/>
          <p:nvPr/>
        </p:nvSpPr>
        <p:spPr>
          <a:xfrm>
            <a:off x="9646920" y="347472"/>
            <a:ext cx="1920240" cy="329184"/>
          </a:xfrm>
          <a:prstGeom prst="roundRect">
            <a:avLst>
              <a:gd name="adj" fmla="val 50000"/>
            </a:avLst>
          </a:prstGeom>
          <a:solidFill>
            <a:srgbClr val="FBF2DF"/>
          </a:solidFill>
          <a:ln w="12700">
            <a:solidFill>
              <a:srgbClr val="C98A1E"/>
            </a:solidFill>
            <a:prstDash val="solid"/>
          </a:ln>
        </p:spPr>
      </p:sp>
      <p:sp>
        <p:nvSpPr>
          <p:cNvPr id="5" name="Text 3"/>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EXAMPLE DATA</a:t>
            </a:r>
            <a:endParaRPr lang="en-US" sz="900" dirty="0"/>
          </a:p>
        </p:txBody>
      </p:sp>
      <p:pic>
        <p:nvPicPr>
          <p:cNvPr id="6" name="Image 0" descr="/home/user/teetomivV2/science-fair/night-signal/slides/assets/oxygen.png">    </p:cNvPr>
          <p:cNvPicPr>
            <a:picLocks noChangeAspect="1"/>
          </p:cNvPicPr>
          <p:nvPr/>
        </p:nvPicPr>
        <p:blipFill>
          <a:blip r:embed="rId1"/>
          <a:stretch>
            <a:fillRect/>
          </a:stretch>
        </p:blipFill>
        <p:spPr>
          <a:xfrm>
            <a:off x="640080" y="1691640"/>
            <a:ext cx="6355080" cy="2912745"/>
          </a:xfrm>
          <a:prstGeom prst="rect">
            <a:avLst/>
          </a:prstGeom>
        </p:spPr>
      </p:pic>
      <p:sp>
        <p:nvSpPr>
          <p:cNvPr id="7" name="Text 4"/>
          <p:cNvSpPr txBox="1"/>
          <p:nvPr/>
        </p:nvSpPr>
        <p:spPr>
          <a:xfrm>
            <a:off x="640080" y="4677537"/>
            <a:ext cx="635508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One night: each red band is an apnea event found automatically</a:t>
            </a:r>
            <a:endParaRPr lang="en-US" sz="1100" dirty="0"/>
          </a:p>
        </p:txBody>
      </p:sp>
      <p:pic>
        <p:nvPicPr>
          <p:cNvPr id="8" name="Image 1" descr="/home/user/teetomivV2/science-fair/night-signal/slides/assets/validation.png">    </p:cNvPr>
          <p:cNvPicPr>
            <a:picLocks noChangeAspect="1"/>
          </p:cNvPicPr>
          <p:nvPr/>
        </p:nvPicPr>
        <p:blipFill>
          <a:blip r:embed="rId2"/>
          <a:stretch>
            <a:fillRect/>
          </a:stretch>
        </p:blipFill>
        <p:spPr>
          <a:xfrm>
            <a:off x="7223760" y="1691640"/>
            <a:ext cx="4297680" cy="2626360"/>
          </a:xfrm>
          <a:prstGeom prst="rect">
            <a:avLst/>
          </a:prstGeom>
        </p:spPr>
      </p:pic>
      <p:sp>
        <p:nvSpPr>
          <p:cNvPr id="9" name="Text 5"/>
          <p:cNvSpPr txBox="1"/>
          <p:nvPr/>
        </p:nvSpPr>
        <p:spPr>
          <a:xfrm>
            <a:off x="7223760" y="4391152"/>
            <a:ext cx="429768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Bland–Altman: 95% of readings within −1.5 to +1.7 %</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RESULTS · SLEEP POSITION AND MACHINE LEARNING</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Back-sleeping and two detectors</a:t>
            </a:r>
            <a:endParaRPr lang="en-US" sz="3200" dirty="0"/>
          </a:p>
        </p:txBody>
      </p:sp>
      <p:sp>
        <p:nvSpPr>
          <p:cNvPr id="4" name="Shape 2"/>
          <p:cNvSpPr/>
          <p:nvPr/>
        </p:nvSpPr>
        <p:spPr>
          <a:xfrm>
            <a:off x="9646920" y="347472"/>
            <a:ext cx="1920240" cy="329184"/>
          </a:xfrm>
          <a:prstGeom prst="roundRect">
            <a:avLst>
              <a:gd name="adj" fmla="val 50000"/>
            </a:avLst>
          </a:prstGeom>
          <a:solidFill>
            <a:srgbClr val="FBF2DF"/>
          </a:solidFill>
          <a:ln w="12700">
            <a:solidFill>
              <a:srgbClr val="C98A1E"/>
            </a:solidFill>
            <a:prstDash val="solid"/>
          </a:ln>
        </p:spPr>
      </p:sp>
      <p:sp>
        <p:nvSpPr>
          <p:cNvPr id="5" name="Text 3"/>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EXAMPLE DATA</a:t>
            </a:r>
            <a:endParaRPr lang="en-US" sz="900" dirty="0"/>
          </a:p>
        </p:txBody>
      </p:sp>
      <p:pic>
        <p:nvPicPr>
          <p:cNvPr id="6" name="Image 0" descr="/home/user/teetomivV2/science-fair/night-signal/slides/assets/position.png">    </p:cNvPr>
          <p:cNvPicPr>
            <a:picLocks noChangeAspect="1"/>
          </p:cNvPicPr>
          <p:nvPr/>
        </p:nvPicPr>
        <p:blipFill>
          <a:blip r:embed="rId1"/>
          <a:stretch>
            <a:fillRect/>
          </a:stretch>
        </p:blipFill>
        <p:spPr>
          <a:xfrm>
            <a:off x="640080" y="1691640"/>
            <a:ext cx="5303520" cy="3314700"/>
          </a:xfrm>
          <a:prstGeom prst="rect">
            <a:avLst/>
          </a:prstGeom>
        </p:spPr>
      </p:pic>
      <p:sp>
        <p:nvSpPr>
          <p:cNvPr id="7" name="Text 4"/>
          <p:cNvSpPr txBox="1"/>
          <p:nvPr/>
        </p:nvSpPr>
        <p:spPr>
          <a:xfrm>
            <a:off x="640080" y="5052060"/>
            <a:ext cx="530352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Apnea events per hour by position</a:t>
            </a:r>
            <a:endParaRPr lang="en-US" sz="1100" dirty="0"/>
          </a:p>
        </p:txBody>
      </p:sp>
      <p:graphicFrame>
        <p:nvGraphicFramePr>
          <p:cNvPr id="8" name="Chart 0" descr=""/>
          <p:cNvGraphicFramePr/>
          <p:nvPr/>
        </p:nvGraphicFramePr>
        <p:xfrm>
          <a:off x="6309360" y="1691640"/>
          <a:ext cx="5212080"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MAIN ANALYSIS · INTERPRETATION</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What the results mean</a:t>
            </a:r>
            <a:endParaRPr lang="en-US" sz="3200" dirty="0"/>
          </a:p>
        </p:txBody>
      </p:sp>
      <p:sp>
        <p:nvSpPr>
          <p:cNvPr id="4" name="Shape 2"/>
          <p:cNvSpPr/>
          <p:nvPr/>
        </p:nvSpPr>
        <p:spPr>
          <a:xfrm>
            <a:off x="640080" y="1691640"/>
            <a:ext cx="5349240" cy="2011680"/>
          </a:xfrm>
          <a:prstGeom prst="roundRect">
            <a:avLst>
              <a:gd name="adj" fmla="val 4545"/>
            </a:avLst>
          </a:prstGeom>
          <a:solidFill>
            <a:srgbClr val="18233F"/>
          </a:solidFill>
          <a:ln w="12700">
            <a:solidFill>
              <a:srgbClr val="2C3D60"/>
            </a:solidFill>
            <a:prstDash val="solid"/>
          </a:ln>
        </p:spPr>
      </p:sp>
      <p:sp>
        <p:nvSpPr>
          <p:cNvPr id="5" name="Text 3"/>
          <p:cNvSpPr txBox="1"/>
          <p:nvPr/>
        </p:nvSpPr>
        <p:spPr>
          <a:xfrm>
            <a:off x="914400" y="1892808"/>
            <a:ext cx="4846320" cy="411480"/>
          </a:xfrm>
          <a:prstGeom prst="rect">
            <a:avLst/>
          </a:prstGeom>
          <a:noFill/>
          <a:ln/>
        </p:spPr>
        <p:txBody>
          <a:bodyPr wrap="square" lIns="0" tIns="0" rIns="0" bIns="0" rtlCol="0" anchor="ctr"/>
          <a:lstStyle/>
          <a:p>
            <a:pPr indent="0" marL="0">
              <a:buNone/>
            </a:pPr>
            <a:r>
              <a:rPr lang="en-US" sz="1800" b="1" dirty="0">
                <a:solidFill>
                  <a:srgbClr val="3FB8CC"/>
                </a:solidFill>
                <a:latin typeface="Calibri" pitchFamily="34" charset="0"/>
                <a:ea typeface="Calibri" pitchFamily="34" charset="-122"/>
                <a:cs typeface="Calibri" pitchFamily="34" charset="-120"/>
              </a:rPr>
              <a:t>Accurate enough to trust</a:t>
            </a:r>
            <a:endParaRPr lang="en-US" sz="1800" dirty="0"/>
          </a:p>
        </p:txBody>
      </p:sp>
      <p:sp>
        <p:nvSpPr>
          <p:cNvPr id="6" name="Text 4"/>
          <p:cNvSpPr txBox="1"/>
          <p:nvPr/>
        </p:nvSpPr>
        <p:spPr>
          <a:xfrm>
            <a:off x="914400" y="2377440"/>
            <a:ext cx="4846320" cy="123444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Agreement within about ±1.6 % is in line with commercial fingertip oximeters (about ±2–3 %), so the drops it sees are real, not sensor noise.</a:t>
            </a:r>
            <a:endParaRPr lang="en-US" sz="1400" dirty="0"/>
          </a:p>
        </p:txBody>
      </p:sp>
      <p:sp>
        <p:nvSpPr>
          <p:cNvPr id="7" name="Shape 5"/>
          <p:cNvSpPr/>
          <p:nvPr/>
        </p:nvSpPr>
        <p:spPr>
          <a:xfrm>
            <a:off x="6172200" y="1691640"/>
            <a:ext cx="5349240" cy="2011680"/>
          </a:xfrm>
          <a:prstGeom prst="roundRect">
            <a:avLst>
              <a:gd name="adj" fmla="val 4545"/>
            </a:avLst>
          </a:prstGeom>
          <a:solidFill>
            <a:srgbClr val="18233F"/>
          </a:solidFill>
          <a:ln w="12700">
            <a:solidFill>
              <a:srgbClr val="2C3D60"/>
            </a:solidFill>
            <a:prstDash val="solid"/>
          </a:ln>
        </p:spPr>
      </p:sp>
      <p:sp>
        <p:nvSpPr>
          <p:cNvPr id="8" name="Text 6"/>
          <p:cNvSpPr txBox="1"/>
          <p:nvPr/>
        </p:nvSpPr>
        <p:spPr>
          <a:xfrm>
            <a:off x="6446520" y="1892808"/>
            <a:ext cx="4846320" cy="411480"/>
          </a:xfrm>
          <a:prstGeom prst="rect">
            <a:avLst/>
          </a:prstGeom>
          <a:noFill/>
          <a:ln/>
        </p:spPr>
        <p:txBody>
          <a:bodyPr wrap="square" lIns="0" tIns="0" rIns="0" bIns="0" rtlCol="0" anchor="ctr"/>
          <a:lstStyle/>
          <a:p>
            <a:pPr indent="0" marL="0">
              <a:buNone/>
            </a:pPr>
            <a:r>
              <a:rPr lang="en-US" sz="1800" b="1" dirty="0">
                <a:solidFill>
                  <a:srgbClr val="3FB8CC"/>
                </a:solidFill>
                <a:latin typeface="Calibri" pitchFamily="34" charset="0"/>
                <a:ea typeface="Calibri" pitchFamily="34" charset="-122"/>
                <a:cs typeface="Calibri" pitchFamily="34" charset="-120"/>
              </a:rPr>
              <a:t>Cautious, not over-eager</a:t>
            </a:r>
            <a:endParaRPr lang="en-US" sz="1800" dirty="0"/>
          </a:p>
        </p:txBody>
      </p:sp>
      <p:sp>
        <p:nvSpPr>
          <p:cNvPr id="9" name="Text 7"/>
          <p:cNvSpPr txBox="1"/>
          <p:nvPr/>
        </p:nvSpPr>
        <p:spPr>
          <a:xfrm>
            <a:off x="6446520" y="2377440"/>
            <a:ext cx="4846320" cy="123444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Perfect precision but 63 % recall means it misses shallow events — so my AHI is probably an under-estimate, the safe direction for a screening tool.</a:t>
            </a:r>
            <a:endParaRPr lang="en-US" sz="1400" dirty="0"/>
          </a:p>
        </p:txBody>
      </p:sp>
      <p:sp>
        <p:nvSpPr>
          <p:cNvPr id="10" name="Shape 8"/>
          <p:cNvSpPr/>
          <p:nvPr/>
        </p:nvSpPr>
        <p:spPr>
          <a:xfrm>
            <a:off x="640080" y="3931920"/>
            <a:ext cx="5349240" cy="2011680"/>
          </a:xfrm>
          <a:prstGeom prst="roundRect">
            <a:avLst>
              <a:gd name="adj" fmla="val 4545"/>
            </a:avLst>
          </a:prstGeom>
          <a:solidFill>
            <a:srgbClr val="18233F"/>
          </a:solidFill>
          <a:ln w="12700">
            <a:solidFill>
              <a:srgbClr val="2C3D60"/>
            </a:solidFill>
            <a:prstDash val="solid"/>
          </a:ln>
        </p:spPr>
      </p:sp>
      <p:sp>
        <p:nvSpPr>
          <p:cNvPr id="11" name="Text 9"/>
          <p:cNvSpPr txBox="1"/>
          <p:nvPr/>
        </p:nvSpPr>
        <p:spPr>
          <a:xfrm>
            <a:off x="914400" y="4133088"/>
            <a:ext cx="4846320" cy="411480"/>
          </a:xfrm>
          <a:prstGeom prst="rect">
            <a:avLst/>
          </a:prstGeom>
          <a:noFill/>
          <a:ln/>
        </p:spPr>
        <p:txBody>
          <a:bodyPr wrap="square" lIns="0" tIns="0" rIns="0" bIns="0" rtlCol="0" anchor="ctr"/>
          <a:lstStyle/>
          <a:p>
            <a:pPr indent="0" marL="0">
              <a:buNone/>
            </a:pPr>
            <a:r>
              <a:rPr lang="en-US" sz="1800" b="1" dirty="0">
                <a:solidFill>
                  <a:srgbClr val="3FB8CC"/>
                </a:solidFill>
                <a:latin typeface="Calibri" pitchFamily="34" charset="0"/>
                <a:ea typeface="Calibri" pitchFamily="34" charset="-122"/>
                <a:cs typeface="Calibri" pitchFamily="34" charset="-120"/>
              </a:rPr>
              <a:t>Position matters</a:t>
            </a:r>
            <a:endParaRPr lang="en-US" sz="1800" dirty="0"/>
          </a:p>
        </p:txBody>
      </p:sp>
      <p:sp>
        <p:nvSpPr>
          <p:cNvPr id="12" name="Text 10"/>
          <p:cNvSpPr txBox="1"/>
          <p:nvPr/>
        </p:nvSpPr>
        <p:spPr>
          <a:xfrm>
            <a:off x="914400" y="4617720"/>
            <a:ext cx="4846320" cy="123444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Three times more events on the back matches “positional” sleep apnea in the literature — a simple, free change (side-sleeping) could help.</a:t>
            </a:r>
            <a:endParaRPr lang="en-US" sz="1400" dirty="0"/>
          </a:p>
        </p:txBody>
      </p:sp>
      <p:sp>
        <p:nvSpPr>
          <p:cNvPr id="13" name="Shape 11"/>
          <p:cNvSpPr/>
          <p:nvPr/>
        </p:nvSpPr>
        <p:spPr>
          <a:xfrm>
            <a:off x="6172200" y="3931920"/>
            <a:ext cx="5349240" cy="2011680"/>
          </a:xfrm>
          <a:prstGeom prst="roundRect">
            <a:avLst>
              <a:gd name="adj" fmla="val 4545"/>
            </a:avLst>
          </a:prstGeom>
          <a:solidFill>
            <a:srgbClr val="18233F"/>
          </a:solidFill>
          <a:ln w="12700">
            <a:solidFill>
              <a:srgbClr val="2C3D60"/>
            </a:solidFill>
            <a:prstDash val="solid"/>
          </a:ln>
        </p:spPr>
      </p:sp>
      <p:sp>
        <p:nvSpPr>
          <p:cNvPr id="14" name="Text 12"/>
          <p:cNvSpPr txBox="1"/>
          <p:nvPr/>
        </p:nvSpPr>
        <p:spPr>
          <a:xfrm>
            <a:off x="6446520" y="4133088"/>
            <a:ext cx="4846320" cy="411480"/>
          </a:xfrm>
          <a:prstGeom prst="rect">
            <a:avLst/>
          </a:prstGeom>
          <a:noFill/>
          <a:ln/>
        </p:spPr>
        <p:txBody>
          <a:bodyPr wrap="square" lIns="0" tIns="0" rIns="0" bIns="0" rtlCol="0" anchor="ctr"/>
          <a:lstStyle/>
          <a:p>
            <a:pPr indent="0" marL="0">
              <a:buNone/>
            </a:pPr>
            <a:r>
              <a:rPr lang="en-US" sz="1800" b="1" dirty="0">
                <a:solidFill>
                  <a:srgbClr val="3FB8CC"/>
                </a:solidFill>
                <a:latin typeface="Calibri" pitchFamily="34" charset="0"/>
                <a:ea typeface="Calibri" pitchFamily="34" charset="-122"/>
                <a:cs typeface="Calibri" pitchFamily="34" charset="-120"/>
              </a:rPr>
              <a:t>More data beats fancier code</a:t>
            </a:r>
            <a:endParaRPr lang="en-US" sz="1800" dirty="0"/>
          </a:p>
        </p:txBody>
      </p:sp>
      <p:sp>
        <p:nvSpPr>
          <p:cNvPr id="15" name="Text 13"/>
          <p:cNvSpPr txBox="1"/>
          <p:nvPr/>
        </p:nvSpPr>
        <p:spPr>
          <a:xfrm>
            <a:off x="6446520" y="4617720"/>
            <a:ext cx="4846320" cy="123444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Machine learning only tied the rule because it trained on one night; it needs many labeled nights to learn more than a rule.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MAIN ANALYSIS · SOURCES OF ERROR</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What could make it wrong</a:t>
            </a:r>
            <a:endParaRPr lang="en-US" sz="3200" dirty="0"/>
          </a:p>
        </p:txBody>
      </p:sp>
      <p:sp>
        <p:nvSpPr>
          <p:cNvPr id="4" name="Text 2"/>
          <p:cNvSpPr txBox="1"/>
          <p:nvPr/>
        </p:nvSpPr>
        <p:spPr>
          <a:xfrm>
            <a:off x="640080" y="1645920"/>
            <a:ext cx="5120640" cy="365760"/>
          </a:xfrm>
          <a:prstGeom prst="rect">
            <a:avLst/>
          </a:prstGeom>
          <a:noFill/>
          <a:ln/>
        </p:spPr>
        <p:txBody>
          <a:bodyPr wrap="square" lIns="0" tIns="0" rIns="0" bIns="0" rtlCol="0" anchor="ctr"/>
          <a:lstStyle/>
          <a:p>
            <a:pPr indent="0" marL="0">
              <a:buNone/>
            </a:pPr>
            <a:r>
              <a:rPr lang="en-US" sz="1700" b="1" dirty="0">
                <a:solidFill>
                  <a:srgbClr val="E4568A"/>
                </a:solidFill>
                <a:latin typeface="Calibri" pitchFamily="34" charset="0"/>
                <a:ea typeface="Calibri" pitchFamily="34" charset="-122"/>
                <a:cs typeface="Calibri" pitchFamily="34" charset="-120"/>
              </a:rPr>
              <a:t>Measurement</a:t>
            </a:r>
            <a:endParaRPr lang="en-US" sz="1700" dirty="0"/>
          </a:p>
        </p:txBody>
      </p:sp>
      <p:sp>
        <p:nvSpPr>
          <p:cNvPr id="5" name="Shape 3"/>
          <p:cNvSpPr/>
          <p:nvPr/>
        </p:nvSpPr>
        <p:spPr>
          <a:xfrm>
            <a:off x="640080" y="2185416"/>
            <a:ext cx="118872" cy="118872"/>
          </a:xfrm>
          <a:prstGeom prst="ellipse">
            <a:avLst/>
          </a:prstGeom>
          <a:solidFill>
            <a:srgbClr val="1F8A9C"/>
          </a:solidFill>
          <a:ln/>
        </p:spPr>
      </p:sp>
      <p:sp>
        <p:nvSpPr>
          <p:cNvPr id="6" name="Text 4"/>
          <p:cNvSpPr txBox="1"/>
          <p:nvPr/>
        </p:nvSpPr>
        <p:spPr>
          <a:xfrm>
            <a:off x="914400" y="2084832"/>
            <a:ext cx="4937760" cy="749808"/>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Finger movement, pressure and cold hands distort the light signal</a:t>
            </a:r>
            <a:endParaRPr lang="en-US" sz="1400" dirty="0"/>
          </a:p>
        </p:txBody>
      </p:sp>
      <p:sp>
        <p:nvSpPr>
          <p:cNvPr id="7" name="Shape 5"/>
          <p:cNvSpPr/>
          <p:nvPr/>
        </p:nvSpPr>
        <p:spPr>
          <a:xfrm>
            <a:off x="640080" y="2937053"/>
            <a:ext cx="118872" cy="118872"/>
          </a:xfrm>
          <a:prstGeom prst="ellipse">
            <a:avLst/>
          </a:prstGeom>
          <a:solidFill>
            <a:srgbClr val="1F8A9C"/>
          </a:solidFill>
          <a:ln/>
        </p:spPr>
      </p:sp>
      <p:sp>
        <p:nvSpPr>
          <p:cNvPr id="8" name="Text 6"/>
          <p:cNvSpPr txBox="1"/>
          <p:nvPr/>
        </p:nvSpPr>
        <p:spPr>
          <a:xfrm>
            <a:off x="914400" y="2836469"/>
            <a:ext cx="493776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4-second averaging window smooths very short dips</a:t>
            </a:r>
            <a:endParaRPr lang="en-US" sz="1400" dirty="0"/>
          </a:p>
        </p:txBody>
      </p:sp>
      <p:sp>
        <p:nvSpPr>
          <p:cNvPr id="9" name="Shape 7"/>
          <p:cNvSpPr/>
          <p:nvPr/>
        </p:nvSpPr>
        <p:spPr>
          <a:xfrm>
            <a:off x="640080" y="3381451"/>
            <a:ext cx="118872" cy="118872"/>
          </a:xfrm>
          <a:prstGeom prst="ellipse">
            <a:avLst/>
          </a:prstGeom>
          <a:solidFill>
            <a:srgbClr val="1F8A9C"/>
          </a:solidFill>
          <a:ln/>
        </p:spPr>
      </p:sp>
      <p:sp>
        <p:nvSpPr>
          <p:cNvPr id="10" name="Text 8"/>
          <p:cNvSpPr txBox="1"/>
          <p:nvPr/>
        </p:nvSpPr>
        <p:spPr>
          <a:xfrm>
            <a:off x="914400" y="3280867"/>
            <a:ext cx="493776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The reference oximeter itself is only ±2 %</a:t>
            </a:r>
            <a:endParaRPr lang="en-US" sz="1400" dirty="0"/>
          </a:p>
        </p:txBody>
      </p:sp>
      <p:sp>
        <p:nvSpPr>
          <p:cNvPr id="11" name="Shape 9"/>
          <p:cNvSpPr/>
          <p:nvPr/>
        </p:nvSpPr>
        <p:spPr>
          <a:xfrm>
            <a:off x="640080" y="3825850"/>
            <a:ext cx="118872" cy="118872"/>
          </a:xfrm>
          <a:prstGeom prst="ellipse">
            <a:avLst/>
          </a:prstGeom>
          <a:solidFill>
            <a:srgbClr val="1F8A9C"/>
          </a:solidFill>
          <a:ln/>
        </p:spPr>
      </p:sp>
      <p:sp>
        <p:nvSpPr>
          <p:cNvPr id="12" name="Text 10"/>
          <p:cNvSpPr txBox="1"/>
          <p:nvPr/>
        </p:nvSpPr>
        <p:spPr>
          <a:xfrm>
            <a:off x="914400" y="3725266"/>
            <a:ext cx="493776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Arm angle approximates body position</a:t>
            </a:r>
            <a:endParaRPr lang="en-US" sz="1400" dirty="0"/>
          </a:p>
        </p:txBody>
      </p:sp>
      <p:sp>
        <p:nvSpPr>
          <p:cNvPr id="13" name="Text 11"/>
          <p:cNvSpPr txBox="1"/>
          <p:nvPr/>
        </p:nvSpPr>
        <p:spPr>
          <a:xfrm>
            <a:off x="6172200" y="1645920"/>
            <a:ext cx="5120640" cy="365760"/>
          </a:xfrm>
          <a:prstGeom prst="rect">
            <a:avLst/>
          </a:prstGeom>
          <a:noFill/>
          <a:ln/>
        </p:spPr>
        <p:txBody>
          <a:bodyPr wrap="square" lIns="0" tIns="0" rIns="0" bIns="0" rtlCol="0" anchor="ctr"/>
          <a:lstStyle/>
          <a:p>
            <a:pPr indent="0" marL="0">
              <a:buNone/>
            </a:pPr>
            <a:r>
              <a:rPr lang="en-US" sz="1700" b="1" dirty="0">
                <a:solidFill>
                  <a:srgbClr val="E4568A"/>
                </a:solidFill>
                <a:latin typeface="Calibri" pitchFamily="34" charset="0"/>
                <a:ea typeface="Calibri" pitchFamily="34" charset="-122"/>
                <a:cs typeface="Calibri" pitchFamily="34" charset="-120"/>
              </a:rPr>
              <a:t>Method</a:t>
            </a:r>
            <a:endParaRPr lang="en-US" sz="1700" dirty="0"/>
          </a:p>
        </p:txBody>
      </p:sp>
      <p:sp>
        <p:nvSpPr>
          <p:cNvPr id="14" name="Shape 12"/>
          <p:cNvSpPr/>
          <p:nvPr/>
        </p:nvSpPr>
        <p:spPr>
          <a:xfrm>
            <a:off x="6172200" y="2185416"/>
            <a:ext cx="118872" cy="118872"/>
          </a:xfrm>
          <a:prstGeom prst="ellipse">
            <a:avLst/>
          </a:prstGeom>
          <a:solidFill>
            <a:srgbClr val="1F8A9C"/>
          </a:solidFill>
          <a:ln/>
        </p:spPr>
      </p:sp>
      <p:sp>
        <p:nvSpPr>
          <p:cNvPr id="15" name="Text 13"/>
          <p:cNvSpPr txBox="1"/>
          <p:nvPr/>
        </p:nvSpPr>
        <p:spPr>
          <a:xfrm>
            <a:off x="6446520" y="2084832"/>
            <a:ext cx="507492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Awake breath-holds aren’t the same as real obstructive apnea</a:t>
            </a:r>
            <a:endParaRPr lang="en-US" sz="1400" dirty="0"/>
          </a:p>
        </p:txBody>
      </p:sp>
      <p:sp>
        <p:nvSpPr>
          <p:cNvPr id="16" name="Shape 14"/>
          <p:cNvSpPr/>
          <p:nvPr/>
        </p:nvSpPr>
        <p:spPr>
          <a:xfrm>
            <a:off x="6172200" y="2629814"/>
            <a:ext cx="118872" cy="118872"/>
          </a:xfrm>
          <a:prstGeom prst="ellipse">
            <a:avLst/>
          </a:prstGeom>
          <a:solidFill>
            <a:srgbClr val="1F8A9C"/>
          </a:solidFill>
          <a:ln/>
        </p:spPr>
      </p:sp>
      <p:sp>
        <p:nvSpPr>
          <p:cNvPr id="17" name="Text 15"/>
          <p:cNvSpPr txBox="1"/>
          <p:nvPr/>
        </p:nvSpPr>
        <p:spPr>
          <a:xfrm>
            <a:off x="6446520" y="2529230"/>
            <a:ext cx="5074920" cy="749808"/>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Oxygen only — no airflow or brain-wave sensors like a lab study</a:t>
            </a:r>
            <a:endParaRPr lang="en-US" sz="1400" dirty="0"/>
          </a:p>
        </p:txBody>
      </p:sp>
      <p:sp>
        <p:nvSpPr>
          <p:cNvPr id="18" name="Shape 16"/>
          <p:cNvSpPr/>
          <p:nvPr/>
        </p:nvSpPr>
        <p:spPr>
          <a:xfrm>
            <a:off x="6172200" y="3381451"/>
            <a:ext cx="118872" cy="118872"/>
          </a:xfrm>
          <a:prstGeom prst="ellipse">
            <a:avLst/>
          </a:prstGeom>
          <a:solidFill>
            <a:srgbClr val="1F8A9C"/>
          </a:solidFill>
          <a:ln/>
        </p:spPr>
      </p:sp>
      <p:sp>
        <p:nvSpPr>
          <p:cNvPr id="19" name="Text 17"/>
          <p:cNvSpPr txBox="1"/>
          <p:nvPr/>
        </p:nvSpPr>
        <p:spPr>
          <a:xfrm>
            <a:off x="6446520" y="3280867"/>
            <a:ext cx="507492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One person, few nights: can’t generalize yet</a:t>
            </a:r>
            <a:endParaRPr lang="en-US" sz="1400" dirty="0"/>
          </a:p>
        </p:txBody>
      </p:sp>
      <p:sp>
        <p:nvSpPr>
          <p:cNvPr id="20" name="Shape 18"/>
          <p:cNvSpPr/>
          <p:nvPr/>
        </p:nvSpPr>
        <p:spPr>
          <a:xfrm>
            <a:off x="6172200" y="3825850"/>
            <a:ext cx="118872" cy="118872"/>
          </a:xfrm>
          <a:prstGeom prst="ellipse">
            <a:avLst/>
          </a:prstGeom>
          <a:solidFill>
            <a:srgbClr val="1F8A9C"/>
          </a:solidFill>
          <a:ln/>
        </p:spPr>
      </p:sp>
      <p:sp>
        <p:nvSpPr>
          <p:cNvPr id="21" name="Text 19"/>
          <p:cNvSpPr txBox="1"/>
          <p:nvPr/>
        </p:nvSpPr>
        <p:spPr>
          <a:xfrm>
            <a:off x="6446520" y="3725266"/>
            <a:ext cx="507492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Results so far use simulated example data</a:t>
            </a:r>
            <a:endParaRPr lang="en-US" sz="1400" dirty="0"/>
          </a:p>
        </p:txBody>
      </p:sp>
      <p:sp>
        <p:nvSpPr>
          <p:cNvPr id="22" name="Shape 20"/>
          <p:cNvSpPr/>
          <p:nvPr/>
        </p:nvSpPr>
        <p:spPr>
          <a:xfrm>
            <a:off x="640080" y="4846320"/>
            <a:ext cx="10881360" cy="1234440"/>
          </a:xfrm>
          <a:prstGeom prst="roundRect">
            <a:avLst>
              <a:gd name="adj" fmla="val 7407"/>
            </a:avLst>
          </a:prstGeom>
          <a:solidFill>
            <a:srgbClr val="18233F"/>
          </a:solidFill>
          <a:ln w="12700">
            <a:solidFill>
              <a:srgbClr val="C98A1E"/>
            </a:solidFill>
            <a:prstDash val="solid"/>
          </a:ln>
        </p:spPr>
      </p:sp>
      <p:sp>
        <p:nvSpPr>
          <p:cNvPr id="23" name="Text 21"/>
          <p:cNvSpPr txBox="1"/>
          <p:nvPr/>
        </p:nvSpPr>
        <p:spPr>
          <a:xfrm>
            <a:off x="914400" y="4983480"/>
            <a:ext cx="10332720" cy="1005840"/>
          </a:xfrm>
          <a:prstGeom prst="rect">
            <a:avLst/>
          </a:prstGeom>
          <a:noFill/>
          <a:ln/>
        </p:spPr>
        <p:txBody>
          <a:bodyPr wrap="square" lIns="0" tIns="0" rIns="0" bIns="0" rtlCol="0" anchor="t"/>
          <a:lstStyle/>
          <a:p>
            <a:pPr indent="0" marL="0">
              <a:buNone/>
            </a:pPr>
            <a:r>
              <a:rPr lang="en-US" sz="1500" b="1" dirty="0">
                <a:solidFill>
                  <a:srgbClr val="C98A1E"/>
                </a:solidFill>
                <a:latin typeface="Calibri" pitchFamily="34" charset="0"/>
                <a:ea typeface="Calibri" pitchFamily="34" charset="-122"/>
                <a:cs typeface="Calibri" pitchFamily="34" charset="-120"/>
              </a:rPr>
              <a:t>Engineering finding:  </a:t>
            </a:r>
            <a:pPr indent="0" marL="0">
              <a:buNone/>
            </a:pPr>
            <a:r>
              <a:rPr lang="en-US" sz="1500" dirty="0">
                <a:solidFill>
                  <a:srgbClr val="FFFFFF"/>
                </a:solidFill>
                <a:latin typeface="Calibri" pitchFamily="34" charset="0"/>
                <a:ea typeface="Calibri" pitchFamily="34" charset="-122"/>
                <a:cs typeface="Calibri" pitchFamily="34" charset="-120"/>
              </a:rPr>
              <a:t>Bluetooth draws about 100 mA, so the 500 mAh battery lasts roughly 4–5 hours — not a full night. I added a battery runtime test, and full nights use a small USB power bank.</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FURTHER CONSIDERATIONS · SPIN-OFFS</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Same sensor, two more uses</a:t>
            </a:r>
            <a:endParaRPr lang="en-US" sz="3200" dirty="0"/>
          </a:p>
        </p:txBody>
      </p:sp>
      <p:sp>
        <p:nvSpPr>
          <p:cNvPr id="4" name="Shape 2"/>
          <p:cNvSpPr/>
          <p:nvPr/>
        </p:nvSpPr>
        <p:spPr>
          <a:xfrm>
            <a:off x="9646920" y="347472"/>
            <a:ext cx="1920240" cy="329184"/>
          </a:xfrm>
          <a:prstGeom prst="roundRect">
            <a:avLst>
              <a:gd name="adj" fmla="val 50000"/>
            </a:avLst>
          </a:prstGeom>
          <a:solidFill>
            <a:srgbClr val="FBF2DF"/>
          </a:solidFill>
          <a:ln w="12700">
            <a:solidFill>
              <a:srgbClr val="C98A1E"/>
            </a:solidFill>
            <a:prstDash val="solid"/>
          </a:ln>
        </p:spPr>
      </p:sp>
      <p:sp>
        <p:nvSpPr>
          <p:cNvPr id="5" name="Text 3"/>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EXAMPLE DATA</a:t>
            </a:r>
            <a:endParaRPr lang="en-US" sz="900" dirty="0"/>
          </a:p>
        </p:txBody>
      </p:sp>
      <p:pic>
        <p:nvPicPr>
          <p:cNvPr id="6" name="Image 0" descr="/home/user/teetomivV2/science-fair/night-signal/slides/assets/heart.png">    </p:cNvPr>
          <p:cNvPicPr>
            <a:picLocks noChangeAspect="1"/>
          </p:cNvPicPr>
          <p:nvPr/>
        </p:nvPicPr>
        <p:blipFill>
          <a:blip r:embed="rId1"/>
          <a:stretch>
            <a:fillRect/>
          </a:stretch>
        </p:blipFill>
        <p:spPr>
          <a:xfrm>
            <a:off x="640080" y="1645920"/>
            <a:ext cx="5349240" cy="2318004"/>
          </a:xfrm>
          <a:prstGeom prst="rect">
            <a:avLst/>
          </a:prstGeom>
        </p:spPr>
      </p:pic>
      <p:pic>
        <p:nvPicPr>
          <p:cNvPr id="7" name="Image 1" descr="/home/user/teetomivV2/science-fair/night-signal/slides/assets/asthma.png">    </p:cNvPr>
          <p:cNvPicPr>
            <a:picLocks noChangeAspect="1"/>
          </p:cNvPicPr>
          <p:nvPr/>
        </p:nvPicPr>
        <p:blipFill>
          <a:blip r:embed="rId2"/>
          <a:stretch>
            <a:fillRect/>
          </a:stretch>
        </p:blipFill>
        <p:spPr>
          <a:xfrm>
            <a:off x="6172200" y="1645920"/>
            <a:ext cx="5349240" cy="2318004"/>
          </a:xfrm>
          <a:prstGeom prst="rect">
            <a:avLst/>
          </a:prstGeom>
        </p:spPr>
      </p:pic>
      <p:sp>
        <p:nvSpPr>
          <p:cNvPr id="8" name="Text 4"/>
          <p:cNvSpPr txBox="1"/>
          <p:nvPr/>
        </p:nvSpPr>
        <p:spPr>
          <a:xfrm>
            <a:off x="640080" y="4101084"/>
            <a:ext cx="5349240" cy="914400"/>
          </a:xfrm>
          <a:prstGeom prst="rect">
            <a:avLst/>
          </a:prstGeom>
          <a:noFill/>
          <a:ln/>
        </p:spPr>
        <p:txBody>
          <a:bodyPr wrap="square" lIns="0" tIns="0" rIns="0" bIns="0" rtlCol="0" anchor="t"/>
          <a:lstStyle/>
          <a:p>
            <a:pPr indent="0" marL="0">
              <a:buNone/>
            </a:pPr>
            <a:r>
              <a:rPr lang="en-US" sz="1400" b="1" dirty="0">
                <a:solidFill>
                  <a:srgbClr val="E4568A"/>
                </a:solidFill>
                <a:latin typeface="Calibri" pitchFamily="34" charset="0"/>
                <a:ea typeface="Calibri" pitchFamily="34" charset="-122"/>
                <a:cs typeface="Calibri" pitchFamily="34" charset="-120"/>
              </a:rPr>
              <a:t>Heart  </a:t>
            </a:r>
            <a:pPr indent="0" marL="0">
              <a:buNone/>
            </a:pPr>
            <a:r>
              <a:rPr lang="en-US" sz="1400" dirty="0">
                <a:solidFill>
                  <a:srgbClr val="44515F"/>
                </a:solidFill>
                <a:latin typeface="Calibri" pitchFamily="34" charset="0"/>
                <a:ea typeface="Calibri" pitchFamily="34" charset="-122"/>
                <a:cs typeface="Calibri" pitchFamily="34" charset="-120"/>
              </a:rPr>
              <a:t>flags racing (&gt;100 bpm), very slow (&lt;40 bpm) and irregular-rhythm episodes, plus resting heart rate and HRV.</a:t>
            </a:r>
            <a:endParaRPr lang="en-US" sz="1400" dirty="0"/>
          </a:p>
        </p:txBody>
      </p:sp>
      <p:sp>
        <p:nvSpPr>
          <p:cNvPr id="9" name="Text 5"/>
          <p:cNvSpPr txBox="1"/>
          <p:nvPr/>
        </p:nvSpPr>
        <p:spPr>
          <a:xfrm>
            <a:off x="6172200" y="4101084"/>
            <a:ext cx="5349240" cy="914400"/>
          </a:xfrm>
          <a:prstGeom prst="rect">
            <a:avLst/>
          </a:prstGeom>
          <a:noFill/>
          <a:ln/>
        </p:spPr>
        <p:txBody>
          <a:bodyPr wrap="square" lIns="0" tIns="0" rIns="0" bIns="0" rtlCol="0" anchor="t"/>
          <a:lstStyle/>
          <a:p>
            <a:pPr indent="0" marL="0">
              <a:buNone/>
            </a:pPr>
            <a:r>
              <a:rPr lang="en-US" sz="1400" b="1" dirty="0">
                <a:solidFill>
                  <a:srgbClr val="1F8A9C"/>
                </a:solidFill>
                <a:latin typeface="Calibri" pitchFamily="34" charset="0"/>
                <a:ea typeface="Calibri" pitchFamily="34" charset="-122"/>
                <a:cs typeface="Calibri" pitchFamily="34" charset="-120"/>
              </a:rPr>
              <a:t>Asthma  </a:t>
            </a:r>
            <a:pPr indent="0" marL="0">
              <a:buNone/>
            </a:pPr>
            <a:r>
              <a:rPr lang="en-US" sz="1400" dirty="0">
                <a:solidFill>
                  <a:srgbClr val="44515F"/>
                </a:solidFill>
                <a:latin typeface="Calibri" pitchFamily="34" charset="0"/>
                <a:ea typeface="Calibri" pitchFamily="34" charset="-122"/>
                <a:cs typeface="Calibri" pitchFamily="34" charset="-120"/>
              </a:rPr>
              <a:t>tracks breathing rate from the heart’s rhythm and coughs from the motion sensor — catching early-morning worsening (13 → 22 breaths/min).</a:t>
            </a:r>
            <a:endParaRPr lang="en-US" sz="1400" dirty="0"/>
          </a:p>
        </p:txBody>
      </p:sp>
      <p:sp>
        <p:nvSpPr>
          <p:cNvPr id="10" name="Text 6"/>
          <p:cNvSpPr txBox="1"/>
          <p:nvPr/>
        </p:nvSpPr>
        <p:spPr>
          <a:xfrm>
            <a:off x="640080" y="6172200"/>
            <a:ext cx="10881360" cy="274320"/>
          </a:xfrm>
          <a:prstGeom prst="rect">
            <a:avLst/>
          </a:prstGeom>
          <a:noFill/>
          <a:ln/>
        </p:spPr>
        <p:txBody>
          <a:bodyPr wrap="square" lIns="0" tIns="0" rIns="0" bIns="0" rtlCol="0" anchor="ctr"/>
          <a:lstStyle/>
          <a:p>
            <a:pPr indent="0" marL="0">
              <a:buNone/>
            </a:pPr>
            <a:r>
              <a:rPr lang="en-US" sz="1200" i="1" dirty="0">
                <a:solidFill>
                  <a:srgbClr val="6B7889"/>
                </a:solidFill>
                <a:latin typeface="Calibri" pitchFamily="34" charset="0"/>
                <a:ea typeface="Calibri" pitchFamily="34" charset="-122"/>
                <a:cs typeface="Calibri" pitchFamily="34" charset="-120"/>
              </a:rPr>
              <a:t>Screening ideas only — confirming an arrhythmia or asthma needs a doctor.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Back to the hypothesis</a:t>
            </a:r>
            <a:endParaRPr lang="en-US" sz="3200" dirty="0"/>
          </a:p>
        </p:txBody>
      </p:sp>
      <p:sp>
        <p:nvSpPr>
          <p:cNvPr id="4" name="Shape 2"/>
          <p:cNvSpPr/>
          <p:nvPr/>
        </p:nvSpPr>
        <p:spPr>
          <a:xfrm>
            <a:off x="640080" y="1600200"/>
            <a:ext cx="10881360" cy="1371600"/>
          </a:xfrm>
          <a:prstGeom prst="roundRect">
            <a:avLst>
              <a:gd name="adj" fmla="val 6667"/>
            </a:avLst>
          </a:prstGeom>
          <a:solidFill>
            <a:srgbClr val="18233F"/>
          </a:solidFill>
          <a:ln w="12700">
            <a:solidFill>
              <a:srgbClr val="1F8A9C"/>
            </a:solidFill>
            <a:prstDash val="solid"/>
          </a:ln>
        </p:spPr>
      </p:sp>
      <p:sp>
        <p:nvSpPr>
          <p:cNvPr id="5" name="Text 3"/>
          <p:cNvSpPr txBox="1"/>
          <p:nvPr/>
        </p:nvSpPr>
        <p:spPr>
          <a:xfrm>
            <a:off x="914400" y="1755648"/>
            <a:ext cx="10332720" cy="1097280"/>
          </a:xfrm>
          <a:prstGeom prst="rect">
            <a:avLst/>
          </a:prstGeom>
          <a:noFill/>
          <a:ln/>
        </p:spPr>
        <p:txBody>
          <a:bodyPr wrap="square" lIns="0" tIns="0" rIns="0" bIns="0" rtlCol="0" anchor="t"/>
          <a:lstStyle/>
          <a:p>
            <a:pPr indent="0" marL="0">
              <a:buNone/>
            </a:pPr>
            <a:r>
              <a:rPr lang="en-US" sz="1700" b="1" dirty="0">
                <a:solidFill>
                  <a:srgbClr val="3FB8CC"/>
                </a:solidFill>
                <a:latin typeface="Calibri" pitchFamily="34" charset="0"/>
                <a:ea typeface="Calibri" pitchFamily="34" charset="-122"/>
                <a:cs typeface="Calibri" pitchFamily="34" charset="-120"/>
              </a:rPr>
              <a:t>Supported (so far). </a:t>
            </a:r>
            <a:pPr indent="0" marL="0">
              <a:buNone/>
            </a:pPr>
            <a:r>
              <a:rPr lang="en-US" sz="1700" dirty="0">
                <a:solidFill>
                  <a:srgbClr val="FFFFFF"/>
                </a:solidFill>
                <a:latin typeface="Calibri" pitchFamily="34" charset="0"/>
                <a:ea typeface="Calibri" pitchFamily="34" charset="-122"/>
                <a:cs typeface="Calibri" pitchFamily="34" charset="-120"/>
              </a:rPr>
              <a:t>A low-cost wearable measured blood oxygen within about half a percent of a reference, found apnea events on its own, scored the night’s severity, and showed back-sleeping triples events.</a:t>
            </a:r>
            <a:endParaRPr lang="en-US" sz="1700" dirty="0"/>
          </a:p>
        </p:txBody>
      </p:sp>
      <p:sp>
        <p:nvSpPr>
          <p:cNvPr id="6" name="Text 4"/>
          <p:cNvSpPr txBox="1"/>
          <p:nvPr/>
        </p:nvSpPr>
        <p:spPr>
          <a:xfrm>
            <a:off x="640080" y="3246120"/>
            <a:ext cx="5486400" cy="365760"/>
          </a:xfrm>
          <a:prstGeom prst="rect">
            <a:avLst/>
          </a:prstGeom>
          <a:noFill/>
          <a:ln/>
        </p:spPr>
        <p:txBody>
          <a:bodyPr wrap="square" lIns="0" tIns="0" rIns="0" bIns="0" rtlCol="0" anchor="ctr"/>
          <a:lstStyle/>
          <a:p>
            <a:pPr indent="0" marL="0">
              <a:buNone/>
            </a:pPr>
            <a:r>
              <a:rPr lang="en-US" sz="1700" b="1" dirty="0">
                <a:solidFill>
                  <a:srgbClr val="E4568A"/>
                </a:solidFill>
                <a:latin typeface="Calibri" pitchFamily="34" charset="0"/>
                <a:ea typeface="Calibri" pitchFamily="34" charset="-122"/>
                <a:cs typeface="Calibri" pitchFamily="34" charset="-120"/>
              </a:rPr>
              <a:t>Improvements</a:t>
            </a:r>
            <a:endParaRPr lang="en-US" sz="1700" dirty="0"/>
          </a:p>
        </p:txBody>
      </p:sp>
      <p:sp>
        <p:nvSpPr>
          <p:cNvPr id="7" name="Shape 5"/>
          <p:cNvSpPr/>
          <p:nvPr/>
        </p:nvSpPr>
        <p:spPr>
          <a:xfrm>
            <a:off x="640080" y="3785616"/>
            <a:ext cx="118872" cy="118872"/>
          </a:xfrm>
          <a:prstGeom prst="ellipse">
            <a:avLst/>
          </a:prstGeom>
          <a:solidFill>
            <a:srgbClr val="1F8A9C"/>
          </a:solidFill>
          <a:ln/>
        </p:spPr>
      </p:sp>
      <p:sp>
        <p:nvSpPr>
          <p:cNvPr id="8" name="Text 6"/>
          <p:cNvSpPr txBox="1"/>
          <p:nvPr/>
        </p:nvSpPr>
        <p:spPr>
          <a:xfrm>
            <a:off x="914400" y="3685032"/>
            <a:ext cx="6492240" cy="420624"/>
          </a:xfrm>
          <a:prstGeom prst="rect">
            <a:avLst/>
          </a:prstGeom>
          <a:noFill/>
          <a:ln/>
        </p:spPr>
        <p:txBody>
          <a:bodyPr wrap="square" lIns="0" tIns="0" rIns="0" bIns="0" rtlCol="0" anchor="t"/>
          <a:lstStyle/>
          <a:p>
            <a:pPr indent="0" marL="0">
              <a:buNone/>
            </a:pPr>
            <a:r>
              <a:rPr lang="en-US" sz="1500" dirty="0">
                <a:solidFill>
                  <a:srgbClr val="A9B8D2"/>
                </a:solidFill>
                <a:latin typeface="Calibri" pitchFamily="34" charset="0"/>
                <a:ea typeface="Calibri" pitchFamily="34" charset="-122"/>
                <a:cs typeface="Calibri" pitchFamily="34" charset="-120"/>
              </a:rPr>
              <a:t>Record more people and many more nights</a:t>
            </a:r>
            <a:endParaRPr lang="en-US" sz="1500" dirty="0"/>
          </a:p>
        </p:txBody>
      </p:sp>
      <p:sp>
        <p:nvSpPr>
          <p:cNvPr id="9" name="Shape 7"/>
          <p:cNvSpPr/>
          <p:nvPr/>
        </p:nvSpPr>
        <p:spPr>
          <a:xfrm>
            <a:off x="640080" y="4261104"/>
            <a:ext cx="118872" cy="118872"/>
          </a:xfrm>
          <a:prstGeom prst="ellipse">
            <a:avLst/>
          </a:prstGeom>
          <a:solidFill>
            <a:srgbClr val="1F8A9C"/>
          </a:solidFill>
          <a:ln/>
        </p:spPr>
      </p:sp>
      <p:sp>
        <p:nvSpPr>
          <p:cNvPr id="10" name="Text 8"/>
          <p:cNvSpPr txBox="1"/>
          <p:nvPr/>
        </p:nvSpPr>
        <p:spPr>
          <a:xfrm>
            <a:off x="914400" y="4160520"/>
            <a:ext cx="6492240" cy="420624"/>
          </a:xfrm>
          <a:prstGeom prst="rect">
            <a:avLst/>
          </a:prstGeom>
          <a:noFill/>
          <a:ln/>
        </p:spPr>
        <p:txBody>
          <a:bodyPr wrap="square" lIns="0" tIns="0" rIns="0" bIns="0" rtlCol="0" anchor="t"/>
          <a:lstStyle/>
          <a:p>
            <a:pPr indent="0" marL="0">
              <a:buNone/>
            </a:pPr>
            <a:r>
              <a:rPr lang="en-US" sz="1500" dirty="0">
                <a:solidFill>
                  <a:srgbClr val="A9B8D2"/>
                </a:solidFill>
                <a:latin typeface="Calibri" pitchFamily="34" charset="0"/>
                <a:ea typeface="Calibri" pitchFamily="34" charset="-122"/>
                <a:cs typeface="Calibri" pitchFamily="34" charset="-120"/>
              </a:rPr>
              <a:t>Add a nasal airflow sensor to separate apnea from hypopnea</a:t>
            </a:r>
            <a:endParaRPr lang="en-US" sz="1500" dirty="0"/>
          </a:p>
        </p:txBody>
      </p:sp>
      <p:sp>
        <p:nvSpPr>
          <p:cNvPr id="11" name="Shape 9"/>
          <p:cNvSpPr/>
          <p:nvPr/>
        </p:nvSpPr>
        <p:spPr>
          <a:xfrm>
            <a:off x="640080" y="4736592"/>
            <a:ext cx="118872" cy="118872"/>
          </a:xfrm>
          <a:prstGeom prst="ellipse">
            <a:avLst/>
          </a:prstGeom>
          <a:solidFill>
            <a:srgbClr val="1F8A9C"/>
          </a:solidFill>
          <a:ln/>
        </p:spPr>
      </p:sp>
      <p:sp>
        <p:nvSpPr>
          <p:cNvPr id="12" name="Text 10"/>
          <p:cNvSpPr txBox="1"/>
          <p:nvPr/>
        </p:nvSpPr>
        <p:spPr>
          <a:xfrm>
            <a:off x="914400" y="4636008"/>
            <a:ext cx="6492240" cy="420624"/>
          </a:xfrm>
          <a:prstGeom prst="rect">
            <a:avLst/>
          </a:prstGeom>
          <a:noFill/>
          <a:ln/>
        </p:spPr>
        <p:txBody>
          <a:bodyPr wrap="square" lIns="0" tIns="0" rIns="0" bIns="0" rtlCol="0" anchor="t"/>
          <a:lstStyle/>
          <a:p>
            <a:pPr indent="0" marL="0">
              <a:buNone/>
            </a:pPr>
            <a:r>
              <a:rPr lang="en-US" sz="1500" dirty="0">
                <a:solidFill>
                  <a:srgbClr val="A9B8D2"/>
                </a:solidFill>
                <a:latin typeface="Calibri" pitchFamily="34" charset="0"/>
                <a:ea typeface="Calibri" pitchFamily="34" charset="-122"/>
                <a:cs typeface="Calibri" pitchFamily="34" charset="-120"/>
              </a:rPr>
              <a:t>Bigger battery or Bluetooth Low Energy for full nights</a:t>
            </a:r>
            <a:endParaRPr lang="en-US" sz="1500" dirty="0"/>
          </a:p>
        </p:txBody>
      </p:sp>
      <p:sp>
        <p:nvSpPr>
          <p:cNvPr id="13" name="Shape 11"/>
          <p:cNvSpPr/>
          <p:nvPr/>
        </p:nvSpPr>
        <p:spPr>
          <a:xfrm>
            <a:off x="640080" y="5212080"/>
            <a:ext cx="118872" cy="118872"/>
          </a:xfrm>
          <a:prstGeom prst="ellipse">
            <a:avLst/>
          </a:prstGeom>
          <a:solidFill>
            <a:srgbClr val="1F8A9C"/>
          </a:solidFill>
          <a:ln/>
        </p:spPr>
      </p:sp>
      <p:sp>
        <p:nvSpPr>
          <p:cNvPr id="14" name="Text 12"/>
          <p:cNvSpPr txBox="1"/>
          <p:nvPr/>
        </p:nvSpPr>
        <p:spPr>
          <a:xfrm>
            <a:off x="914400" y="5111496"/>
            <a:ext cx="6492240" cy="420624"/>
          </a:xfrm>
          <a:prstGeom prst="rect">
            <a:avLst/>
          </a:prstGeom>
          <a:noFill/>
          <a:ln/>
        </p:spPr>
        <p:txBody>
          <a:bodyPr wrap="square" lIns="0" tIns="0" rIns="0" bIns="0" rtlCol="0" anchor="t"/>
          <a:lstStyle/>
          <a:p>
            <a:pPr indent="0" marL="0">
              <a:buNone/>
            </a:pPr>
            <a:r>
              <a:rPr lang="en-US" sz="1500" dirty="0">
                <a:solidFill>
                  <a:srgbClr val="A9B8D2"/>
                </a:solidFill>
                <a:latin typeface="Calibri" pitchFamily="34" charset="0"/>
                <a:ea typeface="Calibri" pitchFamily="34" charset="-122"/>
                <a:cs typeface="Calibri" pitchFamily="34" charset="-120"/>
              </a:rPr>
              <a:t>Shrink it into a finger-ring and compare with a real sleep lab</a:t>
            </a:r>
            <a:endParaRPr lang="en-US" sz="1500" dirty="0"/>
          </a:p>
        </p:txBody>
      </p:sp>
      <p:pic>
        <p:nvPicPr>
          <p:cNvPr id="15" name="Image 0" descr="/home/user/teetomivV2/science-fair/night-signal/slides/assets/qr_app.png">
            <a:hlinkClick r:id="rId2" tooltip="App"/>
          </p:cNvPr>
          <p:cNvPicPr>
            <a:picLocks noChangeAspect="1"/>
          </p:cNvPicPr>
          <p:nvPr/>
        </p:nvPicPr>
        <p:blipFill>
          <a:blip r:embed="rId1"/>
          <a:stretch>
            <a:fillRect/>
          </a:stretch>
        </p:blipFill>
        <p:spPr>
          <a:xfrm>
            <a:off x="8001000" y="3383280"/>
            <a:ext cx="1463040" cy="1463040"/>
          </a:xfrm>
          <a:prstGeom prst="rect">
            <a:avLst/>
          </a:prstGeom>
        </p:spPr>
      </p:pic>
      <p:pic>
        <p:nvPicPr>
          <p:cNvPr id="16" name="Image 1" descr="/home/user/teetomivV2/science-fair/night-signal/slides/assets/qr_3d.png">
            <a:hlinkClick r:id="rId4" tooltip="3D model"/>
          </p:cNvPr>
          <p:cNvPicPr>
            <a:picLocks noChangeAspect="1"/>
          </p:cNvPicPr>
          <p:nvPr/>
        </p:nvPicPr>
        <p:blipFill>
          <a:blip r:embed="rId3"/>
          <a:stretch>
            <a:fillRect/>
          </a:stretch>
        </p:blipFill>
        <p:spPr>
          <a:xfrm>
            <a:off x="9921240" y="3383280"/>
            <a:ext cx="1463040" cy="1463040"/>
          </a:xfrm>
          <a:prstGeom prst="rect">
            <a:avLst/>
          </a:prstGeom>
        </p:spPr>
      </p:pic>
      <p:sp>
        <p:nvSpPr>
          <p:cNvPr id="17" name="Text 13"/>
          <p:cNvSpPr txBox="1"/>
          <p:nvPr/>
        </p:nvSpPr>
        <p:spPr>
          <a:xfrm>
            <a:off x="8001000" y="4919472"/>
            <a:ext cx="1463040" cy="274320"/>
          </a:xfrm>
          <a:prstGeom prst="rect">
            <a:avLst/>
          </a:prstGeom>
          <a:noFill/>
          <a:ln/>
        </p:spPr>
        <p:txBody>
          <a:bodyPr wrap="square" lIns="0" tIns="0" rIns="0" bIns="0" rtlCol="0" anchor="ctr"/>
          <a:lstStyle/>
          <a:p>
            <a:pPr algn="ctr" indent="0" marL="0">
              <a:buNone/>
            </a:pPr>
            <a:r>
              <a:rPr lang="en-US" sz="1300" dirty="0">
                <a:solidFill>
                  <a:srgbClr val="A9B8D2"/>
                </a:solidFill>
                <a:latin typeface="Calibri" pitchFamily="34" charset="0"/>
                <a:ea typeface="Calibri" pitchFamily="34" charset="-122"/>
                <a:cs typeface="Calibri" pitchFamily="34" charset="-120"/>
              </a:rPr>
              <a:t>App</a:t>
            </a:r>
            <a:endParaRPr lang="en-US" sz="1300" dirty="0"/>
          </a:p>
        </p:txBody>
      </p:sp>
      <p:sp>
        <p:nvSpPr>
          <p:cNvPr id="18" name="Text 14"/>
          <p:cNvSpPr txBox="1"/>
          <p:nvPr/>
        </p:nvSpPr>
        <p:spPr>
          <a:xfrm>
            <a:off x="9921240" y="4919472"/>
            <a:ext cx="1463040" cy="274320"/>
          </a:xfrm>
          <a:prstGeom prst="rect">
            <a:avLst/>
          </a:prstGeom>
          <a:noFill/>
          <a:ln/>
        </p:spPr>
        <p:txBody>
          <a:bodyPr wrap="square" lIns="0" tIns="0" rIns="0" bIns="0" rtlCol="0" anchor="ctr"/>
          <a:lstStyle/>
          <a:p>
            <a:pPr algn="ctr" indent="0" marL="0">
              <a:buNone/>
            </a:pPr>
            <a:r>
              <a:rPr lang="en-US" sz="1300" dirty="0">
                <a:solidFill>
                  <a:srgbClr val="A9B8D2"/>
                </a:solidFill>
                <a:latin typeface="Calibri" pitchFamily="34" charset="0"/>
                <a:ea typeface="Calibri" pitchFamily="34" charset="-122"/>
                <a:cs typeface="Calibri" pitchFamily="34" charset="-120"/>
              </a:rPr>
              <a:t>3D model</a:t>
            </a:r>
            <a:endParaRPr lang="en-US" sz="1300" dirty="0"/>
          </a:p>
        </p:txBody>
      </p:sp>
      <p:sp>
        <p:nvSpPr>
          <p:cNvPr id="19" name="Text 15"/>
          <p:cNvSpPr txBox="1"/>
          <p:nvPr/>
        </p:nvSpPr>
        <p:spPr>
          <a:xfrm>
            <a:off x="640080" y="5989320"/>
            <a:ext cx="1088136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Thank you — questions?</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APPENDIX A · MATERIALS</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Parts, exact sizes and where to buy</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3840480"/>
                <a:gridCol w="3200400"/>
                <a:gridCol w="2560320"/>
                <a:gridCol w="1280160"/>
              </a:tblGrid>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Part</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Size</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Purpose</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Buy</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AITRIP ESP32 ESP-WROOM-32 (30-pin, CP2102, USB-C)</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 52 × 28 mm · 13 mm tall with pins</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Processor + Bluetooth Classic</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1" invalidUrl="" action="" tgtFrame="" tooltip="https://www.amazon.ca/AITRIP-ESP-WROOM-32-Development-Microcontroller-Compatible/dp/B0DF2YJSHN"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HiLetgo MAX30102 sensor</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14 × 14 mm</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SpO₂ + heart rate (finger clip)</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2" invalidUrl="" action="" tgtFrame="" tooltip="https://www.amazon.ca/HiLetgo-MAX30102-Breakout-Oximetry-Solution/dp/B07QC67KMQ"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HiLetgo GY-521 MPU-6050 (3-pack)</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 21 × 16 mm</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Sleep position + cough jolts</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3" invalidUrl="" action="" tgtFrame="" tooltip="https://www.amazon.ca/Hiletgo-MPU6050-Acc%C3%A9l%C3%A9rom%C3%A8tre-gyroscope-convertisseur/dp/B00LP25V1A"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LiPo 3.7 V 500 mAh 503035, JST PH2.0</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35 × 30 × 6 mm</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Battery (≈ 4–5 h — test it)</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4" invalidUrl="" action="" tgtFrame="" tooltip="https://www.amazon.ca/Battery-Rechargeable-Lithium-Polymer-Connector/dp/B07S84SBV3"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Treedix TP4056 USB-C charger (6-pack)</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 28 × 17 mm</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Charges the battery safely</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5" invalidUrl="" action="" tgtFrame="" tooltip="https://www.amazon.ca/Treedix-Lithium-Charging-Protection-Functions/dp/B09LTVTY5J"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Rakstore TPS63020 3.3 V buck-boost</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1.8–5 V in → 3.3 V out</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Steady 3.3 V as the battery drains</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6" invalidUrl="" action="" tgtFrame="" tooltip="https://www.amazon.ca/Rakstore-TPS63020-Automatic-Buck-Boost-Converter/dp/B09V4SHLTJ"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HoHaing ABS project box (8-pack)</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70 × 45 × 29 mm · inside 66 × 41 × 25 mm</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The sensor case</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7" invalidUrl="" action="" tgtFrame="" tooltip="https://www.amazon.ca/HoHaing-Electrical-Junction-Enclosure-Electronic/dp/B0CGV22KKG"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VELCRO Brand 1 in × 30 ft roll</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25 mm wide · cut ≈ 300 mm + ≈ 80 mm</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Arm strap + finger loop</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8" invalidUrl="" action="" tgtFrame="" tooltip="https://www.amazon.ca/VELCRO-Brand-VEL-30768-AMS-Self-Gripping-Organization/dp/B09QH2NVM1"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100 kΩ resistors (2) + jumper wires</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1/4 W</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Battery-level reading on GPIO 34</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9" invalidUrl="" action="" tgtFrame="" tooltip="https://www.amazon.ca/s?k=100k+ohm+resistor+1%2F4w"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Elite Medica fingertip pulse oximeter</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Health Canada authorized</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Reference for the accuracy test</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10" invalidUrl="" action="" tgtFrame="" tooltip="https://www.amazon.ca/Elite-Medica-Fingertip-Saturation-Batteries/dp/B0DSGP91PB"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sp>
        <p:nvSpPr>
          <p:cNvPr id="7" name="Text 4"/>
          <p:cNvSpPr txBox="1"/>
          <p:nvPr/>
        </p:nvSpPr>
        <p:spPr>
          <a:xfrm>
            <a:off x="640080" y="5806440"/>
            <a:ext cx="10881360" cy="457200"/>
          </a:xfrm>
          <a:prstGeom prst="rect">
            <a:avLst/>
          </a:prstGeom>
          <a:noFill/>
          <a:ln/>
        </p:spPr>
        <p:txBody>
          <a:bodyPr wrap="square" lIns="0" tIns="0" rIns="0" bIns="0" rtlCol="0" anchor="ctr"/>
          <a:lstStyle/>
          <a:p>
            <a:pPr indent="0" marL="0">
              <a:buNone/>
            </a:pPr>
            <a:r>
              <a:rPr lang="en-US" sz="1150" i="1" dirty="0">
                <a:solidFill>
                  <a:srgbClr val="6B7889"/>
                </a:solidFill>
                <a:latin typeface="Calibri" pitchFamily="34" charset="0"/>
                <a:ea typeface="Calibri" pitchFamily="34" charset="-122"/>
                <a:cs typeface="Calibri" pitchFamily="34" charset="-120"/>
              </a:rPr>
              <a:t>Every part is on Amazon.ca (click Buy). Prices change and several items are multi-packs. Sizes from the listings — boards vary about ±2 mm, so measure yours.</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APPENDIX B · FULL PROTOCOL</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Full experimental protocol</a:t>
            </a:r>
            <a:endParaRPr lang="en-US" sz="2800" dirty="0"/>
          </a:p>
        </p:txBody>
      </p:sp>
      <p:sp>
        <p:nvSpPr>
          <p:cNvPr id="6" name="Text 4"/>
          <p:cNvSpPr txBox="1"/>
          <p:nvPr/>
        </p:nvSpPr>
        <p:spPr>
          <a:xfrm>
            <a:off x="640080" y="1463040"/>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005840" y="1463040"/>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Build: wire MAX30102 and MPU-6050 to the ESP32 (SDA→21, SCL→22, 3V3, GND); battery → TP4056 → 3.3 V regulator → ESP32 3V3; battery divider to GPIO 34. Flash firmware v3.</a:t>
            </a:r>
            <a:endParaRPr lang="en-US" sz="1250" dirty="0"/>
          </a:p>
        </p:txBody>
      </p:sp>
      <p:sp>
        <p:nvSpPr>
          <p:cNvPr id="8" name="Text 6"/>
          <p:cNvSpPr txBox="1"/>
          <p:nvPr/>
        </p:nvSpPr>
        <p:spPr>
          <a:xfrm>
            <a:off x="640080" y="2048256"/>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005840" y="2048256"/>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Device check: run check_device.py; record the result. Do not continue unless it says READY.</a:t>
            </a:r>
            <a:endParaRPr lang="en-US" sz="1250" dirty="0"/>
          </a:p>
        </p:txBody>
      </p:sp>
      <p:sp>
        <p:nvSpPr>
          <p:cNvPr id="10" name="Text 8"/>
          <p:cNvSpPr txBox="1"/>
          <p:nvPr/>
        </p:nvSpPr>
        <p:spPr>
          <a:xfrm>
            <a:off x="640080" y="2633472"/>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3</a:t>
            </a:r>
            <a:endParaRPr lang="en-US" sz="1400" dirty="0"/>
          </a:p>
        </p:txBody>
      </p:sp>
      <p:sp>
        <p:nvSpPr>
          <p:cNvPr id="11" name="Text 9"/>
          <p:cNvSpPr txBox="1"/>
          <p:nvPr/>
        </p:nvSpPr>
        <p:spPr>
          <a:xfrm>
            <a:off x="1005840" y="2633472"/>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Battery runtime test: charge fully, stream with a finger on the sensor, record the time until data stops. Repeat 3 times; report the average.</a:t>
            </a:r>
            <a:endParaRPr lang="en-US" sz="1250" dirty="0"/>
          </a:p>
        </p:txBody>
      </p:sp>
      <p:sp>
        <p:nvSpPr>
          <p:cNvPr id="12" name="Text 10"/>
          <p:cNvSpPr txBox="1"/>
          <p:nvPr/>
        </p:nvSpPr>
        <p:spPr>
          <a:xfrm>
            <a:off x="640080" y="3218688"/>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4</a:t>
            </a:r>
            <a:endParaRPr lang="en-US" sz="1400" dirty="0"/>
          </a:p>
        </p:txBody>
      </p:sp>
      <p:sp>
        <p:nvSpPr>
          <p:cNvPr id="13" name="Text 11"/>
          <p:cNvSpPr txBox="1"/>
          <p:nvPr/>
        </p:nvSpPr>
        <p:spPr>
          <a:xfrm>
            <a:off x="1005840" y="3218688"/>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Accuracy test: seated, awake, 30 min. Every 2 min write down the reference oximeter value with the time. Analyse with validate.py (Bland–Altman, r).</a:t>
            </a:r>
            <a:endParaRPr lang="en-US" sz="1250" dirty="0"/>
          </a:p>
        </p:txBody>
      </p:sp>
      <p:sp>
        <p:nvSpPr>
          <p:cNvPr id="14" name="Text 12"/>
          <p:cNvSpPr txBox="1"/>
          <p:nvPr/>
        </p:nvSpPr>
        <p:spPr>
          <a:xfrm>
            <a:off x="640080" y="3803904"/>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5</a:t>
            </a:r>
            <a:endParaRPr lang="en-US" sz="1400" dirty="0"/>
          </a:p>
        </p:txBody>
      </p:sp>
      <p:sp>
        <p:nvSpPr>
          <p:cNvPr id="15" name="Text 13"/>
          <p:cNvSpPr txBox="1"/>
          <p:nvPr/>
        </p:nvSpPr>
        <p:spPr>
          <a:xfrm>
            <a:off x="1005840" y="3803904"/>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Detection test: supervised, awake; 5 breath-holds each of 10, 15 and 20 s, 2 min apart; log start/end times as ground-truth labels. Score with train_model.py.</a:t>
            </a:r>
            <a:endParaRPr lang="en-US" sz="1250" dirty="0"/>
          </a:p>
        </p:txBody>
      </p:sp>
      <p:sp>
        <p:nvSpPr>
          <p:cNvPr id="16" name="Text 14"/>
          <p:cNvSpPr txBox="1"/>
          <p:nvPr/>
        </p:nvSpPr>
        <p:spPr>
          <a:xfrm>
            <a:off x="640080" y="4389120"/>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6</a:t>
            </a:r>
            <a:endParaRPr lang="en-US" sz="1400" dirty="0"/>
          </a:p>
        </p:txBody>
      </p:sp>
      <p:sp>
        <p:nvSpPr>
          <p:cNvPr id="17" name="Text 15"/>
          <p:cNvSpPr txBox="1"/>
          <p:nvPr/>
        </p:nvSpPr>
        <p:spPr>
          <a:xfrm>
            <a:off x="1005840" y="4389120"/>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Recorded nights: ≥ 5 nights; case on the upper arm, finger clip on the index finger; record.py logs all night; note bedtime and wake time.</a:t>
            </a:r>
            <a:endParaRPr lang="en-US" sz="1250" dirty="0"/>
          </a:p>
        </p:txBody>
      </p:sp>
      <p:sp>
        <p:nvSpPr>
          <p:cNvPr id="18" name="Text 16"/>
          <p:cNvSpPr txBox="1"/>
          <p:nvPr/>
        </p:nvSpPr>
        <p:spPr>
          <a:xfrm>
            <a:off x="640080" y="4974336"/>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7</a:t>
            </a:r>
            <a:endParaRPr lang="en-US" sz="1400" dirty="0"/>
          </a:p>
        </p:txBody>
      </p:sp>
      <p:sp>
        <p:nvSpPr>
          <p:cNvPr id="19" name="Text 17"/>
          <p:cNvSpPr txBox="1"/>
          <p:nvPr/>
        </p:nvSpPr>
        <p:spPr>
          <a:xfrm>
            <a:off x="1005840" y="4974336"/>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Analysis: analyze.py, signals.py, position.py, heart.py, asthma.py on each night; rebuild the app and slides with build_app.py and build_deck.js.</a:t>
            </a:r>
            <a:endParaRPr lang="en-US" sz="1250" dirty="0"/>
          </a:p>
        </p:txBody>
      </p:sp>
      <p:sp>
        <p:nvSpPr>
          <p:cNvPr id="20" name="Text 18"/>
          <p:cNvSpPr txBox="1"/>
          <p:nvPr/>
        </p:nvSpPr>
        <p:spPr>
          <a:xfrm>
            <a:off x="640080" y="5559552"/>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8</a:t>
            </a:r>
            <a:endParaRPr lang="en-US" sz="1400" dirty="0"/>
          </a:p>
        </p:txBody>
      </p:sp>
      <p:sp>
        <p:nvSpPr>
          <p:cNvPr id="21" name="Text 19"/>
          <p:cNvSpPr txBox="1"/>
          <p:nvPr/>
        </p:nvSpPr>
        <p:spPr>
          <a:xfrm>
            <a:off x="1005840" y="5559552"/>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Controls: same finger, cuff tightness, room temperature, firmware v3 and detection settings (3 % drop, 10 s, 120 s baseline).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APPENDIX C · DESIGN PLANS</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Wiring and case layout</a:t>
            </a:r>
            <a:endParaRPr lang="en-US" sz="2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6126480" cy="914400"/>
        </p:xfrm>
        <a:graphic>
          <a:graphicData uri="http://schemas.openxmlformats.org/drawingml/2006/table">
            <a:tbl>
              <a:tblPr/>
              <a:tblGrid>
                <a:gridCol w="2743200"/>
                <a:gridCol w="1737360"/>
                <a:gridCol w="164592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From</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To (ESP32)</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MAX30102 VIN / GND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3V3 / GND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never 5 V</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MAX30102 SDA / SCL</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GPIO 21 / 22</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shared I²C bus</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GY-521 (MPU-6050) VCC / GND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3V3 / GND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address 0x68</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MPU-6050 SDA / SCL</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GPIO 21 / 22</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wired in parallel</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Battery + / −</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TP4056 B+ / B−</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500 mAh LiPo</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TP4056 OUT+ / OUT−</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Regulator VIN / GND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TPS63020 3.3 V</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Regulator VOUT</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3V3</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steady 3.3 V</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Battery divider (2 × 100 kΩ)</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GPIO 34</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battery %</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Status LED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GPIO 2</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blinks each reading</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pic>
        <p:nvPicPr>
          <p:cNvPr id="7" name="Image 0" descr="/home/user/teetomivV2/science-fair/night-signal/slides/assets/3d_exploded.jpg">    </p:cNvPr>
          <p:cNvPicPr>
            <a:picLocks noChangeAspect="1"/>
          </p:cNvPicPr>
          <p:nvPr/>
        </p:nvPicPr>
        <p:blipFill>
          <a:blip r:embed="rId1"/>
          <a:stretch>
            <a:fillRect/>
          </a:stretch>
        </p:blipFill>
        <p:spPr>
          <a:xfrm>
            <a:off x="7040880" y="1463040"/>
            <a:ext cx="4480560" cy="3032779"/>
          </a:xfrm>
          <a:prstGeom prst="rect">
            <a:avLst/>
          </a:prstGeom>
        </p:spPr>
      </p:pic>
      <p:sp>
        <p:nvSpPr>
          <p:cNvPr id="8" name="Text 4"/>
          <p:cNvSpPr txBox="1"/>
          <p:nvPr/>
        </p:nvSpPr>
        <p:spPr>
          <a:xfrm>
            <a:off x="7040880" y="4541539"/>
            <a:ext cx="448056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Stack inside the 25 mm-tall case</a:t>
            </a:r>
            <a:endParaRPr lang="en-US" sz="1100" dirty="0"/>
          </a:p>
        </p:txBody>
      </p:sp>
      <p:sp>
        <p:nvSpPr>
          <p:cNvPr id="9" name="Text 5"/>
          <p:cNvSpPr txBox="1"/>
          <p:nvPr/>
        </p:nvSpPr>
        <p:spPr>
          <a:xfrm>
            <a:off x="7040880" y="4907299"/>
            <a:ext cx="4480560" cy="1097280"/>
          </a:xfrm>
          <a:prstGeom prst="rect">
            <a:avLst/>
          </a:prstGeom>
          <a:noFill/>
          <a:ln/>
        </p:spPr>
        <p:txBody>
          <a:bodyPr wrap="square" lIns="0" tIns="0" rIns="0" bIns="0" rtlCol="0" anchor="t"/>
          <a:lstStyle/>
          <a:p>
            <a:pPr indent="0" marL="0">
              <a:buNone/>
            </a:pPr>
            <a:r>
              <a:rPr lang="en-US" sz="1200" dirty="0">
                <a:solidFill>
                  <a:srgbClr val="44515F"/>
                </a:solidFill>
                <a:latin typeface="Calibri" pitchFamily="34" charset="0"/>
                <a:ea typeface="Calibri" pitchFamily="34" charset="-122"/>
                <a:cs typeface="Calibri" pitchFamily="34" charset="-120"/>
              </a:rPr>
              <a:t>Layer heights: battery 6 mm + ESP32 with pins ≈ 13 mm + GY-521 ≈ 3 mm ≈ 22 mm, inside the box’s 25 mm. Battery and TP4056 sit side by side on the bottom (35 + 17 = 52 mm of the 66 mm length).</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APPENDIX D · DATA AND ADDITIONAL PICTURES</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More data and pictures</a:t>
            </a:r>
            <a:endParaRPr lang="en-US" sz="2800" dirty="0"/>
          </a:p>
        </p:txBody>
      </p:sp>
      <p:sp>
        <p:nvSpPr>
          <p:cNvPr id="6" name="Shape 4"/>
          <p:cNvSpPr/>
          <p:nvPr/>
        </p:nvSpPr>
        <p:spPr>
          <a:xfrm>
            <a:off x="685800" y="1417320"/>
            <a:ext cx="2286000" cy="4496972"/>
          </a:xfrm>
          <a:prstGeom prst="roundRect">
            <a:avLst>
              <a:gd name="adj" fmla="val 4000"/>
            </a:avLst>
          </a:prstGeom>
          <a:solidFill>
            <a:srgbClr val="0E1830"/>
          </a:solidFill>
          <a:ln w="12700">
            <a:solidFill>
              <a:srgbClr val="18233F"/>
            </a:solidFill>
            <a:prstDash val="solid"/>
          </a:ln>
        </p:spPr>
      </p:sp>
      <p:pic>
        <p:nvPicPr>
          <p:cNvPr id="7" name="Image 0" descr="/home/user/teetomivV2/science-fair/night-signal/slides/assets/phone_heart.png">    </p:cNvPr>
          <p:cNvPicPr>
            <a:picLocks noChangeAspect="1"/>
          </p:cNvPicPr>
          <p:nvPr/>
        </p:nvPicPr>
        <p:blipFill>
          <a:blip r:embed="rId1"/>
          <a:stretch>
            <a:fillRect/>
          </a:stretch>
        </p:blipFill>
        <p:spPr>
          <a:xfrm>
            <a:off x="777240" y="1508760"/>
            <a:ext cx="2103120" cy="4314092"/>
          </a:xfrm>
          <a:prstGeom prst="rect">
            <a:avLst/>
          </a:prstGeom>
        </p:spPr>
      </p:pic>
      <p:sp>
        <p:nvSpPr>
          <p:cNvPr id="8" name="Text 5"/>
          <p:cNvSpPr txBox="1"/>
          <p:nvPr/>
        </p:nvSpPr>
        <p:spPr>
          <a:xfrm>
            <a:off x="777240" y="5932580"/>
            <a:ext cx="210312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App · heart tab</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291840" y="1508760"/>
          <a:ext cx="8229600" cy="914400"/>
        </p:xfrm>
        <a:graphic>
          <a:graphicData uri="http://schemas.openxmlformats.org/drawingml/2006/table">
            <a:tbl>
              <a:tblPr/>
              <a:tblGrid>
                <a:gridCol w="2834640"/>
                <a:gridCol w="539496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Analysis</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Result (example data)</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Breathing rate (signals.py)</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13.5 breaths/min</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HRV (SDNN / RMSSD)</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69 / 50 ms</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Lowest heart rate</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46 bpm</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Heart spin-off</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racing 3.3 min (106–118 bpm) · slow 2.5 min (34–39) · irregular 5.9 min</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Asthma spin-off</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normal 13.4 → early morning 21.6 /min · 85 min fast · 24 cough-like jolts</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ML model relies on</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heart-rate swing and jitter, then oxygen swing</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Device check (simulated device)</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healthy → READY · broken motion sensor → NOT READY</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sp>
        <p:nvSpPr>
          <p:cNvPr id="10" name="Text 6"/>
          <p:cNvSpPr txBox="1"/>
          <p:nvPr/>
        </p:nvSpPr>
        <p:spPr>
          <a:xfrm>
            <a:off x="3291840" y="5303520"/>
            <a:ext cx="6400800" cy="292608"/>
          </a:xfrm>
          <a:prstGeom prst="rect">
            <a:avLst/>
          </a:prstGeom>
          <a:noFill/>
          <a:ln/>
        </p:spPr>
        <p:txBody>
          <a:bodyPr wrap="square" lIns="0" tIns="0" rIns="0" bIns="0" rtlCol="0" anchor="ctr"/>
          <a:lstStyle/>
          <a:p>
            <a:pPr indent="0" marL="0">
              <a:buNone/>
            </a:pPr>
            <a:r>
              <a:rPr lang="en-US" sz="1300" u="sng" dirty="0">
                <a:solidFill>
                  <a:srgbClr val="1F8A9C"/>
                </a:solidFill>
                <a:latin typeface="Calibri" pitchFamily="34" charset="0"/>
                <a:ea typeface="Calibri" pitchFamily="34" charset="-122"/>
                <a:cs typeface="Calibri" pitchFamily="34" charset="-120"/>
                <a:hlinkClick r:id="rId2" invalidUrl="" action="" tgtFrame="" tooltip="https://github.com/gabrielamamanestudent-wq/teetomivV2/tree/claude/science-fair-medical-project-7k0wk4/science-fair/night-signal" history="1" highlightClick="0" endSnd="0">
                  <a:extLst>
                    <a:ext uri="{A12FA001-AC4F-418D-AE19-62706E023703}">
                      <ahyp:hlinkClr xmlns:ahyp="http://schemas.microsoft.com/office/drawing/2018/hyperlinkcolor" val="tx"/>
                    </a:ext>
                  </a:extLst>
                </a:hlinkClick>
              </a:rPr>
              <a:t>All code, data tools and raw CSV format on GitHub →</a:t>
            </a:r>
            <a:endParaRPr lang="en-US" sz="1300" dirty="0"/>
          </a:p>
        </p:txBody>
      </p:sp>
      <p:sp>
        <p:nvSpPr>
          <p:cNvPr id="11" name="Text 7"/>
          <p:cNvSpPr txBox="1"/>
          <p:nvPr/>
        </p:nvSpPr>
        <p:spPr>
          <a:xfrm>
            <a:off x="3291840" y="5669280"/>
            <a:ext cx="6400800" cy="292608"/>
          </a:xfrm>
          <a:prstGeom prst="rect">
            <a:avLst/>
          </a:prstGeom>
          <a:noFill/>
          <a:ln/>
        </p:spPr>
        <p:txBody>
          <a:bodyPr wrap="square" lIns="0" tIns="0" rIns="0" bIns="0" rtlCol="0" anchor="ctr"/>
          <a:lstStyle/>
          <a:p>
            <a:pPr indent="0" marL="0">
              <a:buNone/>
            </a:pPr>
            <a:r>
              <a:rPr lang="en-US" sz="1300" u="sng" dirty="0">
                <a:solidFill>
                  <a:srgbClr val="1F8A9C"/>
                </a:solidFill>
                <a:latin typeface="Calibri" pitchFamily="34" charset="0"/>
                <a:ea typeface="Calibri" pitchFamily="34" charset="-122"/>
                <a:cs typeface="Calibri" pitchFamily="34" charset="-120"/>
                <a:hlinkClick r:id="rId3" invalidUrl="" action="" tgtFrame="" tooltip="https://claude.ai/artifact/4xLvQVUaMqndpLeRDXtp4A" history="1" highlightClick="0" endSnd="0">
                  <a:extLst>
                    <a:ext uri="{A12FA001-AC4F-418D-AE19-62706E023703}">
                      <ahyp:hlinkClr xmlns:ahyp="http://schemas.microsoft.com/office/drawing/2018/hyperlinkcolor" val="tx"/>
                    </a:ext>
                  </a:extLst>
                </a:hlinkClick>
              </a:rPr>
              <a:t>Arduino setup guide →</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BIBLIOGRAPHY · APA</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References</a:t>
            </a:r>
            <a:endParaRPr lang="en-US" sz="2800" dirty="0"/>
          </a:p>
        </p:txBody>
      </p:sp>
      <p:sp>
        <p:nvSpPr>
          <p:cNvPr id="6" name="Text 4"/>
          <p:cNvSpPr txBox="1"/>
          <p:nvPr/>
        </p:nvSpPr>
        <p:spPr>
          <a:xfrm>
            <a:off x="640080" y="1463040"/>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American Academy of Sleep Medicine. (2014). International classification of sleep disorders (3rd ed.).</a:t>
            </a:r>
            <a:endParaRPr lang="en-US" sz="1300" dirty="0"/>
          </a:p>
        </p:txBody>
      </p:sp>
      <p:sp>
        <p:nvSpPr>
          <p:cNvPr id="7" name="Text 5"/>
          <p:cNvSpPr txBox="1"/>
          <p:nvPr/>
        </p:nvSpPr>
        <p:spPr>
          <a:xfrm>
            <a:off x="640080" y="2048256"/>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Benjafield, A. V., et al. (2019). Estimation of the global prevalence and burden of obstructive sleep apnoea: A literature-based analysis. The Lancet Respiratory Medicine, 7(8), 687–698.</a:t>
            </a:r>
            <a:endParaRPr lang="en-US" sz="1300" dirty="0"/>
          </a:p>
        </p:txBody>
      </p:sp>
      <p:sp>
        <p:nvSpPr>
          <p:cNvPr id="8" name="Text 6"/>
          <p:cNvSpPr txBox="1"/>
          <p:nvPr/>
        </p:nvSpPr>
        <p:spPr>
          <a:xfrm>
            <a:off x="640080" y="2633472"/>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Berry, R. B., et al. (2012). Rules for scoring respiratory events in sleep. Journal of Clinical Sleep Medicine, 8(5), 597–619.</a:t>
            </a:r>
            <a:endParaRPr lang="en-US" sz="1300" dirty="0"/>
          </a:p>
        </p:txBody>
      </p:sp>
      <p:sp>
        <p:nvSpPr>
          <p:cNvPr id="9" name="Text 7"/>
          <p:cNvSpPr txBox="1"/>
          <p:nvPr/>
        </p:nvSpPr>
        <p:spPr>
          <a:xfrm>
            <a:off x="640080" y="3218688"/>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Bland, J. M., &amp; Altman, D. G. (1986). Statistical methods for assessing agreement between two methods of clinical measurement. The Lancet, 327(8476), 307–310.</a:t>
            </a:r>
            <a:endParaRPr lang="en-US" sz="1300" dirty="0"/>
          </a:p>
        </p:txBody>
      </p:sp>
      <p:sp>
        <p:nvSpPr>
          <p:cNvPr id="10" name="Text 8"/>
          <p:cNvSpPr txBox="1"/>
          <p:nvPr/>
        </p:nvSpPr>
        <p:spPr>
          <a:xfrm>
            <a:off x="640080" y="3803904"/>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Global Initiative for Asthma. (2024). Global strategy for asthma management and prevention.</a:t>
            </a:r>
            <a:endParaRPr lang="en-US" sz="1300" dirty="0"/>
          </a:p>
        </p:txBody>
      </p:sp>
      <p:sp>
        <p:nvSpPr>
          <p:cNvPr id="11" name="Text 9"/>
          <p:cNvSpPr txBox="1"/>
          <p:nvPr/>
        </p:nvSpPr>
        <p:spPr>
          <a:xfrm>
            <a:off x="640080" y="4389120"/>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Jubran, A. (2015). Pulse oximetry. Critical Care, 19, 272.</a:t>
            </a:r>
            <a:endParaRPr lang="en-US" sz="1300" dirty="0"/>
          </a:p>
        </p:txBody>
      </p:sp>
      <p:sp>
        <p:nvSpPr>
          <p:cNvPr id="12" name="Text 10"/>
          <p:cNvSpPr txBox="1"/>
          <p:nvPr/>
        </p:nvSpPr>
        <p:spPr>
          <a:xfrm>
            <a:off x="640080" y="4974336"/>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Maxim Integrated. (2020). MAX30102 high-sensitivity pulse oximeter and heart-rate sensor [Datasheet].</a:t>
            </a:r>
            <a:endParaRPr lang="en-US" sz="1300" dirty="0"/>
          </a:p>
        </p:txBody>
      </p:sp>
      <p:sp>
        <p:nvSpPr>
          <p:cNvPr id="13" name="Text 11"/>
          <p:cNvSpPr txBox="1"/>
          <p:nvPr/>
        </p:nvSpPr>
        <p:spPr>
          <a:xfrm>
            <a:off x="640080" y="5559552"/>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Task Force of the European Society of Cardiology and NASPE. (1996). Heart rate variability: Standards of measurement, physiological interpretation, and clinical use. Circulation, 93(5), 1043–1065.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Night Signal — science fair presentation</dc:title>
  <dc:subject>PptxGenJS Presentation</dc:subject>
  <dc:creator>PptxGenJS</dc:creator>
  <cp:lastModifiedBy>PptxGenJS</cp:lastModifiedBy>
  <cp:revision>1</cp:revision>
  <dcterms:created xsi:type="dcterms:W3CDTF">2026-10-02T12:27:04Z</dcterms:created>
  <dcterms:modified xsi:type="dcterms:W3CDTF">2026-10-02T12:27:04Z</dcterms:modified>
</cp:coreProperties>
</file>