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1.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D1D1F"/>
                </a:solidFill>
                <a:latin typeface="Helvetica Neue"/>
              </a:defRPr>
            </a:pPr>
            <a:r>
              <a:rPr sz="1400" b="0" i="0" u="none" strike="noStrike">
                <a:solidFill>
                  <a:srgbClr val="1D1D1F"/>
                </a:solidFill>
                <a:latin typeface="Helvetica Neue"/>
              </a:rPr>
              <a:t>Detector scores on unseen data</a:t>
            </a:r>
          </a:p>
        </c:rich>
      </c:tx>
      <c:layout/>
      <c:overlay val="0"/>
    </c:title>
    <c:autoTitleDeleted val="0"/>
    <c:plotArea>
      <c:layout/>
      <c:barChart>
        <c:barDir val="col"/>
        <c:grouping val="clustered"/>
        <c:varyColors val="0"/>
        <c:ser>
          <c:idx val="0"/>
          <c:order val="0"/>
          <c:tx>
            <c:strRef>
              <c:f>Sheet1!$B$1</c:f>
              <c:strCache>
                <c:ptCount val="1"/>
                <c:pt idx="0">
                  <c:v>Precision</c:v>
                </c:pt>
              </c:strCache>
            </c:strRef>
          </c:tx>
          <c:spPr>
            <a:solidFill>
              <a:srgbClr val="0071E3"/>
            </a:solidFill>
            <a:effectLst/>
          </c:spPr>
          <c:invertIfNegative val="0"/>
          <c:dLbls>
            <c:numFmt formatCode="0.00" sourceLinked="0"/>
            <c:txPr>
              <a:bodyPr/>
              <a:lstStyle/>
              <a:p>
                <a:pPr>
                  <a:defRPr b="0" i="0" strike="noStrike" sz="1200" u="none">
                    <a:solidFill>
                      <a:srgbClr val="1D1D1F"/>
                    </a:solidFill>
                    <a:latin typeface="Helvetica Neue"/>
                  </a:defRPr>
                </a:pPr>
              </a:p>
            </c:txPr>
            <c:showLegendKey val="0"/>
            <c:showVal val="1"/>
            <c:showCatName val="0"/>
            <c:showSerName val="0"/>
            <c:showPercent val="0"/>
            <c:showBubbleSize val="0"/>
            <c:showLeaderLines val="0"/>
          </c:dLbls>
          <c:cat>
            <c:multiLvlStrRef>
              <c:f>Sheet1!$A$2:$A$3</c:f>
              <c:multiLvlStrCache>
                <c:ptCount val="2"/>
                <c:lvl>
                  <c:pt idx="0">
                    <c:v>Rule-based</c:v>
                  </c:pt>
                  <c:pt idx="1">
                    <c:v>Machine learning</c:v>
                  </c:pt>
                </c:lvl>
              </c:multiLvlStrCache>
            </c:multiLvlStrRef>
          </c:cat>
          <c:val>
            <c:numRef>
              <c:f>Sheet1!$B$2:$B$3</c:f>
              <c:numCache>
                <c:formatCode>General</c:formatCode>
                <c:ptCount val="2"/>
                <c:pt idx="0">
                  <c:v>1</c:v>
                </c:pt>
                <c:pt idx="1">
                  <c:v>0.92</c:v>
                </c:pt>
              </c:numCache>
            </c:numRef>
          </c:val>
        </c:ser>
        <c:ser>
          <c:idx val="1"/>
          <c:order val="1"/>
          <c:tx>
            <c:strRef>
              <c:f>Sheet1!$C$1</c:f>
              <c:strCache>
                <c:ptCount val="1"/>
                <c:pt idx="0">
                  <c:v>Recall (events caught)</c:v>
                </c:pt>
              </c:strCache>
            </c:strRef>
          </c:tx>
          <c:spPr>
            <a:solidFill>
              <a:srgbClr val="FF375F"/>
            </a:solidFill>
            <a:effectLst/>
          </c:spPr>
          <c:invertIfNegative val="0"/>
          <c:dLbls>
            <c:numFmt formatCode="0.00" sourceLinked="0"/>
            <c:txPr>
              <a:bodyPr/>
              <a:lstStyle/>
              <a:p>
                <a:pPr>
                  <a:defRPr b="0" i="0" strike="noStrike" sz="1200" u="none">
                    <a:solidFill>
                      <a:srgbClr val="1D1D1F"/>
                    </a:solidFill>
                    <a:latin typeface="Helvetica Neue"/>
                  </a:defRPr>
                </a:pPr>
              </a:p>
            </c:txPr>
            <c:showLegendKey val="0"/>
            <c:showVal val="1"/>
            <c:showCatName val="0"/>
            <c:showSerName val="0"/>
            <c:showPercent val="0"/>
            <c:showBubbleSize val="0"/>
            <c:showLeaderLines val="0"/>
          </c:dLbls>
          <c:cat>
            <c:multiLvlStrRef>
              <c:f>Sheet1!$A$2:$A$3</c:f>
              <c:multiLvlStrCache>
                <c:ptCount val="2"/>
                <c:lvl>
                  <c:pt idx="0">
                    <c:v>Rule-based</c:v>
                  </c:pt>
                  <c:pt idx="1">
                    <c:v>Machine learning</c:v>
                  </c:pt>
                </c:lvl>
              </c:multiLvlStrCache>
            </c:multiLvlStrRef>
          </c:cat>
          <c:val>
            <c:numRef>
              <c:f>Sheet1!$C$2:$C$3</c:f>
              <c:numCache>
                <c:formatCode>General</c:formatCode>
                <c:ptCount val="2"/>
                <c:pt idx="0">
                  <c:v>0.63</c:v>
                </c:pt>
                <c:pt idx="1">
                  <c:v>0.63</c:v>
                </c:pt>
              </c:numCache>
            </c:numRef>
          </c:val>
        </c:ser>
        <c:dLbls>
          <c:numFmt formatCode="0.00" sourceLinked="0"/>
          <c:txPr>
            <a:bodyPr/>
            <a:lstStyle/>
            <a:p>
              <a:pPr>
                <a:defRPr b="0" i="0" strike="noStrike" sz="1200" u="none">
                  <a:solidFill>
                    <a:srgbClr val="1D1D1F"/>
                  </a:solidFill>
                  <a:latin typeface="Helvetica Neue"/>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300" b="0" i="0" u="none" strike="noStrike">
                <a:solidFill>
                  <a:srgbClr val="1D1D1F"/>
                </a:solidFill>
                <a:latin typeface="Helvetica Neue"/>
              </a:defRPr>
            </a:pPr>
            <a:endParaRPr lang="en-US"/>
          </a:p>
        </c:txPr>
        <c:crossAx val="2094734552"/>
        <c:crosses val="autoZero"/>
        <c:auto val="1"/>
        <c:lblAlgn val="ctr"/>
        <c:noMultiLvlLbl val="1"/>
      </c:catAx>
      <c:valAx>
        <c:axId val="2094734552"/>
        <c:scaling>
          <c:orientation val="minMax"/>
          <c:max val="1.2"/>
          <c:min val="0"/>
        </c:scaling>
        <c:delete val="1"/>
        <c:axPos val="l"/>
        <c:numFmt formatCode="0.0"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6E6E73"/>
              </a:solidFill>
              <a:latin typeface="Helvetica Neue"/>
              <a:cs typeface="Helvetica Neue"/>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[0:15] Hi, I’m Gabriel. My project is Night Signal: a wearable I designed that watches your blood oxygen while you sleep to catch sleep apnea — and it turns out the same sensor can screen the heart and breathing too.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[0:40] My question: can a low-cost wearable catch sleep apnea? My hypothesis: if each breathing pause makes oxygen dip, a fingertip sensor reading once per second will see the dips, and software can count them per hour — the AHI doctors use. What I change is breath-hold length and sleeping position; what I measure is events, the AHI, and how closely my device agrees with a real oximeter.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[0:50] Sleep apnea is when the airway collapses during sleep and breathing stops for ten seconds or more, over and over. About 936 million adults have it, and most don't know. Every pause drops blood oxygen. A pulse oximeter measures that by shining red and infrared light through the fingertip — oxygen-rich blood absorbs the two colours differently. Doctors count the events per hour — the AHI — and grade it from normal to severe. The problem: the standard test is an overnight lab study that costs thousands.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[0:40] Here's the design. My working prototype, version 1, is built to be simple and reliable: the ESP32 sits in a running armband, each sensor plugs into its own pins with no soldered splices, and a USB cable powers it all night. A velcro finger clip holds the MAX30102 oxygen sensor. The 3D model shows version 2 — a 70 by 45 millimetre sealed case with its own battery on a velcro strap. On the right is the exploded view with every part at its real size; you can spin the interactive version with this QR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[0:35] The data path: the finger sensor's light readings go to the ESP32, which calculates oxygen and pulse and reads body position, then sends one line per second over Bluetooth or USB to my app and analysis code. To make sure it's really working, I built a self-test: every recording starts with a device check that has to say READY — and when I tested with a broken motion sensor, it correctly said NOT READY.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[0:45] My key manipulations: one, a device check before every session. Two, an accuracy test — I wear my device and a store-bought oximeter at the same time and compare. Three, a detection test: supervised, awake breath-holds of 10, 15 and 20 seconds — I know exactly when they happened, so I can score my software. Four, a full-night power test — eight hours with no gaps. Five, full recorded nights. Safety first: breath-holds only while awake and supervised, with consent and ethics approval.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[0:35] This is my companion app. On the Live tab it connects directly to the wearable and shows oxygen, heart rate and position every second, with health checks running the whole time. Saving a session gives the exact CSV my analysis uses, so every number is traceable. Scan the code to try it — there's a demo device built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[0:40] Here's the summary. Over a seven-hour night, the software found 19 events — an AHI of 2.7, which is in the normal range. Oxygen averaged 97.5% and dropped to 84% at the lowest. Against a reference oximeter, my device was within about half a percent. The detector caught 63% of known events with zero false alarms. And events were about three times more frequent on the back than on the sides.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[0:35] On the left, a whole night of oxygen — every red band is an event my code found on its own. On the right is a Bland–Altman plot, the standard way medical papers compare two devices: the average difference is almost zero, and 95% of my readings fall within about one and a half percent of the reference.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[0:30] Two more results. Events happened most on the back — 3.8 per hour versus about 1 on the sides. And I compared my simple rule with a machine-learning model: on new data, both caught the same share of events, but the rule had no false alarms, so for now the simpler method wins.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[0:45] What does it mean? First, accuracy within about one and a half percent is in the same range as store-bought oximeters, so the dips are real. Second, the detector is cautious — no false alarms but it misses shallow events, so my AHI is probably an underestimate, which is the safer mistake for a screening tool. Third, the back-sleeping result matches what doctors call positional sleep apnea. And fourth, machine learning didn't win yet because it only had one night to learn from — more data matters more than fancier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[0:35] Sources of error: movement, finger pressure and cold hands can distort the light signal; the four-second averaging can blur very short dips; even the reference oximeter is only plus or minus two percent. On the method side, awake breath-holds aren't identical to real apnea, I only measure oxygen — not airflow or brain waves like a sleep lab — and one person isn't enough to generalize. I also caught an engineering problem: Bluetooth draws about 100 milliamps, so a small 500 milliamp-hour battery would last only four to five hours. That's why version 1 runs on USB power all night, and version 2 needs a bigger battery or Bluetooth Low Energy.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[0:40] The same hardware opened two spin-offs. Heart: it flags racing, very slow and irregular-rhythm episodes. Asthma: night-time asthma often gets worse around 4 a.m., and my code tracks breathing rate from the heart's rhythm plus coughs from sudden jolts of the motion sensor — here it caught breathing climbing from 13 to 22 breaths a minute. These are screening ideas, not diagnoses.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[0:35] Back to my hypothesis: so far it's supported — a low-cost wearable measured oxygen within about half a percent of a reference, found apnea events by itself, scored the night, and showed back-sleeping triples events. Next I'd test more people and nights, add an airflow sensor, fix the battery life, and shrink it into a ring to compare against a real sleep lab. Thank you — I'm happy to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 Appendix — not presented. Full parts list with exact dimensions and links.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 Appendix — not presented. Step-by-step protocol including controls.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 Appendix — not presented. Prototype v1 wiring table, and the planned v2 case layout with layer heights.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 Appendix — not presented. Remaining numbers, app screenshot and links to all data and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 Appendix — not presented. References in APA style.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4" Type="http://schemas.openxmlformats.org/officeDocument/2006/relationships/hyperlink" Target="https://gabrielamamanestudent-wq.github.io/teetomivV2/science-fair/night-signal/app/3d.html" TargetMode="External"/><Relationship Id="rId5" Type="http://schemas.openxmlformats.org/officeDocument/2006/relationships/hyperlink" Target="https://gabrielamamanestudent-wq.github.io/teetomivV2/science-fair/night-signal/app/3d.html" TargetMode="External"/><Relationship Id="rId1" Type="http://schemas.openxmlformats.org/officeDocument/2006/relationships/image" Target="../media/image-4-1.jpg"/><Relationship Id="rId2" Type="http://schemas.openxmlformats.org/officeDocument/2006/relationships/image" Target="../media/image-4-2.jpg"/><Relationship Id="rId3" Type="http://schemas.openxmlformats.org/officeDocument/2006/relationships/image" Target="../media/image-4-3.png"/><Relationship Id="rId6" Type="http://schemas.openxmlformats.org/officeDocument/2006/relationships/slideLayout" Target="../slideLayouts/slideLayout1.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4" Type="http://schemas.openxmlformats.org/officeDocument/2006/relationships/hyperlink" Target="https://gabrielamamanestudent-wq.github.io/teetomivV2/science-fair/night-signal/app/" TargetMode="External"/><Relationship Id="rId5" Type="http://schemas.openxmlformats.org/officeDocument/2006/relationships/hyperlink" Target="https://gabrielamamanestudent-wq.github.io/teetomivV2/science-fair/night-signal/app/" TargetMode="External"/><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6" Type="http://schemas.openxmlformats.org/officeDocument/2006/relationships/slideLayout" Target="../slideLayouts/slideLayout1.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2" Type="http://schemas.openxmlformats.org/officeDocument/2006/relationships/chart" Target="/ppt/charts/chart1.xml"/><Relationship Id="rId1" Type="http://schemas.openxmlformats.org/officeDocument/2006/relationships/image" Target="../media/image-10-1.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2" Type="http://schemas.openxmlformats.org/officeDocument/2006/relationships/hyperlink" Target="https://gabrielamamanestudent-wq.github.io/teetomivV2/science-fair/night-signal/app/" TargetMode="External"/><Relationship Id="rId4" Type="http://schemas.openxmlformats.org/officeDocument/2006/relationships/hyperlink" Target="https://gabrielamamanestudent-wq.github.io/teetomivV2/science-fair/night-signal/app/3d.html" TargetMode="External"/><Relationship Id="rId1" Type="http://schemas.openxmlformats.org/officeDocument/2006/relationships/image" Target="../media/image-14-1.png"/><Relationship Id="rId3" Type="http://schemas.openxmlformats.org/officeDocument/2006/relationships/image" Target="../media/image-14-2.png"/><Relationship Id="rId5" Type="http://schemas.openxmlformats.org/officeDocument/2006/relationships/slideLayout" Target="../slideLayouts/slideLayout1.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hyperlink" Target="https://www.amazon.ca/AITRIP-ESP-WROOM-32-Development-Microcontroller-Compatible/dp/B0DF2YJSHN" TargetMode="External"/><Relationship Id="rId2" Type="http://schemas.openxmlformats.org/officeDocument/2006/relationships/hyperlink" Target="https://www.amazon.ca/HiLetgo-MAX30102-Breakout-Oximetry-Solution/dp/B07QC67KMQ" TargetMode="External"/><Relationship Id="rId3" Type="http://schemas.openxmlformats.org/officeDocument/2006/relationships/hyperlink" Target="https://www.amazon.ca/Pre-Soldered-Accelerometer-Raspberry-Compatible-Arduino/dp/B0BMY15TC4" TargetMode="External"/><Relationship Id="rId4" Type="http://schemas.openxmlformats.org/officeDocument/2006/relationships/hyperlink" Target="https://www.amazon.ca/Elegoo-120pcs-Multicolored-Breadboard-arduino/dp/B01EV70C78" TargetMode="External"/><Relationship Id="rId5" Type="http://schemas.openxmlformats.org/officeDocument/2006/relationships/hyperlink" Target="https://www.amazon.ca/Running-Armband-Samsung-Resistant-Emergency/dp/B08HZ3BPK4" TargetMode="External"/><Relationship Id="rId6" Type="http://schemas.openxmlformats.org/officeDocument/2006/relationships/hyperlink" Target="https://www.amazon.ca/Anker-Powerline-Double-Braided-Charging-Samsung/dp/B07G148YMS" TargetMode="External"/><Relationship Id="rId7" Type="http://schemas.openxmlformats.org/officeDocument/2006/relationships/hyperlink" Target="https://www.amazon.ca/Adapter-Anker-High-Speed-Transfer-Notebook/dp/B08HZ6PS61" TargetMode="External"/><Relationship Id="rId8" Type="http://schemas.openxmlformats.org/officeDocument/2006/relationships/hyperlink" Target="https://www.amazon.ca/VELCRO-Brand-VEL-30768-AMS-Self-Gripping-Organization/dp/B09QH2NVM1" TargetMode="External"/><Relationship Id="rId9" Type="http://schemas.openxmlformats.org/officeDocument/2006/relationships/hyperlink" Target="https://www.amazon.ca/Elite-Medica-Fingertip-Saturation-Batteries/dp/B0DSGP91PB" TargetMode="External"/><Relationship Id="rId10" Type="http://schemas.openxmlformats.org/officeDocument/2006/relationships/slideLayout" Target="../slideLayouts/slideLayout1.xml"/><Relationship Id="rId11"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jpg"/><Relationship Id="rId3" Type="http://schemas.openxmlformats.org/officeDocument/2006/relationships/slideLayout" Target="../slideLayouts/slideLayout1.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2" Type="http://schemas.openxmlformats.org/officeDocument/2006/relationships/hyperlink" Target="https://github.com/gabrielamamanestudent-wq/teetomivV2/tree/claude/science-fair-medical-project-7k0wk4/science-fair/night-signal" TargetMode="External"/><Relationship Id="rId3" Type="http://schemas.openxmlformats.org/officeDocument/2006/relationships/hyperlink" Target="https://gabrielamamanestudent-wq.github.io/teetomivV2/science-fair/night-signal/build-kit.html" TargetMode="External"/><Relationship Id="rId1" Type="http://schemas.openxmlformats.org/officeDocument/2006/relationships/image" Target="../media/image-18-1.png"/><Relationship Id="rId4" Type="http://schemas.openxmlformats.org/officeDocument/2006/relationships/slideLayout" Target="../slideLayouts/slideLayout1.xml"/><Relationship Id="rId5"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685800" y="457200"/>
            <a:ext cx="10817352" cy="292608"/>
          </a:xfrm>
          <a:prstGeom prst="rect">
            <a:avLst/>
          </a:prstGeom>
          <a:noFill/>
          <a:ln/>
        </p:spPr>
        <p:txBody>
          <a:bodyPr wrap="square" lIns="0" tIns="0" rIns="0" bIns="0" rtlCol="0" anchor="t"/>
          <a:lstStyle/>
          <a:p>
            <a:pPr algn="ctr" indent="0" marL="0">
              <a:buNone/>
            </a:pPr>
            <a:r>
              <a:rPr lang="en-US" sz="1400" b="1" dirty="0">
                <a:solidFill>
                  <a:srgbClr val="86868B"/>
                </a:solidFill>
                <a:latin typeface="Helvetica Neue" pitchFamily="34" charset="0"/>
                <a:ea typeface="Helvetica Neue" pitchFamily="34" charset="-122"/>
                <a:cs typeface="Helvetica Neue" pitchFamily="34" charset="-120"/>
              </a:rPr>
              <a:t>Health and Medical Sciences · Experimental project</a:t>
            </a:r>
            <a:endParaRPr lang="en-US" sz="1400" dirty="0"/>
          </a:p>
        </p:txBody>
      </p:sp>
      <p:sp>
        <p:nvSpPr>
          <p:cNvPr id="3" name="Text 1"/>
          <p:cNvSpPr txBox="1"/>
          <p:nvPr/>
        </p:nvSpPr>
        <p:spPr>
          <a:xfrm>
            <a:off x="685800" y="804672"/>
            <a:ext cx="10817352" cy="1005840"/>
          </a:xfrm>
          <a:prstGeom prst="rect">
            <a:avLst/>
          </a:prstGeom>
          <a:noFill/>
          <a:ln/>
        </p:spPr>
        <p:txBody>
          <a:bodyPr wrap="square" lIns="0" tIns="0" rIns="0" bIns="0" rtlCol="0" anchor="t"/>
          <a:lstStyle/>
          <a:p>
            <a:pPr algn="ctr" indent="0" marL="0">
              <a:buNone/>
            </a:pPr>
            <a:r>
              <a:rPr lang="en-US" sz="6600" b="1" dirty="0">
                <a:solidFill>
                  <a:srgbClr val="FFFFFF"/>
                </a:solidFill>
                <a:latin typeface="Helvetica Neue" pitchFamily="34" charset="0"/>
                <a:ea typeface="Helvetica Neue" pitchFamily="34" charset="-122"/>
                <a:cs typeface="Helvetica Neue" pitchFamily="34" charset="-120"/>
              </a:rPr>
              <a:t>Night Signal.</a:t>
            </a:r>
            <a:endParaRPr lang="en-US" sz="6600" dirty="0"/>
          </a:p>
        </p:txBody>
      </p:sp>
      <p:sp>
        <p:nvSpPr>
          <p:cNvPr id="4" name="Text 2"/>
          <p:cNvSpPr txBox="1"/>
          <p:nvPr/>
        </p:nvSpPr>
        <p:spPr>
          <a:xfrm>
            <a:off x="685800" y="1810512"/>
            <a:ext cx="10817352" cy="457200"/>
          </a:xfrm>
          <a:prstGeom prst="rect">
            <a:avLst/>
          </a:prstGeom>
          <a:noFill/>
          <a:ln/>
        </p:spPr>
        <p:txBody>
          <a:bodyPr wrap="square" lIns="0" tIns="0" rIns="0" bIns="0" rtlCol="0" anchor="t"/>
          <a:lstStyle/>
          <a:p>
            <a:pPr algn="ctr" indent="0" marL="0">
              <a:buNone/>
            </a:pPr>
            <a:r>
              <a:rPr lang="en-US" sz="2400" dirty="0">
                <a:solidFill>
                  <a:srgbClr val="86868B"/>
                </a:solidFill>
                <a:latin typeface="Helvetica Neue" pitchFamily="34" charset="0"/>
                <a:ea typeface="Helvetica Neue" pitchFamily="34" charset="-122"/>
                <a:cs typeface="Helvetica Neue" pitchFamily="34" charset="-120"/>
              </a:rPr>
              <a:t>Sleep apnea screening you can wear.</a:t>
            </a:r>
            <a:endParaRPr lang="en-US" sz="2400" dirty="0"/>
          </a:p>
        </p:txBody>
      </p:sp>
      <p:pic>
        <p:nvPicPr>
          <p:cNvPr id="5" name="Image 0" descr="/home/user/teetomivV2/science-fair/night-signal/slides/assets/hero_black.jpg">    </p:cNvPr>
          <p:cNvPicPr>
            <a:picLocks noChangeAspect="1"/>
          </p:cNvPicPr>
          <p:nvPr/>
        </p:nvPicPr>
        <p:blipFill>
          <a:blip r:embed="rId1"/>
          <a:stretch>
            <a:fillRect/>
          </a:stretch>
        </p:blipFill>
        <p:spPr>
          <a:xfrm>
            <a:off x="4230642" y="2395728"/>
            <a:ext cx="3730412" cy="3520440"/>
          </a:xfrm>
          <a:prstGeom prst="rect">
            <a:avLst/>
          </a:prstGeom>
        </p:spPr>
      </p:pic>
      <p:sp>
        <p:nvSpPr>
          <p:cNvPr id="6" name="Text 3"/>
          <p:cNvSpPr txBox="1"/>
          <p:nvPr/>
        </p:nvSpPr>
        <p:spPr>
          <a:xfrm>
            <a:off x="685800" y="6053328"/>
            <a:ext cx="10817352" cy="320040"/>
          </a:xfrm>
          <a:prstGeom prst="rect">
            <a:avLst/>
          </a:prstGeom>
          <a:noFill/>
          <a:ln/>
        </p:spPr>
        <p:txBody>
          <a:bodyPr wrap="square" lIns="0" tIns="0" rIns="0" bIns="0" rtlCol="0" anchor="t"/>
          <a:lstStyle/>
          <a:p>
            <a:pPr algn="ctr" indent="0" marL="0">
              <a:buNone/>
            </a:pPr>
            <a:r>
              <a:rPr lang="en-US" sz="1500" b="1" dirty="0">
                <a:solidFill>
                  <a:srgbClr val="FFFFFF"/>
                </a:solidFill>
                <a:latin typeface="Helvetica Neue" pitchFamily="34" charset="0"/>
                <a:ea typeface="Helvetica Neue" pitchFamily="34" charset="-122"/>
                <a:cs typeface="Helvetica Neue" pitchFamily="34" charset="-120"/>
              </a:rPr>
              <a:t>Gabriel Mamane</a:t>
            </a:r>
            <a:pPr algn="ctr" indent="0" marL="0">
              <a:buNone/>
            </a:pPr>
            <a:r>
              <a:rPr lang="en-US" sz="1500" dirty="0">
                <a:solidFill>
                  <a:srgbClr val="86868B"/>
                </a:solidFill>
                <a:latin typeface="Helvetica Neue" pitchFamily="34" charset="0"/>
                <a:ea typeface="Helvetica Neue" pitchFamily="34" charset="-122"/>
                <a:cs typeface="Helvetica Neue" pitchFamily="34" charset="-120"/>
              </a:rPr>
              <a:t>   ·   Grade ___</a:t>
            </a:r>
            <a:endParaRPr lang="en-US" sz="1500" dirty="0"/>
          </a:p>
        </p:txBody>
      </p:sp>
      <p:sp>
        <p:nvSpPr>
          <p:cNvPr id="7" name="Text 4"/>
          <p:cNvSpPr txBox="1"/>
          <p:nvPr/>
        </p:nvSpPr>
        <p:spPr>
          <a:xfrm>
            <a:off x="685800" y="6382512"/>
            <a:ext cx="10817352" cy="256032"/>
          </a:xfrm>
          <a:prstGeom prst="rect">
            <a:avLst/>
          </a:prstGeom>
          <a:noFill/>
          <a:ln/>
        </p:spPr>
        <p:txBody>
          <a:bodyPr wrap="square" lIns="0" tIns="0" rIns="0" bIns="0" rtlCol="0" anchor="t"/>
          <a:lstStyle/>
          <a:p>
            <a:pPr algn="ctr" indent="0" marL="0">
              <a:buNone/>
            </a:pPr>
            <a:r>
              <a:rPr lang="en-US" sz="1050" dirty="0">
                <a:solidFill>
                  <a:srgbClr val="6E6E73"/>
                </a:solidFill>
                <a:latin typeface="Helvetica Neue" pitchFamily="34" charset="0"/>
                <a:ea typeface="Helvetica Neue" pitchFamily="34" charset="-122"/>
                <a:cs typeface="Helvetica Neue" pitchFamily="34" charset="-120"/>
              </a:rPr>
              <a:t>Educational prototype. Not a medical device.</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85800" y="502920"/>
            <a:ext cx="10789920" cy="320040"/>
          </a:xfrm>
          <a:prstGeom prst="rect">
            <a:avLst/>
          </a:prstGeom>
          <a:noFill/>
          <a:ln/>
        </p:spPr>
        <p:txBody>
          <a:bodyPr wrap="square" lIns="0" tIns="0" rIns="0" bIns="0" rtlCol="0" anchor="t"/>
          <a:lstStyle/>
          <a:p>
            <a:pPr indent="0" marL="0">
              <a:buNone/>
            </a:pPr>
            <a:r>
              <a:rPr lang="en-US" sz="1600" b="1" dirty="0">
                <a:solidFill>
                  <a:srgbClr val="E3254B"/>
                </a:solidFill>
                <a:latin typeface="Helvetica Neue" pitchFamily="34" charset="0"/>
                <a:ea typeface="Helvetica Neue" pitchFamily="34" charset="-122"/>
                <a:cs typeface="Helvetica Neue" pitchFamily="34" charset="-120"/>
              </a:rPr>
              <a:t>Purpose and hypothesis</a:t>
            </a:r>
            <a:endParaRPr lang="en-US" sz="1600" dirty="0"/>
          </a:p>
        </p:txBody>
      </p:sp>
      <p:sp>
        <p:nvSpPr>
          <p:cNvPr id="3" name="Text 1"/>
          <p:cNvSpPr txBox="1"/>
          <p:nvPr/>
        </p:nvSpPr>
        <p:spPr>
          <a:xfrm>
            <a:off x="685800" y="841248"/>
            <a:ext cx="10789920" cy="868680"/>
          </a:xfrm>
          <a:prstGeom prst="rect">
            <a:avLst/>
          </a:prstGeom>
          <a:noFill/>
          <a:ln/>
        </p:spPr>
        <p:txBody>
          <a:bodyPr wrap="square" lIns="0" tIns="0" rIns="0" bIns="0" rtlCol="0" anchor="t"/>
          <a:lstStyle/>
          <a:p>
            <a:pPr indent="0" marL="0">
              <a:lnSpc>
                <a:spcPct val="92000"/>
              </a:lnSpc>
              <a:buNone/>
            </a:pPr>
            <a:r>
              <a:rPr lang="en-US" sz="4000" b="1" dirty="0">
                <a:solidFill>
                  <a:srgbClr val="1D1D1F"/>
                </a:solidFill>
                <a:latin typeface="Helvetica Neue" pitchFamily="34" charset="0"/>
                <a:ea typeface="Helvetica Neue" pitchFamily="34" charset="-122"/>
                <a:cs typeface="Helvetica Neue" pitchFamily="34" charset="-120"/>
              </a:rPr>
              <a:t>Can a low-cost wearable catch sleep apnea?</a:t>
            </a:r>
            <a:endParaRPr lang="en-US" sz="4000" dirty="0"/>
          </a:p>
        </p:txBody>
      </p:sp>
      <p:sp>
        <p:nvSpPr>
          <p:cNvPr id="4" name="Shape 2"/>
          <p:cNvSpPr/>
          <p:nvPr/>
        </p:nvSpPr>
        <p:spPr>
          <a:xfrm>
            <a:off x="685800" y="1965960"/>
            <a:ext cx="5303520" cy="2331720"/>
          </a:xfrm>
          <a:prstGeom prst="roundRect">
            <a:avLst>
              <a:gd name="adj" fmla="val 8627"/>
            </a:avLst>
          </a:prstGeom>
          <a:solidFill>
            <a:srgbClr val="F5F5F7"/>
          </a:solidFill>
          <a:ln/>
        </p:spPr>
      </p:sp>
      <p:sp>
        <p:nvSpPr>
          <p:cNvPr id="5" name="Shape 3"/>
          <p:cNvSpPr/>
          <p:nvPr/>
        </p:nvSpPr>
        <p:spPr>
          <a:xfrm>
            <a:off x="6199632" y="1965960"/>
            <a:ext cx="5303520" cy="2331720"/>
          </a:xfrm>
          <a:prstGeom prst="roundRect">
            <a:avLst>
              <a:gd name="adj" fmla="val 8627"/>
            </a:avLst>
          </a:prstGeom>
          <a:solidFill>
            <a:srgbClr val="F5F5F7"/>
          </a:solidFill>
          <a:ln/>
        </p:spPr>
      </p:sp>
      <p:sp>
        <p:nvSpPr>
          <p:cNvPr id="6" name="Text 4"/>
          <p:cNvSpPr txBox="1"/>
          <p:nvPr/>
        </p:nvSpPr>
        <p:spPr>
          <a:xfrm>
            <a:off x="1005840" y="2212848"/>
            <a:ext cx="4663440" cy="320040"/>
          </a:xfrm>
          <a:prstGeom prst="rect">
            <a:avLst/>
          </a:prstGeom>
          <a:noFill/>
          <a:ln/>
        </p:spPr>
        <p:txBody>
          <a:bodyPr wrap="square" lIns="0" tIns="0" rIns="0" bIns="0" rtlCol="0" anchor="t"/>
          <a:lstStyle/>
          <a:p>
            <a:pPr indent="0" marL="0">
              <a:buNone/>
            </a:pPr>
            <a:r>
              <a:rPr lang="en-US" sz="1500" b="1" dirty="0">
                <a:solidFill>
                  <a:srgbClr val="E3254B"/>
                </a:solidFill>
                <a:latin typeface="Helvetica Neue" pitchFamily="34" charset="0"/>
                <a:ea typeface="Helvetica Neue" pitchFamily="34" charset="-122"/>
                <a:cs typeface="Helvetica Neue" pitchFamily="34" charset="-120"/>
              </a:rPr>
              <a:t>Purpose</a:t>
            </a:r>
            <a:endParaRPr lang="en-US" sz="1500" dirty="0"/>
          </a:p>
        </p:txBody>
      </p:sp>
      <p:sp>
        <p:nvSpPr>
          <p:cNvPr id="7" name="Text 5"/>
          <p:cNvSpPr txBox="1"/>
          <p:nvPr/>
        </p:nvSpPr>
        <p:spPr>
          <a:xfrm>
            <a:off x="1005840" y="2606040"/>
            <a:ext cx="4663440" cy="1554480"/>
          </a:xfrm>
          <a:prstGeom prst="rect">
            <a:avLst/>
          </a:prstGeom>
          <a:noFill/>
          <a:ln/>
        </p:spPr>
        <p:txBody>
          <a:bodyPr wrap="square" lIns="0" tIns="0" rIns="0" bIns="0" rtlCol="0" anchor="t"/>
          <a:lstStyle/>
          <a:p>
            <a:pPr indent="0" marL="0">
              <a:lnSpc>
                <a:spcPct val="105000"/>
              </a:lnSpc>
              <a:buNone/>
            </a:pPr>
            <a:r>
              <a:rPr lang="en-US" sz="1700" dirty="0">
                <a:solidFill>
                  <a:srgbClr val="1D1D1F"/>
                </a:solidFill>
                <a:latin typeface="Helvetica Neue" pitchFamily="34" charset="0"/>
                <a:ea typeface="Helvetica Neue" pitchFamily="34" charset="-122"/>
                <a:cs typeface="Helvetica Neue" pitchFamily="34" charset="-120"/>
              </a:rPr>
              <a:t>Find out whether a low-cost wearable can detect the oxygen drops caused by sleep apnea accurately enough to estimate how many events happen per hour: the number doctors use (AHI).</a:t>
            </a:r>
            <a:endParaRPr lang="en-US" sz="1700" dirty="0"/>
          </a:p>
        </p:txBody>
      </p:sp>
      <p:sp>
        <p:nvSpPr>
          <p:cNvPr id="8" name="Text 6"/>
          <p:cNvSpPr txBox="1"/>
          <p:nvPr/>
        </p:nvSpPr>
        <p:spPr>
          <a:xfrm>
            <a:off x="6519672" y="2212848"/>
            <a:ext cx="4663440" cy="320040"/>
          </a:xfrm>
          <a:prstGeom prst="rect">
            <a:avLst/>
          </a:prstGeom>
          <a:noFill/>
          <a:ln/>
        </p:spPr>
        <p:txBody>
          <a:bodyPr wrap="square" lIns="0" tIns="0" rIns="0" bIns="0" rtlCol="0" anchor="t"/>
          <a:lstStyle/>
          <a:p>
            <a:pPr indent="0" marL="0">
              <a:buNone/>
            </a:pPr>
            <a:r>
              <a:rPr lang="en-US" sz="1500" b="1" dirty="0">
                <a:solidFill>
                  <a:srgbClr val="0071E3"/>
                </a:solidFill>
                <a:latin typeface="Helvetica Neue" pitchFamily="34" charset="0"/>
                <a:ea typeface="Helvetica Neue" pitchFamily="34" charset="-122"/>
                <a:cs typeface="Helvetica Neue" pitchFamily="34" charset="-120"/>
              </a:rPr>
              <a:t>Hypothesis</a:t>
            </a:r>
            <a:endParaRPr lang="en-US" sz="1500" dirty="0"/>
          </a:p>
        </p:txBody>
      </p:sp>
      <p:sp>
        <p:nvSpPr>
          <p:cNvPr id="9" name="Text 7"/>
          <p:cNvSpPr txBox="1"/>
          <p:nvPr/>
        </p:nvSpPr>
        <p:spPr>
          <a:xfrm>
            <a:off x="6519672" y="2606040"/>
            <a:ext cx="4663440" cy="1600200"/>
          </a:xfrm>
          <a:prstGeom prst="rect">
            <a:avLst/>
          </a:prstGeom>
          <a:noFill/>
          <a:ln/>
        </p:spPr>
        <p:txBody>
          <a:bodyPr wrap="square" lIns="0" tIns="0" rIns="0" bIns="0" rtlCol="0" anchor="t"/>
          <a:lstStyle/>
          <a:p>
            <a:pPr indent="0" marL="0">
              <a:lnSpc>
                <a:spcPct val="105000"/>
              </a:lnSpc>
              <a:buNone/>
            </a:pPr>
            <a:r>
              <a:rPr lang="en-US" sz="1550" dirty="0">
                <a:solidFill>
                  <a:srgbClr val="1D1D1F"/>
                </a:solidFill>
                <a:latin typeface="Helvetica Neue" pitchFamily="34" charset="0"/>
                <a:ea typeface="Helvetica Neue" pitchFamily="34" charset="-122"/>
                <a:cs typeface="Helvetica Neue" pitchFamily="34" charset="-120"/>
              </a:rPr>
              <a:t>If breathing pauses make blood oxygen dip, then a fingertip sensor read once per second will reveal the dips, and software can count them per hour, because oxygen-rich and oxygen-poor blood absorb red and infrared light differently.</a:t>
            </a:r>
            <a:endParaRPr lang="en-US" sz="1550" dirty="0"/>
          </a:p>
        </p:txBody>
      </p:sp>
      <p:sp>
        <p:nvSpPr>
          <p:cNvPr id="10" name="Text 8"/>
          <p:cNvSpPr txBox="1"/>
          <p:nvPr/>
        </p:nvSpPr>
        <p:spPr>
          <a:xfrm>
            <a:off x="685800" y="4709160"/>
            <a:ext cx="3429000" cy="320040"/>
          </a:xfrm>
          <a:prstGeom prst="rect">
            <a:avLst/>
          </a:prstGeom>
          <a:noFill/>
          <a:ln/>
        </p:spPr>
        <p:txBody>
          <a:bodyPr wrap="square" lIns="0" tIns="0" rIns="0" bIns="0" rtlCol="0" anchor="t"/>
          <a:lstStyle/>
          <a:p>
            <a:pPr indent="0" marL="0">
              <a:buNone/>
            </a:pPr>
            <a:r>
              <a:rPr lang="en-US" sz="1600" b="1" dirty="0">
                <a:solidFill>
                  <a:srgbClr val="1D1D1F"/>
                </a:solidFill>
                <a:latin typeface="Helvetica Neue" pitchFamily="34" charset="0"/>
                <a:ea typeface="Helvetica Neue" pitchFamily="34" charset="-122"/>
                <a:cs typeface="Helvetica Neue" pitchFamily="34" charset="-120"/>
              </a:rPr>
              <a:t>Independent variables</a:t>
            </a:r>
            <a:endParaRPr lang="en-US" sz="1600" dirty="0"/>
          </a:p>
        </p:txBody>
      </p:sp>
      <p:sp>
        <p:nvSpPr>
          <p:cNvPr id="11" name="Text 9"/>
          <p:cNvSpPr txBox="1"/>
          <p:nvPr/>
        </p:nvSpPr>
        <p:spPr>
          <a:xfrm>
            <a:off x="685800" y="5074920"/>
            <a:ext cx="3429000" cy="822960"/>
          </a:xfrm>
          <a:prstGeom prst="rect">
            <a:avLst/>
          </a:prstGeom>
          <a:noFill/>
          <a:ln/>
        </p:spPr>
        <p:txBody>
          <a:bodyPr wrap="square" lIns="0" tIns="0" rIns="0" bIns="0" rtlCol="0" anchor="t"/>
          <a:lstStyle/>
          <a:p>
            <a:pPr indent="0" marL="0">
              <a:lnSpc>
                <a:spcPct val="105000"/>
              </a:lnSpc>
              <a:buNone/>
            </a:pPr>
            <a:r>
              <a:rPr lang="en-US" sz="1400" dirty="0">
                <a:solidFill>
                  <a:srgbClr val="6E6E73"/>
                </a:solidFill>
                <a:latin typeface="Helvetica Neue" pitchFamily="34" charset="0"/>
                <a:ea typeface="Helvetica Neue" pitchFamily="34" charset="-122"/>
                <a:cs typeface="Helvetica Neue" pitchFamily="34" charset="-120"/>
              </a:rPr>
              <a:t>Breath-hold length (10, 15, 20 s) and sleeping position</a:t>
            </a:r>
            <a:endParaRPr lang="en-US" sz="1400" dirty="0"/>
          </a:p>
        </p:txBody>
      </p:sp>
      <p:sp>
        <p:nvSpPr>
          <p:cNvPr id="12" name="Text 10"/>
          <p:cNvSpPr txBox="1"/>
          <p:nvPr/>
        </p:nvSpPr>
        <p:spPr>
          <a:xfrm>
            <a:off x="4370832" y="4709160"/>
            <a:ext cx="3429000" cy="320040"/>
          </a:xfrm>
          <a:prstGeom prst="rect">
            <a:avLst/>
          </a:prstGeom>
          <a:noFill/>
          <a:ln/>
        </p:spPr>
        <p:txBody>
          <a:bodyPr wrap="square" lIns="0" tIns="0" rIns="0" bIns="0" rtlCol="0" anchor="t"/>
          <a:lstStyle/>
          <a:p>
            <a:pPr indent="0" marL="0">
              <a:buNone/>
            </a:pPr>
            <a:r>
              <a:rPr lang="en-US" sz="1600" b="1" dirty="0">
                <a:solidFill>
                  <a:srgbClr val="1D1D1F"/>
                </a:solidFill>
                <a:latin typeface="Helvetica Neue" pitchFamily="34" charset="0"/>
                <a:ea typeface="Helvetica Neue" pitchFamily="34" charset="-122"/>
                <a:cs typeface="Helvetica Neue" pitchFamily="34" charset="-120"/>
              </a:rPr>
              <a:t>Dependent variables</a:t>
            </a:r>
            <a:endParaRPr lang="en-US" sz="1600" dirty="0"/>
          </a:p>
        </p:txBody>
      </p:sp>
      <p:sp>
        <p:nvSpPr>
          <p:cNvPr id="13" name="Text 11"/>
          <p:cNvSpPr txBox="1"/>
          <p:nvPr/>
        </p:nvSpPr>
        <p:spPr>
          <a:xfrm>
            <a:off x="4370832" y="5074920"/>
            <a:ext cx="3429000" cy="822960"/>
          </a:xfrm>
          <a:prstGeom prst="rect">
            <a:avLst/>
          </a:prstGeom>
          <a:noFill/>
          <a:ln/>
        </p:spPr>
        <p:txBody>
          <a:bodyPr wrap="square" lIns="0" tIns="0" rIns="0" bIns="0" rtlCol="0" anchor="t"/>
          <a:lstStyle/>
          <a:p>
            <a:pPr indent="0" marL="0">
              <a:lnSpc>
                <a:spcPct val="105000"/>
              </a:lnSpc>
              <a:buNone/>
            </a:pPr>
            <a:r>
              <a:rPr lang="en-US" sz="1400" dirty="0">
                <a:solidFill>
                  <a:srgbClr val="6E6E73"/>
                </a:solidFill>
                <a:latin typeface="Helvetica Neue" pitchFamily="34" charset="0"/>
                <a:ea typeface="Helvetica Neue" pitchFamily="34" charset="-122"/>
                <a:cs typeface="Helvetica Neue" pitchFamily="34" charset="-120"/>
              </a:rPr>
              <a:t>Events detected, AHI score, agreement with a reference oximeter</a:t>
            </a:r>
            <a:endParaRPr lang="en-US" sz="1400" dirty="0"/>
          </a:p>
        </p:txBody>
      </p:sp>
      <p:sp>
        <p:nvSpPr>
          <p:cNvPr id="14" name="Text 12"/>
          <p:cNvSpPr txBox="1"/>
          <p:nvPr/>
        </p:nvSpPr>
        <p:spPr>
          <a:xfrm>
            <a:off x="8055864" y="4709160"/>
            <a:ext cx="3429000" cy="320040"/>
          </a:xfrm>
          <a:prstGeom prst="rect">
            <a:avLst/>
          </a:prstGeom>
          <a:noFill/>
          <a:ln/>
        </p:spPr>
        <p:txBody>
          <a:bodyPr wrap="square" lIns="0" tIns="0" rIns="0" bIns="0" rtlCol="0" anchor="t"/>
          <a:lstStyle/>
          <a:p>
            <a:pPr indent="0" marL="0">
              <a:buNone/>
            </a:pPr>
            <a:r>
              <a:rPr lang="en-US" sz="1600" b="1" dirty="0">
                <a:solidFill>
                  <a:srgbClr val="1D1D1F"/>
                </a:solidFill>
                <a:latin typeface="Helvetica Neue" pitchFamily="34" charset="0"/>
                <a:ea typeface="Helvetica Neue" pitchFamily="34" charset="-122"/>
                <a:cs typeface="Helvetica Neue" pitchFamily="34" charset="-120"/>
              </a:rPr>
              <a:t>Controls</a:t>
            </a:r>
            <a:endParaRPr lang="en-US" sz="1600" dirty="0"/>
          </a:p>
        </p:txBody>
      </p:sp>
      <p:sp>
        <p:nvSpPr>
          <p:cNvPr id="15" name="Text 13"/>
          <p:cNvSpPr txBox="1"/>
          <p:nvPr/>
        </p:nvSpPr>
        <p:spPr>
          <a:xfrm>
            <a:off x="8055864" y="5074920"/>
            <a:ext cx="3429000" cy="822960"/>
          </a:xfrm>
          <a:prstGeom prst="rect">
            <a:avLst/>
          </a:prstGeom>
          <a:noFill/>
          <a:ln/>
        </p:spPr>
        <p:txBody>
          <a:bodyPr wrap="square" lIns="0" tIns="0" rIns="0" bIns="0" rtlCol="0" anchor="t"/>
          <a:lstStyle/>
          <a:p>
            <a:pPr indent="0" marL="0">
              <a:lnSpc>
                <a:spcPct val="105000"/>
              </a:lnSpc>
              <a:buNone/>
            </a:pPr>
            <a:r>
              <a:rPr lang="en-US" sz="1400" dirty="0">
                <a:solidFill>
                  <a:srgbClr val="6E6E73"/>
                </a:solidFill>
                <a:latin typeface="Helvetica Neue" pitchFamily="34" charset="0"/>
                <a:ea typeface="Helvetica Neue" pitchFamily="34" charset="-122"/>
                <a:cs typeface="Helvetica Neue" pitchFamily="34" charset="-120"/>
              </a:rPr>
              <a:t>Same finger, cuff tightness, room, firmware and detection settings</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85800" y="502920"/>
            <a:ext cx="10789920" cy="320040"/>
          </a:xfrm>
          <a:prstGeom prst="rect">
            <a:avLst/>
          </a:prstGeom>
          <a:noFill/>
          <a:ln/>
        </p:spPr>
        <p:txBody>
          <a:bodyPr wrap="square" lIns="0" tIns="0" rIns="0" bIns="0" rtlCol="0" anchor="t"/>
          <a:lstStyle/>
          <a:p>
            <a:pPr indent="0" marL="0">
              <a:buNone/>
            </a:pPr>
            <a:r>
              <a:rPr lang="en-US" sz="1600" b="1" dirty="0">
                <a:solidFill>
                  <a:srgbClr val="E3254B"/>
                </a:solidFill>
                <a:latin typeface="Helvetica Neue" pitchFamily="34" charset="0"/>
                <a:ea typeface="Helvetica Neue" pitchFamily="34" charset="-122"/>
                <a:cs typeface="Helvetica Neue" pitchFamily="34" charset="-120"/>
              </a:rPr>
              <a:t>Scientific background</a:t>
            </a:r>
            <a:endParaRPr lang="en-US" sz="1600" dirty="0"/>
          </a:p>
        </p:txBody>
      </p:sp>
      <p:sp>
        <p:nvSpPr>
          <p:cNvPr id="3" name="Text 1"/>
          <p:cNvSpPr txBox="1"/>
          <p:nvPr/>
        </p:nvSpPr>
        <p:spPr>
          <a:xfrm>
            <a:off x="685800" y="841248"/>
            <a:ext cx="10789920" cy="868680"/>
          </a:xfrm>
          <a:prstGeom prst="rect">
            <a:avLst/>
          </a:prstGeom>
          <a:noFill/>
          <a:ln/>
        </p:spPr>
        <p:txBody>
          <a:bodyPr wrap="square" lIns="0" tIns="0" rIns="0" bIns="0" rtlCol="0" anchor="t"/>
          <a:lstStyle/>
          <a:p>
            <a:pPr indent="0" marL="0">
              <a:lnSpc>
                <a:spcPct val="92000"/>
              </a:lnSpc>
              <a:buNone/>
            </a:pPr>
            <a:r>
              <a:rPr lang="en-US" sz="4000" b="1" dirty="0">
                <a:solidFill>
                  <a:srgbClr val="1D1D1F"/>
                </a:solidFill>
                <a:latin typeface="Helvetica Neue" pitchFamily="34" charset="0"/>
                <a:ea typeface="Helvetica Neue" pitchFamily="34" charset="-122"/>
                <a:cs typeface="Helvetica Neue" pitchFamily="34" charset="-120"/>
              </a:rPr>
              <a:t>Breathing stops. Oxygen drops.</a:t>
            </a:r>
            <a:endParaRPr lang="en-US" sz="4000" dirty="0"/>
          </a:p>
        </p:txBody>
      </p:sp>
      <p:sp>
        <p:nvSpPr>
          <p:cNvPr id="4" name="Shape 2"/>
          <p:cNvSpPr/>
          <p:nvPr/>
        </p:nvSpPr>
        <p:spPr>
          <a:xfrm>
            <a:off x="685800" y="2066826"/>
            <a:ext cx="73152" cy="73152"/>
          </a:xfrm>
          <a:prstGeom prst="ellipse">
            <a:avLst/>
          </a:prstGeom>
          <a:solidFill>
            <a:srgbClr val="A1A1A6"/>
          </a:solidFill>
          <a:ln/>
        </p:spPr>
      </p:sp>
      <p:sp>
        <p:nvSpPr>
          <p:cNvPr id="5" name="Text 3"/>
          <p:cNvSpPr txBox="1"/>
          <p:nvPr/>
        </p:nvSpPr>
        <p:spPr>
          <a:xfrm>
            <a:off x="914400" y="1965960"/>
            <a:ext cx="6446520" cy="553466"/>
          </a:xfrm>
          <a:prstGeom prst="rect">
            <a:avLst/>
          </a:prstGeom>
          <a:noFill/>
          <a:ln/>
        </p:spPr>
        <p:txBody>
          <a:bodyPr wrap="square" lIns="0" tIns="0" rIns="0" bIns="0" rtlCol="0" anchor="t"/>
          <a:lstStyle/>
          <a:p>
            <a:pPr indent="0" marL="0">
              <a:buNone/>
            </a:pPr>
            <a:r>
              <a:rPr lang="en-US" sz="1550" dirty="0">
                <a:solidFill>
                  <a:srgbClr val="1D1D1F"/>
                </a:solidFill>
                <a:latin typeface="Helvetica Neue" pitchFamily="34" charset="0"/>
                <a:ea typeface="Helvetica Neue" pitchFamily="34" charset="-122"/>
                <a:cs typeface="Helvetica Neue" pitchFamily="34" charset="-120"/>
              </a:rPr>
              <a:t>Obstructive sleep apnea: the airway collapses during sleep and breathing pauses for 10 seconds or more, many times a night.</a:t>
            </a:r>
            <a:endParaRPr lang="en-US" sz="1550" dirty="0"/>
          </a:p>
        </p:txBody>
      </p:sp>
      <p:sp>
        <p:nvSpPr>
          <p:cNvPr id="6" name="Shape 4"/>
          <p:cNvSpPr/>
          <p:nvPr/>
        </p:nvSpPr>
        <p:spPr>
          <a:xfrm>
            <a:off x="685800" y="2730020"/>
            <a:ext cx="73152" cy="73152"/>
          </a:xfrm>
          <a:prstGeom prst="ellipse">
            <a:avLst/>
          </a:prstGeom>
          <a:solidFill>
            <a:srgbClr val="A1A1A6"/>
          </a:solidFill>
          <a:ln/>
        </p:spPr>
      </p:sp>
      <p:sp>
        <p:nvSpPr>
          <p:cNvPr id="7" name="Text 5"/>
          <p:cNvSpPr txBox="1"/>
          <p:nvPr/>
        </p:nvSpPr>
        <p:spPr>
          <a:xfrm>
            <a:off x="914400" y="2629154"/>
            <a:ext cx="6446520" cy="553466"/>
          </a:xfrm>
          <a:prstGeom prst="rect">
            <a:avLst/>
          </a:prstGeom>
          <a:noFill/>
          <a:ln/>
        </p:spPr>
        <p:txBody>
          <a:bodyPr wrap="square" lIns="0" tIns="0" rIns="0" bIns="0" rtlCol="0" anchor="t"/>
          <a:lstStyle/>
          <a:p>
            <a:pPr indent="0" marL="0">
              <a:buNone/>
            </a:pPr>
            <a:r>
              <a:rPr lang="en-US" sz="1550" dirty="0">
                <a:solidFill>
                  <a:srgbClr val="1D1D1F"/>
                </a:solidFill>
                <a:latin typeface="Helvetica Neue" pitchFamily="34" charset="0"/>
                <a:ea typeface="Helvetica Neue" pitchFamily="34" charset="-122"/>
                <a:cs typeface="Helvetica Neue" pitchFamily="34" charset="-120"/>
              </a:rPr>
              <a:t>Each pause lowers blood oxygen (a desaturation) and makes the heart speed up and slow down.</a:t>
            </a:r>
            <a:endParaRPr lang="en-US" sz="1550" dirty="0"/>
          </a:p>
        </p:txBody>
      </p:sp>
      <p:sp>
        <p:nvSpPr>
          <p:cNvPr id="8" name="Shape 6"/>
          <p:cNvSpPr/>
          <p:nvPr/>
        </p:nvSpPr>
        <p:spPr>
          <a:xfrm>
            <a:off x="685800" y="3393214"/>
            <a:ext cx="73152" cy="73152"/>
          </a:xfrm>
          <a:prstGeom prst="ellipse">
            <a:avLst/>
          </a:prstGeom>
          <a:solidFill>
            <a:srgbClr val="A1A1A6"/>
          </a:solidFill>
          <a:ln/>
        </p:spPr>
      </p:sp>
      <p:sp>
        <p:nvSpPr>
          <p:cNvPr id="9" name="Text 7"/>
          <p:cNvSpPr txBox="1"/>
          <p:nvPr/>
        </p:nvSpPr>
        <p:spPr>
          <a:xfrm>
            <a:off x="914400" y="3292348"/>
            <a:ext cx="6446520" cy="793623"/>
          </a:xfrm>
          <a:prstGeom prst="rect">
            <a:avLst/>
          </a:prstGeom>
          <a:noFill/>
          <a:ln/>
        </p:spPr>
        <p:txBody>
          <a:bodyPr wrap="square" lIns="0" tIns="0" rIns="0" bIns="0" rtlCol="0" anchor="t"/>
          <a:lstStyle/>
          <a:p>
            <a:pPr indent="0" marL="0">
              <a:buNone/>
            </a:pPr>
            <a:r>
              <a:rPr lang="en-US" sz="1550" dirty="0">
                <a:solidFill>
                  <a:srgbClr val="1D1D1F"/>
                </a:solidFill>
                <a:latin typeface="Helvetica Neue" pitchFamily="34" charset="0"/>
                <a:ea typeface="Helvetica Neue" pitchFamily="34" charset="-122"/>
                <a:cs typeface="Helvetica Neue" pitchFamily="34" charset="-120"/>
              </a:rPr>
              <a:t>Pulse oximetry: red (660 nm) and infrared (880 nm) light shine through the fingertip. Oxygen-rich blood absorbs them differently, giving SpO₂.</a:t>
            </a:r>
            <a:endParaRPr lang="en-US" sz="1550" dirty="0"/>
          </a:p>
        </p:txBody>
      </p:sp>
      <p:sp>
        <p:nvSpPr>
          <p:cNvPr id="10" name="Shape 8"/>
          <p:cNvSpPr/>
          <p:nvPr/>
        </p:nvSpPr>
        <p:spPr>
          <a:xfrm>
            <a:off x="685800" y="4296565"/>
            <a:ext cx="73152" cy="73152"/>
          </a:xfrm>
          <a:prstGeom prst="ellipse">
            <a:avLst/>
          </a:prstGeom>
          <a:solidFill>
            <a:srgbClr val="A1A1A6"/>
          </a:solidFill>
          <a:ln/>
        </p:spPr>
      </p:sp>
      <p:sp>
        <p:nvSpPr>
          <p:cNvPr id="11" name="Text 9"/>
          <p:cNvSpPr txBox="1"/>
          <p:nvPr/>
        </p:nvSpPr>
        <p:spPr>
          <a:xfrm>
            <a:off x="914400" y="4195699"/>
            <a:ext cx="6446520" cy="793623"/>
          </a:xfrm>
          <a:prstGeom prst="rect">
            <a:avLst/>
          </a:prstGeom>
          <a:noFill/>
          <a:ln/>
        </p:spPr>
        <p:txBody>
          <a:bodyPr wrap="square" lIns="0" tIns="0" rIns="0" bIns="0" rtlCol="0" anchor="t"/>
          <a:lstStyle/>
          <a:p>
            <a:pPr indent="0" marL="0">
              <a:buNone/>
            </a:pPr>
            <a:r>
              <a:rPr lang="en-US" sz="1550" dirty="0">
                <a:solidFill>
                  <a:srgbClr val="1D1D1F"/>
                </a:solidFill>
                <a:latin typeface="Helvetica Neue" pitchFamily="34" charset="0"/>
                <a:ea typeface="Helvetica Neue" pitchFamily="34" charset="-122"/>
                <a:cs typeface="Helvetica Neue" pitchFamily="34" charset="-120"/>
              </a:rPr>
              <a:t>Doctors count events per hour of sleep: the Apnea–Hypopnea Index (AHI). A clinical sleep study costs thousands and needs a lab.</a:t>
            </a:r>
            <a:endParaRPr lang="en-US" sz="1550" dirty="0"/>
          </a:p>
        </p:txBody>
      </p:sp>
      <p:sp>
        <p:nvSpPr>
          <p:cNvPr id="12" name="Shape 10"/>
          <p:cNvSpPr/>
          <p:nvPr/>
        </p:nvSpPr>
        <p:spPr>
          <a:xfrm>
            <a:off x="7726680" y="1920240"/>
            <a:ext cx="3776472" cy="2514600"/>
          </a:xfrm>
          <a:prstGeom prst="roundRect">
            <a:avLst>
              <a:gd name="adj" fmla="val 8000"/>
            </a:avLst>
          </a:prstGeom>
          <a:solidFill>
            <a:srgbClr val="000000"/>
          </a:solidFill>
          <a:ln/>
        </p:spPr>
      </p:sp>
      <p:sp>
        <p:nvSpPr>
          <p:cNvPr id="13" name="Text 11"/>
          <p:cNvSpPr txBox="1"/>
          <p:nvPr/>
        </p:nvSpPr>
        <p:spPr>
          <a:xfrm>
            <a:off x="8001000" y="2194560"/>
            <a:ext cx="3291840" cy="685800"/>
          </a:xfrm>
          <a:prstGeom prst="rect">
            <a:avLst/>
          </a:prstGeom>
          <a:noFill/>
          <a:ln/>
        </p:spPr>
        <p:txBody>
          <a:bodyPr wrap="square" lIns="0" tIns="0" rIns="0" bIns="0" rtlCol="0" anchor="t"/>
          <a:lstStyle/>
          <a:p>
            <a:pPr indent="0" marL="0">
              <a:buNone/>
            </a:pPr>
            <a:r>
              <a:rPr lang="en-US" sz="4000" b="1" dirty="0">
                <a:solidFill>
                  <a:srgbClr val="FFFFFF"/>
                </a:solidFill>
                <a:latin typeface="Helvetica Neue" pitchFamily="34" charset="0"/>
                <a:ea typeface="Helvetica Neue" pitchFamily="34" charset="-122"/>
                <a:cs typeface="Helvetica Neue" pitchFamily="34" charset="-120"/>
              </a:rPr>
              <a:t>936 million</a:t>
            </a:r>
            <a:endParaRPr lang="en-US" sz="4000" dirty="0"/>
          </a:p>
        </p:txBody>
      </p:sp>
      <p:sp>
        <p:nvSpPr>
          <p:cNvPr id="14" name="Text 12"/>
          <p:cNvSpPr txBox="1"/>
          <p:nvPr/>
        </p:nvSpPr>
        <p:spPr>
          <a:xfrm>
            <a:off x="8001000" y="2971800"/>
            <a:ext cx="3291840" cy="1280160"/>
          </a:xfrm>
          <a:prstGeom prst="rect">
            <a:avLst/>
          </a:prstGeom>
          <a:noFill/>
          <a:ln/>
        </p:spPr>
        <p:txBody>
          <a:bodyPr wrap="square" lIns="0" tIns="0" rIns="0" bIns="0" rtlCol="0" anchor="t"/>
          <a:lstStyle/>
          <a:p>
            <a:pPr indent="0" marL="0">
              <a:lnSpc>
                <a:spcPct val="105000"/>
              </a:lnSpc>
              <a:buNone/>
            </a:pPr>
            <a:r>
              <a:rPr lang="en-US" sz="1450" dirty="0">
                <a:solidFill>
                  <a:srgbClr val="86868B"/>
                </a:solidFill>
                <a:latin typeface="Helvetica Neue" pitchFamily="34" charset="0"/>
                <a:ea typeface="Helvetica Neue" pitchFamily="34" charset="-122"/>
                <a:cs typeface="Helvetica Neue" pitchFamily="34" charset="-120"/>
              </a:rPr>
              <a:t>adults worldwide have obstructive sleep apnea. Most don’t know it (Benjafield et al., 2019).</a:t>
            </a:r>
            <a:endParaRPr lang="en-US" sz="1450" dirty="0"/>
          </a:p>
        </p:txBody>
      </p:sp>
      <p:sp>
        <p:nvSpPr>
          <p:cNvPr id="15" name="Shape 13"/>
          <p:cNvSpPr/>
          <p:nvPr/>
        </p:nvSpPr>
        <p:spPr>
          <a:xfrm>
            <a:off x="685800" y="4983480"/>
            <a:ext cx="2587752" cy="1234440"/>
          </a:xfrm>
          <a:prstGeom prst="roundRect">
            <a:avLst>
              <a:gd name="adj" fmla="val 16296"/>
            </a:avLst>
          </a:prstGeom>
          <a:solidFill>
            <a:srgbClr val="F5F5F7"/>
          </a:solidFill>
          <a:ln/>
        </p:spPr>
      </p:sp>
      <p:sp>
        <p:nvSpPr>
          <p:cNvPr id="16" name="Text 14"/>
          <p:cNvSpPr txBox="1"/>
          <p:nvPr/>
        </p:nvSpPr>
        <p:spPr>
          <a:xfrm>
            <a:off x="685800" y="5120640"/>
            <a:ext cx="2587752" cy="548640"/>
          </a:xfrm>
          <a:prstGeom prst="rect">
            <a:avLst/>
          </a:prstGeom>
          <a:noFill/>
          <a:ln/>
        </p:spPr>
        <p:txBody>
          <a:bodyPr wrap="square" lIns="0" tIns="0" rIns="0" bIns="0" rtlCol="0" anchor="t"/>
          <a:lstStyle/>
          <a:p>
            <a:pPr algn="ctr" indent="0" marL="0">
              <a:buNone/>
            </a:pPr>
            <a:r>
              <a:rPr lang="en-US" sz="3000" b="1" dirty="0">
                <a:solidFill>
                  <a:srgbClr val="248A3D"/>
                </a:solidFill>
                <a:latin typeface="Helvetica Neue" pitchFamily="34" charset="0"/>
                <a:ea typeface="Helvetica Neue" pitchFamily="34" charset="-122"/>
                <a:cs typeface="Helvetica Neue" pitchFamily="34" charset="-120"/>
              </a:rPr>
              <a:t>&lt; 5</a:t>
            </a:r>
            <a:endParaRPr lang="en-US" sz="3000" dirty="0"/>
          </a:p>
        </p:txBody>
      </p:sp>
      <p:sp>
        <p:nvSpPr>
          <p:cNvPr id="17" name="Text 15"/>
          <p:cNvSpPr txBox="1"/>
          <p:nvPr/>
        </p:nvSpPr>
        <p:spPr>
          <a:xfrm>
            <a:off x="685800" y="5715000"/>
            <a:ext cx="2587752" cy="320040"/>
          </a:xfrm>
          <a:prstGeom prst="rect">
            <a:avLst/>
          </a:prstGeom>
          <a:noFill/>
          <a:ln/>
        </p:spPr>
        <p:txBody>
          <a:bodyPr wrap="square" lIns="0" tIns="0" rIns="0" bIns="0" rtlCol="0" anchor="t"/>
          <a:lstStyle/>
          <a:p>
            <a:pPr algn="ctr" indent="0" marL="0">
              <a:buNone/>
            </a:pPr>
            <a:r>
              <a:rPr lang="en-US" sz="1250" dirty="0">
                <a:solidFill>
                  <a:srgbClr val="6E6E73"/>
                </a:solidFill>
                <a:latin typeface="Helvetica Neue" pitchFamily="34" charset="0"/>
                <a:ea typeface="Helvetica Neue" pitchFamily="34" charset="-122"/>
                <a:cs typeface="Helvetica Neue" pitchFamily="34" charset="-120"/>
              </a:rPr>
              <a:t>Normal · events per hour</a:t>
            </a:r>
            <a:endParaRPr lang="en-US" sz="1250" dirty="0"/>
          </a:p>
        </p:txBody>
      </p:sp>
      <p:sp>
        <p:nvSpPr>
          <p:cNvPr id="18" name="Shape 16"/>
          <p:cNvSpPr/>
          <p:nvPr/>
        </p:nvSpPr>
        <p:spPr>
          <a:xfrm>
            <a:off x="3429000" y="4983480"/>
            <a:ext cx="2587752" cy="1234440"/>
          </a:xfrm>
          <a:prstGeom prst="roundRect">
            <a:avLst>
              <a:gd name="adj" fmla="val 16296"/>
            </a:avLst>
          </a:prstGeom>
          <a:solidFill>
            <a:srgbClr val="F5F5F7"/>
          </a:solidFill>
          <a:ln/>
        </p:spPr>
      </p:sp>
      <p:sp>
        <p:nvSpPr>
          <p:cNvPr id="19" name="Text 17"/>
          <p:cNvSpPr txBox="1"/>
          <p:nvPr/>
        </p:nvSpPr>
        <p:spPr>
          <a:xfrm>
            <a:off x="3429000" y="5120640"/>
            <a:ext cx="2587752" cy="548640"/>
          </a:xfrm>
          <a:prstGeom prst="rect">
            <a:avLst/>
          </a:prstGeom>
          <a:noFill/>
          <a:ln/>
        </p:spPr>
        <p:txBody>
          <a:bodyPr wrap="square" lIns="0" tIns="0" rIns="0" bIns="0" rtlCol="0" anchor="t"/>
          <a:lstStyle/>
          <a:p>
            <a:pPr algn="ctr" indent="0" marL="0">
              <a:buNone/>
            </a:pPr>
            <a:r>
              <a:rPr lang="en-US" sz="3000" b="1" dirty="0">
                <a:solidFill>
                  <a:srgbClr val="C45500"/>
                </a:solidFill>
                <a:latin typeface="Helvetica Neue" pitchFamily="34" charset="0"/>
                <a:ea typeface="Helvetica Neue" pitchFamily="34" charset="-122"/>
                <a:cs typeface="Helvetica Neue" pitchFamily="34" charset="-120"/>
              </a:rPr>
              <a:t>5–15</a:t>
            </a:r>
            <a:endParaRPr lang="en-US" sz="3000" dirty="0"/>
          </a:p>
        </p:txBody>
      </p:sp>
      <p:sp>
        <p:nvSpPr>
          <p:cNvPr id="20" name="Text 18"/>
          <p:cNvSpPr txBox="1"/>
          <p:nvPr/>
        </p:nvSpPr>
        <p:spPr>
          <a:xfrm>
            <a:off x="3429000" y="5715000"/>
            <a:ext cx="2587752" cy="320040"/>
          </a:xfrm>
          <a:prstGeom prst="rect">
            <a:avLst/>
          </a:prstGeom>
          <a:noFill/>
          <a:ln/>
        </p:spPr>
        <p:txBody>
          <a:bodyPr wrap="square" lIns="0" tIns="0" rIns="0" bIns="0" rtlCol="0" anchor="t"/>
          <a:lstStyle/>
          <a:p>
            <a:pPr algn="ctr" indent="0" marL="0">
              <a:buNone/>
            </a:pPr>
            <a:r>
              <a:rPr lang="en-US" sz="1250" dirty="0">
                <a:solidFill>
                  <a:srgbClr val="6E6E73"/>
                </a:solidFill>
                <a:latin typeface="Helvetica Neue" pitchFamily="34" charset="0"/>
                <a:ea typeface="Helvetica Neue" pitchFamily="34" charset="-122"/>
                <a:cs typeface="Helvetica Neue" pitchFamily="34" charset="-120"/>
              </a:rPr>
              <a:t>Mild · events per hour</a:t>
            </a:r>
            <a:endParaRPr lang="en-US" sz="1250" dirty="0"/>
          </a:p>
        </p:txBody>
      </p:sp>
      <p:sp>
        <p:nvSpPr>
          <p:cNvPr id="21" name="Shape 19"/>
          <p:cNvSpPr/>
          <p:nvPr/>
        </p:nvSpPr>
        <p:spPr>
          <a:xfrm>
            <a:off x="6172200" y="4983480"/>
            <a:ext cx="2587752" cy="1234440"/>
          </a:xfrm>
          <a:prstGeom prst="roundRect">
            <a:avLst>
              <a:gd name="adj" fmla="val 16296"/>
            </a:avLst>
          </a:prstGeom>
          <a:solidFill>
            <a:srgbClr val="F5F5F7"/>
          </a:solidFill>
          <a:ln/>
        </p:spPr>
      </p:sp>
      <p:sp>
        <p:nvSpPr>
          <p:cNvPr id="22" name="Text 20"/>
          <p:cNvSpPr txBox="1"/>
          <p:nvPr/>
        </p:nvSpPr>
        <p:spPr>
          <a:xfrm>
            <a:off x="6172200" y="5120640"/>
            <a:ext cx="2587752" cy="548640"/>
          </a:xfrm>
          <a:prstGeom prst="rect">
            <a:avLst/>
          </a:prstGeom>
          <a:noFill/>
          <a:ln/>
        </p:spPr>
        <p:txBody>
          <a:bodyPr wrap="square" lIns="0" tIns="0" rIns="0" bIns="0" rtlCol="0" anchor="t"/>
          <a:lstStyle/>
          <a:p>
            <a:pPr algn="ctr" indent="0" marL="0">
              <a:buNone/>
            </a:pPr>
            <a:r>
              <a:rPr lang="en-US" sz="3000" b="1" dirty="0">
                <a:solidFill>
                  <a:srgbClr val="B4410B"/>
                </a:solidFill>
                <a:latin typeface="Helvetica Neue" pitchFamily="34" charset="0"/>
                <a:ea typeface="Helvetica Neue" pitchFamily="34" charset="-122"/>
                <a:cs typeface="Helvetica Neue" pitchFamily="34" charset="-120"/>
              </a:rPr>
              <a:t>15–30</a:t>
            </a:r>
            <a:endParaRPr lang="en-US" sz="3000" dirty="0"/>
          </a:p>
        </p:txBody>
      </p:sp>
      <p:sp>
        <p:nvSpPr>
          <p:cNvPr id="23" name="Text 21"/>
          <p:cNvSpPr txBox="1"/>
          <p:nvPr/>
        </p:nvSpPr>
        <p:spPr>
          <a:xfrm>
            <a:off x="6172200" y="5715000"/>
            <a:ext cx="2587752" cy="320040"/>
          </a:xfrm>
          <a:prstGeom prst="rect">
            <a:avLst/>
          </a:prstGeom>
          <a:noFill/>
          <a:ln/>
        </p:spPr>
        <p:txBody>
          <a:bodyPr wrap="square" lIns="0" tIns="0" rIns="0" bIns="0" rtlCol="0" anchor="t"/>
          <a:lstStyle/>
          <a:p>
            <a:pPr algn="ctr" indent="0" marL="0">
              <a:buNone/>
            </a:pPr>
            <a:r>
              <a:rPr lang="en-US" sz="1250" dirty="0">
                <a:solidFill>
                  <a:srgbClr val="6E6E73"/>
                </a:solidFill>
                <a:latin typeface="Helvetica Neue" pitchFamily="34" charset="0"/>
                <a:ea typeface="Helvetica Neue" pitchFamily="34" charset="-122"/>
                <a:cs typeface="Helvetica Neue" pitchFamily="34" charset="-120"/>
              </a:rPr>
              <a:t>Moderate · events per hour</a:t>
            </a:r>
            <a:endParaRPr lang="en-US" sz="1250" dirty="0"/>
          </a:p>
        </p:txBody>
      </p:sp>
      <p:sp>
        <p:nvSpPr>
          <p:cNvPr id="24" name="Shape 22"/>
          <p:cNvSpPr/>
          <p:nvPr/>
        </p:nvSpPr>
        <p:spPr>
          <a:xfrm>
            <a:off x="8915400" y="4983480"/>
            <a:ext cx="2587752" cy="1234440"/>
          </a:xfrm>
          <a:prstGeom prst="roundRect">
            <a:avLst>
              <a:gd name="adj" fmla="val 16296"/>
            </a:avLst>
          </a:prstGeom>
          <a:solidFill>
            <a:srgbClr val="F5F5F7"/>
          </a:solidFill>
          <a:ln/>
        </p:spPr>
      </p:sp>
      <p:sp>
        <p:nvSpPr>
          <p:cNvPr id="25" name="Text 23"/>
          <p:cNvSpPr txBox="1"/>
          <p:nvPr/>
        </p:nvSpPr>
        <p:spPr>
          <a:xfrm>
            <a:off x="8915400" y="5120640"/>
            <a:ext cx="2587752" cy="548640"/>
          </a:xfrm>
          <a:prstGeom prst="rect">
            <a:avLst/>
          </a:prstGeom>
          <a:noFill/>
          <a:ln/>
        </p:spPr>
        <p:txBody>
          <a:bodyPr wrap="square" lIns="0" tIns="0" rIns="0" bIns="0" rtlCol="0" anchor="t"/>
          <a:lstStyle/>
          <a:p>
            <a:pPr algn="ctr" indent="0" marL="0">
              <a:buNone/>
            </a:pPr>
            <a:r>
              <a:rPr lang="en-US" sz="3000" b="1" dirty="0">
                <a:solidFill>
                  <a:srgbClr val="D70015"/>
                </a:solidFill>
                <a:latin typeface="Helvetica Neue" pitchFamily="34" charset="0"/>
                <a:ea typeface="Helvetica Neue" pitchFamily="34" charset="-122"/>
                <a:cs typeface="Helvetica Neue" pitchFamily="34" charset="-120"/>
              </a:rPr>
              <a:t>&gt; 30</a:t>
            </a:r>
            <a:endParaRPr lang="en-US" sz="3000" dirty="0"/>
          </a:p>
        </p:txBody>
      </p:sp>
      <p:sp>
        <p:nvSpPr>
          <p:cNvPr id="26" name="Text 24"/>
          <p:cNvSpPr txBox="1"/>
          <p:nvPr/>
        </p:nvSpPr>
        <p:spPr>
          <a:xfrm>
            <a:off x="8915400" y="5715000"/>
            <a:ext cx="2587752" cy="320040"/>
          </a:xfrm>
          <a:prstGeom prst="rect">
            <a:avLst/>
          </a:prstGeom>
          <a:noFill/>
          <a:ln/>
        </p:spPr>
        <p:txBody>
          <a:bodyPr wrap="square" lIns="0" tIns="0" rIns="0" bIns="0" rtlCol="0" anchor="t"/>
          <a:lstStyle/>
          <a:p>
            <a:pPr algn="ctr" indent="0" marL="0">
              <a:buNone/>
            </a:pPr>
            <a:r>
              <a:rPr lang="en-US" sz="1250" dirty="0">
                <a:solidFill>
                  <a:srgbClr val="6E6E73"/>
                </a:solidFill>
                <a:latin typeface="Helvetica Neue" pitchFamily="34" charset="0"/>
                <a:ea typeface="Helvetica Neue" pitchFamily="34" charset="-122"/>
                <a:cs typeface="Helvetica Neue" pitchFamily="34" charset="-120"/>
              </a:rPr>
              <a:t>Severe · events per hour</a:t>
            </a:r>
            <a:endParaRPr lang="en-US" sz="12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685800" y="502920"/>
            <a:ext cx="10789920" cy="320040"/>
          </a:xfrm>
          <a:prstGeom prst="rect">
            <a:avLst/>
          </a:prstGeom>
          <a:noFill/>
          <a:ln/>
        </p:spPr>
        <p:txBody>
          <a:bodyPr wrap="square" lIns="0" tIns="0" rIns="0" bIns="0" rtlCol="0" anchor="t"/>
          <a:lstStyle/>
          <a:p>
            <a:pPr algn="ctr" indent="0" marL="0">
              <a:buNone/>
            </a:pPr>
            <a:r>
              <a:rPr lang="en-US" sz="1600" b="1" dirty="0">
                <a:solidFill>
                  <a:srgbClr val="FF375F"/>
                </a:solidFill>
                <a:latin typeface="Helvetica Neue" pitchFamily="34" charset="0"/>
                <a:ea typeface="Helvetica Neue" pitchFamily="34" charset="-122"/>
                <a:cs typeface="Helvetica Neue" pitchFamily="34" charset="-120"/>
              </a:rPr>
              <a:t>Design</a:t>
            </a:r>
            <a:endParaRPr lang="en-US" sz="1600" dirty="0"/>
          </a:p>
        </p:txBody>
      </p:sp>
      <p:sp>
        <p:nvSpPr>
          <p:cNvPr id="3" name="Text 1"/>
          <p:cNvSpPr txBox="1"/>
          <p:nvPr/>
        </p:nvSpPr>
        <p:spPr>
          <a:xfrm>
            <a:off x="685800" y="822960"/>
            <a:ext cx="10789920" cy="868680"/>
          </a:xfrm>
          <a:prstGeom prst="rect">
            <a:avLst/>
          </a:prstGeom>
          <a:noFill/>
          <a:ln/>
        </p:spPr>
        <p:txBody>
          <a:bodyPr wrap="square" lIns="0" tIns="0" rIns="0" bIns="0" rtlCol="0" anchor="t"/>
          <a:lstStyle/>
          <a:p>
            <a:pPr algn="ctr" indent="0" marL="0">
              <a:lnSpc>
                <a:spcPct val="92000"/>
              </a:lnSpc>
              <a:buNone/>
            </a:pPr>
            <a:r>
              <a:rPr lang="en-US" sz="4800" b="1" dirty="0">
                <a:solidFill>
                  <a:srgbClr val="FFFFFF"/>
                </a:solidFill>
                <a:latin typeface="Helvetica Neue" pitchFamily="34" charset="0"/>
                <a:ea typeface="Helvetica Neue" pitchFamily="34" charset="-122"/>
                <a:cs typeface="Helvetica Neue" pitchFamily="34" charset="-120"/>
              </a:rPr>
              <a:t>The wearable.</a:t>
            </a:r>
            <a:endParaRPr lang="en-US" sz="4800" dirty="0"/>
          </a:p>
        </p:txBody>
      </p:sp>
      <p:pic>
        <p:nvPicPr>
          <p:cNvPr id="4" name="Image 0" descr="/home/user/teetomivV2/science-fair/night-signal/slides/assets/hero_black.jpg">    </p:cNvPr>
          <p:cNvPicPr>
            <a:picLocks noChangeAspect="1"/>
          </p:cNvPicPr>
          <p:nvPr/>
        </p:nvPicPr>
        <p:blipFill>
          <a:blip r:embed="rId1"/>
          <a:stretch>
            <a:fillRect/>
          </a:stretch>
        </p:blipFill>
        <p:spPr>
          <a:xfrm>
            <a:off x="2366769" y="1783080"/>
            <a:ext cx="3342837" cy="3154680"/>
          </a:xfrm>
          <a:prstGeom prst="rect">
            <a:avLst/>
          </a:prstGeom>
        </p:spPr>
      </p:pic>
      <p:pic>
        <p:nvPicPr>
          <p:cNvPr id="5" name="Image 1" descr="/home/user/teetomivV2/science-fair/night-signal/slides/assets/exploded_black.jpg">    </p:cNvPr>
          <p:cNvPicPr>
            <a:picLocks noChangeAspect="1"/>
          </p:cNvPicPr>
          <p:nvPr/>
        </p:nvPicPr>
        <p:blipFill>
          <a:blip r:embed="rId2"/>
          <a:stretch>
            <a:fillRect/>
          </a:stretch>
        </p:blipFill>
        <p:spPr>
          <a:xfrm>
            <a:off x="6532566" y="1783080"/>
            <a:ext cx="3292361" cy="3154680"/>
          </a:xfrm>
          <a:prstGeom prst="rect">
            <a:avLst/>
          </a:prstGeom>
        </p:spPr>
      </p:pic>
      <p:sp>
        <p:nvSpPr>
          <p:cNvPr id="6" name="Text 2"/>
          <p:cNvSpPr txBox="1"/>
          <p:nvPr/>
        </p:nvSpPr>
        <p:spPr>
          <a:xfrm>
            <a:off x="2092449" y="4983480"/>
            <a:ext cx="3891477" cy="274320"/>
          </a:xfrm>
          <a:prstGeom prst="rect">
            <a:avLst/>
          </a:prstGeom>
          <a:noFill/>
          <a:ln/>
        </p:spPr>
        <p:txBody>
          <a:bodyPr wrap="square" lIns="0" tIns="0" rIns="0" bIns="0" rtlCol="0" anchor="t"/>
          <a:lstStyle/>
          <a:p>
            <a:pPr algn="ctr" indent="0" marL="0">
              <a:buNone/>
            </a:pPr>
            <a:r>
              <a:rPr lang="en-US" sz="1200" dirty="0">
                <a:solidFill>
                  <a:srgbClr val="86868B"/>
                </a:solidFill>
                <a:latin typeface="Helvetica Neue" pitchFamily="34" charset="0"/>
                <a:ea typeface="Helvetica Neue" pitchFamily="34" charset="-122"/>
                <a:cs typeface="Helvetica Neue" pitchFamily="34" charset="-120"/>
              </a:rPr>
              <a:t>v2 design: sealed case on a velcro strap</a:t>
            </a:r>
            <a:endParaRPr lang="en-US" sz="1200" dirty="0"/>
          </a:p>
        </p:txBody>
      </p:sp>
      <p:sp>
        <p:nvSpPr>
          <p:cNvPr id="7" name="Text 3"/>
          <p:cNvSpPr txBox="1"/>
          <p:nvPr/>
        </p:nvSpPr>
        <p:spPr>
          <a:xfrm>
            <a:off x="6258246" y="4983480"/>
            <a:ext cx="3841001" cy="274320"/>
          </a:xfrm>
          <a:prstGeom prst="rect">
            <a:avLst/>
          </a:prstGeom>
          <a:noFill/>
          <a:ln/>
        </p:spPr>
        <p:txBody>
          <a:bodyPr wrap="square" lIns="0" tIns="0" rIns="0" bIns="0" rtlCol="0" anchor="t"/>
          <a:lstStyle/>
          <a:p>
            <a:pPr algn="ctr" indent="0" marL="0">
              <a:buNone/>
            </a:pPr>
            <a:r>
              <a:rPr lang="en-US" sz="1200" dirty="0">
                <a:solidFill>
                  <a:srgbClr val="86868B"/>
                </a:solidFill>
                <a:latin typeface="Helvetica Neue" pitchFamily="34" charset="0"/>
                <a:ea typeface="Helvetica Neue" pitchFamily="34" charset="-122"/>
                <a:cs typeface="Helvetica Neue" pitchFamily="34" charset="-120"/>
              </a:rPr>
              <a:t>Exploded: every v2 part at its real size</a:t>
            </a:r>
            <a:endParaRPr lang="en-US" sz="1200" dirty="0"/>
          </a:p>
        </p:txBody>
      </p:sp>
      <p:sp>
        <p:nvSpPr>
          <p:cNvPr id="8" name="Text 4"/>
          <p:cNvSpPr txBox="1"/>
          <p:nvPr/>
        </p:nvSpPr>
        <p:spPr>
          <a:xfrm>
            <a:off x="685800" y="5486400"/>
            <a:ext cx="2148840" cy="411480"/>
          </a:xfrm>
          <a:prstGeom prst="rect">
            <a:avLst/>
          </a:prstGeom>
          <a:noFill/>
          <a:ln/>
        </p:spPr>
        <p:txBody>
          <a:bodyPr wrap="square" lIns="0" tIns="0" rIns="0" bIns="0" rtlCol="0" anchor="t"/>
          <a:lstStyle/>
          <a:p>
            <a:pPr indent="0" marL="0">
              <a:buNone/>
            </a:pPr>
            <a:r>
              <a:rPr lang="en-US" sz="2200" b="1" dirty="0">
                <a:solidFill>
                  <a:srgbClr val="FFFFFF"/>
                </a:solidFill>
                <a:latin typeface="Helvetica Neue" pitchFamily="34" charset="0"/>
                <a:ea typeface="Helvetica Neue" pitchFamily="34" charset="-122"/>
                <a:cs typeface="Helvetica Neue" pitchFamily="34" charset="-120"/>
              </a:rPr>
              <a:t>Prototype v1</a:t>
            </a:r>
            <a:endParaRPr lang="en-US" sz="2200" dirty="0"/>
          </a:p>
        </p:txBody>
      </p:sp>
      <p:sp>
        <p:nvSpPr>
          <p:cNvPr id="9" name="Text 5"/>
          <p:cNvSpPr txBox="1"/>
          <p:nvPr/>
        </p:nvSpPr>
        <p:spPr>
          <a:xfrm>
            <a:off x="685800" y="5916168"/>
            <a:ext cx="2148840" cy="274320"/>
          </a:xfrm>
          <a:prstGeom prst="rect">
            <a:avLst/>
          </a:prstGeom>
          <a:noFill/>
          <a:ln/>
        </p:spPr>
        <p:txBody>
          <a:bodyPr wrap="square" lIns="0" tIns="0" rIns="0" bIns="0" rtlCol="0" anchor="t"/>
          <a:lstStyle/>
          <a:p>
            <a:pPr indent="0" marL="0">
              <a:buNone/>
            </a:pPr>
            <a:r>
              <a:rPr lang="en-US" sz="1300" dirty="0">
                <a:solidFill>
                  <a:srgbClr val="86868B"/>
                </a:solidFill>
                <a:latin typeface="Helvetica Neue" pitchFamily="34" charset="0"/>
                <a:ea typeface="Helvetica Neue" pitchFamily="34" charset="-122"/>
                <a:cs typeface="Helvetica Neue" pitchFamily="34" charset="-120"/>
              </a:rPr>
              <a:t>armband + plug-in wires</a:t>
            </a:r>
            <a:endParaRPr lang="en-US" sz="1300" dirty="0"/>
          </a:p>
        </p:txBody>
      </p:sp>
      <p:sp>
        <p:nvSpPr>
          <p:cNvPr id="10" name="Text 6"/>
          <p:cNvSpPr txBox="1"/>
          <p:nvPr/>
        </p:nvSpPr>
        <p:spPr>
          <a:xfrm>
            <a:off x="2926080" y="5486400"/>
            <a:ext cx="2148840" cy="411480"/>
          </a:xfrm>
          <a:prstGeom prst="rect">
            <a:avLst/>
          </a:prstGeom>
          <a:noFill/>
          <a:ln/>
        </p:spPr>
        <p:txBody>
          <a:bodyPr wrap="square" lIns="0" tIns="0" rIns="0" bIns="0" rtlCol="0" anchor="t"/>
          <a:lstStyle/>
          <a:p>
            <a:pPr indent="0" marL="0">
              <a:buNone/>
            </a:pPr>
            <a:r>
              <a:rPr lang="en-US" sz="2200" b="1" dirty="0">
                <a:solidFill>
                  <a:srgbClr val="FFFFFF"/>
                </a:solidFill>
                <a:latin typeface="Helvetica Neue" pitchFamily="34" charset="0"/>
                <a:ea typeface="Helvetica Neue" pitchFamily="34" charset="-122"/>
                <a:cs typeface="Helvetica Neue" pitchFamily="34" charset="-120"/>
              </a:rPr>
              <a:t>All night</a:t>
            </a:r>
            <a:endParaRPr lang="en-US" sz="2200" dirty="0"/>
          </a:p>
        </p:txBody>
      </p:sp>
      <p:sp>
        <p:nvSpPr>
          <p:cNvPr id="11" name="Text 7"/>
          <p:cNvSpPr txBox="1"/>
          <p:nvPr/>
        </p:nvSpPr>
        <p:spPr>
          <a:xfrm>
            <a:off x="2926080" y="5916168"/>
            <a:ext cx="2148840" cy="274320"/>
          </a:xfrm>
          <a:prstGeom prst="rect">
            <a:avLst/>
          </a:prstGeom>
          <a:noFill/>
          <a:ln/>
        </p:spPr>
        <p:txBody>
          <a:bodyPr wrap="square" lIns="0" tIns="0" rIns="0" bIns="0" rtlCol="0" anchor="t"/>
          <a:lstStyle/>
          <a:p>
            <a:pPr indent="0" marL="0">
              <a:buNone/>
            </a:pPr>
            <a:r>
              <a:rPr lang="en-US" sz="1300" dirty="0">
                <a:solidFill>
                  <a:srgbClr val="86868B"/>
                </a:solidFill>
                <a:latin typeface="Helvetica Neue" pitchFamily="34" charset="0"/>
                <a:ea typeface="Helvetica Neue" pitchFamily="34" charset="-122"/>
                <a:cs typeface="Helvetica Neue" pitchFamily="34" charset="-120"/>
              </a:rPr>
              <a:t>USB power</a:t>
            </a:r>
            <a:endParaRPr lang="en-US" sz="1300" dirty="0"/>
          </a:p>
        </p:txBody>
      </p:sp>
      <p:sp>
        <p:nvSpPr>
          <p:cNvPr id="12" name="Text 8"/>
          <p:cNvSpPr txBox="1"/>
          <p:nvPr/>
        </p:nvSpPr>
        <p:spPr>
          <a:xfrm>
            <a:off x="5166360" y="5486400"/>
            <a:ext cx="2148840" cy="411480"/>
          </a:xfrm>
          <a:prstGeom prst="rect">
            <a:avLst/>
          </a:prstGeom>
          <a:noFill/>
          <a:ln/>
        </p:spPr>
        <p:txBody>
          <a:bodyPr wrap="square" lIns="0" tIns="0" rIns="0" bIns="0" rtlCol="0" anchor="t"/>
          <a:lstStyle/>
          <a:p>
            <a:pPr indent="0" marL="0">
              <a:buNone/>
            </a:pPr>
            <a:r>
              <a:rPr lang="en-US" sz="2200" b="1" dirty="0">
                <a:solidFill>
                  <a:srgbClr val="FFFFFF"/>
                </a:solidFill>
                <a:latin typeface="Helvetica Neue" pitchFamily="34" charset="0"/>
                <a:ea typeface="Helvetica Neue" pitchFamily="34" charset="-122"/>
                <a:cs typeface="Helvetica Neue" pitchFamily="34" charset="-120"/>
              </a:rPr>
              <a:t>14 × 14 mm</a:t>
            </a:r>
            <a:endParaRPr lang="en-US" sz="2200" dirty="0"/>
          </a:p>
        </p:txBody>
      </p:sp>
      <p:sp>
        <p:nvSpPr>
          <p:cNvPr id="13" name="Text 9"/>
          <p:cNvSpPr txBox="1"/>
          <p:nvPr/>
        </p:nvSpPr>
        <p:spPr>
          <a:xfrm>
            <a:off x="5166360" y="5916168"/>
            <a:ext cx="2148840" cy="274320"/>
          </a:xfrm>
          <a:prstGeom prst="rect">
            <a:avLst/>
          </a:prstGeom>
          <a:noFill/>
          <a:ln/>
        </p:spPr>
        <p:txBody>
          <a:bodyPr wrap="square" lIns="0" tIns="0" rIns="0" bIns="0" rtlCol="0" anchor="t"/>
          <a:lstStyle/>
          <a:p>
            <a:pPr indent="0" marL="0">
              <a:buNone/>
            </a:pPr>
            <a:r>
              <a:rPr lang="en-US" sz="1300" dirty="0">
                <a:solidFill>
                  <a:srgbClr val="86868B"/>
                </a:solidFill>
                <a:latin typeface="Helvetica Neue" pitchFamily="34" charset="0"/>
                <a:ea typeface="Helvetica Neue" pitchFamily="34" charset="-122"/>
                <a:cs typeface="Helvetica Neue" pitchFamily="34" charset="-120"/>
              </a:rPr>
              <a:t>finger sensor</a:t>
            </a:r>
            <a:endParaRPr lang="en-US" sz="1300" dirty="0"/>
          </a:p>
        </p:txBody>
      </p:sp>
      <p:sp>
        <p:nvSpPr>
          <p:cNvPr id="14" name="Text 10"/>
          <p:cNvSpPr txBox="1"/>
          <p:nvPr/>
        </p:nvSpPr>
        <p:spPr>
          <a:xfrm>
            <a:off x="7406640" y="5486400"/>
            <a:ext cx="2148840" cy="411480"/>
          </a:xfrm>
          <a:prstGeom prst="rect">
            <a:avLst/>
          </a:prstGeom>
          <a:noFill/>
          <a:ln/>
        </p:spPr>
        <p:txBody>
          <a:bodyPr wrap="square" lIns="0" tIns="0" rIns="0" bIns="0" rtlCol="0" anchor="t"/>
          <a:lstStyle/>
          <a:p>
            <a:pPr indent="0" marL="0">
              <a:buNone/>
            </a:pPr>
            <a:r>
              <a:rPr lang="en-US" sz="2200" b="1" dirty="0">
                <a:solidFill>
                  <a:srgbClr val="FFFFFF"/>
                </a:solidFill>
                <a:latin typeface="Helvetica Neue" pitchFamily="34" charset="0"/>
                <a:ea typeface="Helvetica Neue" pitchFamily="34" charset="-122"/>
                <a:cs typeface="Helvetica Neue" pitchFamily="34" charset="-120"/>
              </a:rPr>
              <a:t>1 / second</a:t>
            </a:r>
            <a:endParaRPr lang="en-US" sz="2200" dirty="0"/>
          </a:p>
        </p:txBody>
      </p:sp>
      <p:sp>
        <p:nvSpPr>
          <p:cNvPr id="15" name="Text 11"/>
          <p:cNvSpPr txBox="1"/>
          <p:nvPr/>
        </p:nvSpPr>
        <p:spPr>
          <a:xfrm>
            <a:off x="7406640" y="5916168"/>
            <a:ext cx="2148840" cy="274320"/>
          </a:xfrm>
          <a:prstGeom prst="rect">
            <a:avLst/>
          </a:prstGeom>
          <a:noFill/>
          <a:ln/>
        </p:spPr>
        <p:txBody>
          <a:bodyPr wrap="square" lIns="0" tIns="0" rIns="0" bIns="0" rtlCol="0" anchor="t"/>
          <a:lstStyle/>
          <a:p>
            <a:pPr indent="0" marL="0">
              <a:buNone/>
            </a:pPr>
            <a:r>
              <a:rPr lang="en-US" sz="1300" dirty="0">
                <a:solidFill>
                  <a:srgbClr val="86868B"/>
                </a:solidFill>
                <a:latin typeface="Helvetica Neue" pitchFamily="34" charset="0"/>
                <a:ea typeface="Helvetica Neue" pitchFamily="34" charset="-122"/>
                <a:cs typeface="Helvetica Neue" pitchFamily="34" charset="-120"/>
              </a:rPr>
              <a:t>readings</a:t>
            </a:r>
            <a:endParaRPr lang="en-US" sz="1300" dirty="0"/>
          </a:p>
        </p:txBody>
      </p:sp>
      <p:sp>
        <p:nvSpPr>
          <p:cNvPr id="16" name="Shape 12"/>
          <p:cNvSpPr/>
          <p:nvPr/>
        </p:nvSpPr>
        <p:spPr>
          <a:xfrm>
            <a:off x="10552176" y="5367528"/>
            <a:ext cx="1014984" cy="1014984"/>
          </a:xfrm>
          <a:prstGeom prst="roundRect">
            <a:avLst>
              <a:gd name="adj" fmla="val 19820"/>
            </a:avLst>
          </a:prstGeom>
          <a:solidFill>
            <a:srgbClr val="FFFFFF"/>
          </a:solidFill>
          <a:ln/>
        </p:spPr>
      </p:sp>
      <p:pic>
        <p:nvPicPr>
          <p:cNvPr id="17" name="Image 2" descr="/home/user/teetomivV2/science-fair/night-signal/slides/assets/qr_3d.png">
            <a:hlinkClick r:id="rId4" tooltip="https://gabrielamamanestudent-wq.github.io/teetomivV2/science-fair/night-signal/app/3d.html"/>
          </p:cNvPr>
          <p:cNvPicPr>
            <a:picLocks noChangeAspect="1"/>
          </p:cNvPicPr>
          <p:nvPr/>
        </p:nvPicPr>
        <p:blipFill>
          <a:blip r:embed="rId3"/>
          <a:stretch>
            <a:fillRect/>
          </a:stretch>
        </p:blipFill>
        <p:spPr>
          <a:xfrm>
            <a:off x="10625328" y="5440680"/>
            <a:ext cx="868680" cy="868680"/>
          </a:xfrm>
          <a:prstGeom prst="rect">
            <a:avLst/>
          </a:prstGeom>
        </p:spPr>
      </p:pic>
      <p:sp>
        <p:nvSpPr>
          <p:cNvPr id="18" name="Text 13"/>
          <p:cNvSpPr txBox="1"/>
          <p:nvPr/>
        </p:nvSpPr>
        <p:spPr>
          <a:xfrm>
            <a:off x="9235440" y="5715000"/>
            <a:ext cx="1280160" cy="310896"/>
          </a:xfrm>
          <a:prstGeom prst="rect">
            <a:avLst/>
          </a:prstGeom>
          <a:noFill/>
          <a:ln/>
        </p:spPr>
        <p:txBody>
          <a:bodyPr wrap="square" lIns="0" tIns="0" rIns="0" bIns="0" rtlCol="0" anchor="ctr"/>
          <a:lstStyle/>
          <a:p>
            <a:pPr algn="r" indent="0" marL="0">
              <a:buNone/>
            </a:pPr>
            <a:r>
              <a:rPr lang="en-US" sz="1300" u="sng" dirty="0">
                <a:solidFill>
                  <a:srgbClr val="2997FF"/>
                </a:solidFill>
                <a:latin typeface="Helvetica Neue" pitchFamily="34" charset="0"/>
                <a:ea typeface="Helvetica Neue" pitchFamily="34" charset="-122"/>
                <a:cs typeface="Helvetica Neue" pitchFamily="34" charset="-120"/>
                <a:hlinkClick r:id="rId5" invalidUrl="" action="" tgtFrame="" tooltip="https://gabrielamamanestudent-wq.github.io/teetomivV2/science-fair/night-signal/app/3d.html" history="1" highlightClick="0" endSnd="0">
                  <a:extLst>
                    <a:ext uri="{A12FA001-AC4F-418D-AE19-62706E023703}">
                      <ahyp:hlinkClr xmlns:ahyp="http://schemas.microsoft.com/office/drawing/2018/hyperlinkcolor" val="tx"/>
                    </a:ext>
                  </a:extLst>
                </a:hlinkClick>
              </a:rPr>
              <a:t>Interactive 3D ›</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85800" y="502920"/>
            <a:ext cx="10789920" cy="320040"/>
          </a:xfrm>
          <a:prstGeom prst="rect">
            <a:avLst/>
          </a:prstGeom>
          <a:noFill/>
          <a:ln/>
        </p:spPr>
        <p:txBody>
          <a:bodyPr wrap="square" lIns="0" tIns="0" rIns="0" bIns="0" rtlCol="0" anchor="t"/>
          <a:lstStyle/>
          <a:p>
            <a:pPr indent="0" marL="0">
              <a:buNone/>
            </a:pPr>
            <a:r>
              <a:rPr lang="en-US" sz="1600" b="1" dirty="0">
                <a:solidFill>
                  <a:srgbClr val="E3254B"/>
                </a:solidFill>
                <a:latin typeface="Helvetica Neue" pitchFamily="34" charset="0"/>
                <a:ea typeface="Helvetica Neue" pitchFamily="34" charset="-122"/>
                <a:cs typeface="Helvetica Neue" pitchFamily="34" charset="-120"/>
              </a:rPr>
              <a:t>How it works</a:t>
            </a:r>
            <a:endParaRPr lang="en-US" sz="1600" dirty="0"/>
          </a:p>
        </p:txBody>
      </p:sp>
      <p:sp>
        <p:nvSpPr>
          <p:cNvPr id="3" name="Text 1"/>
          <p:cNvSpPr txBox="1"/>
          <p:nvPr/>
        </p:nvSpPr>
        <p:spPr>
          <a:xfrm>
            <a:off x="685800" y="841248"/>
            <a:ext cx="10789920" cy="868680"/>
          </a:xfrm>
          <a:prstGeom prst="rect">
            <a:avLst/>
          </a:prstGeom>
          <a:noFill/>
          <a:ln/>
        </p:spPr>
        <p:txBody>
          <a:bodyPr wrap="square" lIns="0" tIns="0" rIns="0" bIns="0" rtlCol="0" anchor="t"/>
          <a:lstStyle/>
          <a:p>
            <a:pPr indent="0" marL="0">
              <a:lnSpc>
                <a:spcPct val="92000"/>
              </a:lnSpc>
              <a:buNone/>
            </a:pPr>
            <a:r>
              <a:rPr lang="en-US" sz="4000" b="1" dirty="0">
                <a:solidFill>
                  <a:srgbClr val="1D1D1F"/>
                </a:solidFill>
                <a:latin typeface="Helvetica Neue" pitchFamily="34" charset="0"/>
                <a:ea typeface="Helvetica Neue" pitchFamily="34" charset="-122"/>
                <a:cs typeface="Helvetica Neue" pitchFamily="34" charset="-120"/>
              </a:rPr>
              <a:t>From fingertip to sleep report.</a:t>
            </a:r>
            <a:endParaRPr lang="en-US" sz="4000" dirty="0"/>
          </a:p>
        </p:txBody>
      </p:sp>
      <p:sp>
        <p:nvSpPr>
          <p:cNvPr id="4" name="Shape 2"/>
          <p:cNvSpPr/>
          <p:nvPr/>
        </p:nvSpPr>
        <p:spPr>
          <a:xfrm>
            <a:off x="685800" y="1920240"/>
            <a:ext cx="2542032" cy="1417320"/>
          </a:xfrm>
          <a:prstGeom prst="roundRect">
            <a:avLst>
              <a:gd name="adj" fmla="val 14194"/>
            </a:avLst>
          </a:prstGeom>
          <a:solidFill>
            <a:srgbClr val="F5F5F7"/>
          </a:solidFill>
          <a:ln/>
        </p:spPr>
      </p:sp>
      <p:sp>
        <p:nvSpPr>
          <p:cNvPr id="5" name="Text 3"/>
          <p:cNvSpPr txBox="1"/>
          <p:nvPr/>
        </p:nvSpPr>
        <p:spPr>
          <a:xfrm>
            <a:off x="941832" y="2103120"/>
            <a:ext cx="2103120" cy="274320"/>
          </a:xfrm>
          <a:prstGeom prst="rect">
            <a:avLst/>
          </a:prstGeom>
          <a:noFill/>
          <a:ln/>
        </p:spPr>
        <p:txBody>
          <a:bodyPr wrap="square" lIns="0" tIns="0" rIns="0" bIns="0" rtlCol="0" anchor="t"/>
          <a:lstStyle/>
          <a:p>
            <a:pPr indent="0" marL="0">
              <a:buNone/>
            </a:pPr>
            <a:r>
              <a:rPr lang="en-US" sz="1300" b="1" dirty="0">
                <a:solidFill>
                  <a:srgbClr val="0071E3"/>
                </a:solidFill>
                <a:latin typeface="Helvetica Neue" pitchFamily="34" charset="0"/>
                <a:ea typeface="Helvetica Neue" pitchFamily="34" charset="-122"/>
                <a:cs typeface="Helvetica Neue" pitchFamily="34" charset="-120"/>
              </a:rPr>
              <a:t>01</a:t>
            </a:r>
            <a:endParaRPr lang="en-US" sz="1300" dirty="0"/>
          </a:p>
        </p:txBody>
      </p:sp>
      <p:sp>
        <p:nvSpPr>
          <p:cNvPr id="6" name="Text 4"/>
          <p:cNvSpPr txBox="1"/>
          <p:nvPr/>
        </p:nvSpPr>
        <p:spPr>
          <a:xfrm>
            <a:off x="941832" y="2395728"/>
            <a:ext cx="2103120" cy="365760"/>
          </a:xfrm>
          <a:prstGeom prst="rect">
            <a:avLst/>
          </a:prstGeom>
          <a:noFill/>
          <a:ln/>
        </p:spPr>
        <p:txBody>
          <a:bodyPr wrap="square" lIns="0" tIns="0" rIns="0" bIns="0" rtlCol="0" anchor="t"/>
          <a:lstStyle/>
          <a:p>
            <a:pPr indent="0" marL="0">
              <a:buNone/>
            </a:pPr>
            <a:r>
              <a:rPr lang="en-US" sz="1700" b="1" dirty="0">
                <a:solidFill>
                  <a:srgbClr val="1D1D1F"/>
                </a:solidFill>
                <a:latin typeface="Helvetica Neue" pitchFamily="34" charset="0"/>
                <a:ea typeface="Helvetica Neue" pitchFamily="34" charset="-122"/>
                <a:cs typeface="Helvetica Neue" pitchFamily="34" charset="-120"/>
              </a:rPr>
              <a:t>Finger sensor</a:t>
            </a:r>
            <a:endParaRPr lang="en-US" sz="1700" dirty="0"/>
          </a:p>
        </p:txBody>
      </p:sp>
      <p:sp>
        <p:nvSpPr>
          <p:cNvPr id="7" name="Text 5"/>
          <p:cNvSpPr txBox="1"/>
          <p:nvPr/>
        </p:nvSpPr>
        <p:spPr>
          <a:xfrm>
            <a:off x="941832" y="2770632"/>
            <a:ext cx="2103120" cy="502920"/>
          </a:xfrm>
          <a:prstGeom prst="rect">
            <a:avLst/>
          </a:prstGeom>
          <a:noFill/>
          <a:ln/>
        </p:spPr>
        <p:txBody>
          <a:bodyPr wrap="square" lIns="0" tIns="0" rIns="0" bIns="0" rtlCol="0" anchor="t"/>
          <a:lstStyle/>
          <a:p>
            <a:pPr indent="0" marL="0">
              <a:buNone/>
            </a:pPr>
            <a:r>
              <a:rPr lang="en-US" sz="1250" dirty="0">
                <a:solidFill>
                  <a:srgbClr val="6E6E73"/>
                </a:solidFill>
                <a:latin typeface="Helvetica Neue" pitchFamily="34" charset="0"/>
                <a:ea typeface="Helvetica Neue" pitchFamily="34" charset="-122"/>
                <a:cs typeface="Helvetica Neue" pitchFamily="34" charset="-120"/>
              </a:rPr>
              <a:t>MAX30102 · red + infrared light</a:t>
            </a:r>
            <a:endParaRPr lang="en-US" sz="1250" dirty="0"/>
          </a:p>
        </p:txBody>
      </p:sp>
      <p:sp>
        <p:nvSpPr>
          <p:cNvPr id="8" name="Shape 6"/>
          <p:cNvSpPr/>
          <p:nvPr/>
        </p:nvSpPr>
        <p:spPr>
          <a:xfrm>
            <a:off x="3429000" y="1920240"/>
            <a:ext cx="2542032" cy="1417320"/>
          </a:xfrm>
          <a:prstGeom prst="roundRect">
            <a:avLst>
              <a:gd name="adj" fmla="val 14194"/>
            </a:avLst>
          </a:prstGeom>
          <a:solidFill>
            <a:srgbClr val="F5F5F7"/>
          </a:solidFill>
          <a:ln/>
        </p:spPr>
      </p:sp>
      <p:sp>
        <p:nvSpPr>
          <p:cNvPr id="9" name="Text 7"/>
          <p:cNvSpPr txBox="1"/>
          <p:nvPr/>
        </p:nvSpPr>
        <p:spPr>
          <a:xfrm>
            <a:off x="3685032" y="2103120"/>
            <a:ext cx="2103120" cy="274320"/>
          </a:xfrm>
          <a:prstGeom prst="rect">
            <a:avLst/>
          </a:prstGeom>
          <a:noFill/>
          <a:ln/>
        </p:spPr>
        <p:txBody>
          <a:bodyPr wrap="square" lIns="0" tIns="0" rIns="0" bIns="0" rtlCol="0" anchor="t"/>
          <a:lstStyle/>
          <a:p>
            <a:pPr indent="0" marL="0">
              <a:buNone/>
            </a:pPr>
            <a:r>
              <a:rPr lang="en-US" sz="1300" b="1" dirty="0">
                <a:solidFill>
                  <a:srgbClr val="0071E3"/>
                </a:solidFill>
                <a:latin typeface="Helvetica Neue" pitchFamily="34" charset="0"/>
                <a:ea typeface="Helvetica Neue" pitchFamily="34" charset="-122"/>
                <a:cs typeface="Helvetica Neue" pitchFamily="34" charset="-120"/>
              </a:rPr>
              <a:t>02</a:t>
            </a:r>
            <a:endParaRPr lang="en-US" sz="1300" dirty="0"/>
          </a:p>
        </p:txBody>
      </p:sp>
      <p:sp>
        <p:nvSpPr>
          <p:cNvPr id="10" name="Text 8"/>
          <p:cNvSpPr txBox="1"/>
          <p:nvPr/>
        </p:nvSpPr>
        <p:spPr>
          <a:xfrm>
            <a:off x="3685032" y="2395728"/>
            <a:ext cx="2103120" cy="365760"/>
          </a:xfrm>
          <a:prstGeom prst="rect">
            <a:avLst/>
          </a:prstGeom>
          <a:noFill/>
          <a:ln/>
        </p:spPr>
        <p:txBody>
          <a:bodyPr wrap="square" lIns="0" tIns="0" rIns="0" bIns="0" rtlCol="0" anchor="t"/>
          <a:lstStyle/>
          <a:p>
            <a:pPr indent="0" marL="0">
              <a:buNone/>
            </a:pPr>
            <a:r>
              <a:rPr lang="en-US" sz="1700" b="1" dirty="0">
                <a:solidFill>
                  <a:srgbClr val="1D1D1F"/>
                </a:solidFill>
                <a:latin typeface="Helvetica Neue" pitchFamily="34" charset="0"/>
                <a:ea typeface="Helvetica Neue" pitchFamily="34" charset="-122"/>
                <a:cs typeface="Helvetica Neue" pitchFamily="34" charset="-120"/>
              </a:rPr>
              <a:t>ESP32 on the arm</a:t>
            </a:r>
            <a:endParaRPr lang="en-US" sz="1700" dirty="0"/>
          </a:p>
        </p:txBody>
      </p:sp>
      <p:sp>
        <p:nvSpPr>
          <p:cNvPr id="11" name="Text 9"/>
          <p:cNvSpPr txBox="1"/>
          <p:nvPr/>
        </p:nvSpPr>
        <p:spPr>
          <a:xfrm>
            <a:off x="3685032" y="2770632"/>
            <a:ext cx="2103120" cy="502920"/>
          </a:xfrm>
          <a:prstGeom prst="rect">
            <a:avLst/>
          </a:prstGeom>
          <a:noFill/>
          <a:ln/>
        </p:spPr>
        <p:txBody>
          <a:bodyPr wrap="square" lIns="0" tIns="0" rIns="0" bIns="0" rtlCol="0" anchor="t"/>
          <a:lstStyle/>
          <a:p>
            <a:pPr indent="0" marL="0">
              <a:buNone/>
            </a:pPr>
            <a:r>
              <a:rPr lang="en-US" sz="1250" dirty="0">
                <a:solidFill>
                  <a:srgbClr val="6E6E73"/>
                </a:solidFill>
                <a:latin typeface="Helvetica Neue" pitchFamily="34" charset="0"/>
                <a:ea typeface="Helvetica Neue" pitchFamily="34" charset="-122"/>
                <a:cs typeface="Helvetica Neue" pitchFamily="34" charset="-120"/>
              </a:rPr>
              <a:t>computes SpO₂ + pulse, reads position</a:t>
            </a:r>
            <a:endParaRPr lang="en-US" sz="1250" dirty="0"/>
          </a:p>
        </p:txBody>
      </p:sp>
      <p:sp>
        <p:nvSpPr>
          <p:cNvPr id="12" name="Shape 10"/>
          <p:cNvSpPr/>
          <p:nvPr/>
        </p:nvSpPr>
        <p:spPr>
          <a:xfrm>
            <a:off x="6172200" y="1920240"/>
            <a:ext cx="2542032" cy="1417320"/>
          </a:xfrm>
          <a:prstGeom prst="roundRect">
            <a:avLst>
              <a:gd name="adj" fmla="val 14194"/>
            </a:avLst>
          </a:prstGeom>
          <a:solidFill>
            <a:srgbClr val="F5F5F7"/>
          </a:solidFill>
          <a:ln/>
        </p:spPr>
      </p:sp>
      <p:sp>
        <p:nvSpPr>
          <p:cNvPr id="13" name="Text 11"/>
          <p:cNvSpPr txBox="1"/>
          <p:nvPr/>
        </p:nvSpPr>
        <p:spPr>
          <a:xfrm>
            <a:off x="6428232" y="2103120"/>
            <a:ext cx="2103120" cy="274320"/>
          </a:xfrm>
          <a:prstGeom prst="rect">
            <a:avLst/>
          </a:prstGeom>
          <a:noFill/>
          <a:ln/>
        </p:spPr>
        <p:txBody>
          <a:bodyPr wrap="square" lIns="0" tIns="0" rIns="0" bIns="0" rtlCol="0" anchor="t"/>
          <a:lstStyle/>
          <a:p>
            <a:pPr indent="0" marL="0">
              <a:buNone/>
            </a:pPr>
            <a:r>
              <a:rPr lang="en-US" sz="1300" b="1" dirty="0">
                <a:solidFill>
                  <a:srgbClr val="0071E3"/>
                </a:solidFill>
                <a:latin typeface="Helvetica Neue" pitchFamily="34" charset="0"/>
                <a:ea typeface="Helvetica Neue" pitchFamily="34" charset="-122"/>
                <a:cs typeface="Helvetica Neue" pitchFamily="34" charset="-120"/>
              </a:rPr>
              <a:t>03</a:t>
            </a:r>
            <a:endParaRPr lang="en-US" sz="1300" dirty="0"/>
          </a:p>
        </p:txBody>
      </p:sp>
      <p:sp>
        <p:nvSpPr>
          <p:cNvPr id="14" name="Text 12"/>
          <p:cNvSpPr txBox="1"/>
          <p:nvPr/>
        </p:nvSpPr>
        <p:spPr>
          <a:xfrm>
            <a:off x="6428232" y="2395728"/>
            <a:ext cx="2103120" cy="365760"/>
          </a:xfrm>
          <a:prstGeom prst="rect">
            <a:avLst/>
          </a:prstGeom>
          <a:noFill/>
          <a:ln/>
        </p:spPr>
        <p:txBody>
          <a:bodyPr wrap="square" lIns="0" tIns="0" rIns="0" bIns="0" rtlCol="0" anchor="t"/>
          <a:lstStyle/>
          <a:p>
            <a:pPr indent="0" marL="0">
              <a:buNone/>
            </a:pPr>
            <a:r>
              <a:rPr lang="en-US" sz="1700" b="1" dirty="0">
                <a:solidFill>
                  <a:srgbClr val="1D1D1F"/>
                </a:solidFill>
                <a:latin typeface="Helvetica Neue" pitchFamily="34" charset="0"/>
                <a:ea typeface="Helvetica Neue" pitchFamily="34" charset="-122"/>
                <a:cs typeface="Helvetica Neue" pitchFamily="34" charset="-120"/>
              </a:rPr>
              <a:t>Bluetooth or USB</a:t>
            </a:r>
            <a:endParaRPr lang="en-US" sz="1700" dirty="0"/>
          </a:p>
        </p:txBody>
      </p:sp>
      <p:sp>
        <p:nvSpPr>
          <p:cNvPr id="15" name="Text 13"/>
          <p:cNvSpPr txBox="1"/>
          <p:nvPr/>
        </p:nvSpPr>
        <p:spPr>
          <a:xfrm>
            <a:off x="6428232" y="2770632"/>
            <a:ext cx="2103120" cy="502920"/>
          </a:xfrm>
          <a:prstGeom prst="rect">
            <a:avLst/>
          </a:prstGeom>
          <a:noFill/>
          <a:ln/>
        </p:spPr>
        <p:txBody>
          <a:bodyPr wrap="square" lIns="0" tIns="0" rIns="0" bIns="0" rtlCol="0" anchor="t"/>
          <a:lstStyle/>
          <a:p>
            <a:pPr indent="0" marL="0">
              <a:buNone/>
            </a:pPr>
            <a:r>
              <a:rPr lang="en-US" sz="1250" dirty="0">
                <a:solidFill>
                  <a:srgbClr val="6E6E73"/>
                </a:solidFill>
                <a:latin typeface="Helvetica Neue" pitchFamily="34" charset="0"/>
                <a:ea typeface="Helvetica Neue" pitchFamily="34" charset="-122"/>
                <a:cs typeface="Helvetica Neue" pitchFamily="34" charset="-120"/>
              </a:rPr>
              <a:t>one line of data every second</a:t>
            </a:r>
            <a:endParaRPr lang="en-US" sz="1250" dirty="0"/>
          </a:p>
        </p:txBody>
      </p:sp>
      <p:sp>
        <p:nvSpPr>
          <p:cNvPr id="16" name="Shape 14"/>
          <p:cNvSpPr/>
          <p:nvPr/>
        </p:nvSpPr>
        <p:spPr>
          <a:xfrm>
            <a:off x="8915400" y="1920240"/>
            <a:ext cx="2542032" cy="1417320"/>
          </a:xfrm>
          <a:prstGeom prst="roundRect">
            <a:avLst>
              <a:gd name="adj" fmla="val 14194"/>
            </a:avLst>
          </a:prstGeom>
          <a:solidFill>
            <a:srgbClr val="F5F5F7"/>
          </a:solidFill>
          <a:ln/>
        </p:spPr>
      </p:sp>
      <p:sp>
        <p:nvSpPr>
          <p:cNvPr id="17" name="Text 15"/>
          <p:cNvSpPr txBox="1"/>
          <p:nvPr/>
        </p:nvSpPr>
        <p:spPr>
          <a:xfrm>
            <a:off x="9171432" y="2103120"/>
            <a:ext cx="2103120" cy="274320"/>
          </a:xfrm>
          <a:prstGeom prst="rect">
            <a:avLst/>
          </a:prstGeom>
          <a:noFill/>
          <a:ln/>
        </p:spPr>
        <p:txBody>
          <a:bodyPr wrap="square" lIns="0" tIns="0" rIns="0" bIns="0" rtlCol="0" anchor="t"/>
          <a:lstStyle/>
          <a:p>
            <a:pPr indent="0" marL="0">
              <a:buNone/>
            </a:pPr>
            <a:r>
              <a:rPr lang="en-US" sz="1300" b="1" dirty="0">
                <a:solidFill>
                  <a:srgbClr val="0071E3"/>
                </a:solidFill>
                <a:latin typeface="Helvetica Neue" pitchFamily="34" charset="0"/>
                <a:ea typeface="Helvetica Neue" pitchFamily="34" charset="-122"/>
                <a:cs typeface="Helvetica Neue" pitchFamily="34" charset="-120"/>
              </a:rPr>
              <a:t>04</a:t>
            </a:r>
            <a:endParaRPr lang="en-US" sz="1300" dirty="0"/>
          </a:p>
        </p:txBody>
      </p:sp>
      <p:sp>
        <p:nvSpPr>
          <p:cNvPr id="18" name="Text 16"/>
          <p:cNvSpPr txBox="1"/>
          <p:nvPr/>
        </p:nvSpPr>
        <p:spPr>
          <a:xfrm>
            <a:off x="9171432" y="2395728"/>
            <a:ext cx="2103120" cy="365760"/>
          </a:xfrm>
          <a:prstGeom prst="rect">
            <a:avLst/>
          </a:prstGeom>
          <a:noFill/>
          <a:ln/>
        </p:spPr>
        <p:txBody>
          <a:bodyPr wrap="square" lIns="0" tIns="0" rIns="0" bIns="0" rtlCol="0" anchor="t"/>
          <a:lstStyle/>
          <a:p>
            <a:pPr indent="0" marL="0">
              <a:buNone/>
            </a:pPr>
            <a:r>
              <a:rPr lang="en-US" sz="1700" b="1" dirty="0">
                <a:solidFill>
                  <a:srgbClr val="1D1D1F"/>
                </a:solidFill>
                <a:latin typeface="Helvetica Neue" pitchFamily="34" charset="0"/>
                <a:ea typeface="Helvetica Neue" pitchFamily="34" charset="-122"/>
                <a:cs typeface="Helvetica Neue" pitchFamily="34" charset="-120"/>
              </a:rPr>
              <a:t>App + analysis</a:t>
            </a:r>
            <a:endParaRPr lang="en-US" sz="1700" dirty="0"/>
          </a:p>
        </p:txBody>
      </p:sp>
      <p:sp>
        <p:nvSpPr>
          <p:cNvPr id="19" name="Text 17"/>
          <p:cNvSpPr txBox="1"/>
          <p:nvPr/>
        </p:nvSpPr>
        <p:spPr>
          <a:xfrm>
            <a:off x="9171432" y="2770632"/>
            <a:ext cx="2103120" cy="502920"/>
          </a:xfrm>
          <a:prstGeom prst="rect">
            <a:avLst/>
          </a:prstGeom>
          <a:noFill/>
          <a:ln/>
        </p:spPr>
        <p:txBody>
          <a:bodyPr wrap="square" lIns="0" tIns="0" rIns="0" bIns="0" rtlCol="0" anchor="t"/>
          <a:lstStyle/>
          <a:p>
            <a:pPr indent="0" marL="0">
              <a:buNone/>
            </a:pPr>
            <a:r>
              <a:rPr lang="en-US" sz="1250" dirty="0">
                <a:solidFill>
                  <a:srgbClr val="6E6E73"/>
                </a:solidFill>
                <a:latin typeface="Helvetica Neue" pitchFamily="34" charset="0"/>
                <a:ea typeface="Helvetica Neue" pitchFamily="34" charset="-122"/>
                <a:cs typeface="Helvetica Neue" pitchFamily="34" charset="-120"/>
              </a:rPr>
              <a:t>events, AHI, heart, breathing</a:t>
            </a:r>
            <a:endParaRPr lang="en-US" sz="1250" dirty="0"/>
          </a:p>
        </p:txBody>
      </p:sp>
      <p:sp>
        <p:nvSpPr>
          <p:cNvPr id="20" name="Text 18"/>
          <p:cNvSpPr txBox="1"/>
          <p:nvPr/>
        </p:nvSpPr>
        <p:spPr>
          <a:xfrm>
            <a:off x="685800" y="3657600"/>
            <a:ext cx="10789920" cy="365760"/>
          </a:xfrm>
          <a:prstGeom prst="rect">
            <a:avLst/>
          </a:prstGeom>
          <a:noFill/>
          <a:ln/>
        </p:spPr>
        <p:txBody>
          <a:bodyPr wrap="square" lIns="0" tIns="0" rIns="0" bIns="0" rtlCol="0" anchor="t"/>
          <a:lstStyle/>
          <a:p>
            <a:pPr indent="0" marL="0">
              <a:buNone/>
            </a:pPr>
            <a:r>
              <a:rPr lang="en-US" sz="1700" b="1" dirty="0">
                <a:solidFill>
                  <a:srgbClr val="1D1D1F"/>
                </a:solidFill>
                <a:latin typeface="Helvetica Neue" pitchFamily="34" charset="0"/>
                <a:ea typeface="Helvetica Neue" pitchFamily="34" charset="-122"/>
                <a:cs typeface="Helvetica Neue" pitchFamily="34" charset="-120"/>
              </a:rPr>
              <a:t>A built-in self-test proves it’s working before every recording.</a:t>
            </a:r>
            <a:endParaRPr lang="en-US" sz="1700" dirty="0"/>
          </a:p>
        </p:txBody>
      </p:sp>
      <p:sp>
        <p:nvSpPr>
          <p:cNvPr id="21" name="Shape 19"/>
          <p:cNvSpPr/>
          <p:nvPr/>
        </p:nvSpPr>
        <p:spPr>
          <a:xfrm>
            <a:off x="685800" y="4133088"/>
            <a:ext cx="6400800" cy="2194560"/>
          </a:xfrm>
          <a:prstGeom prst="roundRect">
            <a:avLst>
              <a:gd name="adj" fmla="val 9167"/>
            </a:avLst>
          </a:prstGeom>
          <a:solidFill>
            <a:srgbClr val="000000"/>
          </a:solidFill>
          <a:ln/>
        </p:spPr>
      </p:sp>
      <p:sp>
        <p:nvSpPr>
          <p:cNvPr id="22" name="Text 20"/>
          <p:cNvSpPr txBox="1"/>
          <p:nvPr/>
        </p:nvSpPr>
        <p:spPr>
          <a:xfrm>
            <a:off x="960120" y="4315968"/>
            <a:ext cx="5943600" cy="1920240"/>
          </a:xfrm>
          <a:prstGeom prst="rect">
            <a:avLst/>
          </a:prstGeom>
          <a:noFill/>
          <a:ln/>
        </p:spPr>
        <p:txBody>
          <a:bodyPr wrap="square" lIns="0" tIns="0" rIns="0" bIns="0" rtlCol="0" anchor="t"/>
          <a:lstStyle/>
          <a:p>
            <a:pPr indent="0" marL="0">
              <a:spcAft>
                <a:spcPts val="300"/>
              </a:spcAft>
              <a:buNone/>
            </a:pPr>
            <a:r>
              <a:rPr lang="en-US" sz="1250" dirty="0">
                <a:solidFill>
                  <a:srgbClr val="86868B"/>
                </a:solidFill>
                <a:latin typeface="Menlo" pitchFamily="34" charset="0"/>
                <a:ea typeface="Menlo" pitchFamily="34" charset="-122"/>
                <a:cs typeface="Menlo" pitchFamily="34" charset="-120"/>
              </a:rPr>
              <a:t>$ python check_device.py --port /dev/cu.NightSignal</a:t>
            </a:r>
            <a:endParaRPr lang="en-US" sz="1250" dirty="0"/>
          </a:p>
          <a:p>
            <a:pPr indent="0" marL="0">
              <a:spcAft>
                <a:spcPts val="300"/>
              </a:spcAft>
              <a:buNone/>
            </a:pPr>
            <a:r>
              <a:rPr lang="en-US" sz="1250" dirty="0">
                <a:solidFill>
                  <a:srgbClr val="30D158"/>
                </a:solidFill>
                <a:latin typeface="Menlo" pitchFamily="34" charset="0"/>
                <a:ea typeface="Menlo" pitchFamily="34" charset="-122"/>
                <a:cs typeface="Menlo" pitchFamily="34" charset="-120"/>
              </a:rPr>
              <a:t>[PASS] Data arriving        1 reading/s</a:t>
            </a:r>
            <a:endParaRPr lang="en-US" sz="1250" dirty="0"/>
          </a:p>
          <a:p>
            <a:pPr indent="0" marL="0">
              <a:spcAft>
                <a:spcPts val="300"/>
              </a:spcAft>
              <a:buNone/>
            </a:pPr>
            <a:r>
              <a:rPr lang="en-US" sz="1250" dirty="0">
                <a:solidFill>
                  <a:srgbClr val="30D158"/>
                </a:solidFill>
                <a:latin typeface="Menlo" pitchFamily="34" charset="0"/>
                <a:ea typeface="Menlo" pitchFamily="34" charset="-122"/>
                <a:cs typeface="Menlo" pitchFamily="34" charset="-120"/>
              </a:rPr>
              <a:t>[PASS] Self-test            oxygen OK · motion OK</a:t>
            </a:r>
            <a:endParaRPr lang="en-US" sz="1250" dirty="0"/>
          </a:p>
          <a:p>
            <a:pPr indent="0" marL="0">
              <a:spcAft>
                <a:spcPts val="300"/>
              </a:spcAft>
              <a:buNone/>
            </a:pPr>
            <a:r>
              <a:rPr lang="en-US" sz="1250" dirty="0">
                <a:solidFill>
                  <a:srgbClr val="30D158"/>
                </a:solidFill>
                <a:latin typeface="Menlo" pitchFamily="34" charset="0"/>
                <a:ea typeface="Menlo" pitchFamily="34" charset="-122"/>
                <a:cs typeface="Menlo" pitchFamily="34" charset="-120"/>
              </a:rPr>
              <a:t>[PASS] Finger on sensor     100%</a:t>
            </a:r>
            <a:endParaRPr lang="en-US" sz="1250" dirty="0"/>
          </a:p>
          <a:p>
            <a:pPr indent="0" marL="0">
              <a:spcAft>
                <a:spcPts val="300"/>
              </a:spcAft>
              <a:buNone/>
            </a:pPr>
            <a:r>
              <a:rPr lang="en-US" sz="1250" dirty="0">
                <a:solidFill>
                  <a:srgbClr val="30D158"/>
                </a:solidFill>
                <a:latin typeface="Menlo" pitchFamily="34" charset="0"/>
                <a:ea typeface="Menlo" pitchFamily="34" charset="-122"/>
                <a:cs typeface="Menlo" pitchFamily="34" charset="-120"/>
              </a:rPr>
              <a:t>[PASS] Believable values    SpO2 97–98%, HR 60–64</a:t>
            </a:r>
            <a:endParaRPr lang="en-US" sz="1250" dirty="0"/>
          </a:p>
          <a:p>
            <a:pPr indent="0" marL="0">
              <a:spcAft>
                <a:spcPts val="300"/>
              </a:spcAft>
              <a:buNone/>
            </a:pPr>
            <a:r>
              <a:rPr lang="en-US" sz="1250" b="1" dirty="0">
                <a:solidFill>
                  <a:srgbClr val="FFFFFF"/>
                </a:solidFill>
                <a:latin typeface="Menlo" pitchFamily="34" charset="0"/>
                <a:ea typeface="Menlo" pitchFamily="34" charset="-122"/>
                <a:cs typeface="Menlo" pitchFamily="34" charset="-120"/>
              </a:rPr>
              <a:t>RESULT: READY — sending real data</a:t>
            </a:r>
            <a:endParaRPr lang="en-US" sz="1250" dirty="0"/>
          </a:p>
        </p:txBody>
      </p:sp>
      <p:sp>
        <p:nvSpPr>
          <p:cNvPr id="23" name="Shape 21"/>
          <p:cNvSpPr/>
          <p:nvPr/>
        </p:nvSpPr>
        <p:spPr>
          <a:xfrm>
            <a:off x="7452360" y="4303852"/>
            <a:ext cx="73152" cy="73152"/>
          </a:xfrm>
          <a:prstGeom prst="ellipse">
            <a:avLst/>
          </a:prstGeom>
          <a:solidFill>
            <a:srgbClr val="A1A1A6"/>
          </a:solidFill>
          <a:ln/>
        </p:spPr>
      </p:sp>
      <p:sp>
        <p:nvSpPr>
          <p:cNvPr id="24" name="Text 22"/>
          <p:cNvSpPr txBox="1"/>
          <p:nvPr/>
        </p:nvSpPr>
        <p:spPr>
          <a:xfrm>
            <a:off x="7680960" y="4206240"/>
            <a:ext cx="3840480" cy="537972"/>
          </a:xfrm>
          <a:prstGeom prst="rect">
            <a:avLst/>
          </a:prstGeom>
          <a:noFill/>
          <a:ln/>
        </p:spPr>
        <p:txBody>
          <a:bodyPr wrap="square" lIns="0" tIns="0" rIns="0" bIns="0" rtlCol="0" anchor="t"/>
          <a:lstStyle/>
          <a:p>
            <a:pPr indent="0" marL="0">
              <a:buNone/>
            </a:pPr>
            <a:r>
              <a:rPr lang="en-US" sz="1500" dirty="0">
                <a:solidFill>
                  <a:srgbClr val="1D1D1F"/>
                </a:solidFill>
                <a:latin typeface="Helvetica Neue" pitchFamily="34" charset="0"/>
                <a:ea typeface="Helvetica Neue" pitchFamily="34" charset="-122"/>
                <a:cs typeface="Helvetica Neue" pitchFamily="34" charset="-120"/>
              </a:rPr>
              <a:t>Firmware re-checks both sensors every 30 s.</a:t>
            </a:r>
            <a:endParaRPr lang="en-US" sz="1500" dirty="0"/>
          </a:p>
        </p:txBody>
      </p:sp>
      <p:sp>
        <p:nvSpPr>
          <p:cNvPr id="25" name="Shape 23"/>
          <p:cNvSpPr/>
          <p:nvPr/>
        </p:nvSpPr>
        <p:spPr>
          <a:xfrm>
            <a:off x="7452360" y="4914976"/>
            <a:ext cx="73152" cy="73152"/>
          </a:xfrm>
          <a:prstGeom prst="ellipse">
            <a:avLst/>
          </a:prstGeom>
          <a:solidFill>
            <a:srgbClr val="A1A1A6"/>
          </a:solidFill>
          <a:ln/>
        </p:spPr>
      </p:sp>
      <p:sp>
        <p:nvSpPr>
          <p:cNvPr id="26" name="Text 24"/>
          <p:cNvSpPr txBox="1"/>
          <p:nvPr/>
        </p:nvSpPr>
        <p:spPr>
          <a:xfrm>
            <a:off x="7680960" y="4817364"/>
            <a:ext cx="3840480" cy="537972"/>
          </a:xfrm>
          <a:prstGeom prst="rect">
            <a:avLst/>
          </a:prstGeom>
          <a:noFill/>
          <a:ln/>
        </p:spPr>
        <p:txBody>
          <a:bodyPr wrap="square" lIns="0" tIns="0" rIns="0" bIns="0" rtlCol="0" anchor="t"/>
          <a:lstStyle/>
          <a:p>
            <a:pPr indent="0" marL="0">
              <a:buNone/>
            </a:pPr>
            <a:r>
              <a:rPr lang="en-US" sz="1500" dirty="0">
                <a:solidFill>
                  <a:srgbClr val="1D1D1F"/>
                </a:solidFill>
                <a:latin typeface="Helvetica Neue" pitchFamily="34" charset="0"/>
                <a:ea typeface="Helvetica Neue" pitchFamily="34" charset="-122"/>
                <a:cs typeface="Helvetica Neue" pitchFamily="34" charset="-120"/>
              </a:rPr>
              <a:t>No finger: readings are marked invalid, never trusted.</a:t>
            </a:r>
            <a:endParaRPr lang="en-US" sz="1500" dirty="0"/>
          </a:p>
        </p:txBody>
      </p:sp>
      <p:sp>
        <p:nvSpPr>
          <p:cNvPr id="27" name="Shape 25"/>
          <p:cNvSpPr/>
          <p:nvPr/>
        </p:nvSpPr>
        <p:spPr>
          <a:xfrm>
            <a:off x="7452360" y="5526100"/>
            <a:ext cx="73152" cy="73152"/>
          </a:xfrm>
          <a:prstGeom prst="ellipse">
            <a:avLst/>
          </a:prstGeom>
          <a:solidFill>
            <a:srgbClr val="A1A1A6"/>
          </a:solidFill>
          <a:ln/>
        </p:spPr>
      </p:sp>
      <p:sp>
        <p:nvSpPr>
          <p:cNvPr id="28" name="Text 26"/>
          <p:cNvSpPr txBox="1"/>
          <p:nvPr/>
        </p:nvSpPr>
        <p:spPr>
          <a:xfrm>
            <a:off x="7680960" y="5428488"/>
            <a:ext cx="3840480" cy="537972"/>
          </a:xfrm>
          <a:prstGeom prst="rect">
            <a:avLst/>
          </a:prstGeom>
          <a:noFill/>
          <a:ln/>
        </p:spPr>
        <p:txBody>
          <a:bodyPr wrap="square" lIns="0" tIns="0" rIns="0" bIns="0" rtlCol="0" anchor="t"/>
          <a:lstStyle/>
          <a:p>
            <a:pPr indent="0" marL="0">
              <a:buNone/>
            </a:pPr>
            <a:r>
              <a:rPr lang="en-US" sz="1500" dirty="0">
                <a:solidFill>
                  <a:srgbClr val="1D1D1F"/>
                </a:solidFill>
                <a:latin typeface="Helvetica Neue" pitchFamily="34" charset="0"/>
                <a:ea typeface="Helvetica Neue" pitchFamily="34" charset="-122"/>
                <a:cs typeface="Helvetica Neue" pitchFamily="34" charset="-120"/>
              </a:rPr>
              <a:t>The app shows the same checks live, every second.</a:t>
            </a:r>
            <a:endParaRPr lang="en-US" sz="1500" dirty="0"/>
          </a:p>
        </p:txBody>
      </p:sp>
      <p:sp>
        <p:nvSpPr>
          <p:cNvPr id="29" name="Shape 27"/>
          <p:cNvSpPr/>
          <p:nvPr/>
        </p:nvSpPr>
        <p:spPr>
          <a:xfrm>
            <a:off x="7452360" y="6137224"/>
            <a:ext cx="73152" cy="73152"/>
          </a:xfrm>
          <a:prstGeom prst="ellipse">
            <a:avLst/>
          </a:prstGeom>
          <a:solidFill>
            <a:srgbClr val="A1A1A6"/>
          </a:solidFill>
          <a:ln/>
        </p:spPr>
      </p:sp>
      <p:sp>
        <p:nvSpPr>
          <p:cNvPr id="30" name="Text 28"/>
          <p:cNvSpPr txBox="1"/>
          <p:nvPr/>
        </p:nvSpPr>
        <p:spPr>
          <a:xfrm>
            <a:off x="7680960" y="6039612"/>
            <a:ext cx="3840480" cy="537972"/>
          </a:xfrm>
          <a:prstGeom prst="rect">
            <a:avLst/>
          </a:prstGeom>
          <a:noFill/>
          <a:ln/>
        </p:spPr>
        <p:txBody>
          <a:bodyPr wrap="square" lIns="0" tIns="0" rIns="0" bIns="0" rtlCol="0" anchor="t"/>
          <a:lstStyle/>
          <a:p>
            <a:pPr indent="0" marL="0">
              <a:buNone/>
            </a:pPr>
            <a:r>
              <a:rPr lang="en-US" sz="1500" dirty="0">
                <a:solidFill>
                  <a:srgbClr val="1D1D1F"/>
                </a:solidFill>
                <a:latin typeface="Helvetica Neue" pitchFamily="34" charset="0"/>
                <a:ea typeface="Helvetica Neue" pitchFamily="34" charset="-122"/>
                <a:cs typeface="Helvetica Neue" pitchFamily="34" charset="-120"/>
              </a:rPr>
              <a:t>A broken sensor is caught: “NOT READY”.</a:t>
            </a:r>
            <a:endParaRPr lang="en-US" sz="15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85800" y="502920"/>
            <a:ext cx="10789920" cy="320040"/>
          </a:xfrm>
          <a:prstGeom prst="rect">
            <a:avLst/>
          </a:prstGeom>
          <a:noFill/>
          <a:ln/>
        </p:spPr>
        <p:txBody>
          <a:bodyPr wrap="square" lIns="0" tIns="0" rIns="0" bIns="0" rtlCol="0" anchor="t"/>
          <a:lstStyle/>
          <a:p>
            <a:pPr indent="0" marL="0">
              <a:buNone/>
            </a:pPr>
            <a:r>
              <a:rPr lang="en-US" sz="1600" b="1" dirty="0">
                <a:solidFill>
                  <a:srgbClr val="E3254B"/>
                </a:solidFill>
                <a:latin typeface="Helvetica Neue" pitchFamily="34" charset="0"/>
                <a:ea typeface="Helvetica Neue" pitchFamily="34" charset="-122"/>
                <a:cs typeface="Helvetica Neue" pitchFamily="34" charset="-120"/>
              </a:rPr>
              <a:t>Experimental protocol</a:t>
            </a:r>
            <a:endParaRPr lang="en-US" sz="1600" dirty="0"/>
          </a:p>
        </p:txBody>
      </p:sp>
      <p:sp>
        <p:nvSpPr>
          <p:cNvPr id="3" name="Text 1"/>
          <p:cNvSpPr txBox="1"/>
          <p:nvPr/>
        </p:nvSpPr>
        <p:spPr>
          <a:xfrm>
            <a:off x="685800" y="841248"/>
            <a:ext cx="10789920" cy="868680"/>
          </a:xfrm>
          <a:prstGeom prst="rect">
            <a:avLst/>
          </a:prstGeom>
          <a:noFill/>
          <a:ln/>
        </p:spPr>
        <p:txBody>
          <a:bodyPr wrap="square" lIns="0" tIns="0" rIns="0" bIns="0" rtlCol="0" anchor="t"/>
          <a:lstStyle/>
          <a:p>
            <a:pPr indent="0" marL="0">
              <a:lnSpc>
                <a:spcPct val="92000"/>
              </a:lnSpc>
              <a:buNone/>
            </a:pPr>
            <a:r>
              <a:rPr lang="en-US" sz="4000" b="1" dirty="0">
                <a:solidFill>
                  <a:srgbClr val="1D1D1F"/>
                </a:solidFill>
                <a:latin typeface="Helvetica Neue" pitchFamily="34" charset="0"/>
                <a:ea typeface="Helvetica Neue" pitchFamily="34" charset="-122"/>
                <a:cs typeface="Helvetica Neue" pitchFamily="34" charset="-120"/>
              </a:rPr>
              <a:t>How I test it.</a:t>
            </a:r>
            <a:endParaRPr lang="en-US" sz="4000" dirty="0"/>
          </a:p>
        </p:txBody>
      </p:sp>
      <p:sp>
        <p:nvSpPr>
          <p:cNvPr id="4" name="Shape 2"/>
          <p:cNvSpPr/>
          <p:nvPr/>
        </p:nvSpPr>
        <p:spPr>
          <a:xfrm>
            <a:off x="685800" y="1920240"/>
            <a:ext cx="475488" cy="475488"/>
          </a:xfrm>
          <a:prstGeom prst="ellipse">
            <a:avLst/>
          </a:prstGeom>
          <a:solidFill>
            <a:srgbClr val="0071E3"/>
          </a:solidFill>
          <a:ln/>
        </p:spPr>
      </p:sp>
      <p:sp>
        <p:nvSpPr>
          <p:cNvPr id="5" name="Text 3"/>
          <p:cNvSpPr txBox="1"/>
          <p:nvPr/>
        </p:nvSpPr>
        <p:spPr>
          <a:xfrm>
            <a:off x="685800" y="1920240"/>
            <a:ext cx="475488" cy="475488"/>
          </a:xfrm>
          <a:prstGeom prst="rect">
            <a:avLst/>
          </a:prstGeom>
          <a:noFill/>
          <a:ln/>
        </p:spPr>
        <p:txBody>
          <a:bodyPr wrap="square" lIns="0" tIns="0" rIns="0" bIns="0" rtlCol="0" anchor="ctr"/>
          <a:lstStyle/>
          <a:p>
            <a:pPr algn="ctr" indent="0" marL="0">
              <a:buNone/>
            </a:pPr>
            <a:r>
              <a:rPr lang="en-US" sz="1700" b="1" dirty="0">
                <a:solidFill>
                  <a:srgbClr val="FFFFFF"/>
                </a:solidFill>
                <a:latin typeface="Helvetica Neue" pitchFamily="34" charset="0"/>
                <a:ea typeface="Helvetica Neue" pitchFamily="34" charset="-122"/>
                <a:cs typeface="Helvetica Neue" pitchFamily="34" charset="-120"/>
              </a:rPr>
              <a:t>1</a:t>
            </a:r>
            <a:endParaRPr lang="en-US" sz="1700" dirty="0"/>
          </a:p>
        </p:txBody>
      </p:sp>
      <p:sp>
        <p:nvSpPr>
          <p:cNvPr id="6" name="Text 4"/>
          <p:cNvSpPr txBox="1"/>
          <p:nvPr/>
        </p:nvSpPr>
        <p:spPr>
          <a:xfrm>
            <a:off x="1371600" y="1984248"/>
            <a:ext cx="6355080" cy="457200"/>
          </a:xfrm>
          <a:prstGeom prst="rect">
            <a:avLst/>
          </a:prstGeom>
          <a:noFill/>
          <a:ln/>
        </p:spPr>
        <p:txBody>
          <a:bodyPr wrap="square" lIns="0" tIns="0" rIns="0" bIns="0" rtlCol="0" anchor="t"/>
          <a:lstStyle/>
          <a:p>
            <a:pPr indent="0" marL="0">
              <a:buNone/>
            </a:pPr>
            <a:r>
              <a:rPr lang="en-US" sz="1550" b="1" dirty="0">
                <a:solidFill>
                  <a:srgbClr val="1D1D1F"/>
                </a:solidFill>
                <a:latin typeface="Helvetica Neue" pitchFamily="34" charset="0"/>
                <a:ea typeface="Helvetica Neue" pitchFamily="34" charset="-122"/>
                <a:cs typeface="Helvetica Neue" pitchFamily="34" charset="-120"/>
              </a:rPr>
              <a:t>Device check   </a:t>
            </a:r>
            <a:pPr indent="0" marL="0">
              <a:buNone/>
            </a:pPr>
            <a:r>
              <a:rPr lang="en-US" sz="1550" dirty="0">
                <a:solidFill>
                  <a:srgbClr val="6E6E73"/>
                </a:solidFill>
                <a:latin typeface="Helvetica Neue" pitchFamily="34" charset="0"/>
                <a:ea typeface="Helvetica Neue" pitchFamily="34" charset="-122"/>
                <a:cs typeface="Helvetica Neue" pitchFamily="34" charset="-120"/>
              </a:rPr>
              <a:t>every session must pass check_device.py</a:t>
            </a:r>
            <a:endParaRPr lang="en-US" sz="1550" dirty="0"/>
          </a:p>
        </p:txBody>
      </p:sp>
      <p:sp>
        <p:nvSpPr>
          <p:cNvPr id="7" name="Shape 5"/>
          <p:cNvSpPr/>
          <p:nvPr/>
        </p:nvSpPr>
        <p:spPr>
          <a:xfrm>
            <a:off x="685800" y="2761488"/>
            <a:ext cx="475488" cy="475488"/>
          </a:xfrm>
          <a:prstGeom prst="ellipse">
            <a:avLst/>
          </a:prstGeom>
          <a:solidFill>
            <a:srgbClr val="0071E3"/>
          </a:solidFill>
          <a:ln/>
        </p:spPr>
      </p:sp>
      <p:sp>
        <p:nvSpPr>
          <p:cNvPr id="8" name="Text 6"/>
          <p:cNvSpPr txBox="1"/>
          <p:nvPr/>
        </p:nvSpPr>
        <p:spPr>
          <a:xfrm>
            <a:off x="685800" y="2761488"/>
            <a:ext cx="475488" cy="475488"/>
          </a:xfrm>
          <a:prstGeom prst="rect">
            <a:avLst/>
          </a:prstGeom>
          <a:noFill/>
          <a:ln/>
        </p:spPr>
        <p:txBody>
          <a:bodyPr wrap="square" lIns="0" tIns="0" rIns="0" bIns="0" rtlCol="0" anchor="ctr"/>
          <a:lstStyle/>
          <a:p>
            <a:pPr algn="ctr" indent="0" marL="0">
              <a:buNone/>
            </a:pPr>
            <a:r>
              <a:rPr lang="en-US" sz="1700" b="1" dirty="0">
                <a:solidFill>
                  <a:srgbClr val="FFFFFF"/>
                </a:solidFill>
                <a:latin typeface="Helvetica Neue" pitchFamily="34" charset="0"/>
                <a:ea typeface="Helvetica Neue" pitchFamily="34" charset="-122"/>
                <a:cs typeface="Helvetica Neue" pitchFamily="34" charset="-120"/>
              </a:rPr>
              <a:t>2</a:t>
            </a:r>
            <a:endParaRPr lang="en-US" sz="1700" dirty="0"/>
          </a:p>
        </p:txBody>
      </p:sp>
      <p:sp>
        <p:nvSpPr>
          <p:cNvPr id="9" name="Text 7"/>
          <p:cNvSpPr txBox="1"/>
          <p:nvPr/>
        </p:nvSpPr>
        <p:spPr>
          <a:xfrm>
            <a:off x="1371600" y="2825496"/>
            <a:ext cx="6355080" cy="457200"/>
          </a:xfrm>
          <a:prstGeom prst="rect">
            <a:avLst/>
          </a:prstGeom>
          <a:noFill/>
          <a:ln/>
        </p:spPr>
        <p:txBody>
          <a:bodyPr wrap="square" lIns="0" tIns="0" rIns="0" bIns="0" rtlCol="0" anchor="t"/>
          <a:lstStyle/>
          <a:p>
            <a:pPr indent="0" marL="0">
              <a:buNone/>
            </a:pPr>
            <a:r>
              <a:rPr lang="en-US" sz="1550" b="1" dirty="0">
                <a:solidFill>
                  <a:srgbClr val="1D1D1F"/>
                </a:solidFill>
                <a:latin typeface="Helvetica Neue" pitchFamily="34" charset="0"/>
                <a:ea typeface="Helvetica Neue" pitchFamily="34" charset="-122"/>
                <a:cs typeface="Helvetica Neue" pitchFamily="34" charset="-120"/>
              </a:rPr>
              <a:t>Accuracy test   </a:t>
            </a:r>
            <a:pPr indent="0" marL="0">
              <a:buNone/>
            </a:pPr>
            <a:r>
              <a:rPr lang="en-US" sz="1550" dirty="0">
                <a:solidFill>
                  <a:srgbClr val="6E6E73"/>
                </a:solidFill>
                <a:latin typeface="Helvetica Neue" pitchFamily="34" charset="0"/>
                <a:ea typeface="Helvetica Neue" pitchFamily="34" charset="-122"/>
                <a:cs typeface="Helvetica Neue" pitchFamily="34" charset="-120"/>
              </a:rPr>
              <a:t>awake, side by side with a store-bought oximeter every 2 min for 30 min</a:t>
            </a:r>
            <a:endParaRPr lang="en-US" sz="1550" dirty="0"/>
          </a:p>
        </p:txBody>
      </p:sp>
      <p:sp>
        <p:nvSpPr>
          <p:cNvPr id="10" name="Shape 8"/>
          <p:cNvSpPr/>
          <p:nvPr/>
        </p:nvSpPr>
        <p:spPr>
          <a:xfrm>
            <a:off x="685800" y="3602736"/>
            <a:ext cx="475488" cy="475488"/>
          </a:xfrm>
          <a:prstGeom prst="ellipse">
            <a:avLst/>
          </a:prstGeom>
          <a:solidFill>
            <a:srgbClr val="0071E3"/>
          </a:solidFill>
          <a:ln/>
        </p:spPr>
      </p:sp>
      <p:sp>
        <p:nvSpPr>
          <p:cNvPr id="11" name="Text 9"/>
          <p:cNvSpPr txBox="1"/>
          <p:nvPr/>
        </p:nvSpPr>
        <p:spPr>
          <a:xfrm>
            <a:off x="685800" y="3602736"/>
            <a:ext cx="475488" cy="475488"/>
          </a:xfrm>
          <a:prstGeom prst="rect">
            <a:avLst/>
          </a:prstGeom>
          <a:noFill/>
          <a:ln/>
        </p:spPr>
        <p:txBody>
          <a:bodyPr wrap="square" lIns="0" tIns="0" rIns="0" bIns="0" rtlCol="0" anchor="ctr"/>
          <a:lstStyle/>
          <a:p>
            <a:pPr algn="ctr" indent="0" marL="0">
              <a:buNone/>
            </a:pPr>
            <a:r>
              <a:rPr lang="en-US" sz="1700" b="1" dirty="0">
                <a:solidFill>
                  <a:srgbClr val="FFFFFF"/>
                </a:solidFill>
                <a:latin typeface="Helvetica Neue" pitchFamily="34" charset="0"/>
                <a:ea typeface="Helvetica Neue" pitchFamily="34" charset="-122"/>
                <a:cs typeface="Helvetica Neue" pitchFamily="34" charset="-120"/>
              </a:rPr>
              <a:t>3</a:t>
            </a:r>
            <a:endParaRPr lang="en-US" sz="1700" dirty="0"/>
          </a:p>
        </p:txBody>
      </p:sp>
      <p:sp>
        <p:nvSpPr>
          <p:cNvPr id="12" name="Text 10"/>
          <p:cNvSpPr txBox="1"/>
          <p:nvPr/>
        </p:nvSpPr>
        <p:spPr>
          <a:xfrm>
            <a:off x="1371600" y="3666744"/>
            <a:ext cx="6355080" cy="457200"/>
          </a:xfrm>
          <a:prstGeom prst="rect">
            <a:avLst/>
          </a:prstGeom>
          <a:noFill/>
          <a:ln/>
        </p:spPr>
        <p:txBody>
          <a:bodyPr wrap="square" lIns="0" tIns="0" rIns="0" bIns="0" rtlCol="0" anchor="t"/>
          <a:lstStyle/>
          <a:p>
            <a:pPr indent="0" marL="0">
              <a:buNone/>
            </a:pPr>
            <a:r>
              <a:rPr lang="en-US" sz="1550" b="1" dirty="0">
                <a:solidFill>
                  <a:srgbClr val="1D1D1F"/>
                </a:solidFill>
                <a:latin typeface="Helvetica Neue" pitchFamily="34" charset="0"/>
                <a:ea typeface="Helvetica Neue" pitchFamily="34" charset="-122"/>
                <a:cs typeface="Helvetica Neue" pitchFamily="34" charset="-120"/>
              </a:rPr>
              <a:t>Detection test   </a:t>
            </a:r>
            <a:pPr indent="0" marL="0">
              <a:buNone/>
            </a:pPr>
            <a:r>
              <a:rPr lang="en-US" sz="1550" dirty="0">
                <a:solidFill>
                  <a:srgbClr val="6E6E73"/>
                </a:solidFill>
                <a:latin typeface="Helvetica Neue" pitchFamily="34" charset="0"/>
                <a:ea typeface="Helvetica Neue" pitchFamily="34" charset="-122"/>
                <a:cs typeface="Helvetica Neue" pitchFamily="34" charset="-120"/>
              </a:rPr>
              <a:t>supervised, awake breath-holds of 10, 15 and 20 s: known events</a:t>
            </a:r>
            <a:endParaRPr lang="en-US" sz="1550" dirty="0"/>
          </a:p>
        </p:txBody>
      </p:sp>
      <p:sp>
        <p:nvSpPr>
          <p:cNvPr id="13" name="Shape 11"/>
          <p:cNvSpPr/>
          <p:nvPr/>
        </p:nvSpPr>
        <p:spPr>
          <a:xfrm>
            <a:off x="685800" y="4443984"/>
            <a:ext cx="475488" cy="475488"/>
          </a:xfrm>
          <a:prstGeom prst="ellipse">
            <a:avLst/>
          </a:prstGeom>
          <a:solidFill>
            <a:srgbClr val="0071E3"/>
          </a:solidFill>
          <a:ln/>
        </p:spPr>
      </p:sp>
      <p:sp>
        <p:nvSpPr>
          <p:cNvPr id="14" name="Text 12"/>
          <p:cNvSpPr txBox="1"/>
          <p:nvPr/>
        </p:nvSpPr>
        <p:spPr>
          <a:xfrm>
            <a:off x="685800" y="4443984"/>
            <a:ext cx="475488" cy="475488"/>
          </a:xfrm>
          <a:prstGeom prst="rect">
            <a:avLst/>
          </a:prstGeom>
          <a:noFill/>
          <a:ln/>
        </p:spPr>
        <p:txBody>
          <a:bodyPr wrap="square" lIns="0" tIns="0" rIns="0" bIns="0" rtlCol="0" anchor="ctr"/>
          <a:lstStyle/>
          <a:p>
            <a:pPr algn="ctr" indent="0" marL="0">
              <a:buNone/>
            </a:pPr>
            <a:r>
              <a:rPr lang="en-US" sz="1700" b="1" dirty="0">
                <a:solidFill>
                  <a:srgbClr val="FFFFFF"/>
                </a:solidFill>
                <a:latin typeface="Helvetica Neue" pitchFamily="34" charset="0"/>
                <a:ea typeface="Helvetica Neue" pitchFamily="34" charset="-122"/>
                <a:cs typeface="Helvetica Neue" pitchFamily="34" charset="-120"/>
              </a:rPr>
              <a:t>4</a:t>
            </a:r>
            <a:endParaRPr lang="en-US" sz="1700" dirty="0"/>
          </a:p>
        </p:txBody>
      </p:sp>
      <p:sp>
        <p:nvSpPr>
          <p:cNvPr id="15" name="Text 13"/>
          <p:cNvSpPr txBox="1"/>
          <p:nvPr/>
        </p:nvSpPr>
        <p:spPr>
          <a:xfrm>
            <a:off x="1371600" y="4507992"/>
            <a:ext cx="6355080" cy="457200"/>
          </a:xfrm>
          <a:prstGeom prst="rect">
            <a:avLst/>
          </a:prstGeom>
          <a:noFill/>
          <a:ln/>
        </p:spPr>
        <p:txBody>
          <a:bodyPr wrap="square" lIns="0" tIns="0" rIns="0" bIns="0" rtlCol="0" anchor="t"/>
          <a:lstStyle/>
          <a:p>
            <a:pPr indent="0" marL="0">
              <a:buNone/>
            </a:pPr>
            <a:r>
              <a:rPr lang="en-US" sz="1550" b="1" dirty="0">
                <a:solidFill>
                  <a:srgbClr val="1D1D1F"/>
                </a:solidFill>
                <a:latin typeface="Helvetica Neue" pitchFamily="34" charset="0"/>
                <a:ea typeface="Helvetica Neue" pitchFamily="34" charset="-122"/>
                <a:cs typeface="Helvetica Neue" pitchFamily="34" charset="-120"/>
              </a:rPr>
              <a:t>Full-night power test   </a:t>
            </a:r>
            <a:pPr indent="0" marL="0">
              <a:buNone/>
            </a:pPr>
            <a:r>
              <a:rPr lang="en-US" sz="1550" dirty="0">
                <a:solidFill>
                  <a:srgbClr val="6E6E73"/>
                </a:solidFill>
                <a:latin typeface="Helvetica Neue" pitchFamily="34" charset="0"/>
                <a:ea typeface="Helvetica Neue" pitchFamily="34" charset="-122"/>
                <a:cs typeface="Helvetica Neue" pitchFamily="34" charset="-120"/>
              </a:rPr>
              <a:t>USB power, 8 h of data with no gaps</a:t>
            </a:r>
            <a:endParaRPr lang="en-US" sz="1550" dirty="0"/>
          </a:p>
        </p:txBody>
      </p:sp>
      <p:sp>
        <p:nvSpPr>
          <p:cNvPr id="16" name="Shape 14"/>
          <p:cNvSpPr/>
          <p:nvPr/>
        </p:nvSpPr>
        <p:spPr>
          <a:xfrm>
            <a:off x="685800" y="5285232"/>
            <a:ext cx="475488" cy="475488"/>
          </a:xfrm>
          <a:prstGeom prst="ellipse">
            <a:avLst/>
          </a:prstGeom>
          <a:solidFill>
            <a:srgbClr val="0071E3"/>
          </a:solidFill>
          <a:ln/>
        </p:spPr>
      </p:sp>
      <p:sp>
        <p:nvSpPr>
          <p:cNvPr id="17" name="Text 15"/>
          <p:cNvSpPr txBox="1"/>
          <p:nvPr/>
        </p:nvSpPr>
        <p:spPr>
          <a:xfrm>
            <a:off x="685800" y="5285232"/>
            <a:ext cx="475488" cy="475488"/>
          </a:xfrm>
          <a:prstGeom prst="rect">
            <a:avLst/>
          </a:prstGeom>
          <a:noFill/>
          <a:ln/>
        </p:spPr>
        <p:txBody>
          <a:bodyPr wrap="square" lIns="0" tIns="0" rIns="0" bIns="0" rtlCol="0" anchor="ctr"/>
          <a:lstStyle/>
          <a:p>
            <a:pPr algn="ctr" indent="0" marL="0">
              <a:buNone/>
            </a:pPr>
            <a:r>
              <a:rPr lang="en-US" sz="1700" b="1" dirty="0">
                <a:solidFill>
                  <a:srgbClr val="FFFFFF"/>
                </a:solidFill>
                <a:latin typeface="Helvetica Neue" pitchFamily="34" charset="0"/>
                <a:ea typeface="Helvetica Neue" pitchFamily="34" charset="-122"/>
                <a:cs typeface="Helvetica Neue" pitchFamily="34" charset="-120"/>
              </a:rPr>
              <a:t>5</a:t>
            </a:r>
            <a:endParaRPr lang="en-US" sz="1700" dirty="0"/>
          </a:p>
        </p:txBody>
      </p:sp>
      <p:sp>
        <p:nvSpPr>
          <p:cNvPr id="18" name="Text 16"/>
          <p:cNvSpPr txBox="1"/>
          <p:nvPr/>
        </p:nvSpPr>
        <p:spPr>
          <a:xfrm>
            <a:off x="1371600" y="5349240"/>
            <a:ext cx="6355080" cy="457200"/>
          </a:xfrm>
          <a:prstGeom prst="rect">
            <a:avLst/>
          </a:prstGeom>
          <a:noFill/>
          <a:ln/>
        </p:spPr>
        <p:txBody>
          <a:bodyPr wrap="square" lIns="0" tIns="0" rIns="0" bIns="0" rtlCol="0" anchor="t"/>
          <a:lstStyle/>
          <a:p>
            <a:pPr indent="0" marL="0">
              <a:buNone/>
            </a:pPr>
            <a:r>
              <a:rPr lang="en-US" sz="1550" b="1" dirty="0">
                <a:solidFill>
                  <a:srgbClr val="1D1D1F"/>
                </a:solidFill>
                <a:latin typeface="Helvetica Neue" pitchFamily="34" charset="0"/>
                <a:ea typeface="Helvetica Neue" pitchFamily="34" charset="-122"/>
                <a:cs typeface="Helvetica Neue" pitchFamily="34" charset="-120"/>
              </a:rPr>
              <a:t>Recorded nights   </a:t>
            </a:r>
            <a:pPr indent="0" marL="0">
              <a:buNone/>
            </a:pPr>
            <a:r>
              <a:rPr lang="en-US" sz="1550" dirty="0">
                <a:solidFill>
                  <a:srgbClr val="6E6E73"/>
                </a:solidFill>
                <a:latin typeface="Helvetica Neue" pitchFamily="34" charset="0"/>
                <a:ea typeface="Helvetica Neue" pitchFamily="34" charset="-122"/>
                <a:cs typeface="Helvetica Neue" pitchFamily="34" charset="-120"/>
              </a:rPr>
              <a:t>at least 5 nights; armband on forearm, clip on index finger</a:t>
            </a:r>
            <a:endParaRPr lang="en-US" sz="1550" dirty="0"/>
          </a:p>
        </p:txBody>
      </p:sp>
      <p:sp>
        <p:nvSpPr>
          <p:cNvPr id="19" name="Shape 17"/>
          <p:cNvSpPr/>
          <p:nvPr/>
        </p:nvSpPr>
        <p:spPr>
          <a:xfrm>
            <a:off x="8001000" y="1874520"/>
            <a:ext cx="3502152" cy="4160520"/>
          </a:xfrm>
          <a:prstGeom prst="roundRect">
            <a:avLst>
              <a:gd name="adj" fmla="val 5744"/>
            </a:avLst>
          </a:prstGeom>
          <a:solidFill>
            <a:srgbClr val="F5F5F7"/>
          </a:solidFill>
          <a:ln/>
        </p:spPr>
      </p:sp>
      <p:sp>
        <p:nvSpPr>
          <p:cNvPr id="20" name="Text 18"/>
          <p:cNvSpPr txBox="1"/>
          <p:nvPr/>
        </p:nvSpPr>
        <p:spPr>
          <a:xfrm>
            <a:off x="8275320" y="2103120"/>
            <a:ext cx="3017520" cy="320040"/>
          </a:xfrm>
          <a:prstGeom prst="rect">
            <a:avLst/>
          </a:prstGeom>
          <a:noFill/>
          <a:ln/>
        </p:spPr>
        <p:txBody>
          <a:bodyPr wrap="square" lIns="0" tIns="0" rIns="0" bIns="0" rtlCol="0" anchor="t"/>
          <a:lstStyle/>
          <a:p>
            <a:pPr indent="0" marL="0">
              <a:buNone/>
            </a:pPr>
            <a:r>
              <a:rPr lang="en-US" sz="1700" b="1" dirty="0">
                <a:solidFill>
                  <a:srgbClr val="D70015"/>
                </a:solidFill>
                <a:latin typeface="Helvetica Neue" pitchFamily="34" charset="0"/>
                <a:ea typeface="Helvetica Neue" pitchFamily="34" charset="-122"/>
                <a:cs typeface="Helvetica Neue" pitchFamily="34" charset="-120"/>
              </a:rPr>
              <a:t>Safety</a:t>
            </a:r>
            <a:endParaRPr lang="en-US" sz="1700" dirty="0"/>
          </a:p>
        </p:txBody>
      </p:sp>
      <p:sp>
        <p:nvSpPr>
          <p:cNvPr id="21" name="Shape 19"/>
          <p:cNvSpPr/>
          <p:nvPr/>
        </p:nvSpPr>
        <p:spPr>
          <a:xfrm>
            <a:off x="8275320" y="2654678"/>
            <a:ext cx="73152" cy="73152"/>
          </a:xfrm>
          <a:prstGeom prst="ellipse">
            <a:avLst/>
          </a:prstGeom>
          <a:solidFill>
            <a:srgbClr val="A1A1A6"/>
          </a:solidFill>
          <a:ln/>
        </p:spPr>
      </p:sp>
      <p:sp>
        <p:nvSpPr>
          <p:cNvPr id="22" name="Text 20"/>
          <p:cNvSpPr txBox="1"/>
          <p:nvPr/>
        </p:nvSpPr>
        <p:spPr>
          <a:xfrm>
            <a:off x="8503920" y="2560320"/>
            <a:ext cx="2788920" cy="747141"/>
          </a:xfrm>
          <a:prstGeom prst="rect">
            <a:avLst/>
          </a:prstGeom>
          <a:noFill/>
          <a:ln/>
        </p:spPr>
        <p:txBody>
          <a:bodyPr wrap="square" lIns="0" tIns="0" rIns="0" bIns="0" rtlCol="0" anchor="t"/>
          <a:lstStyle/>
          <a:p>
            <a:pPr indent="0" marL="0">
              <a:buNone/>
            </a:pPr>
            <a:r>
              <a:rPr lang="en-US" sz="1450" dirty="0">
                <a:solidFill>
                  <a:srgbClr val="1D1D1F"/>
                </a:solidFill>
                <a:latin typeface="Helvetica Neue" pitchFamily="34" charset="0"/>
                <a:ea typeface="Helvetica Neue" pitchFamily="34" charset="-122"/>
                <a:cs typeface="Helvetica Neue" pitchFamily="34" charset="-120"/>
              </a:rPr>
              <a:t>Breath-holds only while awake, seated and supervised. Never asleep.</a:t>
            </a:r>
            <a:endParaRPr lang="en-US" sz="1450" dirty="0"/>
          </a:p>
        </p:txBody>
      </p:sp>
      <p:sp>
        <p:nvSpPr>
          <p:cNvPr id="23" name="Shape 21"/>
          <p:cNvSpPr/>
          <p:nvPr/>
        </p:nvSpPr>
        <p:spPr>
          <a:xfrm>
            <a:off x="8275320" y="3493259"/>
            <a:ext cx="73152" cy="73152"/>
          </a:xfrm>
          <a:prstGeom prst="ellipse">
            <a:avLst/>
          </a:prstGeom>
          <a:solidFill>
            <a:srgbClr val="A1A1A6"/>
          </a:solidFill>
          <a:ln/>
        </p:spPr>
      </p:sp>
      <p:sp>
        <p:nvSpPr>
          <p:cNvPr id="24" name="Text 22"/>
          <p:cNvSpPr txBox="1"/>
          <p:nvPr/>
        </p:nvSpPr>
        <p:spPr>
          <a:xfrm>
            <a:off x="8503920" y="3398901"/>
            <a:ext cx="2788920" cy="522478"/>
          </a:xfrm>
          <a:prstGeom prst="rect">
            <a:avLst/>
          </a:prstGeom>
          <a:noFill/>
          <a:ln/>
        </p:spPr>
        <p:txBody>
          <a:bodyPr wrap="square" lIns="0" tIns="0" rIns="0" bIns="0" rtlCol="0" anchor="t"/>
          <a:lstStyle/>
          <a:p>
            <a:pPr indent="0" marL="0">
              <a:buNone/>
            </a:pPr>
            <a:r>
              <a:rPr lang="en-US" sz="1450" dirty="0">
                <a:solidFill>
                  <a:srgbClr val="1D1D1F"/>
                </a:solidFill>
                <a:latin typeface="Helvetica Neue" pitchFamily="34" charset="0"/>
                <a:ea typeface="Helvetica Neue" pitchFamily="34" charset="-122"/>
                <a:cs typeface="Helvetica Neue" pitchFamily="34" charset="-120"/>
              </a:rPr>
              <a:t>20 seconds at most. Stop at any dizziness.</a:t>
            </a:r>
            <a:endParaRPr lang="en-US" sz="1450" dirty="0"/>
          </a:p>
        </p:txBody>
      </p:sp>
      <p:sp>
        <p:nvSpPr>
          <p:cNvPr id="25" name="Shape 23"/>
          <p:cNvSpPr/>
          <p:nvPr/>
        </p:nvSpPr>
        <p:spPr>
          <a:xfrm>
            <a:off x="8275320" y="4107177"/>
            <a:ext cx="73152" cy="73152"/>
          </a:xfrm>
          <a:prstGeom prst="ellipse">
            <a:avLst/>
          </a:prstGeom>
          <a:solidFill>
            <a:srgbClr val="A1A1A6"/>
          </a:solidFill>
          <a:ln/>
        </p:spPr>
      </p:sp>
      <p:sp>
        <p:nvSpPr>
          <p:cNvPr id="26" name="Text 24"/>
          <p:cNvSpPr txBox="1"/>
          <p:nvPr/>
        </p:nvSpPr>
        <p:spPr>
          <a:xfrm>
            <a:off x="8503920" y="4012819"/>
            <a:ext cx="2788920" cy="297815"/>
          </a:xfrm>
          <a:prstGeom prst="rect">
            <a:avLst/>
          </a:prstGeom>
          <a:noFill/>
          <a:ln/>
        </p:spPr>
        <p:txBody>
          <a:bodyPr wrap="square" lIns="0" tIns="0" rIns="0" bIns="0" rtlCol="0" anchor="t"/>
          <a:lstStyle/>
          <a:p>
            <a:pPr indent="0" marL="0">
              <a:buNone/>
            </a:pPr>
            <a:r>
              <a:rPr lang="en-US" sz="1450" dirty="0">
                <a:solidFill>
                  <a:srgbClr val="1D1D1F"/>
                </a:solidFill>
                <a:latin typeface="Helvetica Neue" pitchFamily="34" charset="0"/>
                <a:ea typeface="Helvetica Neue" pitchFamily="34" charset="-122"/>
                <a:cs typeface="Helvetica Neue" pitchFamily="34" charset="-120"/>
              </a:rPr>
              <a:t>Parent/guardian consent</a:t>
            </a:r>
            <a:endParaRPr lang="en-US" sz="1450" dirty="0"/>
          </a:p>
        </p:txBody>
      </p:sp>
      <p:sp>
        <p:nvSpPr>
          <p:cNvPr id="27" name="Shape 25"/>
          <p:cNvSpPr/>
          <p:nvPr/>
        </p:nvSpPr>
        <p:spPr>
          <a:xfrm>
            <a:off x="8275320" y="4496432"/>
            <a:ext cx="73152" cy="73152"/>
          </a:xfrm>
          <a:prstGeom prst="ellipse">
            <a:avLst/>
          </a:prstGeom>
          <a:solidFill>
            <a:srgbClr val="A1A1A6"/>
          </a:solidFill>
          <a:ln/>
        </p:spPr>
      </p:sp>
      <p:sp>
        <p:nvSpPr>
          <p:cNvPr id="28" name="Text 26"/>
          <p:cNvSpPr txBox="1"/>
          <p:nvPr/>
        </p:nvSpPr>
        <p:spPr>
          <a:xfrm>
            <a:off x="8503920" y="4402074"/>
            <a:ext cx="2788920" cy="522478"/>
          </a:xfrm>
          <a:prstGeom prst="rect">
            <a:avLst/>
          </a:prstGeom>
          <a:noFill/>
          <a:ln/>
        </p:spPr>
        <p:txBody>
          <a:bodyPr wrap="square" lIns="0" tIns="0" rIns="0" bIns="0" rtlCol="0" anchor="t"/>
          <a:lstStyle/>
          <a:p>
            <a:pPr indent="0" marL="0">
              <a:buNone/>
            </a:pPr>
            <a:r>
              <a:rPr lang="en-US" sz="1450" dirty="0">
                <a:solidFill>
                  <a:srgbClr val="1D1D1F"/>
                </a:solidFill>
                <a:latin typeface="Helvetica Neue" pitchFamily="34" charset="0"/>
                <a:ea typeface="Helvetica Neue" pitchFamily="34" charset="-122"/>
                <a:cs typeface="Helvetica Neue" pitchFamily="34" charset="-120"/>
              </a:rPr>
              <a:t>Ethics approval (human subject) before any test</a:t>
            </a:r>
            <a:endParaRPr lang="en-US" sz="14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5F7"/>
        </a:solidFill>
      </p:bgPr>
    </p:bg>
    <p:spTree>
      <p:nvGrpSpPr>
        <p:cNvPr id="1" name=""/>
        <p:cNvGrpSpPr/>
        <p:nvPr/>
      </p:nvGrpSpPr>
      <p:grpSpPr>
        <a:xfrm>
          <a:off x="0" y="0"/>
          <a:ext cx="0" cy="0"/>
          <a:chOff x="0" y="0"/>
          <a:chExt cx="0" cy="0"/>
        </a:xfrm>
      </p:grpSpPr>
      <p:sp>
        <p:nvSpPr>
          <p:cNvPr id="2" name="Text 0"/>
          <p:cNvSpPr txBox="1"/>
          <p:nvPr/>
        </p:nvSpPr>
        <p:spPr>
          <a:xfrm>
            <a:off x="685800" y="502920"/>
            <a:ext cx="10789920" cy="320040"/>
          </a:xfrm>
          <a:prstGeom prst="rect">
            <a:avLst/>
          </a:prstGeom>
          <a:noFill/>
          <a:ln/>
        </p:spPr>
        <p:txBody>
          <a:bodyPr wrap="square" lIns="0" tIns="0" rIns="0" bIns="0" rtlCol="0" anchor="t"/>
          <a:lstStyle/>
          <a:p>
            <a:pPr indent="0" marL="0">
              <a:buNone/>
            </a:pPr>
            <a:r>
              <a:rPr lang="en-US" sz="1600" b="1" dirty="0">
                <a:solidFill>
                  <a:srgbClr val="E3254B"/>
                </a:solidFill>
                <a:latin typeface="Helvetica Neue" pitchFamily="34" charset="0"/>
                <a:ea typeface="Helvetica Neue" pitchFamily="34" charset="-122"/>
                <a:cs typeface="Helvetica Neue" pitchFamily="34" charset="-120"/>
              </a:rPr>
              <a:t>The app</a:t>
            </a:r>
            <a:endParaRPr lang="en-US" sz="1600" dirty="0"/>
          </a:p>
        </p:txBody>
      </p:sp>
      <p:sp>
        <p:nvSpPr>
          <p:cNvPr id="3" name="Text 1"/>
          <p:cNvSpPr txBox="1"/>
          <p:nvPr/>
        </p:nvSpPr>
        <p:spPr>
          <a:xfrm>
            <a:off x="685800" y="841248"/>
            <a:ext cx="10789920" cy="868680"/>
          </a:xfrm>
          <a:prstGeom prst="rect">
            <a:avLst/>
          </a:prstGeom>
          <a:noFill/>
          <a:ln/>
        </p:spPr>
        <p:txBody>
          <a:bodyPr wrap="square" lIns="0" tIns="0" rIns="0" bIns="0" rtlCol="0" anchor="t"/>
          <a:lstStyle/>
          <a:p>
            <a:pPr indent="0" marL="0">
              <a:lnSpc>
                <a:spcPct val="92000"/>
              </a:lnSpc>
              <a:buNone/>
            </a:pPr>
            <a:r>
              <a:rPr lang="en-US" sz="4000" b="1" dirty="0">
                <a:solidFill>
                  <a:srgbClr val="1D1D1F"/>
                </a:solidFill>
                <a:latin typeface="Helvetica Neue" pitchFamily="34" charset="0"/>
                <a:ea typeface="Helvetica Neue" pitchFamily="34" charset="-122"/>
                <a:cs typeface="Helvetica Neue" pitchFamily="34" charset="-120"/>
              </a:rPr>
              <a:t>The companion app measures real data.</a:t>
            </a:r>
            <a:endParaRPr lang="en-US" sz="4000" dirty="0"/>
          </a:p>
        </p:txBody>
      </p:sp>
      <p:sp>
        <p:nvSpPr>
          <p:cNvPr id="4" name="Shape 2"/>
          <p:cNvSpPr/>
          <p:nvPr/>
        </p:nvSpPr>
        <p:spPr>
          <a:xfrm>
            <a:off x="877824" y="1792224"/>
            <a:ext cx="2130552" cy="4197330"/>
          </a:xfrm>
          <a:prstGeom prst="roundRect">
            <a:avLst>
              <a:gd name="adj" fmla="val 12017"/>
            </a:avLst>
          </a:prstGeom>
          <a:solidFill>
            <a:srgbClr val="1D1D1F"/>
          </a:solidFill>
          <a:ln/>
        </p:spPr>
      </p:sp>
      <p:pic>
        <p:nvPicPr>
          <p:cNvPr id="5" name="Image 0" descr="/home/user/teetomivV2/science-fair/night-signal/slides/assets/phone_sleep.png">    </p:cNvPr>
          <p:cNvPicPr>
            <a:picLocks noChangeAspect="1"/>
          </p:cNvPicPr>
          <p:nvPr/>
        </p:nvPicPr>
        <p:blipFill>
          <a:blip r:embed="rId1"/>
          <a:stretch>
            <a:fillRect/>
          </a:stretch>
        </p:blipFill>
        <p:spPr>
          <a:xfrm>
            <a:off x="960120" y="1874520"/>
            <a:ext cx="1965960" cy="4032738"/>
          </a:xfrm>
          <a:prstGeom prst="rect">
            <a:avLst/>
          </a:prstGeom>
        </p:spPr>
      </p:pic>
      <p:sp>
        <p:nvSpPr>
          <p:cNvPr id="6" name="Shape 3"/>
          <p:cNvSpPr/>
          <p:nvPr/>
        </p:nvSpPr>
        <p:spPr>
          <a:xfrm>
            <a:off x="3346704" y="1792224"/>
            <a:ext cx="2130552" cy="4197330"/>
          </a:xfrm>
          <a:prstGeom prst="roundRect">
            <a:avLst>
              <a:gd name="adj" fmla="val 12017"/>
            </a:avLst>
          </a:prstGeom>
          <a:solidFill>
            <a:srgbClr val="1D1D1F"/>
          </a:solidFill>
          <a:ln/>
        </p:spPr>
      </p:sp>
      <p:pic>
        <p:nvPicPr>
          <p:cNvPr id="7" name="Image 1" descr="/home/user/teetomivV2/science-fair/night-signal/slides/assets/phone_live.png">    </p:cNvPr>
          <p:cNvPicPr>
            <a:picLocks noChangeAspect="1"/>
          </p:cNvPicPr>
          <p:nvPr/>
        </p:nvPicPr>
        <p:blipFill>
          <a:blip r:embed="rId2"/>
          <a:stretch>
            <a:fillRect/>
          </a:stretch>
        </p:blipFill>
        <p:spPr>
          <a:xfrm>
            <a:off x="3429000" y="1874520"/>
            <a:ext cx="1965960" cy="4032738"/>
          </a:xfrm>
          <a:prstGeom prst="rect">
            <a:avLst/>
          </a:prstGeom>
        </p:spPr>
      </p:pic>
      <p:sp>
        <p:nvSpPr>
          <p:cNvPr id="8" name="Text 4"/>
          <p:cNvSpPr txBox="1"/>
          <p:nvPr/>
        </p:nvSpPr>
        <p:spPr>
          <a:xfrm>
            <a:off x="960120" y="6044418"/>
            <a:ext cx="1965960" cy="274320"/>
          </a:xfrm>
          <a:prstGeom prst="rect">
            <a:avLst/>
          </a:prstGeom>
          <a:noFill/>
          <a:ln/>
        </p:spPr>
        <p:txBody>
          <a:bodyPr wrap="square" lIns="0" tIns="0" rIns="0" bIns="0" rtlCol="0" anchor="t"/>
          <a:lstStyle/>
          <a:p>
            <a:pPr algn="ctr" indent="0" marL="0">
              <a:buNone/>
            </a:pPr>
            <a:r>
              <a:rPr lang="en-US" sz="1200" dirty="0">
                <a:solidFill>
                  <a:srgbClr val="6E6E73"/>
                </a:solidFill>
                <a:latin typeface="Helvetica Neue" pitchFamily="34" charset="0"/>
                <a:ea typeface="Helvetica Neue" pitchFamily="34" charset="-122"/>
                <a:cs typeface="Helvetica Neue" pitchFamily="34" charset="-120"/>
              </a:rPr>
              <a:t>Sleep report</a:t>
            </a:r>
            <a:endParaRPr lang="en-US" sz="1200" dirty="0"/>
          </a:p>
        </p:txBody>
      </p:sp>
      <p:sp>
        <p:nvSpPr>
          <p:cNvPr id="9" name="Text 5"/>
          <p:cNvSpPr txBox="1"/>
          <p:nvPr/>
        </p:nvSpPr>
        <p:spPr>
          <a:xfrm>
            <a:off x="3429000" y="6044418"/>
            <a:ext cx="1965960" cy="274320"/>
          </a:xfrm>
          <a:prstGeom prst="rect">
            <a:avLst/>
          </a:prstGeom>
          <a:noFill/>
          <a:ln/>
        </p:spPr>
        <p:txBody>
          <a:bodyPr wrap="square" lIns="0" tIns="0" rIns="0" bIns="0" rtlCol="0" anchor="t"/>
          <a:lstStyle/>
          <a:p>
            <a:pPr algn="ctr" indent="0" marL="0">
              <a:buNone/>
            </a:pPr>
            <a:r>
              <a:rPr lang="en-US" sz="1200" dirty="0">
                <a:solidFill>
                  <a:srgbClr val="6E6E73"/>
                </a:solidFill>
                <a:latin typeface="Helvetica Neue" pitchFamily="34" charset="0"/>
                <a:ea typeface="Helvetica Neue" pitchFamily="34" charset="-122"/>
                <a:cs typeface="Helvetica Neue" pitchFamily="34" charset="-120"/>
              </a:rPr>
              <a:t>Live + device health</a:t>
            </a:r>
            <a:endParaRPr lang="en-US" sz="1200" dirty="0"/>
          </a:p>
        </p:txBody>
      </p:sp>
      <p:sp>
        <p:nvSpPr>
          <p:cNvPr id="10" name="Shape 6"/>
          <p:cNvSpPr/>
          <p:nvPr/>
        </p:nvSpPr>
        <p:spPr>
          <a:xfrm>
            <a:off x="6355080" y="2066826"/>
            <a:ext cx="73152" cy="73152"/>
          </a:xfrm>
          <a:prstGeom prst="ellipse">
            <a:avLst/>
          </a:prstGeom>
          <a:solidFill>
            <a:srgbClr val="A1A1A6"/>
          </a:solidFill>
          <a:ln/>
        </p:spPr>
      </p:sp>
      <p:sp>
        <p:nvSpPr>
          <p:cNvPr id="11" name="Text 7"/>
          <p:cNvSpPr txBox="1"/>
          <p:nvPr/>
        </p:nvSpPr>
        <p:spPr>
          <a:xfrm>
            <a:off x="6583680" y="1965960"/>
            <a:ext cx="4937760" cy="793623"/>
          </a:xfrm>
          <a:prstGeom prst="rect">
            <a:avLst/>
          </a:prstGeom>
          <a:noFill/>
          <a:ln/>
        </p:spPr>
        <p:txBody>
          <a:bodyPr wrap="square" lIns="0" tIns="0" rIns="0" bIns="0" rtlCol="0" anchor="t"/>
          <a:lstStyle/>
          <a:p>
            <a:pPr indent="0" marL="0">
              <a:buNone/>
            </a:pPr>
            <a:r>
              <a:rPr lang="en-US" sz="1550" dirty="0">
                <a:solidFill>
                  <a:srgbClr val="1D1D1F"/>
                </a:solidFill>
                <a:latin typeface="Helvetica Neue" pitchFamily="34" charset="0"/>
                <a:ea typeface="Helvetica Neue" pitchFamily="34" charset="-122"/>
                <a:cs typeface="Helvetica Neue" pitchFamily="34" charset="-120"/>
              </a:rPr>
              <a:t>The Live tab connects straight to the wearable (USB or Bluetooth) and shows oxygen, heart rate and position every second.</a:t>
            </a:r>
            <a:endParaRPr lang="en-US" sz="1550" dirty="0"/>
          </a:p>
        </p:txBody>
      </p:sp>
      <p:sp>
        <p:nvSpPr>
          <p:cNvPr id="12" name="Shape 8"/>
          <p:cNvSpPr/>
          <p:nvPr/>
        </p:nvSpPr>
        <p:spPr>
          <a:xfrm>
            <a:off x="6355080" y="2988465"/>
            <a:ext cx="73152" cy="73152"/>
          </a:xfrm>
          <a:prstGeom prst="ellipse">
            <a:avLst/>
          </a:prstGeom>
          <a:solidFill>
            <a:srgbClr val="A1A1A6"/>
          </a:solidFill>
          <a:ln/>
        </p:spPr>
      </p:sp>
      <p:sp>
        <p:nvSpPr>
          <p:cNvPr id="13" name="Text 9"/>
          <p:cNvSpPr txBox="1"/>
          <p:nvPr/>
        </p:nvSpPr>
        <p:spPr>
          <a:xfrm>
            <a:off x="6583680" y="2887599"/>
            <a:ext cx="4937760" cy="553466"/>
          </a:xfrm>
          <a:prstGeom prst="rect">
            <a:avLst/>
          </a:prstGeom>
          <a:noFill/>
          <a:ln/>
        </p:spPr>
        <p:txBody>
          <a:bodyPr wrap="square" lIns="0" tIns="0" rIns="0" bIns="0" rtlCol="0" anchor="t"/>
          <a:lstStyle/>
          <a:p>
            <a:pPr indent="0" marL="0">
              <a:buNone/>
            </a:pPr>
            <a:r>
              <a:rPr lang="en-US" sz="1550" dirty="0">
                <a:solidFill>
                  <a:srgbClr val="1D1D1F"/>
                </a:solidFill>
                <a:latin typeface="Helvetica Neue" pitchFamily="34" charset="0"/>
                <a:ea typeface="Helvetica Neue" pitchFamily="34" charset="-122"/>
                <a:cs typeface="Helvetica Neue" pitchFamily="34" charset="-120"/>
              </a:rPr>
              <a:t>Device health checks run the whole time: data flowing, self-test, finger on, power.</a:t>
            </a:r>
            <a:endParaRPr lang="en-US" sz="1550" dirty="0"/>
          </a:p>
        </p:txBody>
      </p:sp>
      <p:sp>
        <p:nvSpPr>
          <p:cNvPr id="14" name="Shape 10"/>
          <p:cNvSpPr/>
          <p:nvPr/>
        </p:nvSpPr>
        <p:spPr>
          <a:xfrm>
            <a:off x="6355080" y="3669947"/>
            <a:ext cx="73152" cy="73152"/>
          </a:xfrm>
          <a:prstGeom prst="ellipse">
            <a:avLst/>
          </a:prstGeom>
          <a:solidFill>
            <a:srgbClr val="A1A1A6"/>
          </a:solidFill>
          <a:ln/>
        </p:spPr>
      </p:sp>
      <p:sp>
        <p:nvSpPr>
          <p:cNvPr id="15" name="Text 11"/>
          <p:cNvSpPr txBox="1"/>
          <p:nvPr/>
        </p:nvSpPr>
        <p:spPr>
          <a:xfrm>
            <a:off x="6583680" y="3569081"/>
            <a:ext cx="4937760" cy="553466"/>
          </a:xfrm>
          <a:prstGeom prst="rect">
            <a:avLst/>
          </a:prstGeom>
          <a:noFill/>
          <a:ln/>
        </p:spPr>
        <p:txBody>
          <a:bodyPr wrap="square" lIns="0" tIns="0" rIns="0" bIns="0" rtlCol="0" anchor="t"/>
          <a:lstStyle/>
          <a:p>
            <a:pPr indent="0" marL="0">
              <a:buNone/>
            </a:pPr>
            <a:r>
              <a:rPr lang="en-US" sz="1550" dirty="0">
                <a:solidFill>
                  <a:srgbClr val="1D1D1F"/>
                </a:solidFill>
                <a:latin typeface="Helvetica Neue" pitchFamily="34" charset="0"/>
                <a:ea typeface="Helvetica Neue" pitchFamily="34" charset="-122"/>
                <a:cs typeface="Helvetica Neue" pitchFamily="34" charset="-120"/>
              </a:rPr>
              <a:t>Saving a session gives the same CSV the analysis uses, so every number is traceable.</a:t>
            </a:r>
            <a:endParaRPr lang="en-US" sz="1550" dirty="0"/>
          </a:p>
        </p:txBody>
      </p:sp>
      <p:sp>
        <p:nvSpPr>
          <p:cNvPr id="16" name="Shape 12"/>
          <p:cNvSpPr/>
          <p:nvPr/>
        </p:nvSpPr>
        <p:spPr>
          <a:xfrm>
            <a:off x="6355080" y="4351429"/>
            <a:ext cx="73152" cy="73152"/>
          </a:xfrm>
          <a:prstGeom prst="ellipse">
            <a:avLst/>
          </a:prstGeom>
          <a:solidFill>
            <a:srgbClr val="A1A1A6"/>
          </a:solidFill>
          <a:ln/>
        </p:spPr>
      </p:sp>
      <p:sp>
        <p:nvSpPr>
          <p:cNvPr id="17" name="Text 13"/>
          <p:cNvSpPr txBox="1"/>
          <p:nvPr/>
        </p:nvSpPr>
        <p:spPr>
          <a:xfrm>
            <a:off x="6583680" y="4250563"/>
            <a:ext cx="4937760" cy="553466"/>
          </a:xfrm>
          <a:prstGeom prst="rect">
            <a:avLst/>
          </a:prstGeom>
          <a:noFill/>
          <a:ln/>
        </p:spPr>
        <p:txBody>
          <a:bodyPr wrap="square" lIns="0" tIns="0" rIns="0" bIns="0" rtlCol="0" anchor="t"/>
          <a:lstStyle/>
          <a:p>
            <a:pPr indent="0" marL="0">
              <a:buNone/>
            </a:pPr>
            <a:r>
              <a:rPr lang="en-US" sz="1550" dirty="0">
                <a:solidFill>
                  <a:srgbClr val="1D1D1F"/>
                </a:solidFill>
                <a:latin typeface="Helvetica Neue" pitchFamily="34" charset="0"/>
                <a:ea typeface="Helvetica Neue" pitchFamily="34" charset="-122"/>
                <a:cs typeface="Helvetica Neue" pitchFamily="34" charset="-120"/>
              </a:rPr>
              <a:t>Heart, Asthma and Progress tabs for the spin-offs and my build log.</a:t>
            </a:r>
            <a:endParaRPr lang="en-US" sz="1550" dirty="0"/>
          </a:p>
        </p:txBody>
      </p:sp>
      <p:sp>
        <p:nvSpPr>
          <p:cNvPr id="18" name="Shape 14"/>
          <p:cNvSpPr/>
          <p:nvPr/>
        </p:nvSpPr>
        <p:spPr>
          <a:xfrm>
            <a:off x="6373368" y="5047488"/>
            <a:ext cx="1106424" cy="1106424"/>
          </a:xfrm>
          <a:prstGeom prst="roundRect">
            <a:avLst>
              <a:gd name="adj" fmla="val 18182"/>
            </a:avLst>
          </a:prstGeom>
          <a:solidFill>
            <a:srgbClr val="FFFFFF"/>
          </a:solidFill>
          <a:ln/>
        </p:spPr>
      </p:sp>
      <p:pic>
        <p:nvPicPr>
          <p:cNvPr id="19" name="Image 2" descr="/home/user/teetomivV2/science-fair/night-signal/slides/assets/qr_app.png">
            <a:hlinkClick r:id="rId4" tooltip="https://gabrielamamanestudent-wq.github.io/teetomivV2/science-fair/night-signal/app/"/>
          </p:cNvPr>
          <p:cNvPicPr>
            <a:picLocks noChangeAspect="1"/>
          </p:cNvPicPr>
          <p:nvPr/>
        </p:nvPicPr>
        <p:blipFill>
          <a:blip r:embed="rId3"/>
          <a:stretch>
            <a:fillRect/>
          </a:stretch>
        </p:blipFill>
        <p:spPr>
          <a:xfrm>
            <a:off x="6446520" y="5120640"/>
            <a:ext cx="960120" cy="960120"/>
          </a:xfrm>
          <a:prstGeom prst="rect">
            <a:avLst/>
          </a:prstGeom>
        </p:spPr>
      </p:pic>
      <p:sp>
        <p:nvSpPr>
          <p:cNvPr id="20" name="Text 15"/>
          <p:cNvSpPr txBox="1"/>
          <p:nvPr/>
        </p:nvSpPr>
        <p:spPr>
          <a:xfrm>
            <a:off x="7680960" y="5285232"/>
            <a:ext cx="2743200" cy="310896"/>
          </a:xfrm>
          <a:prstGeom prst="rect">
            <a:avLst/>
          </a:prstGeom>
          <a:noFill/>
          <a:ln/>
        </p:spPr>
        <p:txBody>
          <a:bodyPr wrap="square" lIns="0" tIns="0" rIns="0" bIns="0" rtlCol="0" anchor="ctr"/>
          <a:lstStyle/>
          <a:p>
            <a:pPr algn="l" indent="0" marL="0">
              <a:buNone/>
            </a:pPr>
            <a:r>
              <a:rPr lang="en-US" sz="1600" u="sng" dirty="0">
                <a:solidFill>
                  <a:srgbClr val="0071E3"/>
                </a:solidFill>
                <a:latin typeface="Helvetica Neue" pitchFamily="34" charset="0"/>
                <a:ea typeface="Helvetica Neue" pitchFamily="34" charset="-122"/>
                <a:cs typeface="Helvetica Neue" pitchFamily="34" charset="-120"/>
                <a:hlinkClick r:id="rId5" invalidUrl="" action="" tgtFrame="" tooltip="https://gabrielamamanestudent-wq.github.io/teetomivV2/science-fair/night-signal/app/" history="1" highlightClick="0" endSnd="0">
                  <a:extLst>
                    <a:ext uri="{A12FA001-AC4F-418D-AE19-62706E023703}">
                      <ahyp:hlinkClr xmlns:ahyp="http://schemas.microsoft.com/office/drawing/2018/hyperlinkcolor" val="tx"/>
                    </a:ext>
                  </a:extLst>
                </a:hlinkClick>
              </a:rPr>
              <a:t>Open the app ›</a:t>
            </a:r>
            <a:endParaRPr lang="en-US" sz="1600" dirty="0"/>
          </a:p>
        </p:txBody>
      </p:sp>
      <p:sp>
        <p:nvSpPr>
          <p:cNvPr id="21" name="Text 16"/>
          <p:cNvSpPr txBox="1"/>
          <p:nvPr/>
        </p:nvSpPr>
        <p:spPr>
          <a:xfrm>
            <a:off x="7680960" y="5650992"/>
            <a:ext cx="3840480" cy="274320"/>
          </a:xfrm>
          <a:prstGeom prst="rect">
            <a:avLst/>
          </a:prstGeom>
          <a:noFill/>
          <a:ln/>
        </p:spPr>
        <p:txBody>
          <a:bodyPr wrap="square" lIns="0" tIns="0" rIns="0" bIns="0" rtlCol="0" anchor="t"/>
          <a:lstStyle/>
          <a:p>
            <a:pPr indent="0" marL="0">
              <a:buNone/>
            </a:pPr>
            <a:r>
              <a:rPr lang="en-US" sz="1250" dirty="0">
                <a:solidFill>
                  <a:srgbClr val="6E6E73"/>
                </a:solidFill>
                <a:latin typeface="Helvetica Neue" pitchFamily="34" charset="0"/>
                <a:ea typeface="Helvetica Neue" pitchFamily="34" charset="-122"/>
                <a:cs typeface="Helvetica Neue" pitchFamily="34" charset="-120"/>
              </a:rPr>
              <a:t>Scan to try it. A demo device is built in.</a:t>
            </a:r>
            <a:endParaRPr lang="en-US" sz="12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85800" y="502920"/>
            <a:ext cx="10789920" cy="320040"/>
          </a:xfrm>
          <a:prstGeom prst="rect">
            <a:avLst/>
          </a:prstGeom>
          <a:noFill/>
          <a:ln/>
        </p:spPr>
        <p:txBody>
          <a:bodyPr wrap="square" lIns="0" tIns="0" rIns="0" bIns="0" rtlCol="0" anchor="t"/>
          <a:lstStyle/>
          <a:p>
            <a:pPr indent="0" marL="0">
              <a:buNone/>
            </a:pPr>
            <a:r>
              <a:rPr lang="en-US" sz="1600" b="1" dirty="0">
                <a:solidFill>
                  <a:srgbClr val="E3254B"/>
                </a:solidFill>
                <a:latin typeface="Helvetica Neue" pitchFamily="34" charset="0"/>
                <a:ea typeface="Helvetica Neue" pitchFamily="34" charset="-122"/>
                <a:cs typeface="Helvetica Neue" pitchFamily="34" charset="-120"/>
              </a:rPr>
              <a:t>Results</a:t>
            </a:r>
            <a:endParaRPr lang="en-US" sz="1600" dirty="0"/>
          </a:p>
        </p:txBody>
      </p:sp>
      <p:sp>
        <p:nvSpPr>
          <p:cNvPr id="3" name="Text 1"/>
          <p:cNvSpPr txBox="1"/>
          <p:nvPr/>
        </p:nvSpPr>
        <p:spPr>
          <a:xfrm>
            <a:off x="685800" y="841248"/>
            <a:ext cx="10789920" cy="868680"/>
          </a:xfrm>
          <a:prstGeom prst="rect">
            <a:avLst/>
          </a:prstGeom>
          <a:noFill/>
          <a:ln/>
        </p:spPr>
        <p:txBody>
          <a:bodyPr wrap="square" lIns="0" tIns="0" rIns="0" bIns="0" rtlCol="0" anchor="t"/>
          <a:lstStyle/>
          <a:p>
            <a:pPr indent="0" marL="0">
              <a:lnSpc>
                <a:spcPct val="92000"/>
              </a:lnSpc>
              <a:buNone/>
            </a:pPr>
            <a:r>
              <a:rPr lang="en-US" sz="4000" b="1" dirty="0">
                <a:solidFill>
                  <a:srgbClr val="1D1D1F"/>
                </a:solidFill>
                <a:latin typeface="Helvetica Neue" pitchFamily="34" charset="0"/>
                <a:ea typeface="Helvetica Neue" pitchFamily="34" charset="-122"/>
                <a:cs typeface="Helvetica Neue" pitchFamily="34" charset="-120"/>
              </a:rPr>
              <a:t>What one night showed.</a:t>
            </a:r>
            <a:endParaRPr lang="en-US" sz="4000" dirty="0"/>
          </a:p>
        </p:txBody>
      </p:sp>
      <p:sp>
        <p:nvSpPr>
          <p:cNvPr id="4" name="Shape 2"/>
          <p:cNvSpPr/>
          <p:nvPr/>
        </p:nvSpPr>
        <p:spPr>
          <a:xfrm>
            <a:off x="9464040" y="502920"/>
            <a:ext cx="2057400" cy="329184"/>
          </a:xfrm>
          <a:prstGeom prst="roundRect">
            <a:avLst>
              <a:gd name="adj" fmla="val 50000"/>
            </a:avLst>
          </a:prstGeom>
          <a:solidFill>
            <a:srgbClr val="F5F5F7"/>
          </a:solidFill>
          <a:ln/>
        </p:spPr>
      </p:sp>
      <p:sp>
        <p:nvSpPr>
          <p:cNvPr id="5" name="Text 3"/>
          <p:cNvSpPr txBox="1"/>
          <p:nvPr/>
        </p:nvSpPr>
        <p:spPr>
          <a:xfrm>
            <a:off x="9464040" y="502920"/>
            <a:ext cx="2057400" cy="329184"/>
          </a:xfrm>
          <a:prstGeom prst="rect">
            <a:avLst/>
          </a:prstGeom>
          <a:noFill/>
          <a:ln/>
        </p:spPr>
        <p:txBody>
          <a:bodyPr wrap="square" lIns="0" tIns="0" rIns="0" bIns="0" rtlCol="0" anchor="ctr"/>
          <a:lstStyle/>
          <a:p>
            <a:pPr algn="ctr" indent="0" marL="0">
              <a:buNone/>
            </a:pPr>
            <a:r>
              <a:rPr lang="en-US" sz="1050" b="1" dirty="0">
                <a:solidFill>
                  <a:srgbClr val="6E6E73"/>
                </a:solidFill>
                <a:latin typeface="Helvetica Neue" pitchFamily="34" charset="0"/>
                <a:ea typeface="Helvetica Neue" pitchFamily="34" charset="-122"/>
                <a:cs typeface="Helvetica Neue" pitchFamily="34" charset="-120"/>
              </a:rPr>
              <a:t>Example data</a:t>
            </a:r>
            <a:endParaRPr lang="en-US" sz="105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685800" y="1920240"/>
          <a:ext cx="10817352" cy="914400"/>
        </p:xfrm>
        <a:graphic>
          <a:graphicData uri="http://schemas.openxmlformats.org/drawingml/2006/table">
            <a:tbl>
              <a:tblPr/>
              <a:tblGrid>
                <a:gridCol w="3200400"/>
                <a:gridCol w="4023360"/>
                <a:gridCol w="3593592"/>
              </a:tblGrid>
              <a:tr h="457200">
                <a:tc>
                  <a:txBody>
                    <a:bodyPr/>
                    <a:lstStyle/>
                    <a:p>
                      <a:pPr indent="0" marL="0">
                        <a:buNone/>
                      </a:pPr>
                      <a:r>
                        <a:rPr lang="en-US" sz="1300" b="1" dirty="0">
                          <a:solidFill>
                            <a:srgbClr val="6E6E73"/>
                          </a:solidFill>
                          <a:latin typeface="Helvetica Neue" pitchFamily="34" charset="0"/>
                          <a:ea typeface="Helvetica Neue" pitchFamily="34" charset="-122"/>
                          <a:cs typeface="Helvetica Neue" pitchFamily="34" charset="-120"/>
                        </a:rPr>
                        <a:t>Measure</a:t>
                      </a:r>
                      <a:endParaRPr lang="en-US" sz="130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15875" cap="flat" cmpd="sng" algn="ctr">
                      <a:solidFill>
                        <a:srgbClr val="1D1D1F"/>
                      </a:solidFill>
                      <a:prstDash val="solid"/>
                      <a:round/>
                      <a:headEnd type="none" w="med" len="med"/>
                      <a:tailEnd type="none" w="med" len="med"/>
                    </a:lnB>
                  </a:tcPr>
                </a:tc>
                <a:tc>
                  <a:txBody>
                    <a:bodyPr/>
                    <a:lstStyle/>
                    <a:p>
                      <a:pPr indent="0" marL="0">
                        <a:buNone/>
                      </a:pPr>
                      <a:r>
                        <a:rPr lang="en-US" sz="1300" b="1" dirty="0">
                          <a:solidFill>
                            <a:srgbClr val="6E6E73"/>
                          </a:solidFill>
                          <a:latin typeface="Helvetica Neue" pitchFamily="34" charset="0"/>
                          <a:ea typeface="Helvetica Neue" pitchFamily="34" charset="-122"/>
                          <a:cs typeface="Helvetica Neue" pitchFamily="34" charset="-120"/>
                        </a:rPr>
                        <a:t>Result</a:t>
                      </a:r>
                      <a:endParaRPr lang="en-US" sz="130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15875" cap="flat" cmpd="sng" algn="ctr">
                      <a:solidFill>
                        <a:srgbClr val="1D1D1F"/>
                      </a:solidFill>
                      <a:prstDash val="solid"/>
                      <a:round/>
                      <a:headEnd type="none" w="med" len="med"/>
                      <a:tailEnd type="none" w="med" len="med"/>
                    </a:lnB>
                  </a:tcPr>
                </a:tc>
                <a:tc>
                  <a:txBody>
                    <a:bodyPr/>
                    <a:lstStyle/>
                    <a:p>
                      <a:pPr indent="0" marL="0">
                        <a:buNone/>
                      </a:pPr>
                      <a:r>
                        <a:rPr lang="en-US" sz="1300" b="1" dirty="0">
                          <a:solidFill>
                            <a:srgbClr val="6E6E73"/>
                          </a:solidFill>
                          <a:latin typeface="Helvetica Neue" pitchFamily="34" charset="0"/>
                          <a:ea typeface="Helvetica Neue" pitchFamily="34" charset="-122"/>
                          <a:cs typeface="Helvetica Neue" pitchFamily="34" charset="-120"/>
                        </a:rPr>
                        <a:t>Meaning</a:t>
                      </a:r>
                      <a:endParaRPr lang="en-US" sz="130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15875" cap="flat" cmpd="sng" algn="ctr">
                      <a:solidFill>
                        <a:srgbClr val="1D1D1F"/>
                      </a:solidFill>
                      <a:prstDash val="solid"/>
                      <a:round/>
                      <a:headEnd type="none" w="med" len="med"/>
                      <a:tailEnd type="none" w="med" len="med"/>
                    </a:lnB>
                  </a:tcPr>
                </a:tc>
              </a:tr>
              <a:tr h="457200">
                <a:tc>
                  <a:txBody>
                    <a:bodyPr/>
                    <a:lstStyle/>
                    <a:p>
                      <a:pPr indent="0" marL="0">
                        <a:buNone/>
                      </a:pPr>
                      <a:r>
                        <a:rPr lang="en-US" sz="1500" b="1" dirty="0">
                          <a:solidFill>
                            <a:srgbClr val="1D1D1F"/>
                          </a:solidFill>
                          <a:latin typeface="Helvetica Neue" pitchFamily="34" charset="0"/>
                          <a:ea typeface="Helvetica Neue" pitchFamily="34" charset="-122"/>
                          <a:cs typeface="Helvetica Neue" pitchFamily="34" charset="-120"/>
                        </a:rPr>
                        <a:t>Recording</a:t>
                      </a:r>
                      <a:endParaRPr lang="en-US" sz="150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500" dirty="0">
                          <a:solidFill>
                            <a:srgbClr val="1D1D1F"/>
                          </a:solidFill>
                          <a:latin typeface="Helvetica Neue" pitchFamily="34" charset="0"/>
                          <a:ea typeface="Helvetica Neue" pitchFamily="34" charset="-122"/>
                          <a:cs typeface="Helvetica Neue" pitchFamily="34" charset="-120"/>
                        </a:rPr>
                        <a:t>7.0 h · 25,200 readings</a:t>
                      </a:r>
                      <a:endParaRPr lang="en-US" sz="150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500" dirty="0">
                          <a:solidFill>
                            <a:srgbClr val="6E6E73"/>
                          </a:solidFill>
                          <a:latin typeface="Helvetica Neue" pitchFamily="34" charset="0"/>
                          <a:ea typeface="Helvetica Neue" pitchFamily="34" charset="-122"/>
                          <a:cs typeface="Helvetica Neue" pitchFamily="34" charset="-120"/>
                        </a:rPr>
                        <a:t>a full night captured</a:t>
                      </a:r>
                      <a:endParaRPr lang="en-US" sz="150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r>
              <a:tr h="457200">
                <a:tc>
                  <a:txBody>
                    <a:bodyPr/>
                    <a:lstStyle/>
                    <a:p>
                      <a:pPr indent="0" marL="0">
                        <a:buNone/>
                      </a:pPr>
                      <a:r>
                        <a:rPr lang="en-US" sz="1500" b="1" dirty="0">
                          <a:solidFill>
                            <a:srgbClr val="1D1D1F"/>
                          </a:solidFill>
                          <a:latin typeface="Helvetica Neue" pitchFamily="34" charset="0"/>
                          <a:ea typeface="Helvetica Neue" pitchFamily="34" charset="-122"/>
                          <a:cs typeface="Helvetica Neue" pitchFamily="34" charset="-120"/>
                        </a:rPr>
                        <a:t>Apnea events</a:t>
                      </a:r>
                      <a:endParaRPr lang="en-US" sz="150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500" dirty="0">
                          <a:solidFill>
                            <a:srgbClr val="1D1D1F"/>
                          </a:solidFill>
                          <a:latin typeface="Helvetica Neue" pitchFamily="34" charset="0"/>
                          <a:ea typeface="Helvetica Neue" pitchFamily="34" charset="-122"/>
                          <a:cs typeface="Helvetica Neue" pitchFamily="34" charset="-120"/>
                        </a:rPr>
                        <a:t>19  →  AHI 2.7 / hour</a:t>
                      </a:r>
                      <a:endParaRPr lang="en-US" sz="150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500" dirty="0">
                          <a:solidFill>
                            <a:srgbClr val="6E6E73"/>
                          </a:solidFill>
                          <a:latin typeface="Helvetica Neue" pitchFamily="34" charset="0"/>
                          <a:ea typeface="Helvetica Neue" pitchFamily="34" charset="-122"/>
                          <a:cs typeface="Helvetica Neue" pitchFamily="34" charset="-120"/>
                        </a:rPr>
                        <a:t>Normal range (&lt; 5)</a:t>
                      </a:r>
                      <a:endParaRPr lang="en-US" sz="150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r>
              <a:tr h="457200">
                <a:tc>
                  <a:txBody>
                    <a:bodyPr/>
                    <a:lstStyle/>
                    <a:p>
                      <a:pPr indent="0" marL="0">
                        <a:buNone/>
                      </a:pPr>
                      <a:r>
                        <a:rPr lang="en-US" sz="1500" b="1" dirty="0">
                          <a:solidFill>
                            <a:srgbClr val="1D1D1F"/>
                          </a:solidFill>
                          <a:latin typeface="Helvetica Neue" pitchFamily="34" charset="0"/>
                          <a:ea typeface="Helvetica Neue" pitchFamily="34" charset="-122"/>
                          <a:cs typeface="Helvetica Neue" pitchFamily="34" charset="-120"/>
                        </a:rPr>
                        <a:t>Blood oxygen (avg / lowest)</a:t>
                      </a:r>
                      <a:endParaRPr lang="en-US" sz="150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500" dirty="0">
                          <a:solidFill>
                            <a:srgbClr val="1D1D1F"/>
                          </a:solidFill>
                          <a:latin typeface="Helvetica Neue" pitchFamily="34" charset="0"/>
                          <a:ea typeface="Helvetica Neue" pitchFamily="34" charset="-122"/>
                          <a:cs typeface="Helvetica Neue" pitchFamily="34" charset="-120"/>
                        </a:rPr>
                        <a:t>97.5 % / 84 %</a:t>
                      </a:r>
                      <a:endParaRPr lang="en-US" sz="150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500" dirty="0">
                          <a:solidFill>
                            <a:srgbClr val="6E6E73"/>
                          </a:solidFill>
                          <a:latin typeface="Helvetica Neue" pitchFamily="34" charset="0"/>
                          <a:ea typeface="Helvetica Neue" pitchFamily="34" charset="-122"/>
                          <a:cs typeface="Helvetica Neue" pitchFamily="34" charset="-120"/>
                        </a:rPr>
                        <a:t>lowest point during an event</a:t>
                      </a:r>
                      <a:endParaRPr lang="en-US" sz="150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r>
              <a:tr h="457200">
                <a:tc>
                  <a:txBody>
                    <a:bodyPr/>
                    <a:lstStyle/>
                    <a:p>
                      <a:pPr indent="0" marL="0">
                        <a:buNone/>
                      </a:pPr>
                      <a:r>
                        <a:rPr lang="en-US" sz="1500" b="1" dirty="0">
                          <a:solidFill>
                            <a:srgbClr val="1D1D1F"/>
                          </a:solidFill>
                          <a:latin typeface="Helvetica Neue" pitchFamily="34" charset="0"/>
                          <a:ea typeface="Helvetica Neue" pitchFamily="34" charset="-122"/>
                          <a:cs typeface="Helvetica Neue" pitchFamily="34" charset="-120"/>
                        </a:rPr>
                        <a:t>Accuracy vs reference</a:t>
                      </a:r>
                      <a:endParaRPr lang="en-US" sz="150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500" dirty="0">
                          <a:solidFill>
                            <a:srgbClr val="1D1D1F"/>
                          </a:solidFill>
                          <a:latin typeface="Helvetica Neue" pitchFamily="34" charset="0"/>
                          <a:ea typeface="Helvetica Neue" pitchFamily="34" charset="-122"/>
                          <a:cs typeface="Helvetica Neue" pitchFamily="34" charset="-120"/>
                        </a:rPr>
                        <a:t>± 0.56 %  (r = 0.88)</a:t>
                      </a:r>
                      <a:endParaRPr lang="en-US" sz="150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500" dirty="0">
                          <a:solidFill>
                            <a:srgbClr val="6E6E73"/>
                          </a:solidFill>
                          <a:latin typeface="Helvetica Neue" pitchFamily="34" charset="0"/>
                          <a:ea typeface="Helvetica Neue" pitchFamily="34" charset="-122"/>
                          <a:cs typeface="Helvetica Neue" pitchFamily="34" charset="-120"/>
                        </a:rPr>
                        <a:t>210 paired readings</a:t>
                      </a:r>
                      <a:endParaRPr lang="en-US" sz="150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r>
              <a:tr h="457200">
                <a:tc>
                  <a:txBody>
                    <a:bodyPr/>
                    <a:lstStyle/>
                    <a:p>
                      <a:pPr indent="0" marL="0">
                        <a:buNone/>
                      </a:pPr>
                      <a:r>
                        <a:rPr lang="en-US" sz="1500" b="1" dirty="0">
                          <a:solidFill>
                            <a:srgbClr val="1D1D1F"/>
                          </a:solidFill>
                          <a:latin typeface="Helvetica Neue" pitchFamily="34" charset="0"/>
                          <a:ea typeface="Helvetica Neue" pitchFamily="34" charset="-122"/>
                          <a:cs typeface="Helvetica Neue" pitchFamily="34" charset="-120"/>
                        </a:rPr>
                        <a:t>Events caught: rule / ML</a:t>
                      </a:r>
                      <a:endParaRPr lang="en-US" sz="150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500" dirty="0">
                          <a:solidFill>
                            <a:srgbClr val="1D1D1F"/>
                          </a:solidFill>
                          <a:latin typeface="Helvetica Neue" pitchFamily="34" charset="0"/>
                          <a:ea typeface="Helvetica Neue" pitchFamily="34" charset="-122"/>
                          <a:cs typeface="Helvetica Neue" pitchFamily="34" charset="-120"/>
                        </a:rPr>
                        <a:t>63 % / 63 %</a:t>
                      </a:r>
                      <a:endParaRPr lang="en-US" sz="150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500" dirty="0">
                          <a:solidFill>
                            <a:srgbClr val="6E6E73"/>
                          </a:solidFill>
                          <a:latin typeface="Helvetica Neue" pitchFamily="34" charset="0"/>
                          <a:ea typeface="Helvetica Neue" pitchFamily="34" charset="-122"/>
                          <a:cs typeface="Helvetica Neue" pitchFamily="34" charset="-120"/>
                        </a:rPr>
                        <a:t>precision 1.00 / 0.92</a:t>
                      </a:r>
                      <a:endParaRPr lang="en-US" sz="150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r>
              <a:tr h="457200">
                <a:tc>
                  <a:txBody>
                    <a:bodyPr/>
                    <a:lstStyle/>
                    <a:p>
                      <a:pPr indent="0" marL="0">
                        <a:buNone/>
                      </a:pPr>
                      <a:r>
                        <a:rPr lang="en-US" sz="1500" b="1" dirty="0">
                          <a:solidFill>
                            <a:srgbClr val="1D1D1F"/>
                          </a:solidFill>
                          <a:latin typeface="Helvetica Neue" pitchFamily="34" charset="0"/>
                          <a:ea typeface="Helvetica Neue" pitchFamily="34" charset="-122"/>
                          <a:cs typeface="Helvetica Neue" pitchFamily="34" charset="-120"/>
                        </a:rPr>
                        <a:t>Sleep position</a:t>
                      </a:r>
                      <a:endParaRPr lang="en-US" sz="150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500" dirty="0">
                          <a:solidFill>
                            <a:srgbClr val="1D1D1F"/>
                          </a:solidFill>
                          <a:latin typeface="Helvetica Neue" pitchFamily="34" charset="0"/>
                          <a:ea typeface="Helvetica Neue" pitchFamily="34" charset="-122"/>
                          <a:cs typeface="Helvetica Neue" pitchFamily="34" charset="-120"/>
                        </a:rPr>
                        <a:t>back 3.8 / h  vs  sides 1.1–1.3 / h</a:t>
                      </a:r>
                      <a:endParaRPr lang="en-US" sz="150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500" dirty="0">
                          <a:solidFill>
                            <a:srgbClr val="6E6E73"/>
                          </a:solidFill>
                          <a:latin typeface="Helvetica Neue" pitchFamily="34" charset="0"/>
                          <a:ea typeface="Helvetica Neue" pitchFamily="34" charset="-122"/>
                          <a:cs typeface="Helvetica Neue" pitchFamily="34" charset="-120"/>
                        </a:rPr>
                        <a:t>≈ 3 × more events on the back</a:t>
                      </a:r>
                      <a:endParaRPr lang="en-US" sz="150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r>
              <a:tr h="457200">
                <a:tc>
                  <a:txBody>
                    <a:bodyPr/>
                    <a:lstStyle/>
                    <a:p>
                      <a:pPr indent="0" marL="0">
                        <a:buNone/>
                      </a:pPr>
                      <a:r>
                        <a:rPr lang="en-US" sz="1500" b="1" dirty="0">
                          <a:solidFill>
                            <a:srgbClr val="1D1D1F"/>
                          </a:solidFill>
                          <a:latin typeface="Helvetica Neue" pitchFamily="34" charset="0"/>
                          <a:ea typeface="Helvetica Neue" pitchFamily="34" charset="-122"/>
                          <a:cs typeface="Helvetica Neue" pitchFamily="34" charset="-120"/>
                        </a:rPr>
                        <a:t>Spin-offs</a:t>
                      </a:r>
                      <a:endParaRPr lang="en-US" sz="150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500" dirty="0">
                          <a:solidFill>
                            <a:srgbClr val="1D1D1F"/>
                          </a:solidFill>
                          <a:latin typeface="Helvetica Neue" pitchFamily="34" charset="0"/>
                          <a:ea typeface="Helvetica Neue" pitchFamily="34" charset="-122"/>
                          <a:cs typeface="Helvetica Neue" pitchFamily="34" charset="-120"/>
                        </a:rPr>
                        <a:t>3 heart episodes · breathing 13 → 22 / min</a:t>
                      </a:r>
                      <a:endParaRPr lang="en-US" sz="150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500" dirty="0">
                          <a:solidFill>
                            <a:srgbClr val="6E6E73"/>
                          </a:solidFill>
                          <a:latin typeface="Helvetica Neue" pitchFamily="34" charset="0"/>
                          <a:ea typeface="Helvetica Neue" pitchFamily="34" charset="-122"/>
                          <a:cs typeface="Helvetica Neue" pitchFamily="34" charset="-120"/>
                        </a:rPr>
                        <a:t>patterns flagged correctly</a:t>
                      </a:r>
                      <a:endParaRPr lang="en-US" sz="150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r>
            </a:tbl>
          </a:graphicData>
        </a:graphic>
      </p:graphicFrame>
      <p:sp>
        <p:nvSpPr>
          <p:cNvPr id="7" name="Text 4"/>
          <p:cNvSpPr txBox="1"/>
          <p:nvPr/>
        </p:nvSpPr>
        <p:spPr>
          <a:xfrm>
            <a:off x="685800" y="6035040"/>
            <a:ext cx="10789920" cy="274320"/>
          </a:xfrm>
          <a:prstGeom prst="rect">
            <a:avLst/>
          </a:prstGeom>
          <a:noFill/>
          <a:ln/>
        </p:spPr>
        <p:txBody>
          <a:bodyPr wrap="square" lIns="0" tIns="0" rIns="0" bIns="0" rtlCol="0" anchor="t"/>
          <a:lstStyle/>
          <a:p>
            <a:pPr indent="0" marL="0">
              <a:buNone/>
            </a:pPr>
            <a:r>
              <a:rPr lang="en-US" sz="1200" dirty="0">
                <a:solidFill>
                  <a:srgbClr val="6E6E73"/>
                </a:solidFill>
                <a:latin typeface="Helvetica Neue" pitchFamily="34" charset="0"/>
                <a:ea typeface="Helvetica Neue" pitchFamily="34" charset="-122"/>
                <a:cs typeface="Helvetica Neue" pitchFamily="34" charset="-120"/>
              </a:rPr>
              <a:t>Example data from my simulator, replaced with my own recorded nights before the final submission.</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85800" y="502920"/>
            <a:ext cx="10789920" cy="320040"/>
          </a:xfrm>
          <a:prstGeom prst="rect">
            <a:avLst/>
          </a:prstGeom>
          <a:noFill/>
          <a:ln/>
        </p:spPr>
        <p:txBody>
          <a:bodyPr wrap="square" lIns="0" tIns="0" rIns="0" bIns="0" rtlCol="0" anchor="t"/>
          <a:lstStyle/>
          <a:p>
            <a:pPr indent="0" marL="0">
              <a:buNone/>
            </a:pPr>
            <a:r>
              <a:rPr lang="en-US" sz="1600" b="1" dirty="0">
                <a:solidFill>
                  <a:srgbClr val="E3254B"/>
                </a:solidFill>
                <a:latin typeface="Helvetica Neue" pitchFamily="34" charset="0"/>
                <a:ea typeface="Helvetica Neue" pitchFamily="34" charset="-122"/>
                <a:cs typeface="Helvetica Neue" pitchFamily="34" charset="-120"/>
              </a:rPr>
              <a:t>Results</a:t>
            </a:r>
            <a:endParaRPr lang="en-US" sz="1600" dirty="0"/>
          </a:p>
        </p:txBody>
      </p:sp>
      <p:sp>
        <p:nvSpPr>
          <p:cNvPr id="3" name="Text 1"/>
          <p:cNvSpPr txBox="1"/>
          <p:nvPr/>
        </p:nvSpPr>
        <p:spPr>
          <a:xfrm>
            <a:off x="685800" y="841248"/>
            <a:ext cx="10789920" cy="868680"/>
          </a:xfrm>
          <a:prstGeom prst="rect">
            <a:avLst/>
          </a:prstGeom>
          <a:noFill/>
          <a:ln/>
        </p:spPr>
        <p:txBody>
          <a:bodyPr wrap="square" lIns="0" tIns="0" rIns="0" bIns="0" rtlCol="0" anchor="t"/>
          <a:lstStyle/>
          <a:p>
            <a:pPr indent="0" marL="0">
              <a:lnSpc>
                <a:spcPct val="92000"/>
              </a:lnSpc>
              <a:buNone/>
            </a:pPr>
            <a:r>
              <a:rPr lang="en-US" sz="4000" b="1" dirty="0">
                <a:solidFill>
                  <a:srgbClr val="1D1D1F"/>
                </a:solidFill>
                <a:latin typeface="Helvetica Neue" pitchFamily="34" charset="0"/>
                <a:ea typeface="Helvetica Neue" pitchFamily="34" charset="-122"/>
                <a:cs typeface="Helvetica Neue" pitchFamily="34" charset="-120"/>
              </a:rPr>
              <a:t>Every dip found. And the readings agree.</a:t>
            </a:r>
            <a:endParaRPr lang="en-US" sz="4000" dirty="0"/>
          </a:p>
        </p:txBody>
      </p:sp>
      <p:sp>
        <p:nvSpPr>
          <p:cNvPr id="4" name="Shape 2"/>
          <p:cNvSpPr/>
          <p:nvPr/>
        </p:nvSpPr>
        <p:spPr>
          <a:xfrm>
            <a:off x="9464040" y="502920"/>
            <a:ext cx="2057400" cy="329184"/>
          </a:xfrm>
          <a:prstGeom prst="roundRect">
            <a:avLst>
              <a:gd name="adj" fmla="val 50000"/>
            </a:avLst>
          </a:prstGeom>
          <a:solidFill>
            <a:srgbClr val="F5F5F7"/>
          </a:solidFill>
          <a:ln/>
        </p:spPr>
      </p:sp>
      <p:sp>
        <p:nvSpPr>
          <p:cNvPr id="5" name="Text 3"/>
          <p:cNvSpPr txBox="1"/>
          <p:nvPr/>
        </p:nvSpPr>
        <p:spPr>
          <a:xfrm>
            <a:off x="9464040" y="502920"/>
            <a:ext cx="2057400" cy="329184"/>
          </a:xfrm>
          <a:prstGeom prst="rect">
            <a:avLst/>
          </a:prstGeom>
          <a:noFill/>
          <a:ln/>
        </p:spPr>
        <p:txBody>
          <a:bodyPr wrap="square" lIns="0" tIns="0" rIns="0" bIns="0" rtlCol="0" anchor="ctr"/>
          <a:lstStyle/>
          <a:p>
            <a:pPr algn="ctr" indent="0" marL="0">
              <a:buNone/>
            </a:pPr>
            <a:r>
              <a:rPr lang="en-US" sz="1050" b="1" dirty="0">
                <a:solidFill>
                  <a:srgbClr val="6E6E73"/>
                </a:solidFill>
                <a:latin typeface="Helvetica Neue" pitchFamily="34" charset="0"/>
                <a:ea typeface="Helvetica Neue" pitchFamily="34" charset="-122"/>
                <a:cs typeface="Helvetica Neue" pitchFamily="34" charset="-120"/>
              </a:rPr>
              <a:t>Example data</a:t>
            </a:r>
            <a:endParaRPr lang="en-US" sz="1050" dirty="0"/>
          </a:p>
        </p:txBody>
      </p:sp>
      <p:pic>
        <p:nvPicPr>
          <p:cNvPr id="6" name="Image 0" descr="/home/user/teetomivV2/science-fair/night-signal/slides/assets/oxygen.png">    </p:cNvPr>
          <p:cNvPicPr>
            <a:picLocks noChangeAspect="1"/>
          </p:cNvPicPr>
          <p:nvPr/>
        </p:nvPicPr>
        <p:blipFill>
          <a:blip r:embed="rId1"/>
          <a:stretch>
            <a:fillRect/>
          </a:stretch>
        </p:blipFill>
        <p:spPr>
          <a:xfrm>
            <a:off x="685800" y="1965960"/>
            <a:ext cx="6355080" cy="3261159"/>
          </a:xfrm>
          <a:prstGeom prst="rect">
            <a:avLst/>
          </a:prstGeom>
        </p:spPr>
      </p:pic>
      <p:pic>
        <p:nvPicPr>
          <p:cNvPr id="7" name="Image 1" descr="/home/user/teetomivV2/science-fair/night-signal/slides/assets/validation.png">    </p:cNvPr>
          <p:cNvPicPr>
            <a:picLocks noChangeAspect="1"/>
          </p:cNvPicPr>
          <p:nvPr/>
        </p:nvPicPr>
        <p:blipFill>
          <a:blip r:embed="rId2"/>
          <a:stretch>
            <a:fillRect/>
          </a:stretch>
        </p:blipFill>
        <p:spPr>
          <a:xfrm>
            <a:off x="7269480" y="1965960"/>
            <a:ext cx="4233672" cy="3065762"/>
          </a:xfrm>
          <a:prstGeom prst="rect">
            <a:avLst/>
          </a:prstGeom>
        </p:spPr>
      </p:pic>
      <p:sp>
        <p:nvSpPr>
          <p:cNvPr id="8" name="Text 4"/>
          <p:cNvSpPr txBox="1"/>
          <p:nvPr/>
        </p:nvSpPr>
        <p:spPr>
          <a:xfrm>
            <a:off x="7269480" y="5168882"/>
            <a:ext cx="4233672" cy="274320"/>
          </a:xfrm>
          <a:prstGeom prst="rect">
            <a:avLst/>
          </a:prstGeom>
          <a:noFill/>
          <a:ln/>
        </p:spPr>
        <p:txBody>
          <a:bodyPr wrap="square" lIns="0" tIns="0" rIns="0" bIns="0" rtlCol="0" anchor="t"/>
          <a:lstStyle/>
          <a:p>
            <a:pPr algn="ctr" indent="0" marL="0">
              <a:buNone/>
            </a:pPr>
            <a:r>
              <a:rPr lang="en-US" sz="1200" dirty="0">
                <a:solidFill>
                  <a:srgbClr val="6E6E73"/>
                </a:solidFill>
                <a:latin typeface="Helvetica Neue" pitchFamily="34" charset="0"/>
                <a:ea typeface="Helvetica Neue" pitchFamily="34" charset="-122"/>
                <a:cs typeface="Helvetica Neue" pitchFamily="34" charset="-120"/>
              </a:rPr>
              <a:t>95% of readings within −1.5 to +1.7 % of the reference</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85800" y="502920"/>
            <a:ext cx="10789920" cy="320040"/>
          </a:xfrm>
          <a:prstGeom prst="rect">
            <a:avLst/>
          </a:prstGeom>
          <a:noFill/>
          <a:ln/>
        </p:spPr>
        <p:txBody>
          <a:bodyPr wrap="square" lIns="0" tIns="0" rIns="0" bIns="0" rtlCol="0" anchor="t"/>
          <a:lstStyle/>
          <a:p>
            <a:pPr indent="0" marL="0">
              <a:buNone/>
            </a:pPr>
            <a:r>
              <a:rPr lang="en-US" sz="1600" b="1" dirty="0">
                <a:solidFill>
                  <a:srgbClr val="E3254B"/>
                </a:solidFill>
                <a:latin typeface="Helvetica Neue" pitchFamily="34" charset="0"/>
                <a:ea typeface="Helvetica Neue" pitchFamily="34" charset="-122"/>
                <a:cs typeface="Helvetica Neue" pitchFamily="34" charset="-120"/>
              </a:rPr>
              <a:t>Results</a:t>
            </a:r>
            <a:endParaRPr lang="en-US" sz="1600" dirty="0"/>
          </a:p>
        </p:txBody>
      </p:sp>
      <p:sp>
        <p:nvSpPr>
          <p:cNvPr id="3" name="Text 1"/>
          <p:cNvSpPr txBox="1"/>
          <p:nvPr/>
        </p:nvSpPr>
        <p:spPr>
          <a:xfrm>
            <a:off x="685800" y="841248"/>
            <a:ext cx="10789920" cy="868680"/>
          </a:xfrm>
          <a:prstGeom prst="rect">
            <a:avLst/>
          </a:prstGeom>
          <a:noFill/>
          <a:ln/>
        </p:spPr>
        <p:txBody>
          <a:bodyPr wrap="square" lIns="0" tIns="0" rIns="0" bIns="0" rtlCol="0" anchor="t"/>
          <a:lstStyle/>
          <a:p>
            <a:pPr indent="0" marL="0">
              <a:lnSpc>
                <a:spcPct val="92000"/>
              </a:lnSpc>
              <a:buNone/>
            </a:pPr>
            <a:r>
              <a:rPr lang="en-US" sz="4000" b="1" dirty="0">
                <a:solidFill>
                  <a:srgbClr val="1D1D1F"/>
                </a:solidFill>
                <a:latin typeface="Helvetica Neue" pitchFamily="34" charset="0"/>
                <a:ea typeface="Helvetica Neue" pitchFamily="34" charset="-122"/>
                <a:cs typeface="Helvetica Neue" pitchFamily="34" charset="-120"/>
              </a:rPr>
              <a:t>Back-sleeping, and two detectors.</a:t>
            </a:r>
            <a:endParaRPr lang="en-US" sz="4000" dirty="0"/>
          </a:p>
        </p:txBody>
      </p:sp>
      <p:sp>
        <p:nvSpPr>
          <p:cNvPr id="4" name="Shape 2"/>
          <p:cNvSpPr/>
          <p:nvPr/>
        </p:nvSpPr>
        <p:spPr>
          <a:xfrm>
            <a:off x="9464040" y="502920"/>
            <a:ext cx="2057400" cy="329184"/>
          </a:xfrm>
          <a:prstGeom prst="roundRect">
            <a:avLst>
              <a:gd name="adj" fmla="val 50000"/>
            </a:avLst>
          </a:prstGeom>
          <a:solidFill>
            <a:srgbClr val="F5F5F7"/>
          </a:solidFill>
          <a:ln/>
        </p:spPr>
      </p:sp>
      <p:sp>
        <p:nvSpPr>
          <p:cNvPr id="5" name="Text 3"/>
          <p:cNvSpPr txBox="1"/>
          <p:nvPr/>
        </p:nvSpPr>
        <p:spPr>
          <a:xfrm>
            <a:off x="9464040" y="502920"/>
            <a:ext cx="2057400" cy="329184"/>
          </a:xfrm>
          <a:prstGeom prst="rect">
            <a:avLst/>
          </a:prstGeom>
          <a:noFill/>
          <a:ln/>
        </p:spPr>
        <p:txBody>
          <a:bodyPr wrap="square" lIns="0" tIns="0" rIns="0" bIns="0" rtlCol="0" anchor="ctr"/>
          <a:lstStyle/>
          <a:p>
            <a:pPr algn="ctr" indent="0" marL="0">
              <a:buNone/>
            </a:pPr>
            <a:r>
              <a:rPr lang="en-US" sz="1050" b="1" dirty="0">
                <a:solidFill>
                  <a:srgbClr val="6E6E73"/>
                </a:solidFill>
                <a:latin typeface="Helvetica Neue" pitchFamily="34" charset="0"/>
                <a:ea typeface="Helvetica Neue" pitchFamily="34" charset="-122"/>
                <a:cs typeface="Helvetica Neue" pitchFamily="34" charset="-120"/>
              </a:rPr>
              <a:t>Example data</a:t>
            </a:r>
            <a:endParaRPr lang="en-US" sz="1050" dirty="0"/>
          </a:p>
        </p:txBody>
      </p:sp>
      <p:pic>
        <p:nvPicPr>
          <p:cNvPr id="6" name="Image 0" descr="/home/user/teetomivV2/science-fair/night-signal/slides/assets/position.png">    </p:cNvPr>
          <p:cNvPicPr>
            <a:picLocks noChangeAspect="1"/>
          </p:cNvPicPr>
          <p:nvPr/>
        </p:nvPicPr>
        <p:blipFill>
          <a:blip r:embed="rId1"/>
          <a:stretch>
            <a:fillRect/>
          </a:stretch>
        </p:blipFill>
        <p:spPr>
          <a:xfrm>
            <a:off x="685800" y="1874520"/>
            <a:ext cx="5120640" cy="3755136"/>
          </a:xfrm>
          <a:prstGeom prst="rect">
            <a:avLst/>
          </a:prstGeom>
        </p:spPr>
      </p:pic>
      <p:graphicFrame>
        <p:nvGraphicFramePr>
          <p:cNvPr id="7" name="Chart 0" descr=""/>
          <p:cNvGraphicFramePr/>
          <p:nvPr/>
        </p:nvGraphicFramePr>
        <p:xfrm>
          <a:off x="6355080" y="1874520"/>
          <a:ext cx="5166360" cy="3383280"/>
        </p:xfrm>
        <a:graphic xmlns:a="http://schemas.openxmlformats.org/drawingml/2006/main">
          <a:graphicData uri="http://schemas.openxmlformats.org/drawingml/2006/chart">
            <c:chart xmlns:c="http://schemas.openxmlformats.org/drawingml/2006/chart" r:id="rId2"/>
          </a:graphicData>
        </a:graphic>
      </p:graphicFrame>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685800" y="502920"/>
            <a:ext cx="10789920" cy="320040"/>
          </a:xfrm>
          <a:prstGeom prst="rect">
            <a:avLst/>
          </a:prstGeom>
          <a:noFill/>
          <a:ln/>
        </p:spPr>
        <p:txBody>
          <a:bodyPr wrap="square" lIns="0" tIns="0" rIns="0" bIns="0" rtlCol="0" anchor="t"/>
          <a:lstStyle/>
          <a:p>
            <a:pPr indent="0" marL="0">
              <a:buNone/>
            </a:pPr>
            <a:r>
              <a:rPr lang="en-US" sz="1600" b="1" dirty="0">
                <a:solidFill>
                  <a:srgbClr val="FF375F"/>
                </a:solidFill>
                <a:latin typeface="Helvetica Neue" pitchFamily="34" charset="0"/>
                <a:ea typeface="Helvetica Neue" pitchFamily="34" charset="-122"/>
                <a:cs typeface="Helvetica Neue" pitchFamily="34" charset="-120"/>
              </a:rPr>
              <a:t>Main analysis</a:t>
            </a:r>
            <a:endParaRPr lang="en-US" sz="1600" dirty="0"/>
          </a:p>
        </p:txBody>
      </p:sp>
      <p:sp>
        <p:nvSpPr>
          <p:cNvPr id="3" name="Text 1"/>
          <p:cNvSpPr txBox="1"/>
          <p:nvPr/>
        </p:nvSpPr>
        <p:spPr>
          <a:xfrm>
            <a:off x="685800" y="841248"/>
            <a:ext cx="10789920" cy="868680"/>
          </a:xfrm>
          <a:prstGeom prst="rect">
            <a:avLst/>
          </a:prstGeom>
          <a:noFill/>
          <a:ln/>
        </p:spPr>
        <p:txBody>
          <a:bodyPr wrap="square" lIns="0" tIns="0" rIns="0" bIns="0" rtlCol="0" anchor="t"/>
          <a:lstStyle/>
          <a:p>
            <a:pPr indent="0" marL="0">
              <a:lnSpc>
                <a:spcPct val="92000"/>
              </a:lnSpc>
              <a:buNone/>
            </a:pPr>
            <a:r>
              <a:rPr lang="en-US" sz="4000" b="1" dirty="0">
                <a:solidFill>
                  <a:srgbClr val="FFFFFF"/>
                </a:solidFill>
                <a:latin typeface="Helvetica Neue" pitchFamily="34" charset="0"/>
                <a:ea typeface="Helvetica Neue" pitchFamily="34" charset="-122"/>
                <a:cs typeface="Helvetica Neue" pitchFamily="34" charset="-120"/>
              </a:rPr>
              <a:t>What the results mean.</a:t>
            </a:r>
            <a:endParaRPr lang="en-US" sz="4000" dirty="0"/>
          </a:p>
        </p:txBody>
      </p:sp>
      <p:sp>
        <p:nvSpPr>
          <p:cNvPr id="4" name="Shape 2"/>
          <p:cNvSpPr/>
          <p:nvPr/>
        </p:nvSpPr>
        <p:spPr>
          <a:xfrm>
            <a:off x="685800" y="1920240"/>
            <a:ext cx="5312664" cy="2011680"/>
          </a:xfrm>
          <a:prstGeom prst="roundRect">
            <a:avLst>
              <a:gd name="adj" fmla="val 10000"/>
            </a:avLst>
          </a:prstGeom>
          <a:solidFill>
            <a:srgbClr val="1C1C1E"/>
          </a:solidFill>
          <a:ln/>
        </p:spPr>
      </p:sp>
      <p:sp>
        <p:nvSpPr>
          <p:cNvPr id="5" name="Text 3"/>
          <p:cNvSpPr txBox="1"/>
          <p:nvPr/>
        </p:nvSpPr>
        <p:spPr>
          <a:xfrm>
            <a:off x="1005840" y="2176272"/>
            <a:ext cx="4663440" cy="411480"/>
          </a:xfrm>
          <a:prstGeom prst="rect">
            <a:avLst/>
          </a:prstGeom>
          <a:noFill/>
          <a:ln/>
        </p:spPr>
        <p:txBody>
          <a:bodyPr wrap="square" lIns="0" tIns="0" rIns="0" bIns="0" rtlCol="0" anchor="t"/>
          <a:lstStyle/>
          <a:p>
            <a:pPr indent="0" marL="0">
              <a:buNone/>
            </a:pPr>
            <a:r>
              <a:rPr lang="en-US" sz="1900" b="1" dirty="0">
                <a:solidFill>
                  <a:srgbClr val="2997FF"/>
                </a:solidFill>
                <a:latin typeface="Helvetica Neue" pitchFamily="34" charset="0"/>
                <a:ea typeface="Helvetica Neue" pitchFamily="34" charset="-122"/>
                <a:cs typeface="Helvetica Neue" pitchFamily="34" charset="-120"/>
              </a:rPr>
              <a:t>Accurate enough to trust</a:t>
            </a:r>
            <a:endParaRPr lang="en-US" sz="1900" dirty="0"/>
          </a:p>
        </p:txBody>
      </p:sp>
      <p:sp>
        <p:nvSpPr>
          <p:cNvPr id="6" name="Text 4"/>
          <p:cNvSpPr txBox="1"/>
          <p:nvPr/>
        </p:nvSpPr>
        <p:spPr>
          <a:xfrm>
            <a:off x="1005840" y="2670048"/>
            <a:ext cx="4663440" cy="1188720"/>
          </a:xfrm>
          <a:prstGeom prst="rect">
            <a:avLst/>
          </a:prstGeom>
          <a:noFill/>
          <a:ln/>
        </p:spPr>
        <p:txBody>
          <a:bodyPr wrap="square" lIns="0" tIns="0" rIns="0" bIns="0" rtlCol="0" anchor="t"/>
          <a:lstStyle/>
          <a:p>
            <a:pPr indent="0" marL="0">
              <a:lnSpc>
                <a:spcPct val="105000"/>
              </a:lnSpc>
              <a:buNone/>
            </a:pPr>
            <a:r>
              <a:rPr lang="en-US" sz="1450" dirty="0">
                <a:solidFill>
                  <a:srgbClr val="A1A1A6"/>
                </a:solidFill>
                <a:latin typeface="Helvetica Neue" pitchFamily="34" charset="0"/>
                <a:ea typeface="Helvetica Neue" pitchFamily="34" charset="-122"/>
                <a:cs typeface="Helvetica Neue" pitchFamily="34" charset="-120"/>
              </a:rPr>
              <a:t>Agreement within about ±1.6 % is in line with commercial fingertip oximeters (about ±2–3 %), so the drops it sees are real, not sensor noise.</a:t>
            </a:r>
            <a:endParaRPr lang="en-US" sz="1450" dirty="0"/>
          </a:p>
        </p:txBody>
      </p:sp>
      <p:sp>
        <p:nvSpPr>
          <p:cNvPr id="7" name="Shape 5"/>
          <p:cNvSpPr/>
          <p:nvPr/>
        </p:nvSpPr>
        <p:spPr>
          <a:xfrm>
            <a:off x="6190488" y="1920240"/>
            <a:ext cx="5312664" cy="2011680"/>
          </a:xfrm>
          <a:prstGeom prst="roundRect">
            <a:avLst>
              <a:gd name="adj" fmla="val 10000"/>
            </a:avLst>
          </a:prstGeom>
          <a:solidFill>
            <a:srgbClr val="1C1C1E"/>
          </a:solidFill>
          <a:ln/>
        </p:spPr>
      </p:sp>
      <p:sp>
        <p:nvSpPr>
          <p:cNvPr id="8" name="Text 6"/>
          <p:cNvSpPr txBox="1"/>
          <p:nvPr/>
        </p:nvSpPr>
        <p:spPr>
          <a:xfrm>
            <a:off x="6510528" y="2176272"/>
            <a:ext cx="4663440" cy="411480"/>
          </a:xfrm>
          <a:prstGeom prst="rect">
            <a:avLst/>
          </a:prstGeom>
          <a:noFill/>
          <a:ln/>
        </p:spPr>
        <p:txBody>
          <a:bodyPr wrap="square" lIns="0" tIns="0" rIns="0" bIns="0" rtlCol="0" anchor="t"/>
          <a:lstStyle/>
          <a:p>
            <a:pPr indent="0" marL="0">
              <a:buNone/>
            </a:pPr>
            <a:r>
              <a:rPr lang="en-US" sz="1900" b="1" dirty="0">
                <a:solidFill>
                  <a:srgbClr val="30D158"/>
                </a:solidFill>
                <a:latin typeface="Helvetica Neue" pitchFamily="34" charset="0"/>
                <a:ea typeface="Helvetica Neue" pitchFamily="34" charset="-122"/>
                <a:cs typeface="Helvetica Neue" pitchFamily="34" charset="-120"/>
              </a:rPr>
              <a:t>Cautious, not over-eager</a:t>
            </a:r>
            <a:endParaRPr lang="en-US" sz="1900" dirty="0"/>
          </a:p>
        </p:txBody>
      </p:sp>
      <p:sp>
        <p:nvSpPr>
          <p:cNvPr id="9" name="Text 7"/>
          <p:cNvSpPr txBox="1"/>
          <p:nvPr/>
        </p:nvSpPr>
        <p:spPr>
          <a:xfrm>
            <a:off x="6510528" y="2670048"/>
            <a:ext cx="4663440" cy="1188720"/>
          </a:xfrm>
          <a:prstGeom prst="rect">
            <a:avLst/>
          </a:prstGeom>
          <a:noFill/>
          <a:ln/>
        </p:spPr>
        <p:txBody>
          <a:bodyPr wrap="square" lIns="0" tIns="0" rIns="0" bIns="0" rtlCol="0" anchor="t"/>
          <a:lstStyle/>
          <a:p>
            <a:pPr indent="0" marL="0">
              <a:lnSpc>
                <a:spcPct val="105000"/>
              </a:lnSpc>
              <a:buNone/>
            </a:pPr>
            <a:r>
              <a:rPr lang="en-US" sz="1450" dirty="0">
                <a:solidFill>
                  <a:srgbClr val="A1A1A6"/>
                </a:solidFill>
                <a:latin typeface="Helvetica Neue" pitchFamily="34" charset="0"/>
                <a:ea typeface="Helvetica Neue" pitchFamily="34" charset="-122"/>
                <a:cs typeface="Helvetica Neue" pitchFamily="34" charset="-120"/>
              </a:rPr>
              <a:t>Perfect precision but 63 % recall means it misses shallow events. My AHI is probably an under-estimate: the safe direction for a screening tool.</a:t>
            </a:r>
            <a:endParaRPr lang="en-US" sz="1450" dirty="0"/>
          </a:p>
        </p:txBody>
      </p:sp>
      <p:sp>
        <p:nvSpPr>
          <p:cNvPr id="10" name="Shape 8"/>
          <p:cNvSpPr/>
          <p:nvPr/>
        </p:nvSpPr>
        <p:spPr>
          <a:xfrm>
            <a:off x="685800" y="4114800"/>
            <a:ext cx="5312664" cy="2011680"/>
          </a:xfrm>
          <a:prstGeom prst="roundRect">
            <a:avLst>
              <a:gd name="adj" fmla="val 10000"/>
            </a:avLst>
          </a:prstGeom>
          <a:solidFill>
            <a:srgbClr val="1C1C1E"/>
          </a:solidFill>
          <a:ln/>
        </p:spPr>
      </p:sp>
      <p:sp>
        <p:nvSpPr>
          <p:cNvPr id="11" name="Text 9"/>
          <p:cNvSpPr txBox="1"/>
          <p:nvPr/>
        </p:nvSpPr>
        <p:spPr>
          <a:xfrm>
            <a:off x="1005840" y="4370832"/>
            <a:ext cx="4663440" cy="411480"/>
          </a:xfrm>
          <a:prstGeom prst="rect">
            <a:avLst/>
          </a:prstGeom>
          <a:noFill/>
          <a:ln/>
        </p:spPr>
        <p:txBody>
          <a:bodyPr wrap="square" lIns="0" tIns="0" rIns="0" bIns="0" rtlCol="0" anchor="t"/>
          <a:lstStyle/>
          <a:p>
            <a:pPr indent="0" marL="0">
              <a:buNone/>
            </a:pPr>
            <a:r>
              <a:rPr lang="en-US" sz="1900" b="1" dirty="0">
                <a:solidFill>
                  <a:srgbClr val="FF9F0A"/>
                </a:solidFill>
                <a:latin typeface="Helvetica Neue" pitchFamily="34" charset="0"/>
                <a:ea typeface="Helvetica Neue" pitchFamily="34" charset="-122"/>
                <a:cs typeface="Helvetica Neue" pitchFamily="34" charset="-120"/>
              </a:rPr>
              <a:t>Position matters</a:t>
            </a:r>
            <a:endParaRPr lang="en-US" sz="1900" dirty="0"/>
          </a:p>
        </p:txBody>
      </p:sp>
      <p:sp>
        <p:nvSpPr>
          <p:cNvPr id="12" name="Text 10"/>
          <p:cNvSpPr txBox="1"/>
          <p:nvPr/>
        </p:nvSpPr>
        <p:spPr>
          <a:xfrm>
            <a:off x="1005840" y="4864608"/>
            <a:ext cx="4663440" cy="1188720"/>
          </a:xfrm>
          <a:prstGeom prst="rect">
            <a:avLst/>
          </a:prstGeom>
          <a:noFill/>
          <a:ln/>
        </p:spPr>
        <p:txBody>
          <a:bodyPr wrap="square" lIns="0" tIns="0" rIns="0" bIns="0" rtlCol="0" anchor="t"/>
          <a:lstStyle/>
          <a:p>
            <a:pPr indent="0" marL="0">
              <a:lnSpc>
                <a:spcPct val="105000"/>
              </a:lnSpc>
              <a:buNone/>
            </a:pPr>
            <a:r>
              <a:rPr lang="en-US" sz="1450" dirty="0">
                <a:solidFill>
                  <a:srgbClr val="A1A1A6"/>
                </a:solidFill>
                <a:latin typeface="Helvetica Neue" pitchFamily="34" charset="0"/>
                <a:ea typeface="Helvetica Neue" pitchFamily="34" charset="-122"/>
                <a:cs typeface="Helvetica Neue" pitchFamily="34" charset="-120"/>
              </a:rPr>
              <a:t>Three times more events on the back matches “positional” sleep apnea in the literature. A simple, free change (side-sleeping) could help.</a:t>
            </a:r>
            <a:endParaRPr lang="en-US" sz="1450" dirty="0"/>
          </a:p>
        </p:txBody>
      </p:sp>
      <p:sp>
        <p:nvSpPr>
          <p:cNvPr id="13" name="Shape 11"/>
          <p:cNvSpPr/>
          <p:nvPr/>
        </p:nvSpPr>
        <p:spPr>
          <a:xfrm>
            <a:off x="6190488" y="4114800"/>
            <a:ext cx="5312664" cy="2011680"/>
          </a:xfrm>
          <a:prstGeom prst="roundRect">
            <a:avLst>
              <a:gd name="adj" fmla="val 10000"/>
            </a:avLst>
          </a:prstGeom>
          <a:solidFill>
            <a:srgbClr val="1C1C1E"/>
          </a:solidFill>
          <a:ln/>
        </p:spPr>
      </p:sp>
      <p:sp>
        <p:nvSpPr>
          <p:cNvPr id="14" name="Text 12"/>
          <p:cNvSpPr txBox="1"/>
          <p:nvPr/>
        </p:nvSpPr>
        <p:spPr>
          <a:xfrm>
            <a:off x="6510528" y="4370832"/>
            <a:ext cx="4663440" cy="411480"/>
          </a:xfrm>
          <a:prstGeom prst="rect">
            <a:avLst/>
          </a:prstGeom>
          <a:noFill/>
          <a:ln/>
        </p:spPr>
        <p:txBody>
          <a:bodyPr wrap="square" lIns="0" tIns="0" rIns="0" bIns="0" rtlCol="0" anchor="t"/>
          <a:lstStyle/>
          <a:p>
            <a:pPr indent="0" marL="0">
              <a:buNone/>
            </a:pPr>
            <a:r>
              <a:rPr lang="en-US" sz="1900" b="1" dirty="0">
                <a:solidFill>
                  <a:srgbClr val="FF375F"/>
                </a:solidFill>
                <a:latin typeface="Helvetica Neue" pitchFamily="34" charset="0"/>
                <a:ea typeface="Helvetica Neue" pitchFamily="34" charset="-122"/>
                <a:cs typeface="Helvetica Neue" pitchFamily="34" charset="-120"/>
              </a:rPr>
              <a:t>More data beats fancier code</a:t>
            </a:r>
            <a:endParaRPr lang="en-US" sz="1900" dirty="0"/>
          </a:p>
        </p:txBody>
      </p:sp>
      <p:sp>
        <p:nvSpPr>
          <p:cNvPr id="15" name="Text 13"/>
          <p:cNvSpPr txBox="1"/>
          <p:nvPr/>
        </p:nvSpPr>
        <p:spPr>
          <a:xfrm>
            <a:off x="6510528" y="4864608"/>
            <a:ext cx="4663440" cy="1188720"/>
          </a:xfrm>
          <a:prstGeom prst="rect">
            <a:avLst/>
          </a:prstGeom>
          <a:noFill/>
          <a:ln/>
        </p:spPr>
        <p:txBody>
          <a:bodyPr wrap="square" lIns="0" tIns="0" rIns="0" bIns="0" rtlCol="0" anchor="t"/>
          <a:lstStyle/>
          <a:p>
            <a:pPr indent="0" marL="0">
              <a:lnSpc>
                <a:spcPct val="105000"/>
              </a:lnSpc>
              <a:buNone/>
            </a:pPr>
            <a:r>
              <a:rPr lang="en-US" sz="1450" dirty="0">
                <a:solidFill>
                  <a:srgbClr val="A1A1A6"/>
                </a:solidFill>
                <a:latin typeface="Helvetica Neue" pitchFamily="34" charset="0"/>
                <a:ea typeface="Helvetica Neue" pitchFamily="34" charset="-122"/>
                <a:cs typeface="Helvetica Neue" pitchFamily="34" charset="-120"/>
              </a:rPr>
              <a:t>Machine learning only tied the rule because it trained on one night. It needs many labeled nights to learn more than a rule.</a:t>
            </a:r>
            <a:endParaRPr lang="en-US" sz="14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685800" y="502920"/>
            <a:ext cx="10789920" cy="320040"/>
          </a:xfrm>
          <a:prstGeom prst="rect">
            <a:avLst/>
          </a:prstGeom>
          <a:noFill/>
          <a:ln/>
        </p:spPr>
        <p:txBody>
          <a:bodyPr wrap="square" lIns="0" tIns="0" rIns="0" bIns="0" rtlCol="0" anchor="t"/>
          <a:lstStyle/>
          <a:p>
            <a:pPr indent="0" marL="0">
              <a:buNone/>
            </a:pPr>
            <a:r>
              <a:rPr lang="en-US" sz="1600" b="1" dirty="0">
                <a:solidFill>
                  <a:srgbClr val="FF375F"/>
                </a:solidFill>
                <a:latin typeface="Helvetica Neue" pitchFamily="34" charset="0"/>
                <a:ea typeface="Helvetica Neue" pitchFamily="34" charset="-122"/>
                <a:cs typeface="Helvetica Neue" pitchFamily="34" charset="-120"/>
              </a:rPr>
              <a:t>Main analysis</a:t>
            </a:r>
            <a:endParaRPr lang="en-US" sz="1600" dirty="0"/>
          </a:p>
        </p:txBody>
      </p:sp>
      <p:sp>
        <p:nvSpPr>
          <p:cNvPr id="3" name="Text 1"/>
          <p:cNvSpPr txBox="1"/>
          <p:nvPr/>
        </p:nvSpPr>
        <p:spPr>
          <a:xfrm>
            <a:off x="685800" y="841248"/>
            <a:ext cx="10789920" cy="868680"/>
          </a:xfrm>
          <a:prstGeom prst="rect">
            <a:avLst/>
          </a:prstGeom>
          <a:noFill/>
          <a:ln/>
        </p:spPr>
        <p:txBody>
          <a:bodyPr wrap="square" lIns="0" tIns="0" rIns="0" bIns="0" rtlCol="0" anchor="t"/>
          <a:lstStyle/>
          <a:p>
            <a:pPr indent="0" marL="0">
              <a:lnSpc>
                <a:spcPct val="92000"/>
              </a:lnSpc>
              <a:buNone/>
            </a:pPr>
            <a:r>
              <a:rPr lang="en-US" sz="4000" b="1" dirty="0">
                <a:solidFill>
                  <a:srgbClr val="FFFFFF"/>
                </a:solidFill>
                <a:latin typeface="Helvetica Neue" pitchFamily="34" charset="0"/>
                <a:ea typeface="Helvetica Neue" pitchFamily="34" charset="-122"/>
                <a:cs typeface="Helvetica Neue" pitchFamily="34" charset="-120"/>
              </a:rPr>
              <a:t>What could make it wrong.</a:t>
            </a:r>
            <a:endParaRPr lang="en-US" sz="4000" dirty="0"/>
          </a:p>
        </p:txBody>
      </p:sp>
      <p:sp>
        <p:nvSpPr>
          <p:cNvPr id="4" name="Text 2"/>
          <p:cNvSpPr txBox="1"/>
          <p:nvPr/>
        </p:nvSpPr>
        <p:spPr>
          <a:xfrm>
            <a:off x="685800" y="1920240"/>
            <a:ext cx="5120640" cy="365760"/>
          </a:xfrm>
          <a:prstGeom prst="rect">
            <a:avLst/>
          </a:prstGeom>
          <a:noFill/>
          <a:ln/>
        </p:spPr>
        <p:txBody>
          <a:bodyPr wrap="square" lIns="0" tIns="0" rIns="0" bIns="0" rtlCol="0" anchor="t"/>
          <a:lstStyle/>
          <a:p>
            <a:pPr indent="0" marL="0">
              <a:buNone/>
            </a:pPr>
            <a:r>
              <a:rPr lang="en-US" sz="1900" b="1" dirty="0">
                <a:solidFill>
                  <a:srgbClr val="2997FF"/>
                </a:solidFill>
                <a:latin typeface="Helvetica Neue" pitchFamily="34" charset="0"/>
                <a:ea typeface="Helvetica Neue" pitchFamily="34" charset="-122"/>
                <a:cs typeface="Helvetica Neue" pitchFamily="34" charset="-120"/>
              </a:rPr>
              <a:t>Measurement</a:t>
            </a:r>
            <a:endParaRPr lang="en-US" sz="1900" dirty="0"/>
          </a:p>
        </p:txBody>
      </p:sp>
      <p:sp>
        <p:nvSpPr>
          <p:cNvPr id="5" name="Shape 3"/>
          <p:cNvSpPr/>
          <p:nvPr/>
        </p:nvSpPr>
        <p:spPr>
          <a:xfrm>
            <a:off x="685800" y="2520772"/>
            <a:ext cx="73152" cy="73152"/>
          </a:xfrm>
          <a:prstGeom prst="ellipse">
            <a:avLst/>
          </a:prstGeom>
          <a:solidFill>
            <a:srgbClr val="86868B"/>
          </a:solidFill>
          <a:ln/>
        </p:spPr>
      </p:sp>
      <p:sp>
        <p:nvSpPr>
          <p:cNvPr id="6" name="Text 4"/>
          <p:cNvSpPr txBox="1"/>
          <p:nvPr/>
        </p:nvSpPr>
        <p:spPr>
          <a:xfrm>
            <a:off x="914400" y="2423160"/>
            <a:ext cx="4983480" cy="537972"/>
          </a:xfrm>
          <a:prstGeom prst="rect">
            <a:avLst/>
          </a:prstGeom>
          <a:noFill/>
          <a:ln/>
        </p:spPr>
        <p:txBody>
          <a:bodyPr wrap="square" lIns="0" tIns="0" rIns="0" bIns="0" rtlCol="0" anchor="t"/>
          <a:lstStyle/>
          <a:p>
            <a:pPr indent="0" marL="0">
              <a:buNone/>
            </a:pPr>
            <a:r>
              <a:rPr lang="en-US" sz="1500" dirty="0">
                <a:solidFill>
                  <a:srgbClr val="A1A1A6"/>
                </a:solidFill>
                <a:latin typeface="Helvetica Neue" pitchFamily="34" charset="0"/>
                <a:ea typeface="Helvetica Neue" pitchFamily="34" charset="-122"/>
                <a:cs typeface="Helvetica Neue" pitchFamily="34" charset="-120"/>
              </a:rPr>
              <a:t>Finger movement, pressure and cold hands distort the light signal</a:t>
            </a:r>
            <a:endParaRPr lang="en-US" sz="1500" dirty="0"/>
          </a:p>
        </p:txBody>
      </p:sp>
      <p:sp>
        <p:nvSpPr>
          <p:cNvPr id="7" name="Shape 5"/>
          <p:cNvSpPr/>
          <p:nvPr/>
        </p:nvSpPr>
        <p:spPr>
          <a:xfrm>
            <a:off x="685800" y="3131896"/>
            <a:ext cx="73152" cy="73152"/>
          </a:xfrm>
          <a:prstGeom prst="ellipse">
            <a:avLst/>
          </a:prstGeom>
          <a:solidFill>
            <a:srgbClr val="86868B"/>
          </a:solidFill>
          <a:ln/>
        </p:spPr>
      </p:sp>
      <p:sp>
        <p:nvSpPr>
          <p:cNvPr id="8" name="Text 6"/>
          <p:cNvSpPr txBox="1"/>
          <p:nvPr/>
        </p:nvSpPr>
        <p:spPr>
          <a:xfrm>
            <a:off x="914400" y="3034284"/>
            <a:ext cx="4983480" cy="537972"/>
          </a:xfrm>
          <a:prstGeom prst="rect">
            <a:avLst/>
          </a:prstGeom>
          <a:noFill/>
          <a:ln/>
        </p:spPr>
        <p:txBody>
          <a:bodyPr wrap="square" lIns="0" tIns="0" rIns="0" bIns="0" rtlCol="0" anchor="t"/>
          <a:lstStyle/>
          <a:p>
            <a:pPr indent="0" marL="0">
              <a:buNone/>
            </a:pPr>
            <a:r>
              <a:rPr lang="en-US" sz="1500" dirty="0">
                <a:solidFill>
                  <a:srgbClr val="A1A1A6"/>
                </a:solidFill>
                <a:latin typeface="Helvetica Neue" pitchFamily="34" charset="0"/>
                <a:ea typeface="Helvetica Neue" pitchFamily="34" charset="-122"/>
                <a:cs typeface="Helvetica Neue" pitchFamily="34" charset="-120"/>
              </a:rPr>
              <a:t>The 4-second averaging window smooths very short dips</a:t>
            </a:r>
            <a:endParaRPr lang="en-US" sz="1500" dirty="0"/>
          </a:p>
        </p:txBody>
      </p:sp>
      <p:sp>
        <p:nvSpPr>
          <p:cNvPr id="9" name="Shape 7"/>
          <p:cNvSpPr/>
          <p:nvPr/>
        </p:nvSpPr>
        <p:spPr>
          <a:xfrm>
            <a:off x="685800" y="3743020"/>
            <a:ext cx="73152" cy="73152"/>
          </a:xfrm>
          <a:prstGeom prst="ellipse">
            <a:avLst/>
          </a:prstGeom>
          <a:solidFill>
            <a:srgbClr val="86868B"/>
          </a:solidFill>
          <a:ln/>
        </p:spPr>
      </p:sp>
      <p:sp>
        <p:nvSpPr>
          <p:cNvPr id="10" name="Text 8"/>
          <p:cNvSpPr txBox="1"/>
          <p:nvPr/>
        </p:nvSpPr>
        <p:spPr>
          <a:xfrm>
            <a:off x="914400" y="3645408"/>
            <a:ext cx="4983480" cy="305562"/>
          </a:xfrm>
          <a:prstGeom prst="rect">
            <a:avLst/>
          </a:prstGeom>
          <a:noFill/>
          <a:ln/>
        </p:spPr>
        <p:txBody>
          <a:bodyPr wrap="square" lIns="0" tIns="0" rIns="0" bIns="0" rtlCol="0" anchor="t"/>
          <a:lstStyle/>
          <a:p>
            <a:pPr indent="0" marL="0">
              <a:buNone/>
            </a:pPr>
            <a:r>
              <a:rPr lang="en-US" sz="1500" dirty="0">
                <a:solidFill>
                  <a:srgbClr val="A1A1A6"/>
                </a:solidFill>
                <a:latin typeface="Helvetica Neue" pitchFamily="34" charset="0"/>
                <a:ea typeface="Helvetica Neue" pitchFamily="34" charset="-122"/>
                <a:cs typeface="Helvetica Neue" pitchFamily="34" charset="-120"/>
              </a:rPr>
              <a:t>The reference oximeter itself is only ±2 %</a:t>
            </a:r>
            <a:endParaRPr lang="en-US" sz="1500" dirty="0"/>
          </a:p>
        </p:txBody>
      </p:sp>
      <p:sp>
        <p:nvSpPr>
          <p:cNvPr id="11" name="Shape 9"/>
          <p:cNvSpPr/>
          <p:nvPr/>
        </p:nvSpPr>
        <p:spPr>
          <a:xfrm>
            <a:off x="685800" y="4121734"/>
            <a:ext cx="73152" cy="73152"/>
          </a:xfrm>
          <a:prstGeom prst="ellipse">
            <a:avLst/>
          </a:prstGeom>
          <a:solidFill>
            <a:srgbClr val="86868B"/>
          </a:solidFill>
          <a:ln/>
        </p:spPr>
      </p:sp>
      <p:sp>
        <p:nvSpPr>
          <p:cNvPr id="12" name="Text 10"/>
          <p:cNvSpPr txBox="1"/>
          <p:nvPr/>
        </p:nvSpPr>
        <p:spPr>
          <a:xfrm>
            <a:off x="914400" y="4024122"/>
            <a:ext cx="4983480" cy="305562"/>
          </a:xfrm>
          <a:prstGeom prst="rect">
            <a:avLst/>
          </a:prstGeom>
          <a:noFill/>
          <a:ln/>
        </p:spPr>
        <p:txBody>
          <a:bodyPr wrap="square" lIns="0" tIns="0" rIns="0" bIns="0" rtlCol="0" anchor="t"/>
          <a:lstStyle/>
          <a:p>
            <a:pPr indent="0" marL="0">
              <a:buNone/>
            </a:pPr>
            <a:r>
              <a:rPr lang="en-US" sz="1500" dirty="0">
                <a:solidFill>
                  <a:srgbClr val="A1A1A6"/>
                </a:solidFill>
                <a:latin typeface="Helvetica Neue" pitchFamily="34" charset="0"/>
                <a:ea typeface="Helvetica Neue" pitchFamily="34" charset="-122"/>
                <a:cs typeface="Helvetica Neue" pitchFamily="34" charset="-120"/>
              </a:rPr>
              <a:t>Arm angle only approximates body position</a:t>
            </a:r>
            <a:endParaRPr lang="en-US" sz="1500" dirty="0"/>
          </a:p>
        </p:txBody>
      </p:sp>
      <p:sp>
        <p:nvSpPr>
          <p:cNvPr id="13" name="Text 11"/>
          <p:cNvSpPr txBox="1"/>
          <p:nvPr/>
        </p:nvSpPr>
        <p:spPr>
          <a:xfrm>
            <a:off x="6190488" y="1920240"/>
            <a:ext cx="5120640" cy="365760"/>
          </a:xfrm>
          <a:prstGeom prst="rect">
            <a:avLst/>
          </a:prstGeom>
          <a:noFill/>
          <a:ln/>
        </p:spPr>
        <p:txBody>
          <a:bodyPr wrap="square" lIns="0" tIns="0" rIns="0" bIns="0" rtlCol="0" anchor="t"/>
          <a:lstStyle/>
          <a:p>
            <a:pPr indent="0" marL="0">
              <a:buNone/>
            </a:pPr>
            <a:r>
              <a:rPr lang="en-US" sz="1900" b="1" dirty="0">
                <a:solidFill>
                  <a:srgbClr val="FF375F"/>
                </a:solidFill>
                <a:latin typeface="Helvetica Neue" pitchFamily="34" charset="0"/>
                <a:ea typeface="Helvetica Neue" pitchFamily="34" charset="-122"/>
                <a:cs typeface="Helvetica Neue" pitchFamily="34" charset="-120"/>
              </a:rPr>
              <a:t>Method</a:t>
            </a:r>
            <a:endParaRPr lang="en-US" sz="1900" dirty="0"/>
          </a:p>
        </p:txBody>
      </p:sp>
      <p:sp>
        <p:nvSpPr>
          <p:cNvPr id="14" name="Shape 12"/>
          <p:cNvSpPr/>
          <p:nvPr/>
        </p:nvSpPr>
        <p:spPr>
          <a:xfrm>
            <a:off x="6190488" y="2520772"/>
            <a:ext cx="73152" cy="73152"/>
          </a:xfrm>
          <a:prstGeom prst="ellipse">
            <a:avLst/>
          </a:prstGeom>
          <a:solidFill>
            <a:srgbClr val="86868B"/>
          </a:solidFill>
          <a:ln/>
        </p:spPr>
      </p:sp>
      <p:sp>
        <p:nvSpPr>
          <p:cNvPr id="15" name="Text 13"/>
          <p:cNvSpPr txBox="1"/>
          <p:nvPr/>
        </p:nvSpPr>
        <p:spPr>
          <a:xfrm>
            <a:off x="6419088" y="2423160"/>
            <a:ext cx="5074920" cy="537972"/>
          </a:xfrm>
          <a:prstGeom prst="rect">
            <a:avLst/>
          </a:prstGeom>
          <a:noFill/>
          <a:ln/>
        </p:spPr>
        <p:txBody>
          <a:bodyPr wrap="square" lIns="0" tIns="0" rIns="0" bIns="0" rtlCol="0" anchor="t"/>
          <a:lstStyle/>
          <a:p>
            <a:pPr indent="0" marL="0">
              <a:buNone/>
            </a:pPr>
            <a:r>
              <a:rPr lang="en-US" sz="1500" dirty="0">
                <a:solidFill>
                  <a:srgbClr val="A1A1A6"/>
                </a:solidFill>
                <a:latin typeface="Helvetica Neue" pitchFamily="34" charset="0"/>
                <a:ea typeface="Helvetica Neue" pitchFamily="34" charset="-122"/>
                <a:cs typeface="Helvetica Neue" pitchFamily="34" charset="-120"/>
              </a:rPr>
              <a:t>Awake breath-holds aren’t the same as real obstructive apnea</a:t>
            </a:r>
            <a:endParaRPr lang="en-US" sz="1500" dirty="0"/>
          </a:p>
        </p:txBody>
      </p:sp>
      <p:sp>
        <p:nvSpPr>
          <p:cNvPr id="16" name="Shape 14"/>
          <p:cNvSpPr/>
          <p:nvPr/>
        </p:nvSpPr>
        <p:spPr>
          <a:xfrm>
            <a:off x="6190488" y="3131896"/>
            <a:ext cx="73152" cy="73152"/>
          </a:xfrm>
          <a:prstGeom prst="ellipse">
            <a:avLst/>
          </a:prstGeom>
          <a:solidFill>
            <a:srgbClr val="86868B"/>
          </a:solidFill>
          <a:ln/>
        </p:spPr>
      </p:sp>
      <p:sp>
        <p:nvSpPr>
          <p:cNvPr id="17" name="Text 15"/>
          <p:cNvSpPr txBox="1"/>
          <p:nvPr/>
        </p:nvSpPr>
        <p:spPr>
          <a:xfrm>
            <a:off x="6419088" y="3034284"/>
            <a:ext cx="5074920" cy="537972"/>
          </a:xfrm>
          <a:prstGeom prst="rect">
            <a:avLst/>
          </a:prstGeom>
          <a:noFill/>
          <a:ln/>
        </p:spPr>
        <p:txBody>
          <a:bodyPr wrap="square" lIns="0" tIns="0" rIns="0" bIns="0" rtlCol="0" anchor="t"/>
          <a:lstStyle/>
          <a:p>
            <a:pPr indent="0" marL="0">
              <a:buNone/>
            </a:pPr>
            <a:r>
              <a:rPr lang="en-US" sz="1500" dirty="0">
                <a:solidFill>
                  <a:srgbClr val="A1A1A6"/>
                </a:solidFill>
                <a:latin typeface="Helvetica Neue" pitchFamily="34" charset="0"/>
                <a:ea typeface="Helvetica Neue" pitchFamily="34" charset="-122"/>
                <a:cs typeface="Helvetica Neue" pitchFamily="34" charset="-120"/>
              </a:rPr>
              <a:t>Oxygen only: no airflow or brain-wave sensors like a lab study</a:t>
            </a:r>
            <a:endParaRPr lang="en-US" sz="1500" dirty="0"/>
          </a:p>
        </p:txBody>
      </p:sp>
      <p:sp>
        <p:nvSpPr>
          <p:cNvPr id="18" name="Shape 16"/>
          <p:cNvSpPr/>
          <p:nvPr/>
        </p:nvSpPr>
        <p:spPr>
          <a:xfrm>
            <a:off x="6190488" y="3743020"/>
            <a:ext cx="73152" cy="73152"/>
          </a:xfrm>
          <a:prstGeom prst="ellipse">
            <a:avLst/>
          </a:prstGeom>
          <a:solidFill>
            <a:srgbClr val="86868B"/>
          </a:solidFill>
          <a:ln/>
        </p:spPr>
      </p:sp>
      <p:sp>
        <p:nvSpPr>
          <p:cNvPr id="19" name="Text 17"/>
          <p:cNvSpPr txBox="1"/>
          <p:nvPr/>
        </p:nvSpPr>
        <p:spPr>
          <a:xfrm>
            <a:off x="6419088" y="3645408"/>
            <a:ext cx="5074920" cy="305562"/>
          </a:xfrm>
          <a:prstGeom prst="rect">
            <a:avLst/>
          </a:prstGeom>
          <a:noFill/>
          <a:ln/>
        </p:spPr>
        <p:txBody>
          <a:bodyPr wrap="square" lIns="0" tIns="0" rIns="0" bIns="0" rtlCol="0" anchor="t"/>
          <a:lstStyle/>
          <a:p>
            <a:pPr indent="0" marL="0">
              <a:buNone/>
            </a:pPr>
            <a:r>
              <a:rPr lang="en-US" sz="1500" dirty="0">
                <a:solidFill>
                  <a:srgbClr val="A1A1A6"/>
                </a:solidFill>
                <a:latin typeface="Helvetica Neue" pitchFamily="34" charset="0"/>
                <a:ea typeface="Helvetica Neue" pitchFamily="34" charset="-122"/>
                <a:cs typeface="Helvetica Neue" pitchFamily="34" charset="-120"/>
              </a:rPr>
              <a:t>One person, few nights: can’t generalize yet</a:t>
            </a:r>
            <a:endParaRPr lang="en-US" sz="1500" dirty="0"/>
          </a:p>
        </p:txBody>
      </p:sp>
      <p:sp>
        <p:nvSpPr>
          <p:cNvPr id="20" name="Shape 18"/>
          <p:cNvSpPr/>
          <p:nvPr/>
        </p:nvSpPr>
        <p:spPr>
          <a:xfrm>
            <a:off x="6190488" y="4121734"/>
            <a:ext cx="73152" cy="73152"/>
          </a:xfrm>
          <a:prstGeom prst="ellipse">
            <a:avLst/>
          </a:prstGeom>
          <a:solidFill>
            <a:srgbClr val="86868B"/>
          </a:solidFill>
          <a:ln/>
        </p:spPr>
      </p:sp>
      <p:sp>
        <p:nvSpPr>
          <p:cNvPr id="21" name="Text 19"/>
          <p:cNvSpPr txBox="1"/>
          <p:nvPr/>
        </p:nvSpPr>
        <p:spPr>
          <a:xfrm>
            <a:off x="6419088" y="4024122"/>
            <a:ext cx="5074920" cy="305562"/>
          </a:xfrm>
          <a:prstGeom prst="rect">
            <a:avLst/>
          </a:prstGeom>
          <a:noFill/>
          <a:ln/>
        </p:spPr>
        <p:txBody>
          <a:bodyPr wrap="square" lIns="0" tIns="0" rIns="0" bIns="0" rtlCol="0" anchor="t"/>
          <a:lstStyle/>
          <a:p>
            <a:pPr indent="0" marL="0">
              <a:buNone/>
            </a:pPr>
            <a:r>
              <a:rPr lang="en-US" sz="1500" dirty="0">
                <a:solidFill>
                  <a:srgbClr val="A1A1A6"/>
                </a:solidFill>
                <a:latin typeface="Helvetica Neue" pitchFamily="34" charset="0"/>
                <a:ea typeface="Helvetica Neue" pitchFamily="34" charset="-122"/>
                <a:cs typeface="Helvetica Neue" pitchFamily="34" charset="-120"/>
              </a:rPr>
              <a:t>Results so far use simulated example data</a:t>
            </a:r>
            <a:endParaRPr lang="en-US" sz="1500" dirty="0"/>
          </a:p>
        </p:txBody>
      </p:sp>
      <p:sp>
        <p:nvSpPr>
          <p:cNvPr id="22" name="Shape 20"/>
          <p:cNvSpPr/>
          <p:nvPr/>
        </p:nvSpPr>
        <p:spPr>
          <a:xfrm>
            <a:off x="685800" y="4846320"/>
            <a:ext cx="10817352" cy="1325880"/>
          </a:xfrm>
          <a:prstGeom prst="roundRect">
            <a:avLst>
              <a:gd name="adj" fmla="val 15172"/>
            </a:avLst>
          </a:prstGeom>
          <a:solidFill>
            <a:srgbClr val="1C1C1E"/>
          </a:solidFill>
          <a:ln/>
        </p:spPr>
      </p:sp>
      <p:sp>
        <p:nvSpPr>
          <p:cNvPr id="23" name="Text 21"/>
          <p:cNvSpPr txBox="1"/>
          <p:nvPr/>
        </p:nvSpPr>
        <p:spPr>
          <a:xfrm>
            <a:off x="1005840" y="5074920"/>
            <a:ext cx="10195560" cy="960120"/>
          </a:xfrm>
          <a:prstGeom prst="rect">
            <a:avLst/>
          </a:prstGeom>
          <a:noFill/>
          <a:ln/>
        </p:spPr>
        <p:txBody>
          <a:bodyPr wrap="square" lIns="0" tIns="0" rIns="0" bIns="0" rtlCol="0" anchor="t"/>
          <a:lstStyle/>
          <a:p>
            <a:pPr indent="0" marL="0">
              <a:lnSpc>
                <a:spcPct val="105000"/>
              </a:lnSpc>
              <a:buNone/>
            </a:pPr>
            <a:r>
              <a:rPr lang="en-US" sz="1550" b="1" dirty="0">
                <a:solidFill>
                  <a:srgbClr val="FF9F0A"/>
                </a:solidFill>
                <a:latin typeface="Helvetica Neue" pitchFamily="34" charset="0"/>
                <a:ea typeface="Helvetica Neue" pitchFamily="34" charset="-122"/>
                <a:cs typeface="Helvetica Neue" pitchFamily="34" charset="-120"/>
              </a:rPr>
              <a:t>Engineering finding.  </a:t>
            </a:r>
            <a:pPr indent="0" marL="0">
              <a:lnSpc>
                <a:spcPct val="105000"/>
              </a:lnSpc>
              <a:buNone/>
            </a:pPr>
            <a:r>
              <a:rPr lang="en-US" sz="1550" dirty="0">
                <a:solidFill>
                  <a:srgbClr val="FFFFFF"/>
                </a:solidFill>
                <a:latin typeface="Helvetica Neue" pitchFamily="34" charset="0"/>
                <a:ea typeface="Helvetica Neue" pitchFamily="34" charset="-122"/>
                <a:cs typeface="Helvetica Neue" pitchFamily="34" charset="-120"/>
              </a:rPr>
              <a:t>Bluetooth draws about 100 mA, so a 500 mAh battery would last only 4–5 hours: not a full night. So prototype v1 runs on USB power, and the sealed v2 case needs a bigger battery or Bluetooth Low Energy.</a:t>
            </a:r>
            <a:endParaRPr lang="en-US" sz="15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85800" y="502920"/>
            <a:ext cx="10789920" cy="320040"/>
          </a:xfrm>
          <a:prstGeom prst="rect">
            <a:avLst/>
          </a:prstGeom>
          <a:noFill/>
          <a:ln/>
        </p:spPr>
        <p:txBody>
          <a:bodyPr wrap="square" lIns="0" tIns="0" rIns="0" bIns="0" rtlCol="0" anchor="t"/>
          <a:lstStyle/>
          <a:p>
            <a:pPr indent="0" marL="0">
              <a:buNone/>
            </a:pPr>
            <a:r>
              <a:rPr lang="en-US" sz="1600" b="1" dirty="0">
                <a:solidFill>
                  <a:srgbClr val="E3254B"/>
                </a:solidFill>
                <a:latin typeface="Helvetica Neue" pitchFamily="34" charset="0"/>
                <a:ea typeface="Helvetica Neue" pitchFamily="34" charset="-122"/>
                <a:cs typeface="Helvetica Neue" pitchFamily="34" charset="-120"/>
              </a:rPr>
              <a:t>Further considerations</a:t>
            </a:r>
            <a:endParaRPr lang="en-US" sz="1600" dirty="0"/>
          </a:p>
        </p:txBody>
      </p:sp>
      <p:sp>
        <p:nvSpPr>
          <p:cNvPr id="3" name="Text 1"/>
          <p:cNvSpPr txBox="1"/>
          <p:nvPr/>
        </p:nvSpPr>
        <p:spPr>
          <a:xfrm>
            <a:off x="685800" y="841248"/>
            <a:ext cx="10789920" cy="868680"/>
          </a:xfrm>
          <a:prstGeom prst="rect">
            <a:avLst/>
          </a:prstGeom>
          <a:noFill/>
          <a:ln/>
        </p:spPr>
        <p:txBody>
          <a:bodyPr wrap="square" lIns="0" tIns="0" rIns="0" bIns="0" rtlCol="0" anchor="t"/>
          <a:lstStyle/>
          <a:p>
            <a:pPr indent="0" marL="0">
              <a:lnSpc>
                <a:spcPct val="92000"/>
              </a:lnSpc>
              <a:buNone/>
            </a:pPr>
            <a:r>
              <a:rPr lang="en-US" sz="4000" b="1" dirty="0">
                <a:solidFill>
                  <a:srgbClr val="1D1D1F"/>
                </a:solidFill>
                <a:latin typeface="Helvetica Neue" pitchFamily="34" charset="0"/>
                <a:ea typeface="Helvetica Neue" pitchFamily="34" charset="-122"/>
                <a:cs typeface="Helvetica Neue" pitchFamily="34" charset="-120"/>
              </a:rPr>
              <a:t>Same sensor. Two more uses.</a:t>
            </a:r>
            <a:endParaRPr lang="en-US" sz="4000" dirty="0"/>
          </a:p>
        </p:txBody>
      </p:sp>
      <p:sp>
        <p:nvSpPr>
          <p:cNvPr id="4" name="Shape 2"/>
          <p:cNvSpPr/>
          <p:nvPr/>
        </p:nvSpPr>
        <p:spPr>
          <a:xfrm>
            <a:off x="9464040" y="502920"/>
            <a:ext cx="2057400" cy="329184"/>
          </a:xfrm>
          <a:prstGeom prst="roundRect">
            <a:avLst>
              <a:gd name="adj" fmla="val 50000"/>
            </a:avLst>
          </a:prstGeom>
          <a:solidFill>
            <a:srgbClr val="F5F5F7"/>
          </a:solidFill>
          <a:ln/>
        </p:spPr>
      </p:sp>
      <p:sp>
        <p:nvSpPr>
          <p:cNvPr id="5" name="Text 3"/>
          <p:cNvSpPr txBox="1"/>
          <p:nvPr/>
        </p:nvSpPr>
        <p:spPr>
          <a:xfrm>
            <a:off x="9464040" y="502920"/>
            <a:ext cx="2057400" cy="329184"/>
          </a:xfrm>
          <a:prstGeom prst="rect">
            <a:avLst/>
          </a:prstGeom>
          <a:noFill/>
          <a:ln/>
        </p:spPr>
        <p:txBody>
          <a:bodyPr wrap="square" lIns="0" tIns="0" rIns="0" bIns="0" rtlCol="0" anchor="ctr"/>
          <a:lstStyle/>
          <a:p>
            <a:pPr algn="ctr" indent="0" marL="0">
              <a:buNone/>
            </a:pPr>
            <a:r>
              <a:rPr lang="en-US" sz="1050" b="1" dirty="0">
                <a:solidFill>
                  <a:srgbClr val="6E6E73"/>
                </a:solidFill>
                <a:latin typeface="Helvetica Neue" pitchFamily="34" charset="0"/>
                <a:ea typeface="Helvetica Neue" pitchFamily="34" charset="-122"/>
                <a:cs typeface="Helvetica Neue" pitchFamily="34" charset="-120"/>
              </a:rPr>
              <a:t>Example data</a:t>
            </a:r>
            <a:endParaRPr lang="en-US" sz="1050" dirty="0"/>
          </a:p>
        </p:txBody>
      </p:sp>
      <p:pic>
        <p:nvPicPr>
          <p:cNvPr id="6" name="Image 0" descr="/home/user/teetomivV2/science-fair/night-signal/slides/assets/heart.png">    </p:cNvPr>
          <p:cNvPicPr>
            <a:picLocks noChangeAspect="1"/>
          </p:cNvPicPr>
          <p:nvPr/>
        </p:nvPicPr>
        <p:blipFill>
          <a:blip r:embed="rId1"/>
          <a:stretch>
            <a:fillRect/>
          </a:stretch>
        </p:blipFill>
        <p:spPr>
          <a:xfrm>
            <a:off x="685800" y="1920240"/>
            <a:ext cx="5312664" cy="2799918"/>
          </a:xfrm>
          <a:prstGeom prst="rect">
            <a:avLst/>
          </a:prstGeom>
        </p:spPr>
      </p:pic>
      <p:pic>
        <p:nvPicPr>
          <p:cNvPr id="7" name="Image 1" descr="/home/user/teetomivV2/science-fair/night-signal/slides/assets/asthma.png">    </p:cNvPr>
          <p:cNvPicPr>
            <a:picLocks noChangeAspect="1"/>
          </p:cNvPicPr>
          <p:nvPr/>
        </p:nvPicPr>
        <p:blipFill>
          <a:blip r:embed="rId2"/>
          <a:stretch>
            <a:fillRect/>
          </a:stretch>
        </p:blipFill>
        <p:spPr>
          <a:xfrm>
            <a:off x="6190488" y="1920240"/>
            <a:ext cx="5312664" cy="2799918"/>
          </a:xfrm>
          <a:prstGeom prst="rect">
            <a:avLst/>
          </a:prstGeom>
        </p:spPr>
      </p:pic>
      <p:sp>
        <p:nvSpPr>
          <p:cNvPr id="8" name="Text 4"/>
          <p:cNvSpPr txBox="1"/>
          <p:nvPr/>
        </p:nvSpPr>
        <p:spPr>
          <a:xfrm>
            <a:off x="685800" y="4903038"/>
            <a:ext cx="5312664" cy="914400"/>
          </a:xfrm>
          <a:prstGeom prst="rect">
            <a:avLst/>
          </a:prstGeom>
          <a:noFill/>
          <a:ln/>
        </p:spPr>
        <p:txBody>
          <a:bodyPr wrap="square" lIns="0" tIns="0" rIns="0" bIns="0" rtlCol="0" anchor="t"/>
          <a:lstStyle/>
          <a:p>
            <a:pPr indent="0" marL="0">
              <a:buNone/>
            </a:pPr>
            <a:r>
              <a:rPr lang="en-US" sz="1450" b="1" dirty="0">
                <a:solidFill>
                  <a:srgbClr val="E3254B"/>
                </a:solidFill>
                <a:latin typeface="Helvetica Neue" pitchFamily="34" charset="0"/>
                <a:ea typeface="Helvetica Neue" pitchFamily="34" charset="-122"/>
                <a:cs typeface="Helvetica Neue" pitchFamily="34" charset="-120"/>
              </a:rPr>
              <a:t>Heart.  </a:t>
            </a:r>
            <a:pPr indent="0" marL="0">
              <a:buNone/>
            </a:pPr>
            <a:r>
              <a:rPr lang="en-US" sz="1450" dirty="0">
                <a:solidFill>
                  <a:srgbClr val="6E6E73"/>
                </a:solidFill>
                <a:latin typeface="Helvetica Neue" pitchFamily="34" charset="0"/>
                <a:ea typeface="Helvetica Neue" pitchFamily="34" charset="-122"/>
                <a:cs typeface="Helvetica Neue" pitchFamily="34" charset="-120"/>
              </a:rPr>
              <a:t>Flags racing (&gt;100 bpm), very slow (&lt;40 bpm) and irregular-rhythm episodes, plus resting heart rate and HRV.</a:t>
            </a:r>
            <a:endParaRPr lang="en-US" sz="1450" dirty="0"/>
          </a:p>
        </p:txBody>
      </p:sp>
      <p:sp>
        <p:nvSpPr>
          <p:cNvPr id="9" name="Text 5"/>
          <p:cNvSpPr txBox="1"/>
          <p:nvPr/>
        </p:nvSpPr>
        <p:spPr>
          <a:xfrm>
            <a:off x="6190488" y="4903038"/>
            <a:ext cx="5312664" cy="914400"/>
          </a:xfrm>
          <a:prstGeom prst="rect">
            <a:avLst/>
          </a:prstGeom>
          <a:noFill/>
          <a:ln/>
        </p:spPr>
        <p:txBody>
          <a:bodyPr wrap="square" lIns="0" tIns="0" rIns="0" bIns="0" rtlCol="0" anchor="t"/>
          <a:lstStyle/>
          <a:p>
            <a:pPr indent="0" marL="0">
              <a:buNone/>
            </a:pPr>
            <a:r>
              <a:rPr lang="en-US" sz="1450" b="1" dirty="0">
                <a:solidFill>
                  <a:srgbClr val="0071E3"/>
                </a:solidFill>
                <a:latin typeface="Helvetica Neue" pitchFamily="34" charset="0"/>
                <a:ea typeface="Helvetica Neue" pitchFamily="34" charset="-122"/>
                <a:cs typeface="Helvetica Neue" pitchFamily="34" charset="-120"/>
              </a:rPr>
              <a:t>Asthma.  </a:t>
            </a:r>
            <a:pPr indent="0" marL="0">
              <a:buNone/>
            </a:pPr>
            <a:r>
              <a:rPr lang="en-US" sz="1450" dirty="0">
                <a:solidFill>
                  <a:srgbClr val="6E6E73"/>
                </a:solidFill>
                <a:latin typeface="Helvetica Neue" pitchFamily="34" charset="0"/>
                <a:ea typeface="Helvetica Neue" pitchFamily="34" charset="-122"/>
                <a:cs typeface="Helvetica Neue" pitchFamily="34" charset="-120"/>
              </a:rPr>
              <a:t>Tracks breathing rate from the heart’s rhythm and coughs from the motion sensor, catching early-morning worsening (13 → 22 breaths/min).</a:t>
            </a:r>
            <a:endParaRPr lang="en-US" sz="1450" dirty="0"/>
          </a:p>
        </p:txBody>
      </p:sp>
      <p:sp>
        <p:nvSpPr>
          <p:cNvPr id="10" name="Text 6"/>
          <p:cNvSpPr txBox="1"/>
          <p:nvPr/>
        </p:nvSpPr>
        <p:spPr>
          <a:xfrm>
            <a:off x="685800" y="6172200"/>
            <a:ext cx="10789920" cy="274320"/>
          </a:xfrm>
          <a:prstGeom prst="rect">
            <a:avLst/>
          </a:prstGeom>
          <a:noFill/>
          <a:ln/>
        </p:spPr>
        <p:txBody>
          <a:bodyPr wrap="square" lIns="0" tIns="0" rIns="0" bIns="0" rtlCol="0" anchor="t"/>
          <a:lstStyle/>
          <a:p>
            <a:pPr indent="0" marL="0">
              <a:buNone/>
            </a:pPr>
            <a:r>
              <a:rPr lang="en-US" sz="1200" dirty="0">
                <a:solidFill>
                  <a:srgbClr val="6E6E73"/>
                </a:solidFill>
                <a:latin typeface="Helvetica Neue" pitchFamily="34" charset="0"/>
                <a:ea typeface="Helvetica Neue" pitchFamily="34" charset="-122"/>
                <a:cs typeface="Helvetica Neue" pitchFamily="34" charset="-120"/>
              </a:rPr>
              <a:t>Screening ideas only. Confirming an arrhythmia or asthma needs a doctor.</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685800" y="502920"/>
            <a:ext cx="10789920" cy="320040"/>
          </a:xfrm>
          <a:prstGeom prst="rect">
            <a:avLst/>
          </a:prstGeom>
          <a:noFill/>
          <a:ln/>
        </p:spPr>
        <p:txBody>
          <a:bodyPr wrap="square" lIns="0" tIns="0" rIns="0" bIns="0" rtlCol="0" anchor="t"/>
          <a:lstStyle/>
          <a:p>
            <a:pPr indent="0" marL="0">
              <a:buNone/>
            </a:pPr>
            <a:r>
              <a:rPr lang="en-US" sz="1600" b="1" dirty="0">
                <a:solidFill>
                  <a:srgbClr val="FF375F"/>
                </a:solidFill>
                <a:latin typeface="Helvetica Neue" pitchFamily="34" charset="0"/>
                <a:ea typeface="Helvetica Neue" pitchFamily="34" charset="-122"/>
                <a:cs typeface="Helvetica Neue" pitchFamily="34" charset="-120"/>
              </a:rPr>
              <a:t>Conclusion</a:t>
            </a:r>
            <a:endParaRPr lang="en-US" sz="1600" dirty="0"/>
          </a:p>
        </p:txBody>
      </p:sp>
      <p:sp>
        <p:nvSpPr>
          <p:cNvPr id="3" name="Text 1"/>
          <p:cNvSpPr txBox="1"/>
          <p:nvPr/>
        </p:nvSpPr>
        <p:spPr>
          <a:xfrm>
            <a:off x="685800" y="841248"/>
            <a:ext cx="10789920" cy="1005840"/>
          </a:xfrm>
          <a:prstGeom prst="rect">
            <a:avLst/>
          </a:prstGeom>
          <a:noFill/>
          <a:ln/>
        </p:spPr>
        <p:txBody>
          <a:bodyPr wrap="square" lIns="0" tIns="0" rIns="0" bIns="0" rtlCol="0" anchor="t"/>
          <a:lstStyle/>
          <a:p>
            <a:pPr indent="0" marL="0">
              <a:lnSpc>
                <a:spcPct val="92000"/>
              </a:lnSpc>
              <a:buNone/>
            </a:pPr>
            <a:r>
              <a:rPr lang="en-US" sz="5400" b="1" dirty="0">
                <a:solidFill>
                  <a:srgbClr val="FFFFFF"/>
                </a:solidFill>
                <a:latin typeface="Helvetica Neue" pitchFamily="34" charset="0"/>
                <a:ea typeface="Helvetica Neue" pitchFamily="34" charset="-122"/>
                <a:cs typeface="Helvetica Neue" pitchFamily="34" charset="-120"/>
              </a:rPr>
              <a:t>Supported. So far.</a:t>
            </a:r>
            <a:endParaRPr lang="en-US" sz="5400" dirty="0"/>
          </a:p>
        </p:txBody>
      </p:sp>
      <p:sp>
        <p:nvSpPr>
          <p:cNvPr id="4" name="Text 2"/>
          <p:cNvSpPr txBox="1"/>
          <p:nvPr/>
        </p:nvSpPr>
        <p:spPr>
          <a:xfrm>
            <a:off x="685800" y="1965960"/>
            <a:ext cx="10789920" cy="1005840"/>
          </a:xfrm>
          <a:prstGeom prst="rect">
            <a:avLst/>
          </a:prstGeom>
          <a:noFill/>
          <a:ln/>
        </p:spPr>
        <p:txBody>
          <a:bodyPr wrap="square" lIns="0" tIns="0" rIns="0" bIns="0" rtlCol="0" anchor="t"/>
          <a:lstStyle/>
          <a:p>
            <a:pPr indent="0" marL="0">
              <a:lnSpc>
                <a:spcPct val="108000"/>
              </a:lnSpc>
              <a:buNone/>
            </a:pPr>
            <a:r>
              <a:rPr lang="en-US" sz="1900" dirty="0">
                <a:solidFill>
                  <a:srgbClr val="A1A1A6"/>
                </a:solidFill>
                <a:latin typeface="Helvetica Neue" pitchFamily="34" charset="0"/>
                <a:ea typeface="Helvetica Neue" pitchFamily="34" charset="-122"/>
                <a:cs typeface="Helvetica Neue" pitchFamily="34" charset="-120"/>
              </a:rPr>
              <a:t>A low-cost wearable measured blood oxygen within about half a percent of a reference, found apnea events on its own, scored the night’s severity, and showed back-sleeping triples events.</a:t>
            </a:r>
            <a:endParaRPr lang="en-US" sz="1900" dirty="0"/>
          </a:p>
        </p:txBody>
      </p:sp>
      <p:sp>
        <p:nvSpPr>
          <p:cNvPr id="5" name="Text 3"/>
          <p:cNvSpPr txBox="1"/>
          <p:nvPr/>
        </p:nvSpPr>
        <p:spPr>
          <a:xfrm>
            <a:off x="685800" y="3246120"/>
            <a:ext cx="5486400" cy="365760"/>
          </a:xfrm>
          <a:prstGeom prst="rect">
            <a:avLst/>
          </a:prstGeom>
          <a:noFill/>
          <a:ln/>
        </p:spPr>
        <p:txBody>
          <a:bodyPr wrap="square" lIns="0" tIns="0" rIns="0" bIns="0" rtlCol="0" anchor="t"/>
          <a:lstStyle/>
          <a:p>
            <a:pPr indent="0" marL="0">
              <a:buNone/>
            </a:pPr>
            <a:r>
              <a:rPr lang="en-US" sz="1900" b="1" dirty="0">
                <a:solidFill>
                  <a:srgbClr val="FFFFFF"/>
                </a:solidFill>
                <a:latin typeface="Helvetica Neue" pitchFamily="34" charset="0"/>
                <a:ea typeface="Helvetica Neue" pitchFamily="34" charset="-122"/>
                <a:cs typeface="Helvetica Neue" pitchFamily="34" charset="-120"/>
              </a:rPr>
              <a:t>Next</a:t>
            </a:r>
            <a:endParaRPr lang="en-US" sz="1900" dirty="0"/>
          </a:p>
        </p:txBody>
      </p:sp>
      <p:sp>
        <p:nvSpPr>
          <p:cNvPr id="6" name="Shape 4"/>
          <p:cNvSpPr/>
          <p:nvPr/>
        </p:nvSpPr>
        <p:spPr>
          <a:xfrm>
            <a:off x="685800" y="3804186"/>
            <a:ext cx="73152" cy="73152"/>
          </a:xfrm>
          <a:prstGeom prst="ellipse">
            <a:avLst/>
          </a:prstGeom>
          <a:solidFill>
            <a:srgbClr val="86868B"/>
          </a:solidFill>
          <a:ln/>
        </p:spPr>
      </p:sp>
      <p:sp>
        <p:nvSpPr>
          <p:cNvPr id="7" name="Text 5"/>
          <p:cNvSpPr txBox="1"/>
          <p:nvPr/>
        </p:nvSpPr>
        <p:spPr>
          <a:xfrm>
            <a:off x="914400" y="3703320"/>
            <a:ext cx="6446520" cy="313309"/>
          </a:xfrm>
          <a:prstGeom prst="rect">
            <a:avLst/>
          </a:prstGeom>
          <a:noFill/>
          <a:ln/>
        </p:spPr>
        <p:txBody>
          <a:bodyPr wrap="square" lIns="0" tIns="0" rIns="0" bIns="0" rtlCol="0" anchor="t"/>
          <a:lstStyle/>
          <a:p>
            <a:pPr indent="0" marL="0">
              <a:buNone/>
            </a:pPr>
            <a:r>
              <a:rPr lang="en-US" sz="1550" dirty="0">
                <a:solidFill>
                  <a:srgbClr val="A1A1A6"/>
                </a:solidFill>
                <a:latin typeface="Helvetica Neue" pitchFamily="34" charset="0"/>
                <a:ea typeface="Helvetica Neue" pitchFamily="34" charset="-122"/>
                <a:cs typeface="Helvetica Neue" pitchFamily="34" charset="-120"/>
              </a:rPr>
              <a:t>Record more people and many more nights</a:t>
            </a:r>
            <a:endParaRPr lang="en-US" sz="1550" dirty="0"/>
          </a:p>
        </p:txBody>
      </p:sp>
      <p:sp>
        <p:nvSpPr>
          <p:cNvPr id="8" name="Shape 6"/>
          <p:cNvSpPr/>
          <p:nvPr/>
        </p:nvSpPr>
        <p:spPr>
          <a:xfrm>
            <a:off x="685800" y="4172359"/>
            <a:ext cx="73152" cy="73152"/>
          </a:xfrm>
          <a:prstGeom prst="ellipse">
            <a:avLst/>
          </a:prstGeom>
          <a:solidFill>
            <a:srgbClr val="86868B"/>
          </a:solidFill>
          <a:ln/>
        </p:spPr>
      </p:sp>
      <p:sp>
        <p:nvSpPr>
          <p:cNvPr id="9" name="Text 7"/>
          <p:cNvSpPr txBox="1"/>
          <p:nvPr/>
        </p:nvSpPr>
        <p:spPr>
          <a:xfrm>
            <a:off x="914400" y="4071493"/>
            <a:ext cx="6446520" cy="313309"/>
          </a:xfrm>
          <a:prstGeom prst="rect">
            <a:avLst/>
          </a:prstGeom>
          <a:noFill/>
          <a:ln/>
        </p:spPr>
        <p:txBody>
          <a:bodyPr wrap="square" lIns="0" tIns="0" rIns="0" bIns="0" rtlCol="0" anchor="t"/>
          <a:lstStyle/>
          <a:p>
            <a:pPr indent="0" marL="0">
              <a:buNone/>
            </a:pPr>
            <a:r>
              <a:rPr lang="en-US" sz="1550" dirty="0">
                <a:solidFill>
                  <a:srgbClr val="A1A1A6"/>
                </a:solidFill>
                <a:latin typeface="Helvetica Neue" pitchFamily="34" charset="0"/>
                <a:ea typeface="Helvetica Neue" pitchFamily="34" charset="-122"/>
                <a:cs typeface="Helvetica Neue" pitchFamily="34" charset="-120"/>
              </a:rPr>
              <a:t>Add a nasal airflow sensor to separate apnea from hypopnea</a:t>
            </a:r>
            <a:endParaRPr lang="en-US" sz="1550" dirty="0"/>
          </a:p>
        </p:txBody>
      </p:sp>
      <p:sp>
        <p:nvSpPr>
          <p:cNvPr id="10" name="Shape 8"/>
          <p:cNvSpPr/>
          <p:nvPr/>
        </p:nvSpPr>
        <p:spPr>
          <a:xfrm>
            <a:off x="685800" y="4540532"/>
            <a:ext cx="73152" cy="73152"/>
          </a:xfrm>
          <a:prstGeom prst="ellipse">
            <a:avLst/>
          </a:prstGeom>
          <a:solidFill>
            <a:srgbClr val="86868B"/>
          </a:solidFill>
          <a:ln/>
        </p:spPr>
      </p:sp>
      <p:sp>
        <p:nvSpPr>
          <p:cNvPr id="11" name="Text 9"/>
          <p:cNvSpPr txBox="1"/>
          <p:nvPr/>
        </p:nvSpPr>
        <p:spPr>
          <a:xfrm>
            <a:off x="914400" y="4439666"/>
            <a:ext cx="6446520" cy="313309"/>
          </a:xfrm>
          <a:prstGeom prst="rect">
            <a:avLst/>
          </a:prstGeom>
          <a:noFill/>
          <a:ln/>
        </p:spPr>
        <p:txBody>
          <a:bodyPr wrap="square" lIns="0" tIns="0" rIns="0" bIns="0" rtlCol="0" anchor="t"/>
          <a:lstStyle/>
          <a:p>
            <a:pPr indent="0" marL="0">
              <a:buNone/>
            </a:pPr>
            <a:r>
              <a:rPr lang="en-US" sz="1550" dirty="0">
                <a:solidFill>
                  <a:srgbClr val="A1A1A6"/>
                </a:solidFill>
                <a:latin typeface="Helvetica Neue" pitchFamily="34" charset="0"/>
                <a:ea typeface="Helvetica Neue" pitchFamily="34" charset="-122"/>
                <a:cs typeface="Helvetica Neue" pitchFamily="34" charset="-120"/>
              </a:rPr>
              <a:t>Bigger battery or Bluetooth Low Energy for full nights</a:t>
            </a:r>
            <a:endParaRPr lang="en-US" sz="1550" dirty="0"/>
          </a:p>
        </p:txBody>
      </p:sp>
      <p:sp>
        <p:nvSpPr>
          <p:cNvPr id="12" name="Shape 10"/>
          <p:cNvSpPr/>
          <p:nvPr/>
        </p:nvSpPr>
        <p:spPr>
          <a:xfrm>
            <a:off x="685800" y="4908705"/>
            <a:ext cx="73152" cy="73152"/>
          </a:xfrm>
          <a:prstGeom prst="ellipse">
            <a:avLst/>
          </a:prstGeom>
          <a:solidFill>
            <a:srgbClr val="86868B"/>
          </a:solidFill>
          <a:ln/>
        </p:spPr>
      </p:sp>
      <p:sp>
        <p:nvSpPr>
          <p:cNvPr id="13" name="Text 11"/>
          <p:cNvSpPr txBox="1"/>
          <p:nvPr/>
        </p:nvSpPr>
        <p:spPr>
          <a:xfrm>
            <a:off x="914400" y="4807839"/>
            <a:ext cx="6446520" cy="313309"/>
          </a:xfrm>
          <a:prstGeom prst="rect">
            <a:avLst/>
          </a:prstGeom>
          <a:noFill/>
          <a:ln/>
        </p:spPr>
        <p:txBody>
          <a:bodyPr wrap="square" lIns="0" tIns="0" rIns="0" bIns="0" rtlCol="0" anchor="t"/>
          <a:lstStyle/>
          <a:p>
            <a:pPr indent="0" marL="0">
              <a:buNone/>
            </a:pPr>
            <a:r>
              <a:rPr lang="en-US" sz="1550" dirty="0">
                <a:solidFill>
                  <a:srgbClr val="A1A1A6"/>
                </a:solidFill>
                <a:latin typeface="Helvetica Neue" pitchFamily="34" charset="0"/>
                <a:ea typeface="Helvetica Neue" pitchFamily="34" charset="-122"/>
                <a:cs typeface="Helvetica Neue" pitchFamily="34" charset="-120"/>
              </a:rPr>
              <a:t>Shrink it into a finger ring and compare with a real sleep lab</a:t>
            </a:r>
            <a:endParaRPr lang="en-US" sz="1550" dirty="0"/>
          </a:p>
        </p:txBody>
      </p:sp>
      <p:sp>
        <p:nvSpPr>
          <p:cNvPr id="14" name="Shape 12"/>
          <p:cNvSpPr/>
          <p:nvPr/>
        </p:nvSpPr>
        <p:spPr>
          <a:xfrm>
            <a:off x="8110728" y="3355848"/>
            <a:ext cx="1472184" cy="1472184"/>
          </a:xfrm>
          <a:prstGeom prst="roundRect">
            <a:avLst>
              <a:gd name="adj" fmla="val 13665"/>
            </a:avLst>
          </a:prstGeom>
          <a:solidFill>
            <a:srgbClr val="FFFFFF"/>
          </a:solidFill>
          <a:ln/>
        </p:spPr>
      </p:sp>
      <p:pic>
        <p:nvPicPr>
          <p:cNvPr id="15" name="Image 0" descr="/home/user/teetomivV2/science-fair/night-signal/slides/assets/qr_app.png">
            <a:hlinkClick r:id="rId2" tooltip="https://gabrielamamanestudent-wq.github.io/teetomivV2/science-fair/night-signal/app/"/>
          </p:cNvPr>
          <p:cNvPicPr>
            <a:picLocks noChangeAspect="1"/>
          </p:cNvPicPr>
          <p:nvPr/>
        </p:nvPicPr>
        <p:blipFill>
          <a:blip r:embed="rId1"/>
          <a:stretch>
            <a:fillRect/>
          </a:stretch>
        </p:blipFill>
        <p:spPr>
          <a:xfrm>
            <a:off x="8183880" y="3429000"/>
            <a:ext cx="1325880" cy="1325880"/>
          </a:xfrm>
          <a:prstGeom prst="rect">
            <a:avLst/>
          </a:prstGeom>
        </p:spPr>
      </p:pic>
      <p:sp>
        <p:nvSpPr>
          <p:cNvPr id="16" name="Shape 13"/>
          <p:cNvSpPr/>
          <p:nvPr/>
        </p:nvSpPr>
        <p:spPr>
          <a:xfrm>
            <a:off x="9966960" y="3355848"/>
            <a:ext cx="1472184" cy="1472184"/>
          </a:xfrm>
          <a:prstGeom prst="roundRect">
            <a:avLst>
              <a:gd name="adj" fmla="val 13665"/>
            </a:avLst>
          </a:prstGeom>
          <a:solidFill>
            <a:srgbClr val="FFFFFF"/>
          </a:solidFill>
          <a:ln/>
        </p:spPr>
      </p:sp>
      <p:pic>
        <p:nvPicPr>
          <p:cNvPr id="17" name="Image 1" descr="/home/user/teetomivV2/science-fair/night-signal/slides/assets/qr_3d.png">
            <a:hlinkClick r:id="rId4" tooltip="https://gabrielamamanestudent-wq.github.io/teetomivV2/science-fair/night-signal/app/3d.html"/>
          </p:cNvPr>
          <p:cNvPicPr>
            <a:picLocks noChangeAspect="1"/>
          </p:cNvPicPr>
          <p:nvPr/>
        </p:nvPicPr>
        <p:blipFill>
          <a:blip r:embed="rId3"/>
          <a:stretch>
            <a:fillRect/>
          </a:stretch>
        </p:blipFill>
        <p:spPr>
          <a:xfrm>
            <a:off x="10040112" y="3429000"/>
            <a:ext cx="1325880" cy="1325880"/>
          </a:xfrm>
          <a:prstGeom prst="rect">
            <a:avLst/>
          </a:prstGeom>
        </p:spPr>
      </p:pic>
      <p:sp>
        <p:nvSpPr>
          <p:cNvPr id="18" name="Text 14"/>
          <p:cNvSpPr txBox="1"/>
          <p:nvPr/>
        </p:nvSpPr>
        <p:spPr>
          <a:xfrm>
            <a:off x="8183880" y="4892040"/>
            <a:ext cx="1325880" cy="274320"/>
          </a:xfrm>
          <a:prstGeom prst="rect">
            <a:avLst/>
          </a:prstGeom>
          <a:noFill/>
          <a:ln/>
        </p:spPr>
        <p:txBody>
          <a:bodyPr wrap="square" lIns="0" tIns="0" rIns="0" bIns="0" rtlCol="0" anchor="t"/>
          <a:lstStyle/>
          <a:p>
            <a:pPr algn="ctr" indent="0" marL="0">
              <a:buNone/>
            </a:pPr>
            <a:r>
              <a:rPr lang="en-US" sz="1300" dirty="0">
                <a:solidFill>
                  <a:srgbClr val="86868B"/>
                </a:solidFill>
                <a:latin typeface="Helvetica Neue" pitchFamily="34" charset="0"/>
                <a:ea typeface="Helvetica Neue" pitchFamily="34" charset="-122"/>
                <a:cs typeface="Helvetica Neue" pitchFamily="34" charset="-120"/>
              </a:rPr>
              <a:t>App</a:t>
            </a:r>
            <a:endParaRPr lang="en-US" sz="1300" dirty="0"/>
          </a:p>
        </p:txBody>
      </p:sp>
      <p:sp>
        <p:nvSpPr>
          <p:cNvPr id="19" name="Text 15"/>
          <p:cNvSpPr txBox="1"/>
          <p:nvPr/>
        </p:nvSpPr>
        <p:spPr>
          <a:xfrm>
            <a:off x="10040112" y="4892040"/>
            <a:ext cx="1325880" cy="274320"/>
          </a:xfrm>
          <a:prstGeom prst="rect">
            <a:avLst/>
          </a:prstGeom>
          <a:noFill/>
          <a:ln/>
        </p:spPr>
        <p:txBody>
          <a:bodyPr wrap="square" lIns="0" tIns="0" rIns="0" bIns="0" rtlCol="0" anchor="t"/>
          <a:lstStyle/>
          <a:p>
            <a:pPr algn="ctr" indent="0" marL="0">
              <a:buNone/>
            </a:pPr>
            <a:r>
              <a:rPr lang="en-US" sz="1300" dirty="0">
                <a:solidFill>
                  <a:srgbClr val="86868B"/>
                </a:solidFill>
                <a:latin typeface="Helvetica Neue" pitchFamily="34" charset="0"/>
                <a:ea typeface="Helvetica Neue" pitchFamily="34" charset="-122"/>
                <a:cs typeface="Helvetica Neue" pitchFamily="34" charset="-120"/>
              </a:rPr>
              <a:t>3D model</a:t>
            </a:r>
            <a:endParaRPr lang="en-US" sz="1300" dirty="0"/>
          </a:p>
        </p:txBody>
      </p:sp>
      <p:sp>
        <p:nvSpPr>
          <p:cNvPr id="20" name="Text 16"/>
          <p:cNvSpPr txBox="1"/>
          <p:nvPr/>
        </p:nvSpPr>
        <p:spPr>
          <a:xfrm>
            <a:off x="685800" y="5760720"/>
            <a:ext cx="10789920" cy="548640"/>
          </a:xfrm>
          <a:prstGeom prst="rect">
            <a:avLst/>
          </a:prstGeom>
          <a:noFill/>
          <a:ln/>
        </p:spPr>
        <p:txBody>
          <a:bodyPr wrap="square" lIns="0" tIns="0" rIns="0" bIns="0" rtlCol="0" anchor="t"/>
          <a:lstStyle/>
          <a:p>
            <a:pPr indent="0" marL="0">
              <a:buNone/>
            </a:pPr>
            <a:r>
              <a:rPr lang="en-US" sz="2800" b="1" dirty="0">
                <a:solidFill>
                  <a:srgbClr val="FFFFFF"/>
                </a:solidFill>
                <a:latin typeface="Helvetica Neue" pitchFamily="34" charset="0"/>
                <a:ea typeface="Helvetica Neue" pitchFamily="34" charset="-122"/>
                <a:cs typeface="Helvetica Neue" pitchFamily="34" charset="-120"/>
              </a:rPr>
              <a:t>Thank you. Questions?</a:t>
            </a:r>
            <a:endParaRPr lang="en-US" sz="28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9464040" y="502920"/>
            <a:ext cx="2057400" cy="329184"/>
          </a:xfrm>
          <a:prstGeom prst="roundRect">
            <a:avLst>
              <a:gd name="adj" fmla="val 50000"/>
            </a:avLst>
          </a:prstGeom>
          <a:solidFill>
            <a:srgbClr val="F5F5F7"/>
          </a:solidFill>
          <a:ln/>
        </p:spPr>
      </p:sp>
      <p:sp>
        <p:nvSpPr>
          <p:cNvPr id="3" name="Text 1"/>
          <p:cNvSpPr txBox="1"/>
          <p:nvPr/>
        </p:nvSpPr>
        <p:spPr>
          <a:xfrm>
            <a:off x="9464040" y="502920"/>
            <a:ext cx="2057400" cy="329184"/>
          </a:xfrm>
          <a:prstGeom prst="rect">
            <a:avLst/>
          </a:prstGeom>
          <a:noFill/>
          <a:ln/>
        </p:spPr>
        <p:txBody>
          <a:bodyPr wrap="square" lIns="0" tIns="0" rIns="0" bIns="0" rtlCol="0" anchor="ctr"/>
          <a:lstStyle/>
          <a:p>
            <a:pPr algn="ctr" indent="0" marL="0">
              <a:buNone/>
            </a:pPr>
            <a:r>
              <a:rPr lang="en-US" sz="1050" b="1" dirty="0">
                <a:solidFill>
                  <a:srgbClr val="6E6E73"/>
                </a:solidFill>
                <a:latin typeface="Helvetica Neue" pitchFamily="34" charset="0"/>
                <a:ea typeface="Helvetica Neue" pitchFamily="34" charset="-122"/>
                <a:cs typeface="Helvetica Neue" pitchFamily="34" charset="-120"/>
              </a:rPr>
              <a:t>Appendix · not presented</a:t>
            </a:r>
            <a:endParaRPr lang="en-US" sz="1050" dirty="0"/>
          </a:p>
        </p:txBody>
      </p:sp>
      <p:sp>
        <p:nvSpPr>
          <p:cNvPr id="4" name="Text 2"/>
          <p:cNvSpPr txBox="1"/>
          <p:nvPr/>
        </p:nvSpPr>
        <p:spPr>
          <a:xfrm>
            <a:off x="685800" y="502920"/>
            <a:ext cx="10789920" cy="320040"/>
          </a:xfrm>
          <a:prstGeom prst="rect">
            <a:avLst/>
          </a:prstGeom>
          <a:noFill/>
          <a:ln/>
        </p:spPr>
        <p:txBody>
          <a:bodyPr wrap="square" lIns="0" tIns="0" rIns="0" bIns="0" rtlCol="0" anchor="t"/>
          <a:lstStyle/>
          <a:p>
            <a:pPr indent="0" marL="0">
              <a:buNone/>
            </a:pPr>
            <a:r>
              <a:rPr lang="en-US" sz="1600" b="1" dirty="0">
                <a:solidFill>
                  <a:srgbClr val="E3254B"/>
                </a:solidFill>
                <a:latin typeface="Helvetica Neue" pitchFamily="34" charset="0"/>
                <a:ea typeface="Helvetica Neue" pitchFamily="34" charset="-122"/>
                <a:cs typeface="Helvetica Neue" pitchFamily="34" charset="-120"/>
              </a:rPr>
              <a:t>Appendix A · Materials</a:t>
            </a:r>
            <a:endParaRPr lang="en-US" sz="1600" dirty="0"/>
          </a:p>
        </p:txBody>
      </p:sp>
      <p:sp>
        <p:nvSpPr>
          <p:cNvPr id="5" name="Text 3"/>
          <p:cNvSpPr txBox="1"/>
          <p:nvPr/>
        </p:nvSpPr>
        <p:spPr>
          <a:xfrm>
            <a:off x="685800" y="841248"/>
            <a:ext cx="10789920" cy="640080"/>
          </a:xfrm>
          <a:prstGeom prst="rect">
            <a:avLst/>
          </a:prstGeom>
          <a:noFill/>
          <a:ln/>
        </p:spPr>
        <p:txBody>
          <a:bodyPr wrap="square" lIns="0" tIns="0" rIns="0" bIns="0" rtlCol="0" anchor="t"/>
          <a:lstStyle/>
          <a:p>
            <a:pPr indent="0" marL="0">
              <a:lnSpc>
                <a:spcPct val="92000"/>
              </a:lnSpc>
              <a:buNone/>
            </a:pPr>
            <a:r>
              <a:rPr lang="en-US" sz="3000" b="1" dirty="0">
                <a:solidFill>
                  <a:srgbClr val="1D1D1F"/>
                </a:solidFill>
                <a:latin typeface="Helvetica Neue" pitchFamily="34" charset="0"/>
                <a:ea typeface="Helvetica Neue" pitchFamily="34" charset="-122"/>
                <a:cs typeface="Helvetica Neue" pitchFamily="34" charset="-120"/>
              </a:rPr>
              <a:t>Parts, exact sizes and where to buy.</a:t>
            </a:r>
            <a:endParaRPr lang="en-US" sz="30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685800" y="1600200"/>
          <a:ext cx="10817352" cy="914400"/>
        </p:xfrm>
        <a:graphic>
          <a:graphicData uri="http://schemas.openxmlformats.org/drawingml/2006/table">
            <a:tbl>
              <a:tblPr/>
              <a:tblGrid>
                <a:gridCol w="4023360"/>
                <a:gridCol w="3017520"/>
                <a:gridCol w="2587752"/>
                <a:gridCol w="1188720"/>
              </a:tblGrid>
              <a:tr h="393192">
                <a:tc>
                  <a:txBody>
                    <a:bodyPr/>
                    <a:lstStyle/>
                    <a:p>
                      <a:pPr indent="0" marL="0">
                        <a:buNone/>
                      </a:pPr>
                      <a:r>
                        <a:rPr lang="en-US" sz="950" b="1" dirty="0">
                          <a:solidFill>
                            <a:srgbClr val="6E6E73"/>
                          </a:solidFill>
                          <a:latin typeface="Helvetica Neue" pitchFamily="34" charset="0"/>
                          <a:ea typeface="Helvetica Neue" pitchFamily="34" charset="-122"/>
                          <a:cs typeface="Helvetica Neue" pitchFamily="34" charset="-120"/>
                        </a:rPr>
                        <a:t>Part</a:t>
                      </a:r>
                      <a:endParaRPr lang="en-US" sz="95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15875" cap="flat" cmpd="sng" algn="ctr">
                      <a:solidFill>
                        <a:srgbClr val="1D1D1F"/>
                      </a:solidFill>
                      <a:prstDash val="solid"/>
                      <a:round/>
                      <a:headEnd type="none" w="med" len="med"/>
                      <a:tailEnd type="none" w="med" len="med"/>
                    </a:lnB>
                  </a:tcPr>
                </a:tc>
                <a:tc>
                  <a:txBody>
                    <a:bodyPr/>
                    <a:lstStyle/>
                    <a:p>
                      <a:pPr indent="0" marL="0">
                        <a:buNone/>
                      </a:pPr>
                      <a:r>
                        <a:rPr lang="en-US" sz="950" b="1" dirty="0">
                          <a:solidFill>
                            <a:srgbClr val="6E6E73"/>
                          </a:solidFill>
                          <a:latin typeface="Helvetica Neue" pitchFamily="34" charset="0"/>
                          <a:ea typeface="Helvetica Neue" pitchFamily="34" charset="-122"/>
                          <a:cs typeface="Helvetica Neue" pitchFamily="34" charset="-120"/>
                        </a:rPr>
                        <a:t>Size</a:t>
                      </a:r>
                      <a:endParaRPr lang="en-US" sz="95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15875" cap="flat" cmpd="sng" algn="ctr">
                      <a:solidFill>
                        <a:srgbClr val="1D1D1F"/>
                      </a:solidFill>
                      <a:prstDash val="solid"/>
                      <a:round/>
                      <a:headEnd type="none" w="med" len="med"/>
                      <a:tailEnd type="none" w="med" len="med"/>
                    </a:lnB>
                  </a:tcPr>
                </a:tc>
                <a:tc>
                  <a:txBody>
                    <a:bodyPr/>
                    <a:lstStyle/>
                    <a:p>
                      <a:pPr indent="0" marL="0">
                        <a:buNone/>
                      </a:pPr>
                      <a:r>
                        <a:rPr lang="en-US" sz="950" b="1" dirty="0">
                          <a:solidFill>
                            <a:srgbClr val="6E6E73"/>
                          </a:solidFill>
                          <a:latin typeface="Helvetica Neue" pitchFamily="34" charset="0"/>
                          <a:ea typeface="Helvetica Neue" pitchFamily="34" charset="-122"/>
                          <a:cs typeface="Helvetica Neue" pitchFamily="34" charset="-120"/>
                        </a:rPr>
                        <a:t>Purpose</a:t>
                      </a:r>
                      <a:endParaRPr lang="en-US" sz="95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15875" cap="flat" cmpd="sng" algn="ctr">
                      <a:solidFill>
                        <a:srgbClr val="1D1D1F"/>
                      </a:solidFill>
                      <a:prstDash val="solid"/>
                      <a:round/>
                      <a:headEnd type="none" w="med" len="med"/>
                      <a:tailEnd type="none" w="med" len="med"/>
                    </a:lnB>
                  </a:tcPr>
                </a:tc>
                <a:tc>
                  <a:txBody>
                    <a:bodyPr/>
                    <a:lstStyle/>
                    <a:p>
                      <a:pPr indent="0" marL="0">
                        <a:buNone/>
                      </a:pPr>
                      <a:r>
                        <a:rPr lang="en-US" sz="950" b="1" dirty="0">
                          <a:solidFill>
                            <a:srgbClr val="6E6E73"/>
                          </a:solidFill>
                          <a:latin typeface="Helvetica Neue" pitchFamily="34" charset="0"/>
                          <a:ea typeface="Helvetica Neue" pitchFamily="34" charset="-122"/>
                          <a:cs typeface="Helvetica Neue" pitchFamily="34" charset="-120"/>
                        </a:rPr>
                        <a:t>Buy</a:t>
                      </a:r>
                      <a:endParaRPr lang="en-US" sz="95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15875" cap="flat" cmpd="sng" algn="ctr">
                      <a:solidFill>
                        <a:srgbClr val="1D1D1F"/>
                      </a:solidFill>
                      <a:prstDash val="solid"/>
                      <a:round/>
                      <a:headEnd type="none" w="med" len="med"/>
                      <a:tailEnd type="none" w="med" len="med"/>
                    </a:lnB>
                  </a:tcPr>
                </a:tc>
              </a:tr>
              <a:tr h="393192">
                <a:tc>
                  <a:txBody>
                    <a:bodyPr/>
                    <a:lstStyle/>
                    <a:p>
                      <a:pPr indent="0" marL="0">
                        <a:buNone/>
                      </a:pPr>
                      <a:r>
                        <a:rPr lang="en-US" sz="1150" b="1" dirty="0">
                          <a:solidFill>
                            <a:srgbClr val="1D1D1F"/>
                          </a:solidFill>
                          <a:latin typeface="Helvetica Neue" pitchFamily="34" charset="0"/>
                          <a:ea typeface="Helvetica Neue" pitchFamily="34" charset="-122"/>
                          <a:cs typeface="Helvetica Neue" pitchFamily="34" charset="-120"/>
                        </a:rPr>
                        <a:t>AITRIP ESP32 ESP-WROOM-32 (30-pin, CP2102, USB-C)</a:t>
                      </a:r>
                      <a:endParaRPr lang="en-US" sz="115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150" dirty="0">
                          <a:solidFill>
                            <a:srgbClr val="6E6E73"/>
                          </a:solidFill>
                          <a:latin typeface="Helvetica Neue" pitchFamily="34" charset="0"/>
                          <a:ea typeface="Helvetica Neue" pitchFamily="34" charset="-122"/>
                          <a:cs typeface="Helvetica Neue" pitchFamily="34" charset="-120"/>
                        </a:rPr>
                        <a:t>≈ 52 × 28 mm · pins pre-soldered</a:t>
                      </a:r>
                      <a:endParaRPr lang="en-US" sz="115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150" dirty="0">
                          <a:solidFill>
                            <a:srgbClr val="6E6E73"/>
                          </a:solidFill>
                          <a:latin typeface="Helvetica Neue" pitchFamily="34" charset="0"/>
                          <a:ea typeface="Helvetica Neue" pitchFamily="34" charset="-122"/>
                          <a:cs typeface="Helvetica Neue" pitchFamily="34" charset="-120"/>
                        </a:rPr>
                        <a:t>Processor + Bluetooth Classic</a:t>
                      </a:r>
                      <a:endParaRPr lang="en-US" sz="115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150" u="sng" dirty="0">
                          <a:solidFill>
                            <a:srgbClr val="0071E3"/>
                          </a:solidFill>
                          <a:latin typeface="Helvetica Neue" pitchFamily="34" charset="0"/>
                          <a:ea typeface="Helvetica Neue" pitchFamily="34" charset="-122"/>
                          <a:cs typeface="Helvetica Neue" pitchFamily="34" charset="-120"/>
                          <a:hlinkClick r:id="rId1" invalidUrl="" action="" tgtFrame="" tooltip="https://www.amazon.ca/AITRIP-ESP-WROOM-32-Development-Microcontroller-Compatible/dp/B0DF2YJSHN" history="1" highlightClick="0" endSnd="0">
                            <a:extLst>
                              <a:ext uri="{A12FA001-AC4F-418D-AE19-62706E023703}">
                                <ahyp:hlinkClr xmlns:ahyp="http://schemas.microsoft.com/office/drawing/2018/hyperlinkcolor" val="tx"/>
                              </a:ext>
                            </a:extLst>
                          </a:hlinkClick>
                        </a:rPr>
                        <a:t>Amazon.ca ›</a:t>
                      </a:r>
                      <a:endParaRPr lang="en-US" sz="115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r>
              <a:tr h="393192">
                <a:tc>
                  <a:txBody>
                    <a:bodyPr/>
                    <a:lstStyle/>
                    <a:p>
                      <a:pPr indent="0" marL="0">
                        <a:buNone/>
                      </a:pPr>
                      <a:r>
                        <a:rPr lang="en-US" sz="1150" b="1" dirty="0">
                          <a:solidFill>
                            <a:srgbClr val="1D1D1F"/>
                          </a:solidFill>
                          <a:latin typeface="Helvetica Neue" pitchFamily="34" charset="0"/>
                          <a:ea typeface="Helvetica Neue" pitchFamily="34" charset="-122"/>
                          <a:cs typeface="Helvetica Neue" pitchFamily="34" charset="-120"/>
                        </a:rPr>
                        <a:t>HiLetgo MAX30102 sensor</a:t>
                      </a:r>
                      <a:endParaRPr lang="en-US" sz="115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150" dirty="0">
                          <a:solidFill>
                            <a:srgbClr val="6E6E73"/>
                          </a:solidFill>
                          <a:latin typeface="Helvetica Neue" pitchFamily="34" charset="0"/>
                          <a:ea typeface="Helvetica Neue" pitchFamily="34" charset="-122"/>
                          <a:cs typeface="Helvetica Neue" pitchFamily="34" charset="-120"/>
                        </a:rPr>
                        <a:t>14 × 14 mm · 4 pins to solder</a:t>
                      </a:r>
                      <a:endParaRPr lang="en-US" sz="115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150" dirty="0">
                          <a:solidFill>
                            <a:srgbClr val="6E6E73"/>
                          </a:solidFill>
                          <a:latin typeface="Helvetica Neue" pitchFamily="34" charset="0"/>
                          <a:ea typeface="Helvetica Neue" pitchFamily="34" charset="-122"/>
                          <a:cs typeface="Helvetica Neue" pitchFamily="34" charset="-120"/>
                        </a:rPr>
                        <a:t>SpO₂ + heart rate (finger clip)</a:t>
                      </a:r>
                      <a:endParaRPr lang="en-US" sz="115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150" u="sng" dirty="0">
                          <a:solidFill>
                            <a:srgbClr val="0071E3"/>
                          </a:solidFill>
                          <a:latin typeface="Helvetica Neue" pitchFamily="34" charset="0"/>
                          <a:ea typeface="Helvetica Neue" pitchFamily="34" charset="-122"/>
                          <a:cs typeface="Helvetica Neue" pitchFamily="34" charset="-120"/>
                          <a:hlinkClick r:id="rId2" invalidUrl="" action="" tgtFrame="" tooltip="https://www.amazon.ca/HiLetgo-MAX30102-Breakout-Oximetry-Solution/dp/B07QC67KMQ" history="1" highlightClick="0" endSnd="0">
                            <a:extLst>
                              <a:ext uri="{A12FA001-AC4F-418D-AE19-62706E023703}">
                                <ahyp:hlinkClr xmlns:ahyp="http://schemas.microsoft.com/office/drawing/2018/hyperlinkcolor" val="tx"/>
                              </a:ext>
                            </a:extLst>
                          </a:hlinkClick>
                        </a:rPr>
                        <a:t>Amazon.ca ›</a:t>
                      </a:r>
                      <a:endParaRPr lang="en-US" sz="115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r>
              <a:tr h="393192">
                <a:tc>
                  <a:txBody>
                    <a:bodyPr/>
                    <a:lstStyle/>
                    <a:p>
                      <a:pPr indent="0" marL="0">
                        <a:buNone/>
                      </a:pPr>
                      <a:r>
                        <a:rPr lang="en-US" sz="1150" b="1" dirty="0">
                          <a:solidFill>
                            <a:srgbClr val="1D1D1F"/>
                          </a:solidFill>
                          <a:latin typeface="Helvetica Neue" pitchFamily="34" charset="0"/>
                          <a:ea typeface="Helvetica Neue" pitchFamily="34" charset="-122"/>
                          <a:cs typeface="Helvetica Neue" pitchFamily="34" charset="-120"/>
                        </a:rPr>
                        <a:t>SHILLEHTEK GY-521 MPU-6050, pre-soldered (2-pack)</a:t>
                      </a:r>
                      <a:endParaRPr lang="en-US" sz="115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150" dirty="0">
                          <a:solidFill>
                            <a:srgbClr val="6E6E73"/>
                          </a:solidFill>
                          <a:latin typeface="Helvetica Neue" pitchFamily="34" charset="0"/>
                          <a:ea typeface="Helvetica Neue" pitchFamily="34" charset="-122"/>
                          <a:cs typeface="Helvetica Neue" pitchFamily="34" charset="-120"/>
                        </a:rPr>
                        <a:t>≈ 21 × 16 mm</a:t>
                      </a:r>
                      <a:endParaRPr lang="en-US" sz="115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150" dirty="0">
                          <a:solidFill>
                            <a:srgbClr val="6E6E73"/>
                          </a:solidFill>
                          <a:latin typeface="Helvetica Neue" pitchFamily="34" charset="0"/>
                          <a:ea typeface="Helvetica Neue" pitchFamily="34" charset="-122"/>
                          <a:cs typeface="Helvetica Neue" pitchFamily="34" charset="-120"/>
                        </a:rPr>
                        <a:t>Sleep position + cough jolts</a:t>
                      </a:r>
                      <a:endParaRPr lang="en-US" sz="115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150" u="sng" dirty="0">
                          <a:solidFill>
                            <a:srgbClr val="0071E3"/>
                          </a:solidFill>
                          <a:latin typeface="Helvetica Neue" pitchFamily="34" charset="0"/>
                          <a:ea typeface="Helvetica Neue" pitchFamily="34" charset="-122"/>
                          <a:cs typeface="Helvetica Neue" pitchFamily="34" charset="-120"/>
                          <a:hlinkClick r:id="rId3" invalidUrl="" action="" tgtFrame="" tooltip="https://www.amazon.ca/Pre-Soldered-Accelerometer-Raspberry-Compatible-Arduino/dp/B0BMY15TC4" history="1" highlightClick="0" endSnd="0">
                            <a:extLst>
                              <a:ext uri="{A12FA001-AC4F-418D-AE19-62706E023703}">
                                <ahyp:hlinkClr xmlns:ahyp="http://schemas.microsoft.com/office/drawing/2018/hyperlinkcolor" val="tx"/>
                              </a:ext>
                            </a:extLst>
                          </a:hlinkClick>
                        </a:rPr>
                        <a:t>Amazon.ca ›</a:t>
                      </a:r>
                      <a:endParaRPr lang="en-US" sz="115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r>
              <a:tr h="393192">
                <a:tc>
                  <a:txBody>
                    <a:bodyPr/>
                    <a:lstStyle/>
                    <a:p>
                      <a:pPr indent="0" marL="0">
                        <a:buNone/>
                      </a:pPr>
                      <a:r>
                        <a:rPr lang="en-US" sz="1150" b="1" dirty="0">
                          <a:solidFill>
                            <a:srgbClr val="1D1D1F"/>
                          </a:solidFill>
                          <a:latin typeface="Helvetica Neue" pitchFamily="34" charset="0"/>
                          <a:ea typeface="Helvetica Neue" pitchFamily="34" charset="-122"/>
                          <a:cs typeface="Helvetica Neue" pitchFamily="34" charset="-120"/>
                        </a:rPr>
                        <a:t>ELEGOO 120 Dupont jumper wires (F-F, M-F, M-M)</a:t>
                      </a:r>
                      <a:endParaRPr lang="en-US" sz="115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150" dirty="0">
                          <a:solidFill>
                            <a:srgbClr val="6E6E73"/>
                          </a:solidFill>
                          <a:latin typeface="Helvetica Neue" pitchFamily="34" charset="0"/>
                          <a:ea typeface="Helvetica Neue" pitchFamily="34" charset="-122"/>
                          <a:cs typeface="Helvetica Neue" pitchFamily="34" charset="-120"/>
                        </a:rPr>
                        <a:t>20 cm each</a:t>
                      </a:r>
                      <a:endParaRPr lang="en-US" sz="115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150" dirty="0">
                          <a:solidFill>
                            <a:srgbClr val="6E6E73"/>
                          </a:solidFill>
                          <a:latin typeface="Helvetica Neue" pitchFamily="34" charset="0"/>
                          <a:ea typeface="Helvetica Neue" pitchFamily="34" charset="-122"/>
                          <a:cs typeface="Helvetica Neue" pitchFamily="34" charset="-120"/>
                        </a:rPr>
                        <a:t>Plug-in wiring, no soldering</a:t>
                      </a:r>
                      <a:endParaRPr lang="en-US" sz="115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150" u="sng" dirty="0">
                          <a:solidFill>
                            <a:srgbClr val="0071E3"/>
                          </a:solidFill>
                          <a:latin typeface="Helvetica Neue" pitchFamily="34" charset="0"/>
                          <a:ea typeface="Helvetica Neue" pitchFamily="34" charset="-122"/>
                          <a:cs typeface="Helvetica Neue" pitchFamily="34" charset="-120"/>
                          <a:hlinkClick r:id="rId4" invalidUrl="" action="" tgtFrame="" tooltip="https://www.amazon.ca/Elegoo-120pcs-Multicolored-Breadboard-arduino/dp/B01EV70C78" history="1" highlightClick="0" endSnd="0">
                            <a:extLst>
                              <a:ext uri="{A12FA001-AC4F-418D-AE19-62706E023703}">
                                <ahyp:hlinkClr xmlns:ahyp="http://schemas.microsoft.com/office/drawing/2018/hyperlinkcolor" val="tx"/>
                              </a:ext>
                            </a:extLst>
                          </a:hlinkClick>
                        </a:rPr>
                        <a:t>Amazon.ca ›</a:t>
                      </a:r>
                      <a:endParaRPr lang="en-US" sz="115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r>
              <a:tr h="393192">
                <a:tc>
                  <a:txBody>
                    <a:bodyPr/>
                    <a:lstStyle/>
                    <a:p>
                      <a:pPr indent="0" marL="0">
                        <a:buNone/>
                      </a:pPr>
                      <a:r>
                        <a:rPr lang="en-US" sz="1150" b="1" dirty="0">
                          <a:solidFill>
                            <a:srgbClr val="1D1D1F"/>
                          </a:solidFill>
                          <a:latin typeface="Helvetica Neue" pitchFamily="34" charset="0"/>
                          <a:ea typeface="Helvetica Neue" pitchFamily="34" charset="-122"/>
                          <a:cs typeface="Helvetica Neue" pitchFamily="34" charset="-120"/>
                        </a:rPr>
                        <a:t>Running armband phone pouch</a:t>
                      </a:r>
                      <a:endParaRPr lang="en-US" sz="115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150" dirty="0">
                          <a:solidFill>
                            <a:srgbClr val="6E6E73"/>
                          </a:solidFill>
                          <a:latin typeface="Helvetica Neue" pitchFamily="34" charset="0"/>
                          <a:ea typeface="Helvetica Neue" pitchFamily="34" charset="-122"/>
                          <a:cs typeface="Helvetica Neue" pitchFamily="34" charset="-120"/>
                        </a:rPr>
                        <a:t>fits phones up to 6.9 in</a:t>
                      </a:r>
                      <a:endParaRPr lang="en-US" sz="115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150" dirty="0">
                          <a:solidFill>
                            <a:srgbClr val="6E6E73"/>
                          </a:solidFill>
                          <a:latin typeface="Helvetica Neue" pitchFamily="34" charset="0"/>
                          <a:ea typeface="Helvetica Neue" pitchFamily="34" charset="-122"/>
                          <a:cs typeface="Helvetica Neue" pitchFamily="34" charset="-120"/>
                        </a:rPr>
                        <a:t>Holds the ESP32 on the forearm</a:t>
                      </a:r>
                      <a:endParaRPr lang="en-US" sz="115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150" u="sng" dirty="0">
                          <a:solidFill>
                            <a:srgbClr val="0071E3"/>
                          </a:solidFill>
                          <a:latin typeface="Helvetica Neue" pitchFamily="34" charset="0"/>
                          <a:ea typeface="Helvetica Neue" pitchFamily="34" charset="-122"/>
                          <a:cs typeface="Helvetica Neue" pitchFamily="34" charset="-120"/>
                          <a:hlinkClick r:id="rId5" invalidUrl="" action="" tgtFrame="" tooltip="https://www.amazon.ca/Running-Armband-Samsung-Resistant-Emergency/dp/B08HZ3BPK4" history="1" highlightClick="0" endSnd="0">
                            <a:extLst>
                              <a:ext uri="{A12FA001-AC4F-418D-AE19-62706E023703}">
                                <ahyp:hlinkClr xmlns:ahyp="http://schemas.microsoft.com/office/drawing/2018/hyperlinkcolor" val="tx"/>
                              </a:ext>
                            </a:extLst>
                          </a:hlinkClick>
                        </a:rPr>
                        <a:t>Amazon.ca ›</a:t>
                      </a:r>
                      <a:endParaRPr lang="en-US" sz="115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r>
              <a:tr h="393192">
                <a:tc>
                  <a:txBody>
                    <a:bodyPr/>
                    <a:lstStyle/>
                    <a:p>
                      <a:pPr indent="0" marL="0">
                        <a:buNone/>
                      </a:pPr>
                      <a:r>
                        <a:rPr lang="en-US" sz="1150" b="1" dirty="0">
                          <a:solidFill>
                            <a:srgbClr val="1D1D1F"/>
                          </a:solidFill>
                          <a:latin typeface="Helvetica Neue" pitchFamily="34" charset="0"/>
                          <a:ea typeface="Helvetica Neue" pitchFamily="34" charset="-122"/>
                          <a:cs typeface="Helvetica Neue" pitchFamily="34" charset="-120"/>
                        </a:rPr>
                        <a:t>Anker Powerline+ USB-A to USB-C cable</a:t>
                      </a:r>
                      <a:endParaRPr lang="en-US" sz="115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150" dirty="0">
                          <a:solidFill>
                            <a:srgbClr val="6E6E73"/>
                          </a:solidFill>
                          <a:latin typeface="Helvetica Neue" pitchFamily="34" charset="0"/>
                          <a:ea typeface="Helvetica Neue" pitchFamily="34" charset="-122"/>
                          <a:cs typeface="Helvetica Neue" pitchFamily="34" charset="-120"/>
                        </a:rPr>
                        <a:t>3 m (10 ft)</a:t>
                      </a:r>
                      <a:endParaRPr lang="en-US" sz="115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150" dirty="0">
                          <a:solidFill>
                            <a:srgbClr val="6E6E73"/>
                          </a:solidFill>
                          <a:latin typeface="Helvetica Neue" pitchFamily="34" charset="0"/>
                          <a:ea typeface="Helvetica Neue" pitchFamily="34" charset="-122"/>
                          <a:cs typeface="Helvetica Neue" pitchFamily="34" charset="-120"/>
                        </a:rPr>
                        <a:t>All-night power from a phone charger</a:t>
                      </a:r>
                      <a:endParaRPr lang="en-US" sz="115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150" u="sng" dirty="0">
                          <a:solidFill>
                            <a:srgbClr val="0071E3"/>
                          </a:solidFill>
                          <a:latin typeface="Helvetica Neue" pitchFamily="34" charset="0"/>
                          <a:ea typeface="Helvetica Neue" pitchFamily="34" charset="-122"/>
                          <a:cs typeface="Helvetica Neue" pitchFamily="34" charset="-120"/>
                          <a:hlinkClick r:id="rId6" invalidUrl="" action="" tgtFrame="" tooltip="https://www.amazon.ca/Anker-Powerline-Double-Braided-Charging-Samsung/dp/B07G148YMS" history="1" highlightClick="0" endSnd="0">
                            <a:extLst>
                              <a:ext uri="{A12FA001-AC4F-418D-AE19-62706E023703}">
                                <ahyp:hlinkClr xmlns:ahyp="http://schemas.microsoft.com/office/drawing/2018/hyperlinkcolor" val="tx"/>
                              </a:ext>
                            </a:extLst>
                          </a:hlinkClick>
                        </a:rPr>
                        <a:t>Amazon.ca ›</a:t>
                      </a:r>
                      <a:endParaRPr lang="en-US" sz="115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r>
              <a:tr h="393192">
                <a:tc>
                  <a:txBody>
                    <a:bodyPr/>
                    <a:lstStyle/>
                    <a:p>
                      <a:pPr indent="0" marL="0">
                        <a:buNone/>
                      </a:pPr>
                      <a:r>
                        <a:rPr lang="en-US" sz="1150" b="1" dirty="0">
                          <a:solidFill>
                            <a:srgbClr val="1D1D1F"/>
                          </a:solidFill>
                          <a:latin typeface="Helvetica Neue" pitchFamily="34" charset="0"/>
                          <a:ea typeface="Helvetica Neue" pitchFamily="34" charset="-122"/>
                          <a:cs typeface="Helvetica Neue" pitchFamily="34" charset="-120"/>
                        </a:rPr>
                        <a:t>Anker USB-C to USB-A adapter (2-pack)</a:t>
                      </a:r>
                      <a:endParaRPr lang="en-US" sz="115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150" dirty="0">
                          <a:solidFill>
                            <a:srgbClr val="6E6E73"/>
                          </a:solidFill>
                          <a:latin typeface="Helvetica Neue" pitchFamily="34" charset="0"/>
                          <a:ea typeface="Helvetica Neue" pitchFamily="34" charset="-122"/>
                          <a:cs typeface="Helvetica Neue" pitchFamily="34" charset="-120"/>
                        </a:rPr>
                        <a:t>USB-C → USB-A</a:t>
                      </a:r>
                      <a:endParaRPr lang="en-US" sz="115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150" dirty="0">
                          <a:solidFill>
                            <a:srgbClr val="6E6E73"/>
                          </a:solidFill>
                          <a:latin typeface="Helvetica Neue" pitchFamily="34" charset="0"/>
                          <a:ea typeface="Helvetica Neue" pitchFamily="34" charset="-122"/>
                          <a:cs typeface="Helvetica Neue" pitchFamily="34" charset="-120"/>
                        </a:rPr>
                        <a:t>Plug the cable into a MacBook</a:t>
                      </a:r>
                      <a:endParaRPr lang="en-US" sz="115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150" u="sng" dirty="0">
                          <a:solidFill>
                            <a:srgbClr val="0071E3"/>
                          </a:solidFill>
                          <a:latin typeface="Helvetica Neue" pitchFamily="34" charset="0"/>
                          <a:ea typeface="Helvetica Neue" pitchFamily="34" charset="-122"/>
                          <a:cs typeface="Helvetica Neue" pitchFamily="34" charset="-120"/>
                          <a:hlinkClick r:id="rId7" invalidUrl="" action="" tgtFrame="" tooltip="https://www.amazon.ca/Adapter-Anker-High-Speed-Transfer-Notebook/dp/B08HZ6PS61" history="1" highlightClick="0" endSnd="0">
                            <a:extLst>
                              <a:ext uri="{A12FA001-AC4F-418D-AE19-62706E023703}">
                                <ahyp:hlinkClr xmlns:ahyp="http://schemas.microsoft.com/office/drawing/2018/hyperlinkcolor" val="tx"/>
                              </a:ext>
                            </a:extLst>
                          </a:hlinkClick>
                        </a:rPr>
                        <a:t>Amazon.ca ›</a:t>
                      </a:r>
                      <a:endParaRPr lang="en-US" sz="115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r>
              <a:tr h="393192">
                <a:tc>
                  <a:txBody>
                    <a:bodyPr/>
                    <a:lstStyle/>
                    <a:p>
                      <a:pPr indent="0" marL="0">
                        <a:buNone/>
                      </a:pPr>
                      <a:r>
                        <a:rPr lang="en-US" sz="1150" b="1" dirty="0">
                          <a:solidFill>
                            <a:srgbClr val="1D1D1F"/>
                          </a:solidFill>
                          <a:latin typeface="Helvetica Neue" pitchFamily="34" charset="0"/>
                          <a:ea typeface="Helvetica Neue" pitchFamily="34" charset="-122"/>
                          <a:cs typeface="Helvetica Neue" pitchFamily="34" charset="-120"/>
                        </a:rPr>
                        <a:t>VELCRO Brand 1 in × 30 ft roll</a:t>
                      </a:r>
                      <a:endParaRPr lang="en-US" sz="115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150" dirty="0">
                          <a:solidFill>
                            <a:srgbClr val="6E6E73"/>
                          </a:solidFill>
                          <a:latin typeface="Helvetica Neue" pitchFamily="34" charset="0"/>
                          <a:ea typeface="Helvetica Neue" pitchFamily="34" charset="-122"/>
                          <a:cs typeface="Helvetica Neue" pitchFamily="34" charset="-120"/>
                        </a:rPr>
                        <a:t>25 mm wide · cut ≈ 80 mm</a:t>
                      </a:r>
                      <a:endParaRPr lang="en-US" sz="115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150" dirty="0">
                          <a:solidFill>
                            <a:srgbClr val="6E6E73"/>
                          </a:solidFill>
                          <a:latin typeface="Helvetica Neue" pitchFamily="34" charset="0"/>
                          <a:ea typeface="Helvetica Neue" pitchFamily="34" charset="-122"/>
                          <a:cs typeface="Helvetica Neue" pitchFamily="34" charset="-120"/>
                        </a:rPr>
                        <a:t>Finger loop</a:t>
                      </a:r>
                      <a:endParaRPr lang="en-US" sz="115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150" u="sng" dirty="0">
                          <a:solidFill>
                            <a:srgbClr val="0071E3"/>
                          </a:solidFill>
                          <a:latin typeface="Helvetica Neue" pitchFamily="34" charset="0"/>
                          <a:ea typeface="Helvetica Neue" pitchFamily="34" charset="-122"/>
                          <a:cs typeface="Helvetica Neue" pitchFamily="34" charset="-120"/>
                          <a:hlinkClick r:id="rId8" invalidUrl="" action="" tgtFrame="" tooltip="https://www.amazon.ca/VELCRO-Brand-VEL-30768-AMS-Self-Gripping-Organization/dp/B09QH2NVM1" history="1" highlightClick="0" endSnd="0">
                            <a:extLst>
                              <a:ext uri="{A12FA001-AC4F-418D-AE19-62706E023703}">
                                <ahyp:hlinkClr xmlns:ahyp="http://schemas.microsoft.com/office/drawing/2018/hyperlinkcolor" val="tx"/>
                              </a:ext>
                            </a:extLst>
                          </a:hlinkClick>
                        </a:rPr>
                        <a:t>Amazon.ca ›</a:t>
                      </a:r>
                      <a:endParaRPr lang="en-US" sz="115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r>
              <a:tr h="393192">
                <a:tc>
                  <a:txBody>
                    <a:bodyPr/>
                    <a:lstStyle/>
                    <a:p>
                      <a:pPr indent="0" marL="0">
                        <a:buNone/>
                      </a:pPr>
                      <a:r>
                        <a:rPr lang="en-US" sz="1150" b="1" dirty="0">
                          <a:solidFill>
                            <a:srgbClr val="1D1D1F"/>
                          </a:solidFill>
                          <a:latin typeface="Helvetica Neue" pitchFamily="34" charset="0"/>
                          <a:ea typeface="Helvetica Neue" pitchFamily="34" charset="-122"/>
                          <a:cs typeface="Helvetica Neue" pitchFamily="34" charset="-120"/>
                        </a:rPr>
                        <a:t>Elite Medica fingertip pulse oximeter</a:t>
                      </a:r>
                      <a:endParaRPr lang="en-US" sz="115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150" dirty="0">
                          <a:solidFill>
                            <a:srgbClr val="6E6E73"/>
                          </a:solidFill>
                          <a:latin typeface="Helvetica Neue" pitchFamily="34" charset="0"/>
                          <a:ea typeface="Helvetica Neue" pitchFamily="34" charset="-122"/>
                          <a:cs typeface="Helvetica Neue" pitchFamily="34" charset="-120"/>
                        </a:rPr>
                        <a:t>Health Canada authorized</a:t>
                      </a:r>
                      <a:endParaRPr lang="en-US" sz="115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150" dirty="0">
                          <a:solidFill>
                            <a:srgbClr val="6E6E73"/>
                          </a:solidFill>
                          <a:latin typeface="Helvetica Neue" pitchFamily="34" charset="0"/>
                          <a:ea typeface="Helvetica Neue" pitchFamily="34" charset="-122"/>
                          <a:cs typeface="Helvetica Neue" pitchFamily="34" charset="-120"/>
                        </a:rPr>
                        <a:t>Reference for the accuracy test</a:t>
                      </a:r>
                      <a:endParaRPr lang="en-US" sz="115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150" u="sng" dirty="0">
                          <a:solidFill>
                            <a:srgbClr val="0071E3"/>
                          </a:solidFill>
                          <a:latin typeface="Helvetica Neue" pitchFamily="34" charset="0"/>
                          <a:ea typeface="Helvetica Neue" pitchFamily="34" charset="-122"/>
                          <a:cs typeface="Helvetica Neue" pitchFamily="34" charset="-120"/>
                          <a:hlinkClick r:id="rId9" invalidUrl="" action="" tgtFrame="" tooltip="https://www.amazon.ca/Elite-Medica-Fingertip-Saturation-Batteries/dp/B0DSGP91PB" history="1" highlightClick="0" endSnd="0">
                            <a:extLst>
                              <a:ext uri="{A12FA001-AC4F-418D-AE19-62706E023703}">
                                <ahyp:hlinkClr xmlns:ahyp="http://schemas.microsoft.com/office/drawing/2018/hyperlinkcolor" val="tx"/>
                              </a:ext>
                            </a:extLst>
                          </a:hlinkClick>
                        </a:rPr>
                        <a:t>Amazon.ca ›</a:t>
                      </a:r>
                      <a:endParaRPr lang="en-US" sz="115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r>
            </a:tbl>
          </a:graphicData>
        </a:graphic>
      </p:graphicFrame>
      <p:sp>
        <p:nvSpPr>
          <p:cNvPr id="7" name="Text 4"/>
          <p:cNvSpPr txBox="1"/>
          <p:nvPr/>
        </p:nvSpPr>
        <p:spPr>
          <a:xfrm>
            <a:off x="685800" y="5897880"/>
            <a:ext cx="10789920" cy="457200"/>
          </a:xfrm>
          <a:prstGeom prst="rect">
            <a:avLst/>
          </a:prstGeom>
          <a:noFill/>
          <a:ln/>
        </p:spPr>
        <p:txBody>
          <a:bodyPr wrap="square" lIns="0" tIns="0" rIns="0" bIns="0" rtlCol="0" anchor="t"/>
          <a:lstStyle/>
          <a:p>
            <a:pPr indent="0" marL="0">
              <a:buNone/>
            </a:pPr>
            <a:r>
              <a:rPr lang="en-US" sz="1150" dirty="0">
                <a:solidFill>
                  <a:srgbClr val="6E6E73"/>
                </a:solidFill>
                <a:latin typeface="Helvetica Neue" pitchFamily="34" charset="0"/>
                <a:ea typeface="Helvetica Neue" pitchFamily="34" charset="-122"/>
                <a:cs typeface="Helvetica Neue" pitchFamily="34" charset="-120"/>
              </a:rPr>
              <a:t>Every part is on Amazon.ca (click Buy). Prices change and several items are multi-packs. Only the MAX30102’s 4 header pins need soldering (about 5 minutes); everything else plugs in.</a:t>
            </a:r>
            <a:endParaRPr lang="en-US" sz="11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9464040" y="502920"/>
            <a:ext cx="2057400" cy="329184"/>
          </a:xfrm>
          <a:prstGeom prst="roundRect">
            <a:avLst>
              <a:gd name="adj" fmla="val 50000"/>
            </a:avLst>
          </a:prstGeom>
          <a:solidFill>
            <a:srgbClr val="F5F5F7"/>
          </a:solidFill>
          <a:ln/>
        </p:spPr>
      </p:sp>
      <p:sp>
        <p:nvSpPr>
          <p:cNvPr id="3" name="Text 1"/>
          <p:cNvSpPr txBox="1"/>
          <p:nvPr/>
        </p:nvSpPr>
        <p:spPr>
          <a:xfrm>
            <a:off x="9464040" y="502920"/>
            <a:ext cx="2057400" cy="329184"/>
          </a:xfrm>
          <a:prstGeom prst="rect">
            <a:avLst/>
          </a:prstGeom>
          <a:noFill/>
          <a:ln/>
        </p:spPr>
        <p:txBody>
          <a:bodyPr wrap="square" lIns="0" tIns="0" rIns="0" bIns="0" rtlCol="0" anchor="ctr"/>
          <a:lstStyle/>
          <a:p>
            <a:pPr algn="ctr" indent="0" marL="0">
              <a:buNone/>
            </a:pPr>
            <a:r>
              <a:rPr lang="en-US" sz="1050" b="1" dirty="0">
                <a:solidFill>
                  <a:srgbClr val="6E6E73"/>
                </a:solidFill>
                <a:latin typeface="Helvetica Neue" pitchFamily="34" charset="0"/>
                <a:ea typeface="Helvetica Neue" pitchFamily="34" charset="-122"/>
                <a:cs typeface="Helvetica Neue" pitchFamily="34" charset="-120"/>
              </a:rPr>
              <a:t>Appendix · not presented</a:t>
            </a:r>
            <a:endParaRPr lang="en-US" sz="1050" dirty="0"/>
          </a:p>
        </p:txBody>
      </p:sp>
      <p:sp>
        <p:nvSpPr>
          <p:cNvPr id="4" name="Text 2"/>
          <p:cNvSpPr txBox="1"/>
          <p:nvPr/>
        </p:nvSpPr>
        <p:spPr>
          <a:xfrm>
            <a:off x="685800" y="502920"/>
            <a:ext cx="10789920" cy="320040"/>
          </a:xfrm>
          <a:prstGeom prst="rect">
            <a:avLst/>
          </a:prstGeom>
          <a:noFill/>
          <a:ln/>
        </p:spPr>
        <p:txBody>
          <a:bodyPr wrap="square" lIns="0" tIns="0" rIns="0" bIns="0" rtlCol="0" anchor="t"/>
          <a:lstStyle/>
          <a:p>
            <a:pPr indent="0" marL="0">
              <a:buNone/>
            </a:pPr>
            <a:r>
              <a:rPr lang="en-US" sz="1600" b="1" dirty="0">
                <a:solidFill>
                  <a:srgbClr val="E3254B"/>
                </a:solidFill>
                <a:latin typeface="Helvetica Neue" pitchFamily="34" charset="0"/>
                <a:ea typeface="Helvetica Neue" pitchFamily="34" charset="-122"/>
                <a:cs typeface="Helvetica Neue" pitchFamily="34" charset="-120"/>
              </a:rPr>
              <a:t>Appendix B · Full protocol</a:t>
            </a:r>
            <a:endParaRPr lang="en-US" sz="1600" dirty="0"/>
          </a:p>
        </p:txBody>
      </p:sp>
      <p:sp>
        <p:nvSpPr>
          <p:cNvPr id="5" name="Text 3"/>
          <p:cNvSpPr txBox="1"/>
          <p:nvPr/>
        </p:nvSpPr>
        <p:spPr>
          <a:xfrm>
            <a:off x="685800" y="841248"/>
            <a:ext cx="10789920" cy="640080"/>
          </a:xfrm>
          <a:prstGeom prst="rect">
            <a:avLst/>
          </a:prstGeom>
          <a:noFill/>
          <a:ln/>
        </p:spPr>
        <p:txBody>
          <a:bodyPr wrap="square" lIns="0" tIns="0" rIns="0" bIns="0" rtlCol="0" anchor="t"/>
          <a:lstStyle/>
          <a:p>
            <a:pPr indent="0" marL="0">
              <a:lnSpc>
                <a:spcPct val="92000"/>
              </a:lnSpc>
              <a:buNone/>
            </a:pPr>
            <a:r>
              <a:rPr lang="en-US" sz="3000" b="1" dirty="0">
                <a:solidFill>
                  <a:srgbClr val="1D1D1F"/>
                </a:solidFill>
                <a:latin typeface="Helvetica Neue" pitchFamily="34" charset="0"/>
                <a:ea typeface="Helvetica Neue" pitchFamily="34" charset="-122"/>
                <a:cs typeface="Helvetica Neue" pitchFamily="34" charset="-120"/>
              </a:rPr>
              <a:t>Full experimental protocol.</a:t>
            </a:r>
            <a:endParaRPr lang="en-US" sz="3000" dirty="0"/>
          </a:p>
        </p:txBody>
      </p:sp>
      <p:sp>
        <p:nvSpPr>
          <p:cNvPr id="6" name="Text 4"/>
          <p:cNvSpPr txBox="1"/>
          <p:nvPr/>
        </p:nvSpPr>
        <p:spPr>
          <a:xfrm>
            <a:off x="685800" y="1645920"/>
            <a:ext cx="365760" cy="365760"/>
          </a:xfrm>
          <a:prstGeom prst="rect">
            <a:avLst/>
          </a:prstGeom>
          <a:noFill/>
          <a:ln/>
        </p:spPr>
        <p:txBody>
          <a:bodyPr wrap="square" lIns="0" tIns="0" rIns="0" bIns="0" rtlCol="0" anchor="t"/>
          <a:lstStyle/>
          <a:p>
            <a:pPr indent="0" marL="0">
              <a:buNone/>
            </a:pPr>
            <a:r>
              <a:rPr lang="en-US" sz="1400" b="1" dirty="0">
                <a:solidFill>
                  <a:srgbClr val="0071E3"/>
                </a:solidFill>
                <a:latin typeface="Helvetica Neue" pitchFamily="34" charset="0"/>
                <a:ea typeface="Helvetica Neue" pitchFamily="34" charset="-122"/>
                <a:cs typeface="Helvetica Neue" pitchFamily="34" charset="-120"/>
              </a:rPr>
              <a:t>1</a:t>
            </a:r>
            <a:endParaRPr lang="en-US" sz="1400" dirty="0"/>
          </a:p>
        </p:txBody>
      </p:sp>
      <p:sp>
        <p:nvSpPr>
          <p:cNvPr id="7" name="Text 5"/>
          <p:cNvSpPr txBox="1"/>
          <p:nvPr/>
        </p:nvSpPr>
        <p:spPr>
          <a:xfrm>
            <a:off x="1097280" y="1645920"/>
            <a:ext cx="10424160" cy="548640"/>
          </a:xfrm>
          <a:prstGeom prst="rect">
            <a:avLst/>
          </a:prstGeom>
          <a:noFill/>
          <a:ln/>
        </p:spPr>
        <p:txBody>
          <a:bodyPr wrap="square" lIns="0" tIns="0" rIns="0" bIns="0" rtlCol="0" anchor="t"/>
          <a:lstStyle/>
          <a:p>
            <a:pPr indent="0" marL="0">
              <a:buNone/>
            </a:pPr>
            <a:r>
              <a:rPr lang="en-US" sz="1250" dirty="0">
                <a:solidFill>
                  <a:srgbClr val="1D1D1F"/>
                </a:solidFill>
                <a:latin typeface="Helvetica Neue" pitchFamily="34" charset="0"/>
                <a:ea typeface="Helvetica Neue" pitchFamily="34" charset="-122"/>
                <a:cs typeface="Helvetica Neue" pitchFamily="34" charset="-120"/>
              </a:rPr>
              <a:t>Build: plug the MAX30102 into 3V3 / GND / GPIO 21 / 22 and the GY-521 into VIN / GND / SDA→GPIO 33 / SCL→GPIO 32 (two separate I²C buses, no splices); ESP32 in the armband, USB power. Flash firmware v3.1.</a:t>
            </a:r>
            <a:endParaRPr lang="en-US" sz="1250" dirty="0"/>
          </a:p>
        </p:txBody>
      </p:sp>
      <p:sp>
        <p:nvSpPr>
          <p:cNvPr id="8" name="Text 6"/>
          <p:cNvSpPr txBox="1"/>
          <p:nvPr/>
        </p:nvSpPr>
        <p:spPr>
          <a:xfrm>
            <a:off x="685800" y="2212848"/>
            <a:ext cx="365760" cy="365760"/>
          </a:xfrm>
          <a:prstGeom prst="rect">
            <a:avLst/>
          </a:prstGeom>
          <a:noFill/>
          <a:ln/>
        </p:spPr>
        <p:txBody>
          <a:bodyPr wrap="square" lIns="0" tIns="0" rIns="0" bIns="0" rtlCol="0" anchor="t"/>
          <a:lstStyle/>
          <a:p>
            <a:pPr indent="0" marL="0">
              <a:buNone/>
            </a:pPr>
            <a:r>
              <a:rPr lang="en-US" sz="1400" b="1" dirty="0">
                <a:solidFill>
                  <a:srgbClr val="0071E3"/>
                </a:solidFill>
                <a:latin typeface="Helvetica Neue" pitchFamily="34" charset="0"/>
                <a:ea typeface="Helvetica Neue" pitchFamily="34" charset="-122"/>
                <a:cs typeface="Helvetica Neue" pitchFamily="34" charset="-120"/>
              </a:rPr>
              <a:t>2</a:t>
            </a:r>
            <a:endParaRPr lang="en-US" sz="1400" dirty="0"/>
          </a:p>
        </p:txBody>
      </p:sp>
      <p:sp>
        <p:nvSpPr>
          <p:cNvPr id="9" name="Text 7"/>
          <p:cNvSpPr txBox="1"/>
          <p:nvPr/>
        </p:nvSpPr>
        <p:spPr>
          <a:xfrm>
            <a:off x="1097280" y="2212848"/>
            <a:ext cx="10424160" cy="548640"/>
          </a:xfrm>
          <a:prstGeom prst="rect">
            <a:avLst/>
          </a:prstGeom>
          <a:noFill/>
          <a:ln/>
        </p:spPr>
        <p:txBody>
          <a:bodyPr wrap="square" lIns="0" tIns="0" rIns="0" bIns="0" rtlCol="0" anchor="t"/>
          <a:lstStyle/>
          <a:p>
            <a:pPr indent="0" marL="0">
              <a:buNone/>
            </a:pPr>
            <a:r>
              <a:rPr lang="en-US" sz="1250" dirty="0">
                <a:solidFill>
                  <a:srgbClr val="1D1D1F"/>
                </a:solidFill>
                <a:latin typeface="Helvetica Neue" pitchFamily="34" charset="0"/>
                <a:ea typeface="Helvetica Neue" pitchFamily="34" charset="-122"/>
                <a:cs typeface="Helvetica Neue" pitchFamily="34" charset="-120"/>
              </a:rPr>
              <a:t>Device check: run check_device.py; record the result. Do not continue unless it says READY.</a:t>
            </a:r>
            <a:endParaRPr lang="en-US" sz="1250" dirty="0"/>
          </a:p>
        </p:txBody>
      </p:sp>
      <p:sp>
        <p:nvSpPr>
          <p:cNvPr id="10" name="Text 8"/>
          <p:cNvSpPr txBox="1"/>
          <p:nvPr/>
        </p:nvSpPr>
        <p:spPr>
          <a:xfrm>
            <a:off x="685800" y="2779776"/>
            <a:ext cx="365760" cy="365760"/>
          </a:xfrm>
          <a:prstGeom prst="rect">
            <a:avLst/>
          </a:prstGeom>
          <a:noFill/>
          <a:ln/>
        </p:spPr>
        <p:txBody>
          <a:bodyPr wrap="square" lIns="0" tIns="0" rIns="0" bIns="0" rtlCol="0" anchor="t"/>
          <a:lstStyle/>
          <a:p>
            <a:pPr indent="0" marL="0">
              <a:buNone/>
            </a:pPr>
            <a:r>
              <a:rPr lang="en-US" sz="1400" b="1" dirty="0">
                <a:solidFill>
                  <a:srgbClr val="0071E3"/>
                </a:solidFill>
                <a:latin typeface="Helvetica Neue" pitchFamily="34" charset="0"/>
                <a:ea typeface="Helvetica Neue" pitchFamily="34" charset="-122"/>
                <a:cs typeface="Helvetica Neue" pitchFamily="34" charset="-120"/>
              </a:rPr>
              <a:t>3</a:t>
            </a:r>
            <a:endParaRPr lang="en-US" sz="1400" dirty="0"/>
          </a:p>
        </p:txBody>
      </p:sp>
      <p:sp>
        <p:nvSpPr>
          <p:cNvPr id="11" name="Text 9"/>
          <p:cNvSpPr txBox="1"/>
          <p:nvPr/>
        </p:nvSpPr>
        <p:spPr>
          <a:xfrm>
            <a:off x="1097280" y="2779776"/>
            <a:ext cx="10424160" cy="548640"/>
          </a:xfrm>
          <a:prstGeom prst="rect">
            <a:avLst/>
          </a:prstGeom>
          <a:noFill/>
          <a:ln/>
        </p:spPr>
        <p:txBody>
          <a:bodyPr wrap="square" lIns="0" tIns="0" rIns="0" bIns="0" rtlCol="0" anchor="t"/>
          <a:lstStyle/>
          <a:p>
            <a:pPr indent="0" marL="0">
              <a:buNone/>
            </a:pPr>
            <a:r>
              <a:rPr lang="en-US" sz="1250" dirty="0">
                <a:solidFill>
                  <a:srgbClr val="1D1D1F"/>
                </a:solidFill>
                <a:latin typeface="Helvetica Neue" pitchFamily="34" charset="0"/>
                <a:ea typeface="Helvetica Neue" pitchFamily="34" charset="-122"/>
                <a:cs typeface="Helvetica Neue" pitchFamily="34" charset="-120"/>
              </a:rPr>
              <a:t>Full-night power test: on USB power, stream with a finger on the sensor for 8 h; confirm there are no gaps in the data.</a:t>
            </a:r>
            <a:endParaRPr lang="en-US" sz="1250" dirty="0"/>
          </a:p>
        </p:txBody>
      </p:sp>
      <p:sp>
        <p:nvSpPr>
          <p:cNvPr id="12" name="Text 10"/>
          <p:cNvSpPr txBox="1"/>
          <p:nvPr/>
        </p:nvSpPr>
        <p:spPr>
          <a:xfrm>
            <a:off x="685800" y="3346704"/>
            <a:ext cx="365760" cy="365760"/>
          </a:xfrm>
          <a:prstGeom prst="rect">
            <a:avLst/>
          </a:prstGeom>
          <a:noFill/>
          <a:ln/>
        </p:spPr>
        <p:txBody>
          <a:bodyPr wrap="square" lIns="0" tIns="0" rIns="0" bIns="0" rtlCol="0" anchor="t"/>
          <a:lstStyle/>
          <a:p>
            <a:pPr indent="0" marL="0">
              <a:buNone/>
            </a:pPr>
            <a:r>
              <a:rPr lang="en-US" sz="1400" b="1" dirty="0">
                <a:solidFill>
                  <a:srgbClr val="0071E3"/>
                </a:solidFill>
                <a:latin typeface="Helvetica Neue" pitchFamily="34" charset="0"/>
                <a:ea typeface="Helvetica Neue" pitchFamily="34" charset="-122"/>
                <a:cs typeface="Helvetica Neue" pitchFamily="34" charset="-120"/>
              </a:rPr>
              <a:t>4</a:t>
            </a:r>
            <a:endParaRPr lang="en-US" sz="1400" dirty="0"/>
          </a:p>
        </p:txBody>
      </p:sp>
      <p:sp>
        <p:nvSpPr>
          <p:cNvPr id="13" name="Text 11"/>
          <p:cNvSpPr txBox="1"/>
          <p:nvPr/>
        </p:nvSpPr>
        <p:spPr>
          <a:xfrm>
            <a:off x="1097280" y="3346704"/>
            <a:ext cx="10424160" cy="548640"/>
          </a:xfrm>
          <a:prstGeom prst="rect">
            <a:avLst/>
          </a:prstGeom>
          <a:noFill/>
          <a:ln/>
        </p:spPr>
        <p:txBody>
          <a:bodyPr wrap="square" lIns="0" tIns="0" rIns="0" bIns="0" rtlCol="0" anchor="t"/>
          <a:lstStyle/>
          <a:p>
            <a:pPr indent="0" marL="0">
              <a:buNone/>
            </a:pPr>
            <a:r>
              <a:rPr lang="en-US" sz="1250" dirty="0">
                <a:solidFill>
                  <a:srgbClr val="1D1D1F"/>
                </a:solidFill>
                <a:latin typeface="Helvetica Neue" pitchFamily="34" charset="0"/>
                <a:ea typeface="Helvetica Neue" pitchFamily="34" charset="-122"/>
                <a:cs typeface="Helvetica Neue" pitchFamily="34" charset="-120"/>
              </a:rPr>
              <a:t>Accuracy test: seated, awake, 30 min. Every 2 min write down the reference oximeter value with the time. Analyse with validate.py (Bland–Altman, r).</a:t>
            </a:r>
            <a:endParaRPr lang="en-US" sz="1250" dirty="0"/>
          </a:p>
        </p:txBody>
      </p:sp>
      <p:sp>
        <p:nvSpPr>
          <p:cNvPr id="14" name="Text 12"/>
          <p:cNvSpPr txBox="1"/>
          <p:nvPr/>
        </p:nvSpPr>
        <p:spPr>
          <a:xfrm>
            <a:off x="685800" y="3913632"/>
            <a:ext cx="365760" cy="365760"/>
          </a:xfrm>
          <a:prstGeom prst="rect">
            <a:avLst/>
          </a:prstGeom>
          <a:noFill/>
          <a:ln/>
        </p:spPr>
        <p:txBody>
          <a:bodyPr wrap="square" lIns="0" tIns="0" rIns="0" bIns="0" rtlCol="0" anchor="t"/>
          <a:lstStyle/>
          <a:p>
            <a:pPr indent="0" marL="0">
              <a:buNone/>
            </a:pPr>
            <a:r>
              <a:rPr lang="en-US" sz="1400" b="1" dirty="0">
                <a:solidFill>
                  <a:srgbClr val="0071E3"/>
                </a:solidFill>
                <a:latin typeface="Helvetica Neue" pitchFamily="34" charset="0"/>
                <a:ea typeface="Helvetica Neue" pitchFamily="34" charset="-122"/>
                <a:cs typeface="Helvetica Neue" pitchFamily="34" charset="-120"/>
              </a:rPr>
              <a:t>5</a:t>
            </a:r>
            <a:endParaRPr lang="en-US" sz="1400" dirty="0"/>
          </a:p>
        </p:txBody>
      </p:sp>
      <p:sp>
        <p:nvSpPr>
          <p:cNvPr id="15" name="Text 13"/>
          <p:cNvSpPr txBox="1"/>
          <p:nvPr/>
        </p:nvSpPr>
        <p:spPr>
          <a:xfrm>
            <a:off x="1097280" y="3913632"/>
            <a:ext cx="10424160" cy="548640"/>
          </a:xfrm>
          <a:prstGeom prst="rect">
            <a:avLst/>
          </a:prstGeom>
          <a:noFill/>
          <a:ln/>
        </p:spPr>
        <p:txBody>
          <a:bodyPr wrap="square" lIns="0" tIns="0" rIns="0" bIns="0" rtlCol="0" anchor="t"/>
          <a:lstStyle/>
          <a:p>
            <a:pPr indent="0" marL="0">
              <a:buNone/>
            </a:pPr>
            <a:r>
              <a:rPr lang="en-US" sz="1250" dirty="0">
                <a:solidFill>
                  <a:srgbClr val="1D1D1F"/>
                </a:solidFill>
                <a:latin typeface="Helvetica Neue" pitchFamily="34" charset="0"/>
                <a:ea typeface="Helvetica Neue" pitchFamily="34" charset="-122"/>
                <a:cs typeface="Helvetica Neue" pitchFamily="34" charset="-120"/>
              </a:rPr>
              <a:t>Detection test: supervised, awake, seated; 5 breath-holds each of 10, 15 and 20 s after a normal breath out, 2 min apart; log start/end times as ground-truth labels. Score with train_model.py.</a:t>
            </a:r>
            <a:endParaRPr lang="en-US" sz="1250" dirty="0"/>
          </a:p>
        </p:txBody>
      </p:sp>
      <p:sp>
        <p:nvSpPr>
          <p:cNvPr id="16" name="Text 14"/>
          <p:cNvSpPr txBox="1"/>
          <p:nvPr/>
        </p:nvSpPr>
        <p:spPr>
          <a:xfrm>
            <a:off x="685800" y="4480560"/>
            <a:ext cx="365760" cy="365760"/>
          </a:xfrm>
          <a:prstGeom prst="rect">
            <a:avLst/>
          </a:prstGeom>
          <a:noFill/>
          <a:ln/>
        </p:spPr>
        <p:txBody>
          <a:bodyPr wrap="square" lIns="0" tIns="0" rIns="0" bIns="0" rtlCol="0" anchor="t"/>
          <a:lstStyle/>
          <a:p>
            <a:pPr indent="0" marL="0">
              <a:buNone/>
            </a:pPr>
            <a:r>
              <a:rPr lang="en-US" sz="1400" b="1" dirty="0">
                <a:solidFill>
                  <a:srgbClr val="0071E3"/>
                </a:solidFill>
                <a:latin typeface="Helvetica Neue" pitchFamily="34" charset="0"/>
                <a:ea typeface="Helvetica Neue" pitchFamily="34" charset="-122"/>
                <a:cs typeface="Helvetica Neue" pitchFamily="34" charset="-120"/>
              </a:rPr>
              <a:t>6</a:t>
            </a:r>
            <a:endParaRPr lang="en-US" sz="1400" dirty="0"/>
          </a:p>
        </p:txBody>
      </p:sp>
      <p:sp>
        <p:nvSpPr>
          <p:cNvPr id="17" name="Text 15"/>
          <p:cNvSpPr txBox="1"/>
          <p:nvPr/>
        </p:nvSpPr>
        <p:spPr>
          <a:xfrm>
            <a:off x="1097280" y="4480560"/>
            <a:ext cx="10424160" cy="548640"/>
          </a:xfrm>
          <a:prstGeom prst="rect">
            <a:avLst/>
          </a:prstGeom>
          <a:noFill/>
          <a:ln/>
        </p:spPr>
        <p:txBody>
          <a:bodyPr wrap="square" lIns="0" tIns="0" rIns="0" bIns="0" rtlCol="0" anchor="t"/>
          <a:lstStyle/>
          <a:p>
            <a:pPr indent="0" marL="0">
              <a:buNone/>
            </a:pPr>
            <a:r>
              <a:rPr lang="en-US" sz="1250" dirty="0">
                <a:solidFill>
                  <a:srgbClr val="1D1D1F"/>
                </a:solidFill>
                <a:latin typeface="Helvetica Neue" pitchFamily="34" charset="0"/>
                <a:ea typeface="Helvetica Neue" pitchFamily="34" charset="-122"/>
                <a:cs typeface="Helvetica Neue" pitchFamily="34" charset="-120"/>
              </a:rPr>
              <a:t>Recorded nights: at least 5 nights; armband on the forearm, finger clip on the index finger; record.py logs all night; note bedtime and wake time.</a:t>
            </a:r>
            <a:endParaRPr lang="en-US" sz="1250" dirty="0"/>
          </a:p>
        </p:txBody>
      </p:sp>
      <p:sp>
        <p:nvSpPr>
          <p:cNvPr id="18" name="Text 16"/>
          <p:cNvSpPr txBox="1"/>
          <p:nvPr/>
        </p:nvSpPr>
        <p:spPr>
          <a:xfrm>
            <a:off x="685800" y="5047488"/>
            <a:ext cx="365760" cy="365760"/>
          </a:xfrm>
          <a:prstGeom prst="rect">
            <a:avLst/>
          </a:prstGeom>
          <a:noFill/>
          <a:ln/>
        </p:spPr>
        <p:txBody>
          <a:bodyPr wrap="square" lIns="0" tIns="0" rIns="0" bIns="0" rtlCol="0" anchor="t"/>
          <a:lstStyle/>
          <a:p>
            <a:pPr indent="0" marL="0">
              <a:buNone/>
            </a:pPr>
            <a:r>
              <a:rPr lang="en-US" sz="1400" b="1" dirty="0">
                <a:solidFill>
                  <a:srgbClr val="0071E3"/>
                </a:solidFill>
                <a:latin typeface="Helvetica Neue" pitchFamily="34" charset="0"/>
                <a:ea typeface="Helvetica Neue" pitchFamily="34" charset="-122"/>
                <a:cs typeface="Helvetica Neue" pitchFamily="34" charset="-120"/>
              </a:rPr>
              <a:t>7</a:t>
            </a:r>
            <a:endParaRPr lang="en-US" sz="1400" dirty="0"/>
          </a:p>
        </p:txBody>
      </p:sp>
      <p:sp>
        <p:nvSpPr>
          <p:cNvPr id="19" name="Text 17"/>
          <p:cNvSpPr txBox="1"/>
          <p:nvPr/>
        </p:nvSpPr>
        <p:spPr>
          <a:xfrm>
            <a:off x="1097280" y="5047488"/>
            <a:ext cx="10424160" cy="548640"/>
          </a:xfrm>
          <a:prstGeom prst="rect">
            <a:avLst/>
          </a:prstGeom>
          <a:noFill/>
          <a:ln/>
        </p:spPr>
        <p:txBody>
          <a:bodyPr wrap="square" lIns="0" tIns="0" rIns="0" bIns="0" rtlCol="0" anchor="t"/>
          <a:lstStyle/>
          <a:p>
            <a:pPr indent="0" marL="0">
              <a:buNone/>
            </a:pPr>
            <a:r>
              <a:rPr lang="en-US" sz="1250" dirty="0">
                <a:solidFill>
                  <a:srgbClr val="1D1D1F"/>
                </a:solidFill>
                <a:latin typeface="Helvetica Neue" pitchFamily="34" charset="0"/>
                <a:ea typeface="Helvetica Neue" pitchFamily="34" charset="-122"/>
                <a:cs typeface="Helvetica Neue" pitchFamily="34" charset="-120"/>
              </a:rPr>
              <a:t>Analysis: analyze.py, signals.py, position.py, heart.py, asthma.py on each night; rebuild the app and slides with build_app.py and build_deck.js.</a:t>
            </a:r>
            <a:endParaRPr lang="en-US" sz="1250" dirty="0"/>
          </a:p>
        </p:txBody>
      </p:sp>
      <p:sp>
        <p:nvSpPr>
          <p:cNvPr id="20" name="Text 18"/>
          <p:cNvSpPr txBox="1"/>
          <p:nvPr/>
        </p:nvSpPr>
        <p:spPr>
          <a:xfrm>
            <a:off x="685800" y="5614416"/>
            <a:ext cx="365760" cy="365760"/>
          </a:xfrm>
          <a:prstGeom prst="rect">
            <a:avLst/>
          </a:prstGeom>
          <a:noFill/>
          <a:ln/>
        </p:spPr>
        <p:txBody>
          <a:bodyPr wrap="square" lIns="0" tIns="0" rIns="0" bIns="0" rtlCol="0" anchor="t"/>
          <a:lstStyle/>
          <a:p>
            <a:pPr indent="0" marL="0">
              <a:buNone/>
            </a:pPr>
            <a:r>
              <a:rPr lang="en-US" sz="1400" b="1" dirty="0">
                <a:solidFill>
                  <a:srgbClr val="0071E3"/>
                </a:solidFill>
                <a:latin typeface="Helvetica Neue" pitchFamily="34" charset="0"/>
                <a:ea typeface="Helvetica Neue" pitchFamily="34" charset="-122"/>
                <a:cs typeface="Helvetica Neue" pitchFamily="34" charset="-120"/>
              </a:rPr>
              <a:t>8</a:t>
            </a:r>
            <a:endParaRPr lang="en-US" sz="1400" dirty="0"/>
          </a:p>
        </p:txBody>
      </p:sp>
      <p:sp>
        <p:nvSpPr>
          <p:cNvPr id="21" name="Text 19"/>
          <p:cNvSpPr txBox="1"/>
          <p:nvPr/>
        </p:nvSpPr>
        <p:spPr>
          <a:xfrm>
            <a:off x="1097280" y="5614416"/>
            <a:ext cx="10424160" cy="548640"/>
          </a:xfrm>
          <a:prstGeom prst="rect">
            <a:avLst/>
          </a:prstGeom>
          <a:noFill/>
          <a:ln/>
        </p:spPr>
        <p:txBody>
          <a:bodyPr wrap="square" lIns="0" tIns="0" rIns="0" bIns="0" rtlCol="0" anchor="t"/>
          <a:lstStyle/>
          <a:p>
            <a:pPr indent="0" marL="0">
              <a:buNone/>
            </a:pPr>
            <a:r>
              <a:rPr lang="en-US" sz="1250" dirty="0">
                <a:solidFill>
                  <a:srgbClr val="1D1D1F"/>
                </a:solidFill>
                <a:latin typeface="Helvetica Neue" pitchFamily="34" charset="0"/>
                <a:ea typeface="Helvetica Neue" pitchFamily="34" charset="-122"/>
                <a:cs typeface="Helvetica Neue" pitchFamily="34" charset="-120"/>
              </a:rPr>
              <a:t>Controls: same finger, cuff tightness, room temperature, firmware v3.1 and detection settings (3 % drop, 10 s, 120 s baseline).</a:t>
            </a:r>
            <a:endParaRPr lang="en-US" sz="12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9464040" y="502920"/>
            <a:ext cx="2057400" cy="329184"/>
          </a:xfrm>
          <a:prstGeom prst="roundRect">
            <a:avLst>
              <a:gd name="adj" fmla="val 50000"/>
            </a:avLst>
          </a:prstGeom>
          <a:solidFill>
            <a:srgbClr val="F5F5F7"/>
          </a:solidFill>
          <a:ln/>
        </p:spPr>
      </p:sp>
      <p:sp>
        <p:nvSpPr>
          <p:cNvPr id="3" name="Text 1"/>
          <p:cNvSpPr txBox="1"/>
          <p:nvPr/>
        </p:nvSpPr>
        <p:spPr>
          <a:xfrm>
            <a:off x="9464040" y="502920"/>
            <a:ext cx="2057400" cy="329184"/>
          </a:xfrm>
          <a:prstGeom prst="rect">
            <a:avLst/>
          </a:prstGeom>
          <a:noFill/>
          <a:ln/>
        </p:spPr>
        <p:txBody>
          <a:bodyPr wrap="square" lIns="0" tIns="0" rIns="0" bIns="0" rtlCol="0" anchor="ctr"/>
          <a:lstStyle/>
          <a:p>
            <a:pPr algn="ctr" indent="0" marL="0">
              <a:buNone/>
            </a:pPr>
            <a:r>
              <a:rPr lang="en-US" sz="1050" b="1" dirty="0">
                <a:solidFill>
                  <a:srgbClr val="6E6E73"/>
                </a:solidFill>
                <a:latin typeface="Helvetica Neue" pitchFamily="34" charset="0"/>
                <a:ea typeface="Helvetica Neue" pitchFamily="34" charset="-122"/>
                <a:cs typeface="Helvetica Neue" pitchFamily="34" charset="-120"/>
              </a:rPr>
              <a:t>Appendix · not presented</a:t>
            </a:r>
            <a:endParaRPr lang="en-US" sz="1050" dirty="0"/>
          </a:p>
        </p:txBody>
      </p:sp>
      <p:sp>
        <p:nvSpPr>
          <p:cNvPr id="4" name="Text 2"/>
          <p:cNvSpPr txBox="1"/>
          <p:nvPr/>
        </p:nvSpPr>
        <p:spPr>
          <a:xfrm>
            <a:off x="685800" y="502920"/>
            <a:ext cx="10789920" cy="320040"/>
          </a:xfrm>
          <a:prstGeom prst="rect">
            <a:avLst/>
          </a:prstGeom>
          <a:noFill/>
          <a:ln/>
        </p:spPr>
        <p:txBody>
          <a:bodyPr wrap="square" lIns="0" tIns="0" rIns="0" bIns="0" rtlCol="0" anchor="t"/>
          <a:lstStyle/>
          <a:p>
            <a:pPr indent="0" marL="0">
              <a:buNone/>
            </a:pPr>
            <a:r>
              <a:rPr lang="en-US" sz="1600" b="1" dirty="0">
                <a:solidFill>
                  <a:srgbClr val="E3254B"/>
                </a:solidFill>
                <a:latin typeface="Helvetica Neue" pitchFamily="34" charset="0"/>
                <a:ea typeface="Helvetica Neue" pitchFamily="34" charset="-122"/>
                <a:cs typeface="Helvetica Neue" pitchFamily="34" charset="-120"/>
              </a:rPr>
              <a:t>Appendix C · Design plans</a:t>
            </a:r>
            <a:endParaRPr lang="en-US" sz="1600" dirty="0"/>
          </a:p>
        </p:txBody>
      </p:sp>
      <p:sp>
        <p:nvSpPr>
          <p:cNvPr id="5" name="Text 3"/>
          <p:cNvSpPr txBox="1"/>
          <p:nvPr/>
        </p:nvSpPr>
        <p:spPr>
          <a:xfrm>
            <a:off x="685800" y="841248"/>
            <a:ext cx="10789920" cy="640080"/>
          </a:xfrm>
          <a:prstGeom prst="rect">
            <a:avLst/>
          </a:prstGeom>
          <a:noFill/>
          <a:ln/>
        </p:spPr>
        <p:txBody>
          <a:bodyPr wrap="square" lIns="0" tIns="0" rIns="0" bIns="0" rtlCol="0" anchor="t"/>
          <a:lstStyle/>
          <a:p>
            <a:pPr indent="0" marL="0">
              <a:lnSpc>
                <a:spcPct val="92000"/>
              </a:lnSpc>
              <a:buNone/>
            </a:pPr>
            <a:r>
              <a:rPr lang="en-US" sz="3000" b="1" dirty="0">
                <a:solidFill>
                  <a:srgbClr val="1D1D1F"/>
                </a:solidFill>
                <a:latin typeface="Helvetica Neue" pitchFamily="34" charset="0"/>
                <a:ea typeface="Helvetica Neue" pitchFamily="34" charset="-122"/>
                <a:cs typeface="Helvetica Neue" pitchFamily="34" charset="-120"/>
              </a:rPr>
              <a:t>Wiring (v1) and case layout (v2).</a:t>
            </a:r>
            <a:endParaRPr lang="en-US" sz="30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685800" y="1600200"/>
          <a:ext cx="6035040" cy="914400"/>
        </p:xfrm>
        <a:graphic>
          <a:graphicData uri="http://schemas.openxmlformats.org/drawingml/2006/table">
            <a:tbl>
              <a:tblPr/>
              <a:tblGrid>
                <a:gridCol w="2468880"/>
                <a:gridCol w="1737360"/>
                <a:gridCol w="1828800"/>
              </a:tblGrid>
              <a:tr h="365760">
                <a:tc>
                  <a:txBody>
                    <a:bodyPr/>
                    <a:lstStyle/>
                    <a:p>
                      <a:pPr indent="0" marL="0">
                        <a:buNone/>
                      </a:pPr>
                      <a:r>
                        <a:rPr lang="en-US" sz="1000" b="1" dirty="0">
                          <a:solidFill>
                            <a:srgbClr val="6E6E73"/>
                          </a:solidFill>
                          <a:latin typeface="Helvetica Neue" pitchFamily="34" charset="0"/>
                          <a:ea typeface="Helvetica Neue" pitchFamily="34" charset="-122"/>
                          <a:cs typeface="Helvetica Neue" pitchFamily="34" charset="-120"/>
                        </a:rPr>
                        <a:t>From</a:t>
                      </a:r>
                      <a:endParaRPr lang="en-US" sz="100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15875" cap="flat" cmpd="sng" algn="ctr">
                      <a:solidFill>
                        <a:srgbClr val="1D1D1F"/>
                      </a:solidFill>
                      <a:prstDash val="solid"/>
                      <a:round/>
                      <a:headEnd type="none" w="med" len="med"/>
                      <a:tailEnd type="none" w="med" len="med"/>
                    </a:lnB>
                  </a:tcPr>
                </a:tc>
                <a:tc>
                  <a:txBody>
                    <a:bodyPr/>
                    <a:lstStyle/>
                    <a:p>
                      <a:pPr indent="0" marL="0">
                        <a:buNone/>
                      </a:pPr>
                      <a:r>
                        <a:rPr lang="en-US" sz="1000" b="1" dirty="0">
                          <a:solidFill>
                            <a:srgbClr val="6E6E73"/>
                          </a:solidFill>
                          <a:latin typeface="Helvetica Neue" pitchFamily="34" charset="0"/>
                          <a:ea typeface="Helvetica Neue" pitchFamily="34" charset="-122"/>
                          <a:cs typeface="Helvetica Neue" pitchFamily="34" charset="-120"/>
                        </a:rPr>
                        <a:t>To (ESP32)</a:t>
                      </a:r>
                      <a:endParaRPr lang="en-US" sz="100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15875" cap="flat" cmpd="sng" algn="ctr">
                      <a:solidFill>
                        <a:srgbClr val="1D1D1F"/>
                      </a:solidFill>
                      <a:prstDash val="solid"/>
                      <a:round/>
                      <a:headEnd type="none" w="med" len="med"/>
                      <a:tailEnd type="none" w="med" len="med"/>
                    </a:lnB>
                  </a:tcPr>
                </a:tc>
                <a:tc>
                  <a:txBody>
                    <a:bodyPr/>
                    <a:lstStyle/>
                    <a:p>
                      <a:pPr indent="0" marL="0">
                        <a:buNone/>
                      </a:pPr>
                      <a:r>
                        <a:rPr lang="en-US" sz="1000" b="1" dirty="0">
                          <a:solidFill>
                            <a:srgbClr val="6E6E73"/>
                          </a:solidFill>
                          <a:latin typeface="Helvetica Neue" pitchFamily="34" charset="0"/>
                          <a:ea typeface="Helvetica Neue" pitchFamily="34" charset="-122"/>
                          <a:cs typeface="Helvetica Neue" pitchFamily="34" charset="-120"/>
                        </a:rPr>
                        <a:t>Notes</a:t>
                      </a:r>
                      <a:endParaRPr lang="en-US" sz="100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15875" cap="flat" cmpd="sng" algn="ctr">
                      <a:solidFill>
                        <a:srgbClr val="1D1D1F"/>
                      </a:solidFill>
                      <a:prstDash val="solid"/>
                      <a:round/>
                      <a:headEnd type="none" w="med" len="med"/>
                      <a:tailEnd type="none" w="med" len="med"/>
                    </a:lnB>
                  </a:tcPr>
                </a:tc>
              </a:tr>
              <a:tr h="365760">
                <a:tc>
                  <a:txBody>
                    <a:bodyPr/>
                    <a:lstStyle/>
                    <a:p>
                      <a:pPr indent="0" marL="0">
                        <a:buNone/>
                      </a:pPr>
                      <a:r>
                        <a:rPr lang="en-US" sz="1200" b="1" dirty="0">
                          <a:solidFill>
                            <a:srgbClr val="1D1D1F"/>
                          </a:solidFill>
                          <a:latin typeface="Helvetica Neue" pitchFamily="34" charset="0"/>
                          <a:ea typeface="Helvetica Neue" pitchFamily="34" charset="-122"/>
                          <a:cs typeface="Helvetica Neue" pitchFamily="34" charset="-120"/>
                        </a:rPr>
                        <a:t>MAX30102 VIN / GND</a:t>
                      </a:r>
                      <a:endParaRPr lang="en-US" sz="120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200" dirty="0">
                          <a:solidFill>
                            <a:srgbClr val="1D1D1F"/>
                          </a:solidFill>
                          <a:latin typeface="Helvetica Neue" pitchFamily="34" charset="0"/>
                          <a:ea typeface="Helvetica Neue" pitchFamily="34" charset="-122"/>
                          <a:cs typeface="Helvetica Neue" pitchFamily="34" charset="-120"/>
                        </a:rPr>
                        <a:t>3V3 / GND</a:t>
                      </a:r>
                      <a:endParaRPr lang="en-US" sz="120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200" dirty="0">
                          <a:solidFill>
                            <a:srgbClr val="6E6E73"/>
                          </a:solidFill>
                          <a:latin typeface="Helvetica Neue" pitchFamily="34" charset="0"/>
                          <a:ea typeface="Helvetica Neue" pitchFamily="34" charset="-122"/>
                          <a:cs typeface="Helvetica Neue" pitchFamily="34" charset="-120"/>
                        </a:rPr>
                        <a:t>never 5 V</a:t>
                      </a:r>
                      <a:endParaRPr lang="en-US" sz="120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r>
              <a:tr h="365760">
                <a:tc>
                  <a:txBody>
                    <a:bodyPr/>
                    <a:lstStyle/>
                    <a:p>
                      <a:pPr indent="0" marL="0">
                        <a:buNone/>
                      </a:pPr>
                      <a:r>
                        <a:rPr lang="en-US" sz="1200" b="1" dirty="0">
                          <a:solidFill>
                            <a:srgbClr val="1D1D1F"/>
                          </a:solidFill>
                          <a:latin typeface="Helvetica Neue" pitchFamily="34" charset="0"/>
                          <a:ea typeface="Helvetica Neue" pitchFamily="34" charset="-122"/>
                          <a:cs typeface="Helvetica Neue" pitchFamily="34" charset="-120"/>
                        </a:rPr>
                        <a:t>MAX30102 SDA / SCL</a:t>
                      </a:r>
                      <a:endParaRPr lang="en-US" sz="120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200" dirty="0">
                          <a:solidFill>
                            <a:srgbClr val="1D1D1F"/>
                          </a:solidFill>
                          <a:latin typeface="Helvetica Neue" pitchFamily="34" charset="0"/>
                          <a:ea typeface="Helvetica Neue" pitchFamily="34" charset="-122"/>
                          <a:cs typeface="Helvetica Neue" pitchFamily="34" charset="-120"/>
                        </a:rPr>
                        <a:t>GPIO 21 / 22</a:t>
                      </a:r>
                      <a:endParaRPr lang="en-US" sz="120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200" dirty="0">
                          <a:solidFill>
                            <a:srgbClr val="6E6E73"/>
                          </a:solidFill>
                          <a:latin typeface="Helvetica Neue" pitchFamily="34" charset="0"/>
                          <a:ea typeface="Helvetica Neue" pitchFamily="34" charset="-122"/>
                          <a:cs typeface="Helvetica Neue" pitchFamily="34" charset="-120"/>
                        </a:rPr>
                        <a:t>I²C bus 0</a:t>
                      </a:r>
                      <a:endParaRPr lang="en-US" sz="120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r>
              <a:tr h="365760">
                <a:tc>
                  <a:txBody>
                    <a:bodyPr/>
                    <a:lstStyle/>
                    <a:p>
                      <a:pPr indent="0" marL="0">
                        <a:buNone/>
                      </a:pPr>
                      <a:r>
                        <a:rPr lang="en-US" sz="1200" b="1" dirty="0">
                          <a:solidFill>
                            <a:srgbClr val="1D1D1F"/>
                          </a:solidFill>
                          <a:latin typeface="Helvetica Neue" pitchFamily="34" charset="0"/>
                          <a:ea typeface="Helvetica Neue" pitchFamily="34" charset="-122"/>
                          <a:cs typeface="Helvetica Neue" pitchFamily="34" charset="-120"/>
                        </a:rPr>
                        <a:t>GY-521 VCC / GND</a:t>
                      </a:r>
                      <a:endParaRPr lang="en-US" sz="120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200" dirty="0">
                          <a:solidFill>
                            <a:srgbClr val="1D1D1F"/>
                          </a:solidFill>
                          <a:latin typeface="Helvetica Neue" pitchFamily="34" charset="0"/>
                          <a:ea typeface="Helvetica Neue" pitchFamily="34" charset="-122"/>
                          <a:cs typeface="Helvetica Neue" pitchFamily="34" charset="-120"/>
                        </a:rPr>
                        <a:t>VIN / GND</a:t>
                      </a:r>
                      <a:endParaRPr lang="en-US" sz="120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200" dirty="0">
                          <a:solidFill>
                            <a:srgbClr val="6E6E73"/>
                          </a:solidFill>
                          <a:latin typeface="Helvetica Neue" pitchFamily="34" charset="0"/>
                          <a:ea typeface="Helvetica Neue" pitchFamily="34" charset="-122"/>
                          <a:cs typeface="Helvetica Neue" pitchFamily="34" charset="-120"/>
                        </a:rPr>
                        <a:t>5 V from USB</a:t>
                      </a:r>
                      <a:endParaRPr lang="en-US" sz="120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r>
              <a:tr h="365760">
                <a:tc>
                  <a:txBody>
                    <a:bodyPr/>
                    <a:lstStyle/>
                    <a:p>
                      <a:pPr indent="0" marL="0">
                        <a:buNone/>
                      </a:pPr>
                      <a:r>
                        <a:rPr lang="en-US" sz="1200" b="1" dirty="0">
                          <a:solidFill>
                            <a:srgbClr val="1D1D1F"/>
                          </a:solidFill>
                          <a:latin typeface="Helvetica Neue" pitchFamily="34" charset="0"/>
                          <a:ea typeface="Helvetica Neue" pitchFamily="34" charset="-122"/>
                          <a:cs typeface="Helvetica Neue" pitchFamily="34" charset="-120"/>
                        </a:rPr>
                        <a:t>GY-521 SDA / SCL</a:t>
                      </a:r>
                      <a:endParaRPr lang="en-US" sz="120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200" dirty="0">
                          <a:solidFill>
                            <a:srgbClr val="1D1D1F"/>
                          </a:solidFill>
                          <a:latin typeface="Helvetica Neue" pitchFamily="34" charset="0"/>
                          <a:ea typeface="Helvetica Neue" pitchFamily="34" charset="-122"/>
                          <a:cs typeface="Helvetica Neue" pitchFamily="34" charset="-120"/>
                        </a:rPr>
                        <a:t>GPIO 33 / 32</a:t>
                      </a:r>
                      <a:endParaRPr lang="en-US" sz="120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200" dirty="0">
                          <a:solidFill>
                            <a:srgbClr val="6E6E73"/>
                          </a:solidFill>
                          <a:latin typeface="Helvetica Neue" pitchFamily="34" charset="0"/>
                          <a:ea typeface="Helvetica Neue" pitchFamily="34" charset="-122"/>
                          <a:cs typeface="Helvetica Neue" pitchFamily="34" charset="-120"/>
                        </a:rPr>
                        <a:t>I²C bus 1, 100 kHz</a:t>
                      </a:r>
                      <a:endParaRPr lang="en-US" sz="120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r>
              <a:tr h="365760">
                <a:tc>
                  <a:txBody>
                    <a:bodyPr/>
                    <a:lstStyle/>
                    <a:p>
                      <a:pPr indent="0" marL="0">
                        <a:buNone/>
                      </a:pPr>
                      <a:r>
                        <a:rPr lang="en-US" sz="1200" b="1" dirty="0">
                          <a:solidFill>
                            <a:srgbClr val="1D1D1F"/>
                          </a:solidFill>
                          <a:latin typeface="Helvetica Neue" pitchFamily="34" charset="0"/>
                          <a:ea typeface="Helvetica Neue" pitchFamily="34" charset="-122"/>
                          <a:cs typeface="Helvetica Neue" pitchFamily="34" charset="-120"/>
                        </a:rPr>
                        <a:t>Power</a:t>
                      </a:r>
                      <a:endParaRPr lang="en-US" sz="120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200" dirty="0">
                          <a:solidFill>
                            <a:srgbClr val="1D1D1F"/>
                          </a:solidFill>
                          <a:latin typeface="Helvetica Neue" pitchFamily="34" charset="0"/>
                          <a:ea typeface="Helvetica Neue" pitchFamily="34" charset="-122"/>
                          <a:cs typeface="Helvetica Neue" pitchFamily="34" charset="-120"/>
                        </a:rPr>
                        <a:t>USB-C port</a:t>
                      </a:r>
                      <a:endParaRPr lang="en-US" sz="120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200" dirty="0">
                          <a:solidFill>
                            <a:srgbClr val="6E6E73"/>
                          </a:solidFill>
                          <a:latin typeface="Helvetica Neue" pitchFamily="34" charset="0"/>
                          <a:ea typeface="Helvetica Neue" pitchFamily="34" charset="-122"/>
                          <a:cs typeface="Helvetica Neue" pitchFamily="34" charset="-120"/>
                        </a:rPr>
                        <a:t>3 m cable to charger</a:t>
                      </a:r>
                      <a:endParaRPr lang="en-US" sz="120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r>
              <a:tr h="365760">
                <a:tc>
                  <a:txBody>
                    <a:bodyPr/>
                    <a:lstStyle/>
                    <a:p>
                      <a:pPr indent="0" marL="0">
                        <a:buNone/>
                      </a:pPr>
                      <a:r>
                        <a:rPr lang="en-US" sz="1200" b="1" dirty="0">
                          <a:solidFill>
                            <a:srgbClr val="1D1D1F"/>
                          </a:solidFill>
                          <a:latin typeface="Helvetica Neue" pitchFamily="34" charset="0"/>
                          <a:ea typeface="Helvetica Neue" pitchFamily="34" charset="-122"/>
                          <a:cs typeface="Helvetica Neue" pitchFamily="34" charset="-120"/>
                        </a:rPr>
                        <a:t>Status LED</a:t>
                      </a:r>
                      <a:endParaRPr lang="en-US" sz="120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200" dirty="0">
                          <a:solidFill>
                            <a:srgbClr val="1D1D1F"/>
                          </a:solidFill>
                          <a:latin typeface="Helvetica Neue" pitchFamily="34" charset="0"/>
                          <a:ea typeface="Helvetica Neue" pitchFamily="34" charset="-122"/>
                          <a:cs typeface="Helvetica Neue" pitchFamily="34" charset="-120"/>
                        </a:rPr>
                        <a:t>GPIO 2</a:t>
                      </a:r>
                      <a:endParaRPr lang="en-US" sz="120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200" dirty="0">
                          <a:solidFill>
                            <a:srgbClr val="6E6E73"/>
                          </a:solidFill>
                          <a:latin typeface="Helvetica Neue" pitchFamily="34" charset="0"/>
                          <a:ea typeface="Helvetica Neue" pitchFamily="34" charset="-122"/>
                          <a:cs typeface="Helvetica Neue" pitchFamily="34" charset="-120"/>
                        </a:rPr>
                        <a:t>blinks each reading</a:t>
                      </a:r>
                      <a:endParaRPr lang="en-US" sz="120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r>
            </a:tbl>
          </a:graphicData>
        </a:graphic>
      </p:graphicFrame>
      <p:pic>
        <p:nvPicPr>
          <p:cNvPr id="7" name="Image 0" descr="/home/user/teetomivV2/science-fair/night-signal/slides/assets/wiring_v1.png">    </p:cNvPr>
          <p:cNvPicPr>
            <a:picLocks noChangeAspect="1"/>
          </p:cNvPicPr>
          <p:nvPr/>
        </p:nvPicPr>
        <p:blipFill>
          <a:blip r:embed="rId1"/>
          <a:stretch>
            <a:fillRect/>
          </a:stretch>
        </p:blipFill>
        <p:spPr>
          <a:xfrm>
            <a:off x="1463040" y="4343400"/>
            <a:ext cx="3657600" cy="2115239"/>
          </a:xfrm>
          <a:prstGeom prst="rect">
            <a:avLst/>
          </a:prstGeom>
        </p:spPr>
      </p:pic>
      <p:sp>
        <p:nvSpPr>
          <p:cNvPr id="8" name="Shape 4"/>
          <p:cNvSpPr/>
          <p:nvPr/>
        </p:nvSpPr>
        <p:spPr>
          <a:xfrm>
            <a:off x="7040880" y="1600200"/>
            <a:ext cx="4462272" cy="3291840"/>
          </a:xfrm>
          <a:prstGeom prst="roundRect">
            <a:avLst>
              <a:gd name="adj" fmla="val 6111"/>
            </a:avLst>
          </a:prstGeom>
          <a:solidFill>
            <a:srgbClr val="000000"/>
          </a:solidFill>
          <a:ln/>
        </p:spPr>
      </p:sp>
      <p:pic>
        <p:nvPicPr>
          <p:cNvPr id="9" name="Image 1" descr="/home/user/teetomivV2/science-fair/night-signal/slides/assets/exploded_black.jpg">    </p:cNvPr>
          <p:cNvPicPr>
            <a:picLocks noChangeAspect="1"/>
          </p:cNvPicPr>
          <p:nvPr/>
        </p:nvPicPr>
        <p:blipFill>
          <a:blip r:embed="rId2"/>
          <a:stretch>
            <a:fillRect/>
          </a:stretch>
        </p:blipFill>
        <p:spPr>
          <a:xfrm>
            <a:off x="7745124" y="1783080"/>
            <a:ext cx="3053784" cy="2926080"/>
          </a:xfrm>
          <a:prstGeom prst="rect">
            <a:avLst/>
          </a:prstGeom>
        </p:spPr>
      </p:pic>
      <p:sp>
        <p:nvSpPr>
          <p:cNvPr id="10" name="Text 5"/>
          <p:cNvSpPr txBox="1"/>
          <p:nvPr/>
        </p:nvSpPr>
        <p:spPr>
          <a:xfrm>
            <a:off x="7040880" y="4983480"/>
            <a:ext cx="4462272" cy="274320"/>
          </a:xfrm>
          <a:prstGeom prst="rect">
            <a:avLst/>
          </a:prstGeom>
          <a:noFill/>
          <a:ln/>
        </p:spPr>
        <p:txBody>
          <a:bodyPr wrap="square" lIns="0" tIns="0" rIns="0" bIns="0" rtlCol="0" anchor="t"/>
          <a:lstStyle/>
          <a:p>
            <a:pPr algn="ctr" indent="0" marL="0">
              <a:buNone/>
            </a:pPr>
            <a:r>
              <a:rPr lang="en-US" sz="1200" dirty="0">
                <a:solidFill>
                  <a:srgbClr val="6E6E73"/>
                </a:solidFill>
                <a:latin typeface="Helvetica Neue" pitchFamily="34" charset="0"/>
                <a:ea typeface="Helvetica Neue" pitchFamily="34" charset="-122"/>
                <a:cs typeface="Helvetica Neue" pitchFamily="34" charset="-120"/>
              </a:rPr>
              <a:t>v2: the stack inside the 25 mm-tall case</a:t>
            </a:r>
            <a:endParaRPr lang="en-US" sz="1200" dirty="0"/>
          </a:p>
        </p:txBody>
      </p:sp>
      <p:sp>
        <p:nvSpPr>
          <p:cNvPr id="11" name="Text 6"/>
          <p:cNvSpPr txBox="1"/>
          <p:nvPr/>
        </p:nvSpPr>
        <p:spPr>
          <a:xfrm>
            <a:off x="7040880" y="5349240"/>
            <a:ext cx="4462272" cy="1097280"/>
          </a:xfrm>
          <a:prstGeom prst="rect">
            <a:avLst/>
          </a:prstGeom>
          <a:noFill/>
          <a:ln/>
        </p:spPr>
        <p:txBody>
          <a:bodyPr wrap="square" lIns="0" tIns="0" rIns="0" bIns="0" rtlCol="0" anchor="t"/>
          <a:lstStyle/>
          <a:p>
            <a:pPr indent="0" marL="0">
              <a:buNone/>
            </a:pPr>
            <a:r>
              <a:rPr lang="en-US" sz="1200" dirty="0">
                <a:solidFill>
                  <a:srgbClr val="6E6E73"/>
                </a:solidFill>
                <a:latin typeface="Helvetica Neue" pitchFamily="34" charset="0"/>
                <a:ea typeface="Helvetica Neue" pitchFamily="34" charset="-122"/>
                <a:cs typeface="Helvetica Neue" pitchFamily="34" charset="-120"/>
              </a:rPr>
              <a:t>Planned v2: a 70 × 45 × 29 mm box with its own battery. Layer heights: battery 6 mm + ESP32 with pins ≈ 13 mm + GY-521 ≈ 3 mm ≈ 22 mm, inside the box’s 25 mm. v1 uses each sensor’s own pins, so nothing needs splicing.</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9464040" y="502920"/>
            <a:ext cx="2057400" cy="329184"/>
          </a:xfrm>
          <a:prstGeom prst="roundRect">
            <a:avLst>
              <a:gd name="adj" fmla="val 50000"/>
            </a:avLst>
          </a:prstGeom>
          <a:solidFill>
            <a:srgbClr val="F5F5F7"/>
          </a:solidFill>
          <a:ln/>
        </p:spPr>
      </p:sp>
      <p:sp>
        <p:nvSpPr>
          <p:cNvPr id="3" name="Text 1"/>
          <p:cNvSpPr txBox="1"/>
          <p:nvPr/>
        </p:nvSpPr>
        <p:spPr>
          <a:xfrm>
            <a:off x="9464040" y="502920"/>
            <a:ext cx="2057400" cy="329184"/>
          </a:xfrm>
          <a:prstGeom prst="rect">
            <a:avLst/>
          </a:prstGeom>
          <a:noFill/>
          <a:ln/>
        </p:spPr>
        <p:txBody>
          <a:bodyPr wrap="square" lIns="0" tIns="0" rIns="0" bIns="0" rtlCol="0" anchor="ctr"/>
          <a:lstStyle/>
          <a:p>
            <a:pPr algn="ctr" indent="0" marL="0">
              <a:buNone/>
            </a:pPr>
            <a:r>
              <a:rPr lang="en-US" sz="1050" b="1" dirty="0">
                <a:solidFill>
                  <a:srgbClr val="6E6E73"/>
                </a:solidFill>
                <a:latin typeface="Helvetica Neue" pitchFamily="34" charset="0"/>
                <a:ea typeface="Helvetica Neue" pitchFamily="34" charset="-122"/>
                <a:cs typeface="Helvetica Neue" pitchFamily="34" charset="-120"/>
              </a:rPr>
              <a:t>Appendix · not presented</a:t>
            </a:r>
            <a:endParaRPr lang="en-US" sz="1050" dirty="0"/>
          </a:p>
        </p:txBody>
      </p:sp>
      <p:sp>
        <p:nvSpPr>
          <p:cNvPr id="4" name="Text 2"/>
          <p:cNvSpPr txBox="1"/>
          <p:nvPr/>
        </p:nvSpPr>
        <p:spPr>
          <a:xfrm>
            <a:off x="685800" y="502920"/>
            <a:ext cx="10789920" cy="320040"/>
          </a:xfrm>
          <a:prstGeom prst="rect">
            <a:avLst/>
          </a:prstGeom>
          <a:noFill/>
          <a:ln/>
        </p:spPr>
        <p:txBody>
          <a:bodyPr wrap="square" lIns="0" tIns="0" rIns="0" bIns="0" rtlCol="0" anchor="t"/>
          <a:lstStyle/>
          <a:p>
            <a:pPr indent="0" marL="0">
              <a:buNone/>
            </a:pPr>
            <a:r>
              <a:rPr lang="en-US" sz="1600" b="1" dirty="0">
                <a:solidFill>
                  <a:srgbClr val="E3254B"/>
                </a:solidFill>
                <a:latin typeface="Helvetica Neue" pitchFamily="34" charset="0"/>
                <a:ea typeface="Helvetica Neue" pitchFamily="34" charset="-122"/>
                <a:cs typeface="Helvetica Neue" pitchFamily="34" charset="-120"/>
              </a:rPr>
              <a:t>Appendix D · Data and pictures</a:t>
            </a:r>
            <a:endParaRPr lang="en-US" sz="1600" dirty="0"/>
          </a:p>
        </p:txBody>
      </p:sp>
      <p:sp>
        <p:nvSpPr>
          <p:cNvPr id="5" name="Text 3"/>
          <p:cNvSpPr txBox="1"/>
          <p:nvPr/>
        </p:nvSpPr>
        <p:spPr>
          <a:xfrm>
            <a:off x="685800" y="841248"/>
            <a:ext cx="10789920" cy="640080"/>
          </a:xfrm>
          <a:prstGeom prst="rect">
            <a:avLst/>
          </a:prstGeom>
          <a:noFill/>
          <a:ln/>
        </p:spPr>
        <p:txBody>
          <a:bodyPr wrap="square" lIns="0" tIns="0" rIns="0" bIns="0" rtlCol="0" anchor="t"/>
          <a:lstStyle/>
          <a:p>
            <a:pPr indent="0" marL="0">
              <a:lnSpc>
                <a:spcPct val="92000"/>
              </a:lnSpc>
              <a:buNone/>
            </a:pPr>
            <a:r>
              <a:rPr lang="en-US" sz="3000" b="1" dirty="0">
                <a:solidFill>
                  <a:srgbClr val="1D1D1F"/>
                </a:solidFill>
                <a:latin typeface="Helvetica Neue" pitchFamily="34" charset="0"/>
                <a:ea typeface="Helvetica Neue" pitchFamily="34" charset="-122"/>
                <a:cs typeface="Helvetica Neue" pitchFamily="34" charset="-120"/>
              </a:rPr>
              <a:t>More data and pictures.</a:t>
            </a:r>
            <a:endParaRPr lang="en-US" sz="3000" dirty="0"/>
          </a:p>
        </p:txBody>
      </p:sp>
      <p:sp>
        <p:nvSpPr>
          <p:cNvPr id="6" name="Shape 4"/>
          <p:cNvSpPr/>
          <p:nvPr/>
        </p:nvSpPr>
        <p:spPr>
          <a:xfrm>
            <a:off x="786384" y="1609344"/>
            <a:ext cx="2221992" cy="4384900"/>
          </a:xfrm>
          <a:prstGeom prst="roundRect">
            <a:avLst>
              <a:gd name="adj" fmla="val 11523"/>
            </a:avLst>
          </a:prstGeom>
          <a:solidFill>
            <a:srgbClr val="1D1D1F"/>
          </a:solidFill>
          <a:ln/>
        </p:spPr>
      </p:sp>
      <p:pic>
        <p:nvPicPr>
          <p:cNvPr id="7" name="Image 0" descr="/home/user/teetomivV2/science-fair/night-signal/slides/assets/phone_heart.png">    </p:cNvPr>
          <p:cNvPicPr>
            <a:picLocks noChangeAspect="1"/>
          </p:cNvPicPr>
          <p:nvPr/>
        </p:nvPicPr>
        <p:blipFill>
          <a:blip r:embed="rId1"/>
          <a:stretch>
            <a:fillRect/>
          </a:stretch>
        </p:blipFill>
        <p:spPr>
          <a:xfrm>
            <a:off x="868680" y="1691640"/>
            <a:ext cx="2057400" cy="4220308"/>
          </a:xfrm>
          <a:prstGeom prst="rect">
            <a:avLst/>
          </a:prstGeom>
        </p:spPr>
      </p:pic>
      <p:sp>
        <p:nvSpPr>
          <p:cNvPr id="8" name="Text 5"/>
          <p:cNvSpPr txBox="1"/>
          <p:nvPr/>
        </p:nvSpPr>
        <p:spPr>
          <a:xfrm>
            <a:off x="868680" y="6049108"/>
            <a:ext cx="2057400" cy="274320"/>
          </a:xfrm>
          <a:prstGeom prst="rect">
            <a:avLst/>
          </a:prstGeom>
          <a:noFill/>
          <a:ln/>
        </p:spPr>
        <p:txBody>
          <a:bodyPr wrap="square" lIns="0" tIns="0" rIns="0" bIns="0" rtlCol="0" anchor="t"/>
          <a:lstStyle/>
          <a:p>
            <a:pPr algn="ctr" indent="0" marL="0">
              <a:buNone/>
            </a:pPr>
            <a:r>
              <a:rPr lang="en-US" sz="1200" dirty="0">
                <a:solidFill>
                  <a:srgbClr val="6E6E73"/>
                </a:solidFill>
                <a:latin typeface="Helvetica Neue" pitchFamily="34" charset="0"/>
                <a:ea typeface="Helvetica Neue" pitchFamily="34" charset="-122"/>
                <a:cs typeface="Helvetica Neue" pitchFamily="34" charset="-120"/>
              </a:rPr>
              <a:t>App · Heart tab</a:t>
            </a:r>
            <a:endParaRPr lang="en-US" sz="12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3383280" y="1645920"/>
          <a:ext cx="8119872" cy="914400"/>
        </p:xfrm>
        <a:graphic>
          <a:graphicData uri="http://schemas.openxmlformats.org/drawingml/2006/table">
            <a:tbl>
              <a:tblPr/>
              <a:tblGrid>
                <a:gridCol w="2743200"/>
                <a:gridCol w="5376672"/>
              </a:tblGrid>
              <a:tr h="420624">
                <a:tc>
                  <a:txBody>
                    <a:bodyPr/>
                    <a:lstStyle/>
                    <a:p>
                      <a:pPr indent="0" marL="0">
                        <a:buNone/>
                      </a:pPr>
                      <a:r>
                        <a:rPr lang="en-US" sz="1050" b="1" dirty="0">
                          <a:solidFill>
                            <a:srgbClr val="6E6E73"/>
                          </a:solidFill>
                          <a:latin typeface="Helvetica Neue" pitchFamily="34" charset="0"/>
                          <a:ea typeface="Helvetica Neue" pitchFamily="34" charset="-122"/>
                          <a:cs typeface="Helvetica Neue" pitchFamily="34" charset="-120"/>
                        </a:rPr>
                        <a:t>Analysis</a:t>
                      </a:r>
                      <a:endParaRPr lang="en-US" sz="105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15875" cap="flat" cmpd="sng" algn="ctr">
                      <a:solidFill>
                        <a:srgbClr val="1D1D1F"/>
                      </a:solidFill>
                      <a:prstDash val="solid"/>
                      <a:round/>
                      <a:headEnd type="none" w="med" len="med"/>
                      <a:tailEnd type="none" w="med" len="med"/>
                    </a:lnB>
                  </a:tcPr>
                </a:tc>
                <a:tc>
                  <a:txBody>
                    <a:bodyPr/>
                    <a:lstStyle/>
                    <a:p>
                      <a:pPr indent="0" marL="0">
                        <a:buNone/>
                      </a:pPr>
                      <a:r>
                        <a:rPr lang="en-US" sz="1050" b="1" dirty="0">
                          <a:solidFill>
                            <a:srgbClr val="6E6E73"/>
                          </a:solidFill>
                          <a:latin typeface="Helvetica Neue" pitchFamily="34" charset="0"/>
                          <a:ea typeface="Helvetica Neue" pitchFamily="34" charset="-122"/>
                          <a:cs typeface="Helvetica Neue" pitchFamily="34" charset="-120"/>
                        </a:rPr>
                        <a:t>Result (example data)</a:t>
                      </a:r>
                      <a:endParaRPr lang="en-US" sz="105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15875" cap="flat" cmpd="sng" algn="ctr">
                      <a:solidFill>
                        <a:srgbClr val="1D1D1F"/>
                      </a:solidFill>
                      <a:prstDash val="solid"/>
                      <a:round/>
                      <a:headEnd type="none" w="med" len="med"/>
                      <a:tailEnd type="none" w="med" len="med"/>
                    </a:lnB>
                  </a:tcPr>
                </a:tc>
              </a:tr>
              <a:tr h="420624">
                <a:tc>
                  <a:txBody>
                    <a:bodyPr/>
                    <a:lstStyle/>
                    <a:p>
                      <a:pPr indent="0" marL="0">
                        <a:buNone/>
                      </a:pPr>
                      <a:r>
                        <a:rPr lang="en-US" sz="1250" b="1" dirty="0">
                          <a:solidFill>
                            <a:srgbClr val="1D1D1F"/>
                          </a:solidFill>
                          <a:latin typeface="Helvetica Neue" pitchFamily="34" charset="0"/>
                          <a:ea typeface="Helvetica Neue" pitchFamily="34" charset="-122"/>
                          <a:cs typeface="Helvetica Neue" pitchFamily="34" charset="-120"/>
                        </a:rPr>
                        <a:t>Breathing rate (signals.py)</a:t>
                      </a:r>
                      <a:endParaRPr lang="en-US" sz="125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250" dirty="0">
                          <a:solidFill>
                            <a:srgbClr val="1D1D1F"/>
                          </a:solidFill>
                          <a:latin typeface="Helvetica Neue" pitchFamily="34" charset="0"/>
                          <a:ea typeface="Helvetica Neue" pitchFamily="34" charset="-122"/>
                          <a:cs typeface="Helvetica Neue" pitchFamily="34" charset="-120"/>
                        </a:rPr>
                        <a:t>13.5 breaths/min</a:t>
                      </a:r>
                      <a:endParaRPr lang="en-US" sz="125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r>
              <a:tr h="420624">
                <a:tc>
                  <a:txBody>
                    <a:bodyPr/>
                    <a:lstStyle/>
                    <a:p>
                      <a:pPr indent="0" marL="0">
                        <a:buNone/>
                      </a:pPr>
                      <a:r>
                        <a:rPr lang="en-US" sz="1250" b="1" dirty="0">
                          <a:solidFill>
                            <a:srgbClr val="1D1D1F"/>
                          </a:solidFill>
                          <a:latin typeface="Helvetica Neue" pitchFamily="34" charset="0"/>
                          <a:ea typeface="Helvetica Neue" pitchFamily="34" charset="-122"/>
                          <a:cs typeface="Helvetica Neue" pitchFamily="34" charset="-120"/>
                        </a:rPr>
                        <a:t>HRV (SDNN / RMSSD)</a:t>
                      </a:r>
                      <a:endParaRPr lang="en-US" sz="125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250" dirty="0">
                          <a:solidFill>
                            <a:srgbClr val="1D1D1F"/>
                          </a:solidFill>
                          <a:latin typeface="Helvetica Neue" pitchFamily="34" charset="0"/>
                          <a:ea typeface="Helvetica Neue" pitchFamily="34" charset="-122"/>
                          <a:cs typeface="Helvetica Neue" pitchFamily="34" charset="-120"/>
                        </a:rPr>
                        <a:t>69 / 50 ms</a:t>
                      </a:r>
                      <a:endParaRPr lang="en-US" sz="125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r>
              <a:tr h="420624">
                <a:tc>
                  <a:txBody>
                    <a:bodyPr/>
                    <a:lstStyle/>
                    <a:p>
                      <a:pPr indent="0" marL="0">
                        <a:buNone/>
                      </a:pPr>
                      <a:r>
                        <a:rPr lang="en-US" sz="1250" b="1" dirty="0">
                          <a:solidFill>
                            <a:srgbClr val="1D1D1F"/>
                          </a:solidFill>
                          <a:latin typeface="Helvetica Neue" pitchFamily="34" charset="0"/>
                          <a:ea typeface="Helvetica Neue" pitchFamily="34" charset="-122"/>
                          <a:cs typeface="Helvetica Neue" pitchFamily="34" charset="-120"/>
                        </a:rPr>
                        <a:t>Lowest heart rate</a:t>
                      </a:r>
                      <a:endParaRPr lang="en-US" sz="125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250" dirty="0">
                          <a:solidFill>
                            <a:srgbClr val="1D1D1F"/>
                          </a:solidFill>
                          <a:latin typeface="Helvetica Neue" pitchFamily="34" charset="0"/>
                          <a:ea typeface="Helvetica Neue" pitchFamily="34" charset="-122"/>
                          <a:cs typeface="Helvetica Neue" pitchFamily="34" charset="-120"/>
                        </a:rPr>
                        <a:t>46 bpm</a:t>
                      </a:r>
                      <a:endParaRPr lang="en-US" sz="125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r>
              <a:tr h="420624">
                <a:tc>
                  <a:txBody>
                    <a:bodyPr/>
                    <a:lstStyle/>
                    <a:p>
                      <a:pPr indent="0" marL="0">
                        <a:buNone/>
                      </a:pPr>
                      <a:r>
                        <a:rPr lang="en-US" sz="1250" b="1" dirty="0">
                          <a:solidFill>
                            <a:srgbClr val="1D1D1F"/>
                          </a:solidFill>
                          <a:latin typeface="Helvetica Neue" pitchFamily="34" charset="0"/>
                          <a:ea typeface="Helvetica Neue" pitchFamily="34" charset="-122"/>
                          <a:cs typeface="Helvetica Neue" pitchFamily="34" charset="-120"/>
                        </a:rPr>
                        <a:t>Heart spin-off</a:t>
                      </a:r>
                      <a:endParaRPr lang="en-US" sz="125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250" dirty="0">
                          <a:solidFill>
                            <a:srgbClr val="1D1D1F"/>
                          </a:solidFill>
                          <a:latin typeface="Helvetica Neue" pitchFamily="34" charset="0"/>
                          <a:ea typeface="Helvetica Neue" pitchFamily="34" charset="-122"/>
                          <a:cs typeface="Helvetica Neue" pitchFamily="34" charset="-120"/>
                        </a:rPr>
                        <a:t>racing 3.3 min (106–118 bpm) · slow 2.5 min (34–39) · irregular 5.9 min</a:t>
                      </a:r>
                      <a:endParaRPr lang="en-US" sz="125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r>
              <a:tr h="420624">
                <a:tc>
                  <a:txBody>
                    <a:bodyPr/>
                    <a:lstStyle/>
                    <a:p>
                      <a:pPr indent="0" marL="0">
                        <a:buNone/>
                      </a:pPr>
                      <a:r>
                        <a:rPr lang="en-US" sz="1250" b="1" dirty="0">
                          <a:solidFill>
                            <a:srgbClr val="1D1D1F"/>
                          </a:solidFill>
                          <a:latin typeface="Helvetica Neue" pitchFamily="34" charset="0"/>
                          <a:ea typeface="Helvetica Neue" pitchFamily="34" charset="-122"/>
                          <a:cs typeface="Helvetica Neue" pitchFamily="34" charset="-120"/>
                        </a:rPr>
                        <a:t>Asthma spin-off</a:t>
                      </a:r>
                      <a:endParaRPr lang="en-US" sz="125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250" dirty="0">
                          <a:solidFill>
                            <a:srgbClr val="1D1D1F"/>
                          </a:solidFill>
                          <a:latin typeface="Helvetica Neue" pitchFamily="34" charset="0"/>
                          <a:ea typeface="Helvetica Neue" pitchFamily="34" charset="-122"/>
                          <a:cs typeface="Helvetica Neue" pitchFamily="34" charset="-120"/>
                        </a:rPr>
                        <a:t>normal 13.4 → early morning 21.6 /min · 85 min fast · 24 cough-like jolts</a:t>
                      </a:r>
                      <a:endParaRPr lang="en-US" sz="125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r>
              <a:tr h="420624">
                <a:tc>
                  <a:txBody>
                    <a:bodyPr/>
                    <a:lstStyle/>
                    <a:p>
                      <a:pPr indent="0" marL="0">
                        <a:buNone/>
                      </a:pPr>
                      <a:r>
                        <a:rPr lang="en-US" sz="1250" b="1" dirty="0">
                          <a:solidFill>
                            <a:srgbClr val="1D1D1F"/>
                          </a:solidFill>
                          <a:latin typeface="Helvetica Neue" pitchFamily="34" charset="0"/>
                          <a:ea typeface="Helvetica Neue" pitchFamily="34" charset="-122"/>
                          <a:cs typeface="Helvetica Neue" pitchFamily="34" charset="-120"/>
                        </a:rPr>
                        <a:t>ML model relies on</a:t>
                      </a:r>
                      <a:endParaRPr lang="en-US" sz="125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250" dirty="0">
                          <a:solidFill>
                            <a:srgbClr val="1D1D1F"/>
                          </a:solidFill>
                          <a:latin typeface="Helvetica Neue" pitchFamily="34" charset="0"/>
                          <a:ea typeface="Helvetica Neue" pitchFamily="34" charset="-122"/>
                          <a:cs typeface="Helvetica Neue" pitchFamily="34" charset="-120"/>
                        </a:rPr>
                        <a:t>heart-rate swing and jitter, then oxygen swing</a:t>
                      </a:r>
                      <a:endParaRPr lang="en-US" sz="125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r>
              <a:tr h="420624">
                <a:tc>
                  <a:txBody>
                    <a:bodyPr/>
                    <a:lstStyle/>
                    <a:p>
                      <a:pPr indent="0" marL="0">
                        <a:buNone/>
                      </a:pPr>
                      <a:r>
                        <a:rPr lang="en-US" sz="1250" b="1" dirty="0">
                          <a:solidFill>
                            <a:srgbClr val="1D1D1F"/>
                          </a:solidFill>
                          <a:latin typeface="Helvetica Neue" pitchFamily="34" charset="0"/>
                          <a:ea typeface="Helvetica Neue" pitchFamily="34" charset="-122"/>
                          <a:cs typeface="Helvetica Neue" pitchFamily="34" charset="-120"/>
                        </a:rPr>
                        <a:t>Device check (simulated device)</a:t>
                      </a:r>
                      <a:endParaRPr lang="en-US" sz="125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250" dirty="0">
                          <a:solidFill>
                            <a:srgbClr val="1D1D1F"/>
                          </a:solidFill>
                          <a:latin typeface="Helvetica Neue" pitchFamily="34" charset="0"/>
                          <a:ea typeface="Helvetica Neue" pitchFamily="34" charset="-122"/>
                          <a:cs typeface="Helvetica Neue" pitchFamily="34" charset="-120"/>
                        </a:rPr>
                        <a:t>healthy → READY · broken motion sensor → NOT READY</a:t>
                      </a:r>
                      <a:endParaRPr lang="en-US" sz="125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r>
            </a:tbl>
          </a:graphicData>
        </a:graphic>
      </p:graphicFrame>
      <p:sp>
        <p:nvSpPr>
          <p:cNvPr id="10" name="Text 6"/>
          <p:cNvSpPr txBox="1"/>
          <p:nvPr/>
        </p:nvSpPr>
        <p:spPr>
          <a:xfrm>
            <a:off x="3383280" y="5440680"/>
            <a:ext cx="7315200" cy="310896"/>
          </a:xfrm>
          <a:prstGeom prst="rect">
            <a:avLst/>
          </a:prstGeom>
          <a:noFill/>
          <a:ln/>
        </p:spPr>
        <p:txBody>
          <a:bodyPr wrap="square" lIns="0" tIns="0" rIns="0" bIns="0" rtlCol="0" anchor="ctr"/>
          <a:lstStyle/>
          <a:p>
            <a:pPr algn="l" indent="0" marL="0">
              <a:buNone/>
            </a:pPr>
            <a:r>
              <a:rPr lang="en-US" sz="1350" u="sng" dirty="0">
                <a:solidFill>
                  <a:srgbClr val="0071E3"/>
                </a:solidFill>
                <a:latin typeface="Helvetica Neue" pitchFamily="34" charset="0"/>
                <a:ea typeface="Helvetica Neue" pitchFamily="34" charset="-122"/>
                <a:cs typeface="Helvetica Neue" pitchFamily="34" charset="-120"/>
                <a:hlinkClick r:id="rId2" invalidUrl="" action="" tgtFrame="" tooltip="https://github.com/gabrielamamanestudent-wq/teetomivV2/tree/claude/science-fair-medical-project-7k0wk4/science-fair/night-signal" history="1" highlightClick="0" endSnd="0">
                  <a:extLst>
                    <a:ext uri="{A12FA001-AC4F-418D-AE19-62706E023703}">
                      <ahyp:hlinkClr xmlns:ahyp="http://schemas.microsoft.com/office/drawing/2018/hyperlinkcolor" val="tx"/>
                    </a:ext>
                  </a:extLst>
                </a:hlinkClick>
              </a:rPr>
              <a:t>All code, data tools and raw CSV format on GitHub ›</a:t>
            </a:r>
            <a:endParaRPr lang="en-US" sz="1350" dirty="0"/>
          </a:p>
        </p:txBody>
      </p:sp>
      <p:sp>
        <p:nvSpPr>
          <p:cNvPr id="11" name="Text 7"/>
          <p:cNvSpPr txBox="1"/>
          <p:nvPr/>
        </p:nvSpPr>
        <p:spPr>
          <a:xfrm>
            <a:off x="3383280" y="5806440"/>
            <a:ext cx="7315200" cy="310896"/>
          </a:xfrm>
          <a:prstGeom prst="rect">
            <a:avLst/>
          </a:prstGeom>
          <a:noFill/>
          <a:ln/>
        </p:spPr>
        <p:txBody>
          <a:bodyPr wrap="square" lIns="0" tIns="0" rIns="0" bIns="0" rtlCol="0" anchor="ctr"/>
          <a:lstStyle/>
          <a:p>
            <a:pPr algn="l" indent="0" marL="0">
              <a:buNone/>
            </a:pPr>
            <a:r>
              <a:rPr lang="en-US" sz="1350" u="sng" dirty="0">
                <a:solidFill>
                  <a:srgbClr val="0071E3"/>
                </a:solidFill>
                <a:latin typeface="Helvetica Neue" pitchFamily="34" charset="0"/>
                <a:ea typeface="Helvetica Neue" pitchFamily="34" charset="-122"/>
                <a:cs typeface="Helvetica Neue" pitchFamily="34" charset="-120"/>
                <a:hlinkClick r:id="rId3" invalidUrl="" action="" tgtFrame="" tooltip="https://gabrielamamanestudent-wq.github.io/teetomivV2/science-fair/night-signal/build-kit.html" history="1" highlightClick="0" endSnd="0">
                  <a:extLst>
                    <a:ext uri="{A12FA001-AC4F-418D-AE19-62706E023703}">
                      <ahyp:hlinkClr xmlns:ahyp="http://schemas.microsoft.com/office/drawing/2018/hyperlinkcolor" val="tx"/>
                    </a:ext>
                  </a:extLst>
                </a:hlinkClick>
              </a:rPr>
              <a:t>Build guide: buy, build, connect ›</a:t>
            </a:r>
            <a:endParaRPr lang="en-US" sz="13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9464040" y="502920"/>
            <a:ext cx="2057400" cy="329184"/>
          </a:xfrm>
          <a:prstGeom prst="roundRect">
            <a:avLst>
              <a:gd name="adj" fmla="val 50000"/>
            </a:avLst>
          </a:prstGeom>
          <a:solidFill>
            <a:srgbClr val="F5F5F7"/>
          </a:solidFill>
          <a:ln/>
        </p:spPr>
      </p:sp>
      <p:sp>
        <p:nvSpPr>
          <p:cNvPr id="3" name="Text 1"/>
          <p:cNvSpPr txBox="1"/>
          <p:nvPr/>
        </p:nvSpPr>
        <p:spPr>
          <a:xfrm>
            <a:off x="9464040" y="502920"/>
            <a:ext cx="2057400" cy="329184"/>
          </a:xfrm>
          <a:prstGeom prst="rect">
            <a:avLst/>
          </a:prstGeom>
          <a:noFill/>
          <a:ln/>
        </p:spPr>
        <p:txBody>
          <a:bodyPr wrap="square" lIns="0" tIns="0" rIns="0" bIns="0" rtlCol="0" anchor="ctr"/>
          <a:lstStyle/>
          <a:p>
            <a:pPr algn="ctr" indent="0" marL="0">
              <a:buNone/>
            </a:pPr>
            <a:r>
              <a:rPr lang="en-US" sz="1050" b="1" dirty="0">
                <a:solidFill>
                  <a:srgbClr val="6E6E73"/>
                </a:solidFill>
                <a:latin typeface="Helvetica Neue" pitchFamily="34" charset="0"/>
                <a:ea typeface="Helvetica Neue" pitchFamily="34" charset="-122"/>
                <a:cs typeface="Helvetica Neue" pitchFamily="34" charset="-120"/>
              </a:rPr>
              <a:t>Appendix · not presented</a:t>
            </a:r>
            <a:endParaRPr lang="en-US" sz="1050" dirty="0"/>
          </a:p>
        </p:txBody>
      </p:sp>
      <p:sp>
        <p:nvSpPr>
          <p:cNvPr id="4" name="Text 2"/>
          <p:cNvSpPr txBox="1"/>
          <p:nvPr/>
        </p:nvSpPr>
        <p:spPr>
          <a:xfrm>
            <a:off x="685800" y="502920"/>
            <a:ext cx="10789920" cy="320040"/>
          </a:xfrm>
          <a:prstGeom prst="rect">
            <a:avLst/>
          </a:prstGeom>
          <a:noFill/>
          <a:ln/>
        </p:spPr>
        <p:txBody>
          <a:bodyPr wrap="square" lIns="0" tIns="0" rIns="0" bIns="0" rtlCol="0" anchor="t"/>
          <a:lstStyle/>
          <a:p>
            <a:pPr indent="0" marL="0">
              <a:buNone/>
            </a:pPr>
            <a:r>
              <a:rPr lang="en-US" sz="1600" b="1" dirty="0">
                <a:solidFill>
                  <a:srgbClr val="E3254B"/>
                </a:solidFill>
                <a:latin typeface="Helvetica Neue" pitchFamily="34" charset="0"/>
                <a:ea typeface="Helvetica Neue" pitchFamily="34" charset="-122"/>
                <a:cs typeface="Helvetica Neue" pitchFamily="34" charset="-120"/>
              </a:rPr>
              <a:t>Bibliography · APA</a:t>
            </a:r>
            <a:endParaRPr lang="en-US" sz="1600" dirty="0"/>
          </a:p>
        </p:txBody>
      </p:sp>
      <p:sp>
        <p:nvSpPr>
          <p:cNvPr id="5" name="Text 3"/>
          <p:cNvSpPr txBox="1"/>
          <p:nvPr/>
        </p:nvSpPr>
        <p:spPr>
          <a:xfrm>
            <a:off x="685800" y="841248"/>
            <a:ext cx="10789920" cy="640080"/>
          </a:xfrm>
          <a:prstGeom prst="rect">
            <a:avLst/>
          </a:prstGeom>
          <a:noFill/>
          <a:ln/>
        </p:spPr>
        <p:txBody>
          <a:bodyPr wrap="square" lIns="0" tIns="0" rIns="0" bIns="0" rtlCol="0" anchor="t"/>
          <a:lstStyle/>
          <a:p>
            <a:pPr indent="0" marL="0">
              <a:lnSpc>
                <a:spcPct val="92000"/>
              </a:lnSpc>
              <a:buNone/>
            </a:pPr>
            <a:r>
              <a:rPr lang="en-US" sz="3000" b="1" dirty="0">
                <a:solidFill>
                  <a:srgbClr val="1D1D1F"/>
                </a:solidFill>
                <a:latin typeface="Helvetica Neue" pitchFamily="34" charset="0"/>
                <a:ea typeface="Helvetica Neue" pitchFamily="34" charset="-122"/>
                <a:cs typeface="Helvetica Neue" pitchFamily="34" charset="-120"/>
              </a:rPr>
              <a:t>References.</a:t>
            </a:r>
            <a:endParaRPr lang="en-US" sz="3000" dirty="0"/>
          </a:p>
        </p:txBody>
      </p:sp>
      <p:sp>
        <p:nvSpPr>
          <p:cNvPr id="6" name="Text 4"/>
          <p:cNvSpPr txBox="1"/>
          <p:nvPr/>
        </p:nvSpPr>
        <p:spPr>
          <a:xfrm>
            <a:off x="685800" y="1645920"/>
            <a:ext cx="10789920" cy="548640"/>
          </a:xfrm>
          <a:prstGeom prst="rect">
            <a:avLst/>
          </a:prstGeom>
          <a:noFill/>
          <a:ln/>
        </p:spPr>
        <p:txBody>
          <a:bodyPr wrap="square" lIns="0" tIns="0" rIns="0" bIns="0" rtlCol="0" anchor="t"/>
          <a:lstStyle/>
          <a:p>
            <a:pPr indent="0" marL="0">
              <a:buNone/>
            </a:pPr>
            <a:r>
              <a:rPr lang="en-US" sz="1300" dirty="0">
                <a:solidFill>
                  <a:srgbClr val="6E6E73"/>
                </a:solidFill>
                <a:latin typeface="Helvetica Neue" pitchFamily="34" charset="0"/>
                <a:ea typeface="Helvetica Neue" pitchFamily="34" charset="-122"/>
                <a:cs typeface="Helvetica Neue" pitchFamily="34" charset="-120"/>
              </a:rPr>
              <a:t>American Academy of Sleep Medicine. (2014). International classification of sleep disorders (3rd ed.).</a:t>
            </a:r>
            <a:endParaRPr lang="en-US" sz="1300" dirty="0"/>
          </a:p>
        </p:txBody>
      </p:sp>
      <p:sp>
        <p:nvSpPr>
          <p:cNvPr id="7" name="Text 5"/>
          <p:cNvSpPr txBox="1"/>
          <p:nvPr/>
        </p:nvSpPr>
        <p:spPr>
          <a:xfrm>
            <a:off x="685800" y="2212848"/>
            <a:ext cx="10789920" cy="548640"/>
          </a:xfrm>
          <a:prstGeom prst="rect">
            <a:avLst/>
          </a:prstGeom>
          <a:noFill/>
          <a:ln/>
        </p:spPr>
        <p:txBody>
          <a:bodyPr wrap="square" lIns="0" tIns="0" rIns="0" bIns="0" rtlCol="0" anchor="t"/>
          <a:lstStyle/>
          <a:p>
            <a:pPr indent="0" marL="0">
              <a:buNone/>
            </a:pPr>
            <a:r>
              <a:rPr lang="en-US" sz="1300" dirty="0">
                <a:solidFill>
                  <a:srgbClr val="6E6E73"/>
                </a:solidFill>
                <a:latin typeface="Helvetica Neue" pitchFamily="34" charset="0"/>
                <a:ea typeface="Helvetica Neue" pitchFamily="34" charset="-122"/>
                <a:cs typeface="Helvetica Neue" pitchFamily="34" charset="-120"/>
              </a:rPr>
              <a:t>Benjafield, A. V., et al. (2019). Estimation of the global prevalence and burden of obstructive sleep apnoea: A literature-based analysis. The Lancet Respiratory Medicine, 7(8), 687–698.</a:t>
            </a:r>
            <a:endParaRPr lang="en-US" sz="1300" dirty="0"/>
          </a:p>
        </p:txBody>
      </p:sp>
      <p:sp>
        <p:nvSpPr>
          <p:cNvPr id="8" name="Text 6"/>
          <p:cNvSpPr txBox="1"/>
          <p:nvPr/>
        </p:nvSpPr>
        <p:spPr>
          <a:xfrm>
            <a:off x="685800" y="2779776"/>
            <a:ext cx="10789920" cy="548640"/>
          </a:xfrm>
          <a:prstGeom prst="rect">
            <a:avLst/>
          </a:prstGeom>
          <a:noFill/>
          <a:ln/>
        </p:spPr>
        <p:txBody>
          <a:bodyPr wrap="square" lIns="0" tIns="0" rIns="0" bIns="0" rtlCol="0" anchor="t"/>
          <a:lstStyle/>
          <a:p>
            <a:pPr indent="0" marL="0">
              <a:buNone/>
            </a:pPr>
            <a:r>
              <a:rPr lang="en-US" sz="1300" dirty="0">
                <a:solidFill>
                  <a:srgbClr val="6E6E73"/>
                </a:solidFill>
                <a:latin typeface="Helvetica Neue" pitchFamily="34" charset="0"/>
                <a:ea typeface="Helvetica Neue" pitchFamily="34" charset="-122"/>
                <a:cs typeface="Helvetica Neue" pitchFamily="34" charset="-120"/>
              </a:rPr>
              <a:t>Berry, R. B., et al. (2012). Rules for scoring respiratory events in sleep. Journal of Clinical Sleep Medicine, 8(5), 597–619.</a:t>
            </a:r>
            <a:endParaRPr lang="en-US" sz="1300" dirty="0"/>
          </a:p>
        </p:txBody>
      </p:sp>
      <p:sp>
        <p:nvSpPr>
          <p:cNvPr id="9" name="Text 7"/>
          <p:cNvSpPr txBox="1"/>
          <p:nvPr/>
        </p:nvSpPr>
        <p:spPr>
          <a:xfrm>
            <a:off x="685800" y="3346704"/>
            <a:ext cx="10789920" cy="548640"/>
          </a:xfrm>
          <a:prstGeom prst="rect">
            <a:avLst/>
          </a:prstGeom>
          <a:noFill/>
          <a:ln/>
        </p:spPr>
        <p:txBody>
          <a:bodyPr wrap="square" lIns="0" tIns="0" rIns="0" bIns="0" rtlCol="0" anchor="t"/>
          <a:lstStyle/>
          <a:p>
            <a:pPr indent="0" marL="0">
              <a:buNone/>
            </a:pPr>
            <a:r>
              <a:rPr lang="en-US" sz="1300" dirty="0">
                <a:solidFill>
                  <a:srgbClr val="6E6E73"/>
                </a:solidFill>
                <a:latin typeface="Helvetica Neue" pitchFamily="34" charset="0"/>
                <a:ea typeface="Helvetica Neue" pitchFamily="34" charset="-122"/>
                <a:cs typeface="Helvetica Neue" pitchFamily="34" charset="-120"/>
              </a:rPr>
              <a:t>Bland, J. M., &amp; Altman, D. G. (1986). Statistical methods for assessing agreement between two methods of clinical measurement. The Lancet, 327(8476), 307–310.</a:t>
            </a:r>
            <a:endParaRPr lang="en-US" sz="1300" dirty="0"/>
          </a:p>
        </p:txBody>
      </p:sp>
      <p:sp>
        <p:nvSpPr>
          <p:cNvPr id="10" name="Text 8"/>
          <p:cNvSpPr txBox="1"/>
          <p:nvPr/>
        </p:nvSpPr>
        <p:spPr>
          <a:xfrm>
            <a:off x="685800" y="3913632"/>
            <a:ext cx="10789920" cy="548640"/>
          </a:xfrm>
          <a:prstGeom prst="rect">
            <a:avLst/>
          </a:prstGeom>
          <a:noFill/>
          <a:ln/>
        </p:spPr>
        <p:txBody>
          <a:bodyPr wrap="square" lIns="0" tIns="0" rIns="0" bIns="0" rtlCol="0" anchor="t"/>
          <a:lstStyle/>
          <a:p>
            <a:pPr indent="0" marL="0">
              <a:buNone/>
            </a:pPr>
            <a:r>
              <a:rPr lang="en-US" sz="1300" dirty="0">
                <a:solidFill>
                  <a:srgbClr val="6E6E73"/>
                </a:solidFill>
                <a:latin typeface="Helvetica Neue" pitchFamily="34" charset="0"/>
                <a:ea typeface="Helvetica Neue" pitchFamily="34" charset="-122"/>
                <a:cs typeface="Helvetica Neue" pitchFamily="34" charset="-120"/>
              </a:rPr>
              <a:t>Global Initiative for Asthma. (2024). Global strategy for asthma management and prevention.</a:t>
            </a:r>
            <a:endParaRPr lang="en-US" sz="1300" dirty="0"/>
          </a:p>
        </p:txBody>
      </p:sp>
      <p:sp>
        <p:nvSpPr>
          <p:cNvPr id="11" name="Text 9"/>
          <p:cNvSpPr txBox="1"/>
          <p:nvPr/>
        </p:nvSpPr>
        <p:spPr>
          <a:xfrm>
            <a:off x="685800" y="4480560"/>
            <a:ext cx="10789920" cy="548640"/>
          </a:xfrm>
          <a:prstGeom prst="rect">
            <a:avLst/>
          </a:prstGeom>
          <a:noFill/>
          <a:ln/>
        </p:spPr>
        <p:txBody>
          <a:bodyPr wrap="square" lIns="0" tIns="0" rIns="0" bIns="0" rtlCol="0" anchor="t"/>
          <a:lstStyle/>
          <a:p>
            <a:pPr indent="0" marL="0">
              <a:buNone/>
            </a:pPr>
            <a:r>
              <a:rPr lang="en-US" sz="1300" dirty="0">
                <a:solidFill>
                  <a:srgbClr val="6E6E73"/>
                </a:solidFill>
                <a:latin typeface="Helvetica Neue" pitchFamily="34" charset="0"/>
                <a:ea typeface="Helvetica Neue" pitchFamily="34" charset="-122"/>
                <a:cs typeface="Helvetica Neue" pitchFamily="34" charset="-120"/>
              </a:rPr>
              <a:t>Jubran, A. (2015). Pulse oximetry. Critical Care, 19, 272.</a:t>
            </a:r>
            <a:endParaRPr lang="en-US" sz="1300" dirty="0"/>
          </a:p>
        </p:txBody>
      </p:sp>
      <p:sp>
        <p:nvSpPr>
          <p:cNvPr id="12" name="Text 10"/>
          <p:cNvSpPr txBox="1"/>
          <p:nvPr/>
        </p:nvSpPr>
        <p:spPr>
          <a:xfrm>
            <a:off x="685800" y="5047488"/>
            <a:ext cx="10789920" cy="548640"/>
          </a:xfrm>
          <a:prstGeom prst="rect">
            <a:avLst/>
          </a:prstGeom>
          <a:noFill/>
          <a:ln/>
        </p:spPr>
        <p:txBody>
          <a:bodyPr wrap="square" lIns="0" tIns="0" rIns="0" bIns="0" rtlCol="0" anchor="t"/>
          <a:lstStyle/>
          <a:p>
            <a:pPr indent="0" marL="0">
              <a:buNone/>
            </a:pPr>
            <a:r>
              <a:rPr lang="en-US" sz="1300" dirty="0">
                <a:solidFill>
                  <a:srgbClr val="6E6E73"/>
                </a:solidFill>
                <a:latin typeface="Helvetica Neue" pitchFamily="34" charset="0"/>
                <a:ea typeface="Helvetica Neue" pitchFamily="34" charset="-122"/>
                <a:cs typeface="Helvetica Neue" pitchFamily="34" charset="-120"/>
              </a:rPr>
              <a:t>Maxim Integrated. (2020). MAX30102 high-sensitivity pulse oximeter and heart-rate sensor [Datasheet].</a:t>
            </a:r>
            <a:endParaRPr lang="en-US" sz="1300" dirty="0"/>
          </a:p>
        </p:txBody>
      </p:sp>
      <p:sp>
        <p:nvSpPr>
          <p:cNvPr id="13" name="Text 11"/>
          <p:cNvSpPr txBox="1"/>
          <p:nvPr/>
        </p:nvSpPr>
        <p:spPr>
          <a:xfrm>
            <a:off x="685800" y="5614416"/>
            <a:ext cx="10789920" cy="548640"/>
          </a:xfrm>
          <a:prstGeom prst="rect">
            <a:avLst/>
          </a:prstGeom>
          <a:noFill/>
          <a:ln/>
        </p:spPr>
        <p:txBody>
          <a:bodyPr wrap="square" lIns="0" tIns="0" rIns="0" bIns="0" rtlCol="0" anchor="t"/>
          <a:lstStyle/>
          <a:p>
            <a:pPr indent="0" marL="0">
              <a:buNone/>
            </a:pPr>
            <a:r>
              <a:rPr lang="en-US" sz="1300" dirty="0">
                <a:solidFill>
                  <a:srgbClr val="6E6E73"/>
                </a:solidFill>
                <a:latin typeface="Helvetica Neue" pitchFamily="34" charset="0"/>
                <a:ea typeface="Helvetica Neue" pitchFamily="34" charset="-122"/>
                <a:cs typeface="Helvetica Neue" pitchFamily="34" charset="-120"/>
              </a:rPr>
              <a:t>Task Force of the European Society of Cardiology and NASPE. (1996). Heart rate variability: Standards of measurement, physiological interpretation, and clinical use. Circulation, 93(5), 1043–1065.</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Night Signal — science fair presentation</dc:title>
  <dc:subject>PptxGenJS Presentation</dc:subject>
  <dc:creator>PptxGenJS</dc:creator>
  <cp:lastModifiedBy>PptxGenJS</cp:lastModifiedBy>
  <cp:revision>1</cp:revision>
  <dcterms:created xsi:type="dcterms:W3CDTF">2026-10-05T19:37:19Z</dcterms:created>
  <dcterms:modified xsi:type="dcterms:W3CDTF">2026-10-05T19:37:19Z</dcterms:modified>
</cp:coreProperties>
</file>