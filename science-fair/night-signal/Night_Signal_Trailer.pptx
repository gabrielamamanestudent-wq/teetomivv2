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Night Signal is a low-cost wearable that detects sleep apnea. Sensors on the fingertip feed an ESP32, which streams the data over Bluetooth to a laptop that records and analyzes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Apnea pauses breathing, which drops blood oxygen. Our software finds each drop, counts them per hour to get an AHI score, and rates severity. The red bands on the chart are the events it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companion app turns the raw data into a friendly sleep report: a sleep score, the night's oxygen graph with apnea events marked, and cards for heart rate, breathing and sleep position. Record overnight, open the app in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validated the device against a reference oximeter (within about half a percent, correlation 0.89), built a machine-learning detector that catches 82% of events, and tested all four analyses in code. The Bland-Altman plot is the standard medical way to show two devices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830"/>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3FB8CC"/>
                </a:solidFill>
                <a:latin typeface="Calibri" pitchFamily="34" charset="0"/>
                <a:ea typeface="Calibri" pitchFamily="34" charset="-122"/>
                <a:cs typeface="Calibri" pitchFamily="34" charset="-120"/>
              </a:rPr>
              <a:t>NIGHT SIGNAL   ·   SCIENCE FAIR PROJECT</a:t>
            </a:r>
            <a:endParaRPr lang="en-US" sz="1200" dirty="0"/>
          </a:p>
        </p:txBody>
      </p:sp>
      <p:sp>
        <p:nvSpPr>
          <p:cNvPr id="3" name="Text 1"/>
          <p:cNvSpPr txBox="1"/>
          <p:nvPr/>
        </p:nvSpPr>
        <p:spPr>
          <a:xfrm>
            <a:off x="640080" y="914400"/>
            <a:ext cx="10881360" cy="1371600"/>
          </a:xfrm>
          <a:prstGeom prst="rect">
            <a:avLst/>
          </a:prstGeom>
          <a:noFill/>
          <a:ln/>
        </p:spPr>
        <p:txBody>
          <a:bodyPr wrap="square" lIns="0" tIns="0" rIns="0" bIns="0" rtlCol="0" anchor="ctr"/>
          <a:lstStyle/>
          <a:p>
            <a:pPr indent="0" marL="0">
              <a:lnSpc>
                <a:spcPts val="4600"/>
              </a:lnSpc>
              <a:buNone/>
            </a:pPr>
            <a:r>
              <a:rPr lang="en-US" sz="4400" b="1" dirty="0">
                <a:solidFill>
                  <a:srgbClr val="FFFFFF"/>
                </a:solidFill>
                <a:latin typeface="Calibri" pitchFamily="34" charset="0"/>
                <a:ea typeface="Calibri" pitchFamily="34" charset="-122"/>
                <a:cs typeface="Calibri" pitchFamily="34" charset="-120"/>
              </a:rPr>
              <a:t>A $35 wearable that catches sleep apnea.</a:t>
            </a:r>
            <a:endParaRPr lang="en-US" sz="4400" dirty="0"/>
          </a:p>
        </p:txBody>
      </p:sp>
      <p:sp>
        <p:nvSpPr>
          <p:cNvPr id="4" name="Text 2"/>
          <p:cNvSpPr txBox="1"/>
          <p:nvPr/>
        </p:nvSpPr>
        <p:spPr>
          <a:xfrm>
            <a:off x="640080" y="2286000"/>
            <a:ext cx="10424160" cy="822960"/>
          </a:xfrm>
          <a:prstGeom prst="rect">
            <a:avLst/>
          </a:prstGeom>
          <a:noFill/>
          <a:ln/>
        </p:spPr>
        <p:txBody>
          <a:bodyPr wrap="square" lIns="0" tIns="0" rIns="0" bIns="0" rtlCol="0" anchor="ctr"/>
          <a:lstStyle/>
          <a:p>
            <a:pPr indent="0" marL="0">
              <a:lnSpc>
                <a:spcPts val="2600"/>
              </a:lnSpc>
              <a:buNone/>
            </a:pPr>
            <a:r>
              <a:rPr lang="en-US" sz="1800" dirty="0">
                <a:solidFill>
                  <a:srgbClr val="9FB0CF"/>
                </a:solidFill>
                <a:latin typeface="Calibri" pitchFamily="34" charset="0"/>
                <a:ea typeface="Calibri" pitchFamily="34" charset="-122"/>
                <a:cs typeface="Calibri" pitchFamily="34" charset="-120"/>
              </a:rPr>
              <a:t>It records blood oxygen, heart rate and body position all night — then finds the moments when breathing stops.</a:t>
            </a:r>
            <a:endParaRPr lang="en-US" sz="1800" dirty="0"/>
          </a:p>
        </p:txBody>
      </p:sp>
      <p:sp>
        <p:nvSpPr>
          <p:cNvPr id="5" name="Shape 3"/>
          <p:cNvSpPr/>
          <p:nvPr/>
        </p:nvSpPr>
        <p:spPr>
          <a:xfrm>
            <a:off x="914400" y="4023360"/>
            <a:ext cx="3017520" cy="1554480"/>
          </a:xfrm>
          <a:prstGeom prst="roundRect">
            <a:avLst>
              <a:gd name="adj" fmla="val 7059"/>
            </a:avLst>
          </a:prstGeom>
          <a:solidFill>
            <a:srgbClr val="18233F"/>
          </a:solidFill>
          <a:ln w="19050">
            <a:solidFill>
              <a:srgbClr val="1F8A9C"/>
            </a:solidFill>
            <a:prstDash val="solid"/>
          </a:ln>
        </p:spPr>
      </p:sp>
      <p:sp>
        <p:nvSpPr>
          <p:cNvPr id="6" name="Text 4"/>
          <p:cNvSpPr txBox="1"/>
          <p:nvPr/>
        </p:nvSpPr>
        <p:spPr>
          <a:xfrm>
            <a:off x="914400" y="4315968"/>
            <a:ext cx="30175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Fingertip sensors</a:t>
            </a:r>
            <a:endParaRPr lang="en-US" sz="2200" dirty="0"/>
          </a:p>
        </p:txBody>
      </p:sp>
      <p:sp>
        <p:nvSpPr>
          <p:cNvPr id="7" name="Text 5"/>
          <p:cNvSpPr txBox="1"/>
          <p:nvPr/>
        </p:nvSpPr>
        <p:spPr>
          <a:xfrm>
            <a:off x="914400" y="4892040"/>
            <a:ext cx="3017520" cy="457200"/>
          </a:xfrm>
          <a:prstGeom prst="rect">
            <a:avLst/>
          </a:prstGeom>
          <a:noFill/>
          <a:ln/>
        </p:spPr>
        <p:txBody>
          <a:bodyPr wrap="square" lIns="0" tIns="0" rIns="0" bIns="0" rtlCol="0" anchor="ctr"/>
          <a:lstStyle/>
          <a:p>
            <a:pPr algn="ctr" indent="0" marL="0">
              <a:buNone/>
            </a:pPr>
            <a:r>
              <a:rPr lang="en-US" sz="1300" dirty="0">
                <a:solidFill>
                  <a:srgbClr val="3FB8CC"/>
                </a:solidFill>
                <a:latin typeface="Calibri" pitchFamily="34" charset="0"/>
                <a:ea typeface="Calibri" pitchFamily="34" charset="-122"/>
                <a:cs typeface="Calibri" pitchFamily="34" charset="-120"/>
              </a:rPr>
              <a:t>MAX30102  +  MPU-6050</a:t>
            </a:r>
            <a:endParaRPr lang="en-US" sz="1300" dirty="0"/>
          </a:p>
        </p:txBody>
      </p:sp>
      <p:sp>
        <p:nvSpPr>
          <p:cNvPr id="8" name="Text 6"/>
          <p:cNvSpPr txBox="1"/>
          <p:nvPr/>
        </p:nvSpPr>
        <p:spPr>
          <a:xfrm>
            <a:off x="3931920" y="4297680"/>
            <a:ext cx="731520" cy="1554480"/>
          </a:xfrm>
          <a:prstGeom prst="rect">
            <a:avLst/>
          </a:prstGeom>
          <a:noFill/>
          <a:ln/>
        </p:spPr>
        <p:txBody>
          <a:bodyPr wrap="square" lIns="0" tIns="0" rIns="0" bIns="0" rtlCol="0" anchor="ctr"/>
          <a:lstStyle/>
          <a:p>
            <a:pPr algn="ctr" indent="0" marL="0">
              <a:buNone/>
            </a:pPr>
            <a:r>
              <a:rPr lang="en-US" sz="4000" b="1" dirty="0">
                <a:solidFill>
                  <a:srgbClr val="E4568A"/>
                </a:solidFill>
                <a:latin typeface="Calibri" pitchFamily="34" charset="0"/>
                <a:ea typeface="Calibri" pitchFamily="34" charset="-122"/>
                <a:cs typeface="Calibri" pitchFamily="34" charset="-120"/>
              </a:rPr>
              <a:t>›</a:t>
            </a:r>
            <a:endParaRPr lang="en-US" sz="4000" dirty="0"/>
          </a:p>
        </p:txBody>
      </p:sp>
      <p:sp>
        <p:nvSpPr>
          <p:cNvPr id="9" name="Shape 7"/>
          <p:cNvSpPr/>
          <p:nvPr/>
        </p:nvSpPr>
        <p:spPr>
          <a:xfrm>
            <a:off x="4663440" y="4023360"/>
            <a:ext cx="3017520" cy="1554480"/>
          </a:xfrm>
          <a:prstGeom prst="roundRect">
            <a:avLst>
              <a:gd name="adj" fmla="val 7059"/>
            </a:avLst>
          </a:prstGeom>
          <a:solidFill>
            <a:srgbClr val="18233F"/>
          </a:solidFill>
          <a:ln w="19050">
            <a:solidFill>
              <a:srgbClr val="1F8A9C"/>
            </a:solidFill>
            <a:prstDash val="solid"/>
          </a:ln>
        </p:spPr>
      </p:sp>
      <p:sp>
        <p:nvSpPr>
          <p:cNvPr id="10" name="Text 8"/>
          <p:cNvSpPr txBox="1"/>
          <p:nvPr/>
        </p:nvSpPr>
        <p:spPr>
          <a:xfrm>
            <a:off x="4663440" y="4315968"/>
            <a:ext cx="30175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ESP32</a:t>
            </a:r>
            <a:endParaRPr lang="en-US" sz="2200" dirty="0"/>
          </a:p>
        </p:txBody>
      </p:sp>
      <p:sp>
        <p:nvSpPr>
          <p:cNvPr id="11" name="Text 9"/>
          <p:cNvSpPr txBox="1"/>
          <p:nvPr/>
        </p:nvSpPr>
        <p:spPr>
          <a:xfrm>
            <a:off x="4663440" y="4892040"/>
            <a:ext cx="3017520" cy="457200"/>
          </a:xfrm>
          <a:prstGeom prst="rect">
            <a:avLst/>
          </a:prstGeom>
          <a:noFill/>
          <a:ln/>
        </p:spPr>
        <p:txBody>
          <a:bodyPr wrap="square" lIns="0" tIns="0" rIns="0" bIns="0" rtlCol="0" anchor="ctr"/>
          <a:lstStyle/>
          <a:p>
            <a:pPr algn="ctr" indent="0" marL="0">
              <a:buNone/>
            </a:pPr>
            <a:r>
              <a:rPr lang="en-US" sz="1300" dirty="0">
                <a:solidFill>
                  <a:srgbClr val="3FB8CC"/>
                </a:solidFill>
                <a:latin typeface="Calibri" pitchFamily="34" charset="0"/>
                <a:ea typeface="Calibri" pitchFamily="34" charset="-122"/>
                <a:cs typeface="Calibri" pitchFamily="34" charset="-120"/>
              </a:rPr>
              <a:t>streams over Bluetooth</a:t>
            </a:r>
            <a:endParaRPr lang="en-US" sz="1300" dirty="0"/>
          </a:p>
        </p:txBody>
      </p:sp>
      <p:sp>
        <p:nvSpPr>
          <p:cNvPr id="12" name="Text 10"/>
          <p:cNvSpPr txBox="1"/>
          <p:nvPr/>
        </p:nvSpPr>
        <p:spPr>
          <a:xfrm>
            <a:off x="7680960" y="4297680"/>
            <a:ext cx="731520" cy="1554480"/>
          </a:xfrm>
          <a:prstGeom prst="rect">
            <a:avLst/>
          </a:prstGeom>
          <a:noFill/>
          <a:ln/>
        </p:spPr>
        <p:txBody>
          <a:bodyPr wrap="square" lIns="0" tIns="0" rIns="0" bIns="0" rtlCol="0" anchor="ctr"/>
          <a:lstStyle/>
          <a:p>
            <a:pPr algn="ctr" indent="0" marL="0">
              <a:buNone/>
            </a:pPr>
            <a:r>
              <a:rPr lang="en-US" sz="4000" b="1" dirty="0">
                <a:solidFill>
                  <a:srgbClr val="E4568A"/>
                </a:solidFill>
                <a:latin typeface="Calibri" pitchFamily="34" charset="0"/>
                <a:ea typeface="Calibri" pitchFamily="34" charset="-122"/>
                <a:cs typeface="Calibri" pitchFamily="34" charset="-120"/>
              </a:rPr>
              <a:t>›</a:t>
            </a:r>
            <a:endParaRPr lang="en-US" sz="4000" dirty="0"/>
          </a:p>
        </p:txBody>
      </p:sp>
      <p:sp>
        <p:nvSpPr>
          <p:cNvPr id="13" name="Shape 11"/>
          <p:cNvSpPr/>
          <p:nvPr/>
        </p:nvSpPr>
        <p:spPr>
          <a:xfrm>
            <a:off x="8412480" y="4023360"/>
            <a:ext cx="3017520" cy="1554480"/>
          </a:xfrm>
          <a:prstGeom prst="roundRect">
            <a:avLst>
              <a:gd name="adj" fmla="val 7059"/>
            </a:avLst>
          </a:prstGeom>
          <a:solidFill>
            <a:srgbClr val="18233F"/>
          </a:solidFill>
          <a:ln w="19050">
            <a:solidFill>
              <a:srgbClr val="1F8A9C"/>
            </a:solidFill>
            <a:prstDash val="solid"/>
          </a:ln>
        </p:spPr>
      </p:sp>
      <p:sp>
        <p:nvSpPr>
          <p:cNvPr id="14" name="Text 12"/>
          <p:cNvSpPr txBox="1"/>
          <p:nvPr/>
        </p:nvSpPr>
        <p:spPr>
          <a:xfrm>
            <a:off x="8412480" y="4315968"/>
            <a:ext cx="30175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Your laptop</a:t>
            </a:r>
            <a:endParaRPr lang="en-US" sz="2200" dirty="0"/>
          </a:p>
        </p:txBody>
      </p:sp>
      <p:sp>
        <p:nvSpPr>
          <p:cNvPr id="15" name="Text 13"/>
          <p:cNvSpPr txBox="1"/>
          <p:nvPr/>
        </p:nvSpPr>
        <p:spPr>
          <a:xfrm>
            <a:off x="8412480" y="4892040"/>
            <a:ext cx="3017520" cy="457200"/>
          </a:xfrm>
          <a:prstGeom prst="rect">
            <a:avLst/>
          </a:prstGeom>
          <a:noFill/>
          <a:ln/>
        </p:spPr>
        <p:txBody>
          <a:bodyPr wrap="square" lIns="0" tIns="0" rIns="0" bIns="0" rtlCol="0" anchor="ctr"/>
          <a:lstStyle/>
          <a:p>
            <a:pPr algn="ctr" indent="0" marL="0">
              <a:buNone/>
            </a:pPr>
            <a:r>
              <a:rPr lang="en-US" sz="1300" dirty="0">
                <a:solidFill>
                  <a:srgbClr val="3FB8CC"/>
                </a:solidFill>
                <a:latin typeface="Calibri" pitchFamily="34" charset="0"/>
                <a:ea typeface="Calibri" pitchFamily="34" charset="-122"/>
                <a:cs typeface="Calibri" pitchFamily="34" charset="-120"/>
              </a:rPr>
              <a:t>records  +  analyzes</a:t>
            </a:r>
            <a:endParaRPr lang="en-US" sz="1300" dirty="0"/>
          </a:p>
        </p:txBody>
      </p:sp>
      <p:sp>
        <p:nvSpPr>
          <p:cNvPr id="16" name="Text 14"/>
          <p:cNvSpPr txBox="1"/>
          <p:nvPr/>
        </p:nvSpPr>
        <p:spPr>
          <a:xfrm>
            <a:off x="640080" y="6309360"/>
            <a:ext cx="10881360" cy="274320"/>
          </a:xfrm>
          <a:prstGeom prst="rect">
            <a:avLst/>
          </a:prstGeom>
          <a:noFill/>
          <a:ln/>
        </p:spPr>
        <p:txBody>
          <a:bodyPr wrap="square" lIns="0" tIns="0" rIns="0" bIns="0" rtlCol="0" anchor="ctr"/>
          <a:lstStyle/>
          <a:p>
            <a:pPr indent="0" marL="0">
              <a:buNone/>
            </a:pPr>
            <a:r>
              <a:rPr lang="en-US" sz="1100" dirty="0">
                <a:solidFill>
                  <a:srgbClr val="6B7889"/>
                </a:solidFill>
                <a:latin typeface="Calibri" pitchFamily="34" charset="0"/>
                <a:ea typeface="Calibri" pitchFamily="34" charset="-122"/>
                <a:cs typeface="Calibri" pitchFamily="34" charset="-120"/>
              </a:rPr>
              <a:t>Educational prototype — not a medical device.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1F8A9C"/>
                </a:solidFill>
                <a:latin typeface="Calibri" pitchFamily="34" charset="0"/>
                <a:ea typeface="Calibri" pitchFamily="34" charset="-122"/>
                <a:cs typeface="Calibri" pitchFamily="34" charset="-120"/>
              </a:rPr>
              <a:t>HOW IT WORKS</a:t>
            </a:r>
            <a:endParaRPr lang="en-US" sz="1200" dirty="0"/>
          </a:p>
        </p:txBody>
      </p:sp>
      <p:sp>
        <p:nvSpPr>
          <p:cNvPr id="3" name="Text 1"/>
          <p:cNvSpPr txBox="1"/>
          <p:nvPr/>
        </p:nvSpPr>
        <p:spPr>
          <a:xfrm>
            <a:off x="640080" y="868680"/>
            <a:ext cx="10972800" cy="914400"/>
          </a:xfrm>
          <a:prstGeom prst="rect">
            <a:avLst/>
          </a:prstGeom>
          <a:noFill/>
          <a:ln/>
        </p:spPr>
        <p:txBody>
          <a:bodyPr wrap="square" lIns="0" tIns="0" rIns="0" bIns="0" rtlCol="0" anchor="ctr"/>
          <a:lstStyle/>
          <a:p>
            <a:pPr indent="0" marL="0">
              <a:lnSpc>
                <a:spcPts val="3600"/>
              </a:lnSpc>
              <a:buNone/>
            </a:pPr>
            <a:r>
              <a:rPr lang="en-US" sz="3400" b="1" dirty="0">
                <a:solidFill>
                  <a:srgbClr val="141A26"/>
                </a:solidFill>
                <a:latin typeface="Calibri" pitchFamily="34" charset="0"/>
                <a:ea typeface="Calibri" pitchFamily="34" charset="-122"/>
                <a:cs typeface="Calibri" pitchFamily="34" charset="-120"/>
              </a:rPr>
              <a:t>Apnea makes oxygen drop — we catch every drop.</a:t>
            </a:r>
            <a:endParaRPr lang="en-US" sz="3400" dirty="0"/>
          </a:p>
        </p:txBody>
      </p:sp>
      <p:sp>
        <p:nvSpPr>
          <p:cNvPr id="4" name="Shape 2"/>
          <p:cNvSpPr/>
          <p:nvPr/>
        </p:nvSpPr>
        <p:spPr>
          <a:xfrm>
            <a:off x="640080" y="2148840"/>
            <a:ext cx="502920" cy="502920"/>
          </a:xfrm>
          <a:prstGeom prst="ellipse">
            <a:avLst/>
          </a:prstGeom>
          <a:solidFill>
            <a:srgbClr val="1F8A9C"/>
          </a:solidFill>
          <a:ln/>
        </p:spPr>
      </p:sp>
      <p:sp>
        <p:nvSpPr>
          <p:cNvPr id="5" name="Text 3"/>
          <p:cNvSpPr txBox="1"/>
          <p:nvPr/>
        </p:nvSpPr>
        <p:spPr>
          <a:xfrm>
            <a:off x="640080" y="2148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325880" y="2121408"/>
            <a:ext cx="3383280" cy="411480"/>
          </a:xfrm>
          <a:prstGeom prst="rect">
            <a:avLst/>
          </a:prstGeom>
          <a:noFill/>
          <a:ln/>
        </p:spPr>
        <p:txBody>
          <a:bodyPr wrap="square" lIns="0" tIns="0" rIns="0" bIns="0" rtlCol="0" anchor="ctr"/>
          <a:lstStyle/>
          <a:p>
            <a:pPr indent="0" marL="0">
              <a:buNone/>
            </a:pPr>
            <a:r>
              <a:rPr lang="en-US" sz="1800" b="1" dirty="0">
                <a:solidFill>
                  <a:srgbClr val="141A26"/>
                </a:solidFill>
                <a:latin typeface="Calibri" pitchFamily="34" charset="0"/>
                <a:ea typeface="Calibri" pitchFamily="34" charset="-122"/>
                <a:cs typeface="Calibri" pitchFamily="34" charset="-120"/>
              </a:rPr>
              <a:t>Breathing pauses</a:t>
            </a:r>
            <a:endParaRPr lang="en-US" sz="1800" dirty="0"/>
          </a:p>
        </p:txBody>
      </p:sp>
      <p:sp>
        <p:nvSpPr>
          <p:cNvPr id="7" name="Text 5"/>
          <p:cNvSpPr txBox="1"/>
          <p:nvPr/>
        </p:nvSpPr>
        <p:spPr>
          <a:xfrm>
            <a:off x="1325880" y="2532888"/>
            <a:ext cx="3429000" cy="822960"/>
          </a:xfrm>
          <a:prstGeom prst="rect">
            <a:avLst/>
          </a:prstGeom>
          <a:noFill/>
          <a:ln/>
        </p:spPr>
        <p:txBody>
          <a:bodyPr wrap="square" lIns="0" tIns="0" rIns="0" bIns="0" rtlCol="0" anchor="ctr"/>
          <a:lstStyle/>
          <a:p>
            <a:pPr indent="0" marL="0">
              <a:lnSpc>
                <a:spcPts val="1800"/>
              </a:lnSpc>
              <a:buNone/>
            </a:pPr>
            <a:r>
              <a:rPr lang="en-US" sz="1350" dirty="0">
                <a:solidFill>
                  <a:srgbClr val="44515F"/>
                </a:solidFill>
                <a:latin typeface="Calibri" pitchFamily="34" charset="0"/>
                <a:ea typeface="Calibri" pitchFamily="34" charset="-122"/>
                <a:cs typeface="Calibri" pitchFamily="34" charset="-120"/>
              </a:rPr>
              <a:t>During apnea the airway closes and breathing stops for 10+ seconds.</a:t>
            </a:r>
            <a:endParaRPr lang="en-US" sz="1350" dirty="0"/>
          </a:p>
        </p:txBody>
      </p:sp>
      <p:sp>
        <p:nvSpPr>
          <p:cNvPr id="8" name="Shape 6"/>
          <p:cNvSpPr/>
          <p:nvPr/>
        </p:nvSpPr>
        <p:spPr>
          <a:xfrm>
            <a:off x="640080" y="3520440"/>
            <a:ext cx="502920" cy="502920"/>
          </a:xfrm>
          <a:prstGeom prst="ellipse">
            <a:avLst/>
          </a:prstGeom>
          <a:solidFill>
            <a:srgbClr val="1F8A9C"/>
          </a:solidFill>
          <a:ln/>
        </p:spPr>
      </p:sp>
      <p:sp>
        <p:nvSpPr>
          <p:cNvPr id="9" name="Text 7"/>
          <p:cNvSpPr txBox="1"/>
          <p:nvPr/>
        </p:nvSpPr>
        <p:spPr>
          <a:xfrm>
            <a:off x="640080" y="35204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1325880" y="3493008"/>
            <a:ext cx="3383280" cy="411480"/>
          </a:xfrm>
          <a:prstGeom prst="rect">
            <a:avLst/>
          </a:prstGeom>
          <a:noFill/>
          <a:ln/>
        </p:spPr>
        <p:txBody>
          <a:bodyPr wrap="square" lIns="0" tIns="0" rIns="0" bIns="0" rtlCol="0" anchor="ctr"/>
          <a:lstStyle/>
          <a:p>
            <a:pPr indent="0" marL="0">
              <a:buNone/>
            </a:pPr>
            <a:r>
              <a:rPr lang="en-US" sz="1800" b="1" dirty="0">
                <a:solidFill>
                  <a:srgbClr val="141A26"/>
                </a:solidFill>
                <a:latin typeface="Calibri" pitchFamily="34" charset="0"/>
                <a:ea typeface="Calibri" pitchFamily="34" charset="-122"/>
                <a:cs typeface="Calibri" pitchFamily="34" charset="-120"/>
              </a:rPr>
              <a:t>Blood oxygen dips</a:t>
            </a:r>
            <a:endParaRPr lang="en-US" sz="1800" dirty="0"/>
          </a:p>
        </p:txBody>
      </p:sp>
      <p:sp>
        <p:nvSpPr>
          <p:cNvPr id="11" name="Text 9"/>
          <p:cNvSpPr txBox="1"/>
          <p:nvPr/>
        </p:nvSpPr>
        <p:spPr>
          <a:xfrm>
            <a:off x="1325880" y="3904488"/>
            <a:ext cx="3429000" cy="822960"/>
          </a:xfrm>
          <a:prstGeom prst="rect">
            <a:avLst/>
          </a:prstGeom>
          <a:noFill/>
          <a:ln/>
        </p:spPr>
        <p:txBody>
          <a:bodyPr wrap="square" lIns="0" tIns="0" rIns="0" bIns="0" rtlCol="0" anchor="ctr"/>
          <a:lstStyle/>
          <a:p>
            <a:pPr indent="0" marL="0">
              <a:lnSpc>
                <a:spcPts val="1800"/>
              </a:lnSpc>
              <a:buNone/>
            </a:pPr>
            <a:r>
              <a:rPr lang="en-US" sz="1350" dirty="0">
                <a:solidFill>
                  <a:srgbClr val="44515F"/>
                </a:solidFill>
                <a:latin typeface="Calibri" pitchFamily="34" charset="0"/>
                <a:ea typeface="Calibri" pitchFamily="34" charset="-122"/>
                <a:cs typeface="Calibri" pitchFamily="34" charset="-120"/>
              </a:rPr>
              <a:t>Each pause starves the blood of oxygen — a “desaturation.”</a:t>
            </a:r>
            <a:endParaRPr lang="en-US" sz="1350" dirty="0"/>
          </a:p>
        </p:txBody>
      </p:sp>
      <p:sp>
        <p:nvSpPr>
          <p:cNvPr id="12" name="Shape 10"/>
          <p:cNvSpPr/>
          <p:nvPr/>
        </p:nvSpPr>
        <p:spPr>
          <a:xfrm>
            <a:off x="640080" y="4892040"/>
            <a:ext cx="502920" cy="502920"/>
          </a:xfrm>
          <a:prstGeom prst="ellipse">
            <a:avLst/>
          </a:prstGeom>
          <a:solidFill>
            <a:srgbClr val="1F8A9C"/>
          </a:solidFill>
          <a:ln/>
        </p:spPr>
      </p:sp>
      <p:sp>
        <p:nvSpPr>
          <p:cNvPr id="13" name="Text 11"/>
          <p:cNvSpPr txBox="1"/>
          <p:nvPr/>
        </p:nvSpPr>
        <p:spPr>
          <a:xfrm>
            <a:off x="640080" y="48920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txBox="1"/>
          <p:nvPr/>
        </p:nvSpPr>
        <p:spPr>
          <a:xfrm>
            <a:off x="1325880" y="4864608"/>
            <a:ext cx="3383280" cy="411480"/>
          </a:xfrm>
          <a:prstGeom prst="rect">
            <a:avLst/>
          </a:prstGeom>
          <a:noFill/>
          <a:ln/>
        </p:spPr>
        <p:txBody>
          <a:bodyPr wrap="square" lIns="0" tIns="0" rIns="0" bIns="0" rtlCol="0" anchor="ctr"/>
          <a:lstStyle/>
          <a:p>
            <a:pPr indent="0" marL="0">
              <a:buNone/>
            </a:pPr>
            <a:r>
              <a:rPr lang="en-US" sz="1800" b="1" dirty="0">
                <a:solidFill>
                  <a:srgbClr val="141A26"/>
                </a:solidFill>
                <a:latin typeface="Calibri" pitchFamily="34" charset="0"/>
                <a:ea typeface="Calibri" pitchFamily="34" charset="-122"/>
                <a:cs typeface="Calibri" pitchFamily="34" charset="-120"/>
              </a:rPr>
              <a:t>Software scores it</a:t>
            </a:r>
            <a:endParaRPr lang="en-US" sz="1800" dirty="0"/>
          </a:p>
        </p:txBody>
      </p:sp>
      <p:sp>
        <p:nvSpPr>
          <p:cNvPr id="15" name="Text 13"/>
          <p:cNvSpPr txBox="1"/>
          <p:nvPr/>
        </p:nvSpPr>
        <p:spPr>
          <a:xfrm>
            <a:off x="1325880" y="5276088"/>
            <a:ext cx="3429000" cy="822960"/>
          </a:xfrm>
          <a:prstGeom prst="rect">
            <a:avLst/>
          </a:prstGeom>
          <a:noFill/>
          <a:ln/>
        </p:spPr>
        <p:txBody>
          <a:bodyPr wrap="square" lIns="0" tIns="0" rIns="0" bIns="0" rtlCol="0" anchor="ctr"/>
          <a:lstStyle/>
          <a:p>
            <a:pPr indent="0" marL="0">
              <a:lnSpc>
                <a:spcPts val="1800"/>
              </a:lnSpc>
              <a:buNone/>
            </a:pPr>
            <a:r>
              <a:rPr lang="en-US" sz="1350" dirty="0">
                <a:solidFill>
                  <a:srgbClr val="44515F"/>
                </a:solidFill>
                <a:latin typeface="Calibri" pitchFamily="34" charset="0"/>
                <a:ea typeface="Calibri" pitchFamily="34" charset="-122"/>
                <a:cs typeface="Calibri" pitchFamily="34" charset="-120"/>
              </a:rPr>
              <a:t>It counts the dips per hour (an AHI score) and rates severity.</a:t>
            </a:r>
            <a:endParaRPr lang="en-US" sz="1350" dirty="0"/>
          </a:p>
        </p:txBody>
      </p:sp>
      <p:pic>
        <p:nvPicPr>
          <p:cNvPr id="16" name="Image 0" descr="/tmp/trailer_report.png">    </p:cNvPr>
          <p:cNvPicPr>
            <a:picLocks noChangeAspect="1"/>
          </p:cNvPicPr>
          <p:nvPr/>
        </p:nvPicPr>
        <p:blipFill>
          <a:blip r:embed="rId1"/>
          <a:stretch>
            <a:fillRect/>
          </a:stretch>
        </p:blipFill>
        <p:spPr>
          <a:xfrm>
            <a:off x="4892040" y="1965960"/>
            <a:ext cx="7040880" cy="3226835"/>
          </a:xfrm>
          <a:prstGeom prst="rect">
            <a:avLst/>
          </a:prstGeom>
        </p:spPr>
      </p:pic>
      <p:sp>
        <p:nvSpPr>
          <p:cNvPr id="17" name="Text 14"/>
          <p:cNvSpPr txBox="1"/>
          <p:nvPr/>
        </p:nvSpPr>
        <p:spPr>
          <a:xfrm>
            <a:off x="4892040" y="5265947"/>
            <a:ext cx="7040880" cy="365760"/>
          </a:xfrm>
          <a:prstGeom prst="rect">
            <a:avLst/>
          </a:prstGeom>
          <a:noFill/>
          <a:ln/>
        </p:spPr>
        <p:txBody>
          <a:bodyPr wrap="square" lIns="0" tIns="0" rIns="0" bIns="0" rtlCol="0" anchor="ctr"/>
          <a:lstStyle/>
          <a:p>
            <a:pPr algn="ctr" indent="0" marL="0">
              <a:buNone/>
            </a:pPr>
            <a:r>
              <a:rPr lang="en-US" sz="1200" i="1" dirty="0">
                <a:solidFill>
                  <a:srgbClr val="6B7889"/>
                </a:solidFill>
                <a:latin typeface="Calibri" pitchFamily="34" charset="0"/>
                <a:ea typeface="Calibri" pitchFamily="34" charset="-122"/>
                <a:cs typeface="Calibri" pitchFamily="34" charset="-120"/>
              </a:rPr>
              <a:t>Each red band is an apnea event the software caught automatically.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1F8A9C"/>
                </a:solidFill>
                <a:latin typeface="Calibri" pitchFamily="34" charset="0"/>
                <a:ea typeface="Calibri" pitchFamily="34" charset="-122"/>
                <a:cs typeface="Calibri" pitchFamily="34" charset="-120"/>
              </a:rPr>
              <a:t>THE COMPANION APP</a:t>
            </a:r>
            <a:endParaRPr lang="en-US" sz="1200" dirty="0"/>
          </a:p>
        </p:txBody>
      </p:sp>
      <p:sp>
        <p:nvSpPr>
          <p:cNvPr id="3" name="Text 1"/>
          <p:cNvSpPr txBox="1"/>
          <p:nvPr/>
        </p:nvSpPr>
        <p:spPr>
          <a:xfrm>
            <a:off x="640080" y="868680"/>
            <a:ext cx="7680960" cy="914400"/>
          </a:xfrm>
          <a:prstGeom prst="rect">
            <a:avLst/>
          </a:prstGeom>
          <a:noFill/>
          <a:ln/>
        </p:spPr>
        <p:txBody>
          <a:bodyPr wrap="square" lIns="0" tIns="0" rIns="0" bIns="0" rtlCol="0" anchor="ctr"/>
          <a:lstStyle/>
          <a:p>
            <a:pPr indent="0" marL="0">
              <a:lnSpc>
                <a:spcPts val="3600"/>
              </a:lnSpc>
              <a:buNone/>
            </a:pPr>
            <a:r>
              <a:rPr lang="en-US" sz="3400" b="1" dirty="0">
                <a:solidFill>
                  <a:srgbClr val="141A26"/>
                </a:solidFill>
                <a:latin typeface="Calibri" pitchFamily="34" charset="0"/>
                <a:ea typeface="Calibri" pitchFamily="34" charset="-122"/>
                <a:cs typeface="Calibri" pitchFamily="34" charset="-120"/>
              </a:rPr>
              <a:t>Your whole night, in your pocket.</a:t>
            </a:r>
            <a:endParaRPr lang="en-US" sz="3400" dirty="0"/>
          </a:p>
        </p:txBody>
      </p:sp>
      <p:sp>
        <p:nvSpPr>
          <p:cNvPr id="4" name="Shape 2"/>
          <p:cNvSpPr/>
          <p:nvPr/>
        </p:nvSpPr>
        <p:spPr>
          <a:xfrm>
            <a:off x="685800" y="2331720"/>
            <a:ext cx="292608" cy="292608"/>
          </a:xfrm>
          <a:prstGeom prst="ellipse">
            <a:avLst/>
          </a:prstGeom>
          <a:solidFill>
            <a:srgbClr val="1F8A9C"/>
          </a:solidFill>
          <a:ln/>
        </p:spPr>
      </p:sp>
      <p:sp>
        <p:nvSpPr>
          <p:cNvPr id="5" name="Text 3"/>
          <p:cNvSpPr txBox="1"/>
          <p:nvPr/>
        </p:nvSpPr>
        <p:spPr>
          <a:xfrm>
            <a:off x="1143000" y="2240280"/>
            <a:ext cx="6766560" cy="411480"/>
          </a:xfrm>
          <a:prstGeom prst="rect">
            <a:avLst/>
          </a:prstGeom>
          <a:noFill/>
          <a:ln/>
        </p:spPr>
        <p:txBody>
          <a:bodyPr wrap="square" lIns="0" tIns="0" rIns="0" bIns="0" rtlCol="0" anchor="ctr"/>
          <a:lstStyle/>
          <a:p>
            <a:pPr indent="0" marL="0">
              <a:buNone/>
            </a:pPr>
            <a:r>
              <a:rPr lang="en-US" sz="1900" b="1" dirty="0">
                <a:solidFill>
                  <a:srgbClr val="141A26"/>
                </a:solidFill>
                <a:latin typeface="Calibri" pitchFamily="34" charset="0"/>
                <a:ea typeface="Calibri" pitchFamily="34" charset="-122"/>
                <a:cs typeface="Calibri" pitchFamily="34" charset="-120"/>
              </a:rPr>
              <a:t>Sleep score at a glance</a:t>
            </a:r>
            <a:endParaRPr lang="en-US" sz="1900" dirty="0"/>
          </a:p>
        </p:txBody>
      </p:sp>
      <p:sp>
        <p:nvSpPr>
          <p:cNvPr id="6" name="Text 4"/>
          <p:cNvSpPr txBox="1"/>
          <p:nvPr/>
        </p:nvSpPr>
        <p:spPr>
          <a:xfrm>
            <a:off x="1143000" y="2670048"/>
            <a:ext cx="6766560" cy="457200"/>
          </a:xfrm>
          <a:prstGeom prst="rect">
            <a:avLst/>
          </a:prstGeom>
          <a:noFill/>
          <a:ln/>
        </p:spPr>
        <p:txBody>
          <a:bodyPr wrap="square" lIns="0" tIns="0" rIns="0" bIns="0" rtlCol="0" anchor="ctr"/>
          <a:lstStyle/>
          <a:p>
            <a:pPr indent="0" marL="0">
              <a:buNone/>
            </a:pPr>
            <a:r>
              <a:rPr lang="en-US" sz="1400" dirty="0">
                <a:solidFill>
                  <a:srgbClr val="44515F"/>
                </a:solidFill>
                <a:latin typeface="Calibri" pitchFamily="34" charset="0"/>
                <a:ea typeface="Calibri" pitchFamily="34" charset="-122"/>
                <a:cs typeface="Calibri" pitchFamily="34" charset="-120"/>
              </a:rPr>
              <a:t>One number sums up how the night went.</a:t>
            </a:r>
            <a:endParaRPr lang="en-US" sz="1400" dirty="0"/>
          </a:p>
        </p:txBody>
      </p:sp>
      <p:sp>
        <p:nvSpPr>
          <p:cNvPr id="7" name="Shape 5"/>
          <p:cNvSpPr/>
          <p:nvPr/>
        </p:nvSpPr>
        <p:spPr>
          <a:xfrm>
            <a:off x="685800" y="3474720"/>
            <a:ext cx="292608" cy="292608"/>
          </a:xfrm>
          <a:prstGeom prst="ellipse">
            <a:avLst/>
          </a:prstGeom>
          <a:solidFill>
            <a:srgbClr val="1F8A9C"/>
          </a:solidFill>
          <a:ln/>
        </p:spPr>
      </p:sp>
      <p:sp>
        <p:nvSpPr>
          <p:cNvPr id="8" name="Text 6"/>
          <p:cNvSpPr txBox="1"/>
          <p:nvPr/>
        </p:nvSpPr>
        <p:spPr>
          <a:xfrm>
            <a:off x="1143000" y="3383280"/>
            <a:ext cx="6766560" cy="411480"/>
          </a:xfrm>
          <a:prstGeom prst="rect">
            <a:avLst/>
          </a:prstGeom>
          <a:noFill/>
          <a:ln/>
        </p:spPr>
        <p:txBody>
          <a:bodyPr wrap="square" lIns="0" tIns="0" rIns="0" bIns="0" rtlCol="0" anchor="ctr"/>
          <a:lstStyle/>
          <a:p>
            <a:pPr indent="0" marL="0">
              <a:buNone/>
            </a:pPr>
            <a:r>
              <a:rPr lang="en-US" sz="1900" b="1" dirty="0">
                <a:solidFill>
                  <a:srgbClr val="141A26"/>
                </a:solidFill>
                <a:latin typeface="Calibri" pitchFamily="34" charset="0"/>
                <a:ea typeface="Calibri" pitchFamily="34" charset="-122"/>
                <a:cs typeface="Calibri" pitchFamily="34" charset="-120"/>
              </a:rPr>
              <a:t>Oxygen + apnea events</a:t>
            </a:r>
            <a:endParaRPr lang="en-US" sz="1900" dirty="0"/>
          </a:p>
        </p:txBody>
      </p:sp>
      <p:sp>
        <p:nvSpPr>
          <p:cNvPr id="9" name="Text 7"/>
          <p:cNvSpPr txBox="1"/>
          <p:nvPr/>
        </p:nvSpPr>
        <p:spPr>
          <a:xfrm>
            <a:off x="1143000" y="3813048"/>
            <a:ext cx="6766560" cy="457200"/>
          </a:xfrm>
          <a:prstGeom prst="rect">
            <a:avLst/>
          </a:prstGeom>
          <a:noFill/>
          <a:ln/>
        </p:spPr>
        <p:txBody>
          <a:bodyPr wrap="square" lIns="0" tIns="0" rIns="0" bIns="0" rtlCol="0" anchor="ctr"/>
          <a:lstStyle/>
          <a:p>
            <a:pPr indent="0" marL="0">
              <a:buNone/>
            </a:pPr>
            <a:r>
              <a:rPr lang="en-US" sz="1400" dirty="0">
                <a:solidFill>
                  <a:srgbClr val="44515F"/>
                </a:solidFill>
                <a:latin typeface="Calibri" pitchFamily="34" charset="0"/>
                <a:ea typeface="Calibri" pitchFamily="34" charset="-122"/>
                <a:cs typeface="Calibri" pitchFamily="34" charset="-120"/>
              </a:rPr>
              <a:t>The full night's SpO₂, with every event in red.</a:t>
            </a:r>
            <a:endParaRPr lang="en-US" sz="1400" dirty="0"/>
          </a:p>
        </p:txBody>
      </p:sp>
      <p:sp>
        <p:nvSpPr>
          <p:cNvPr id="10" name="Shape 8"/>
          <p:cNvSpPr/>
          <p:nvPr/>
        </p:nvSpPr>
        <p:spPr>
          <a:xfrm>
            <a:off x="685800" y="4617720"/>
            <a:ext cx="292608" cy="292608"/>
          </a:xfrm>
          <a:prstGeom prst="ellipse">
            <a:avLst/>
          </a:prstGeom>
          <a:solidFill>
            <a:srgbClr val="1F8A9C"/>
          </a:solidFill>
          <a:ln/>
        </p:spPr>
      </p:sp>
      <p:sp>
        <p:nvSpPr>
          <p:cNvPr id="11" name="Text 9"/>
          <p:cNvSpPr txBox="1"/>
          <p:nvPr/>
        </p:nvSpPr>
        <p:spPr>
          <a:xfrm>
            <a:off x="1143000" y="4526280"/>
            <a:ext cx="6766560" cy="411480"/>
          </a:xfrm>
          <a:prstGeom prst="rect">
            <a:avLst/>
          </a:prstGeom>
          <a:noFill/>
          <a:ln/>
        </p:spPr>
        <p:txBody>
          <a:bodyPr wrap="square" lIns="0" tIns="0" rIns="0" bIns="0" rtlCol="0" anchor="ctr"/>
          <a:lstStyle/>
          <a:p>
            <a:pPr indent="0" marL="0">
              <a:buNone/>
            </a:pPr>
            <a:r>
              <a:rPr lang="en-US" sz="1900" b="1" dirty="0">
                <a:solidFill>
                  <a:srgbClr val="141A26"/>
                </a:solidFill>
                <a:latin typeface="Calibri" pitchFamily="34" charset="0"/>
                <a:ea typeface="Calibri" pitchFamily="34" charset="-122"/>
                <a:cs typeface="Calibri" pitchFamily="34" charset="-120"/>
              </a:rPr>
              <a:t>Heart rate, breathing, position</a:t>
            </a:r>
            <a:endParaRPr lang="en-US" sz="1900" dirty="0"/>
          </a:p>
        </p:txBody>
      </p:sp>
      <p:sp>
        <p:nvSpPr>
          <p:cNvPr id="12" name="Text 10"/>
          <p:cNvSpPr txBox="1"/>
          <p:nvPr/>
        </p:nvSpPr>
        <p:spPr>
          <a:xfrm>
            <a:off x="1143000" y="4956048"/>
            <a:ext cx="6766560" cy="457200"/>
          </a:xfrm>
          <a:prstGeom prst="rect">
            <a:avLst/>
          </a:prstGeom>
          <a:noFill/>
          <a:ln/>
        </p:spPr>
        <p:txBody>
          <a:bodyPr wrap="square" lIns="0" tIns="0" rIns="0" bIns="0" rtlCol="0" anchor="ctr"/>
          <a:lstStyle/>
          <a:p>
            <a:pPr indent="0" marL="0">
              <a:buNone/>
            </a:pPr>
            <a:r>
              <a:rPr lang="en-US" sz="1400" dirty="0">
                <a:solidFill>
                  <a:srgbClr val="44515F"/>
                </a:solidFill>
                <a:latin typeface="Calibri" pitchFamily="34" charset="0"/>
                <a:ea typeface="Calibri" pitchFamily="34" charset="-122"/>
                <a:cs typeface="Calibri" pitchFamily="34" charset="-120"/>
              </a:rPr>
              <a:t>All the signals the wearable captured, in plain cards.</a:t>
            </a:r>
            <a:endParaRPr lang="en-US" sz="1400" dirty="0"/>
          </a:p>
        </p:txBody>
      </p:sp>
      <p:sp>
        <p:nvSpPr>
          <p:cNvPr id="13" name="Text 11"/>
          <p:cNvSpPr txBox="1"/>
          <p:nvPr/>
        </p:nvSpPr>
        <p:spPr>
          <a:xfrm>
            <a:off x="685800" y="5806440"/>
            <a:ext cx="7498080" cy="457200"/>
          </a:xfrm>
          <a:prstGeom prst="rect">
            <a:avLst/>
          </a:prstGeom>
          <a:noFill/>
          <a:ln/>
        </p:spPr>
        <p:txBody>
          <a:bodyPr wrap="square" lIns="0" tIns="0" rIns="0" bIns="0" rtlCol="0" anchor="ctr"/>
          <a:lstStyle/>
          <a:p>
            <a:pPr indent="0" marL="0">
              <a:buNone/>
            </a:pPr>
            <a:r>
              <a:rPr lang="en-US" sz="1450" i="1" dirty="0">
                <a:solidFill>
                  <a:srgbClr val="1F8A9C"/>
                </a:solidFill>
                <a:latin typeface="Calibri" pitchFamily="34" charset="0"/>
                <a:ea typeface="Calibri" pitchFamily="34" charset="-122"/>
                <a:cs typeface="Calibri" pitchFamily="34" charset="-120"/>
              </a:rPr>
              <a:t>Record overnight → open the app in the morning → see your sleep report.</a:t>
            </a:r>
            <a:endParaRPr lang="en-US" sz="1450" dirty="0"/>
          </a:p>
        </p:txBody>
      </p:sp>
      <p:sp>
        <p:nvSpPr>
          <p:cNvPr id="14" name="Shape 12"/>
          <p:cNvSpPr/>
          <p:nvPr/>
        </p:nvSpPr>
        <p:spPr>
          <a:xfrm>
            <a:off x="8769096" y="448056"/>
            <a:ext cx="3081528" cy="5870448"/>
          </a:xfrm>
          <a:prstGeom prst="roundRect">
            <a:avLst>
              <a:gd name="adj" fmla="val 5341"/>
            </a:avLst>
          </a:prstGeom>
          <a:solidFill>
            <a:srgbClr val="0E1830"/>
          </a:solidFill>
          <a:ln w="19050">
            <a:solidFill>
              <a:srgbClr val="18233F"/>
            </a:solidFill>
            <a:prstDash val="solid"/>
          </a:ln>
        </p:spPr>
      </p:sp>
      <p:pic>
        <p:nvPicPr>
          <p:cNvPr id="15" name="Image 0" descr="/tmp/app_mock.png">    </p:cNvPr>
          <p:cNvPicPr>
            <a:picLocks noChangeAspect="1"/>
          </p:cNvPicPr>
          <p:nvPr/>
        </p:nvPicPr>
        <p:blipFill>
          <a:blip r:embed="rId1"/>
          <a:stretch>
            <a:fillRect/>
          </a:stretch>
        </p:blipFill>
        <p:spPr>
          <a:xfrm>
            <a:off x="8915400" y="594360"/>
            <a:ext cx="2788920" cy="55778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830"/>
        </a:solidFill>
      </p:bgPr>
    </p:bg>
    <p:spTree>
      <p:nvGrpSpPr>
        <p:cNvPr id="1" name=""/>
        <p:cNvGrpSpPr/>
        <p:nvPr/>
      </p:nvGrpSpPr>
      <p:grpSpPr>
        <a:xfrm>
          <a:off x="0" y="0"/>
          <a:ext cx="0" cy="0"/>
          <a:chOff x="0" y="0"/>
          <a:chExt cx="0" cy="0"/>
        </a:xfrm>
      </p:grpSpPr>
      <p:sp>
        <p:nvSpPr>
          <p:cNvPr id="2" name="Text 0"/>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3FB8CC"/>
                </a:solidFill>
                <a:latin typeface="Calibri" pitchFamily="34" charset="0"/>
                <a:ea typeface="Calibri" pitchFamily="34" charset="-122"/>
                <a:cs typeface="Calibri" pitchFamily="34" charset="-120"/>
              </a:rPr>
              <a:t>TESTED IN CODE</a:t>
            </a:r>
            <a:endParaRPr lang="en-US" sz="1200" dirty="0"/>
          </a:p>
        </p:txBody>
      </p:sp>
      <p:sp>
        <p:nvSpPr>
          <p:cNvPr id="3" name="Text 1"/>
          <p:cNvSpPr txBox="1"/>
          <p:nvPr/>
        </p:nvSpPr>
        <p:spPr>
          <a:xfrm>
            <a:off x="640080" y="868680"/>
            <a:ext cx="100584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We proved it works.</a:t>
            </a:r>
            <a:endParaRPr lang="en-US" sz="3400" dirty="0"/>
          </a:p>
        </p:txBody>
      </p:sp>
      <p:sp>
        <p:nvSpPr>
          <p:cNvPr id="4" name="Text 2"/>
          <p:cNvSpPr txBox="1"/>
          <p:nvPr/>
        </p:nvSpPr>
        <p:spPr>
          <a:xfrm>
            <a:off x="685800" y="1965960"/>
            <a:ext cx="2468880" cy="822960"/>
          </a:xfrm>
          <a:prstGeom prst="rect">
            <a:avLst/>
          </a:prstGeom>
          <a:noFill/>
          <a:ln/>
        </p:spPr>
        <p:txBody>
          <a:bodyPr wrap="square" lIns="0" tIns="0" rIns="0" bIns="0" rtlCol="0" anchor="ctr"/>
          <a:lstStyle/>
          <a:p>
            <a:pPr indent="0" marL="0">
              <a:buNone/>
            </a:pPr>
            <a:r>
              <a:rPr lang="en-US" sz="4000" b="1" dirty="0">
                <a:solidFill>
                  <a:srgbClr val="3FB8CC"/>
                </a:solidFill>
                <a:latin typeface="Calibri" pitchFamily="34" charset="0"/>
                <a:ea typeface="Calibri" pitchFamily="34" charset="-122"/>
                <a:cs typeface="Calibri" pitchFamily="34" charset="-120"/>
              </a:rPr>
              <a:t>±0.5%</a:t>
            </a:r>
            <a:endParaRPr lang="en-US" sz="4000" dirty="0"/>
          </a:p>
        </p:txBody>
      </p:sp>
      <p:sp>
        <p:nvSpPr>
          <p:cNvPr id="5" name="Text 3"/>
          <p:cNvSpPr txBox="1"/>
          <p:nvPr/>
        </p:nvSpPr>
        <p:spPr>
          <a:xfrm>
            <a:off x="685800" y="2807208"/>
            <a:ext cx="2468880" cy="822960"/>
          </a:xfrm>
          <a:prstGeom prst="rect">
            <a:avLst/>
          </a:prstGeom>
          <a:noFill/>
          <a:ln/>
        </p:spPr>
        <p:txBody>
          <a:bodyPr wrap="square" lIns="0" tIns="0" rIns="0" bIns="0" rtlCol="0" anchor="ctr"/>
          <a:lstStyle/>
          <a:p>
            <a:pPr indent="0" marL="0">
              <a:lnSpc>
                <a:spcPts val="1700"/>
              </a:lnSpc>
              <a:buNone/>
            </a:pPr>
            <a:r>
              <a:rPr lang="en-US" sz="1300" dirty="0">
                <a:solidFill>
                  <a:srgbClr val="9FB0CF"/>
                </a:solidFill>
                <a:latin typeface="Calibri" pitchFamily="34" charset="0"/>
                <a:ea typeface="Calibri" pitchFamily="34" charset="-122"/>
                <a:cs typeface="Calibri" pitchFamily="34" charset="-120"/>
              </a:rPr>
              <a:t>accuracy vs a medical</a:t>
            </a:r>
            <a:endParaRPr lang="en-US" sz="1300" dirty="0"/>
          </a:p>
          <a:p>
            <a:pPr indent="0" marL="0">
              <a:lnSpc>
                <a:spcPts val="1700"/>
              </a:lnSpc>
              <a:buNone/>
            </a:pPr>
            <a:r>
              <a:rPr lang="en-US" sz="1300" dirty="0">
                <a:solidFill>
                  <a:srgbClr val="9FB0CF"/>
                </a:solidFill>
                <a:latin typeface="Calibri" pitchFamily="34" charset="0"/>
                <a:ea typeface="Calibri" pitchFamily="34" charset="-122"/>
                <a:cs typeface="Calibri" pitchFamily="34" charset="-120"/>
              </a:rPr>
              <a:t>reference oximeter</a:t>
            </a:r>
            <a:endParaRPr lang="en-US" sz="1300" dirty="0"/>
          </a:p>
        </p:txBody>
      </p:sp>
      <p:sp>
        <p:nvSpPr>
          <p:cNvPr id="6" name="Text 4"/>
          <p:cNvSpPr txBox="1"/>
          <p:nvPr/>
        </p:nvSpPr>
        <p:spPr>
          <a:xfrm>
            <a:off x="3291840" y="1965960"/>
            <a:ext cx="2468880" cy="822960"/>
          </a:xfrm>
          <a:prstGeom prst="rect">
            <a:avLst/>
          </a:prstGeom>
          <a:noFill/>
          <a:ln/>
        </p:spPr>
        <p:txBody>
          <a:bodyPr wrap="square" lIns="0" tIns="0" rIns="0" bIns="0" rtlCol="0" anchor="ctr"/>
          <a:lstStyle/>
          <a:p>
            <a:pPr indent="0" marL="0">
              <a:buNone/>
            </a:pPr>
            <a:r>
              <a:rPr lang="en-US" sz="4000" b="1" dirty="0">
                <a:solidFill>
                  <a:srgbClr val="3FB8CC"/>
                </a:solidFill>
                <a:latin typeface="Calibri" pitchFamily="34" charset="0"/>
                <a:ea typeface="Calibri" pitchFamily="34" charset="-122"/>
                <a:cs typeface="Calibri" pitchFamily="34" charset="-120"/>
              </a:rPr>
              <a:t>r = 0.89</a:t>
            </a:r>
            <a:endParaRPr lang="en-US" sz="4000" dirty="0"/>
          </a:p>
        </p:txBody>
      </p:sp>
      <p:sp>
        <p:nvSpPr>
          <p:cNvPr id="7" name="Text 5"/>
          <p:cNvSpPr txBox="1"/>
          <p:nvPr/>
        </p:nvSpPr>
        <p:spPr>
          <a:xfrm>
            <a:off x="3291840" y="2807208"/>
            <a:ext cx="2468880" cy="822960"/>
          </a:xfrm>
          <a:prstGeom prst="rect">
            <a:avLst/>
          </a:prstGeom>
          <a:noFill/>
          <a:ln/>
        </p:spPr>
        <p:txBody>
          <a:bodyPr wrap="square" lIns="0" tIns="0" rIns="0" bIns="0" rtlCol="0" anchor="ctr"/>
          <a:lstStyle/>
          <a:p>
            <a:pPr indent="0" marL="0">
              <a:lnSpc>
                <a:spcPts val="1700"/>
              </a:lnSpc>
              <a:buNone/>
            </a:pPr>
            <a:r>
              <a:rPr lang="en-US" sz="1300" dirty="0">
                <a:solidFill>
                  <a:srgbClr val="9FB0CF"/>
                </a:solidFill>
                <a:latin typeface="Calibri" pitchFamily="34" charset="0"/>
                <a:ea typeface="Calibri" pitchFamily="34" charset="-122"/>
                <a:cs typeface="Calibri" pitchFamily="34" charset="-120"/>
              </a:rPr>
              <a:t>the two devices rise</a:t>
            </a:r>
            <a:endParaRPr lang="en-US" sz="1300" dirty="0"/>
          </a:p>
          <a:p>
            <a:pPr indent="0" marL="0">
              <a:lnSpc>
                <a:spcPts val="1700"/>
              </a:lnSpc>
              <a:buNone/>
            </a:pPr>
            <a:r>
              <a:rPr lang="en-US" sz="1300" dirty="0">
                <a:solidFill>
                  <a:srgbClr val="9FB0CF"/>
                </a:solidFill>
                <a:latin typeface="Calibri" pitchFamily="34" charset="0"/>
                <a:ea typeface="Calibri" pitchFamily="34" charset="-122"/>
                <a:cs typeface="Calibri" pitchFamily="34" charset="-120"/>
              </a:rPr>
              <a:t>and fall together</a:t>
            </a:r>
            <a:endParaRPr lang="en-US" sz="1300" dirty="0"/>
          </a:p>
        </p:txBody>
      </p:sp>
      <p:sp>
        <p:nvSpPr>
          <p:cNvPr id="8" name="Text 6"/>
          <p:cNvSpPr txBox="1"/>
          <p:nvPr/>
        </p:nvSpPr>
        <p:spPr>
          <a:xfrm>
            <a:off x="685800" y="3886200"/>
            <a:ext cx="2468880" cy="822960"/>
          </a:xfrm>
          <a:prstGeom prst="rect">
            <a:avLst/>
          </a:prstGeom>
          <a:noFill/>
          <a:ln/>
        </p:spPr>
        <p:txBody>
          <a:bodyPr wrap="square" lIns="0" tIns="0" rIns="0" bIns="0" rtlCol="0" anchor="ctr"/>
          <a:lstStyle/>
          <a:p>
            <a:pPr indent="0" marL="0">
              <a:buNone/>
            </a:pPr>
            <a:r>
              <a:rPr lang="en-US" sz="4000" b="1" dirty="0">
                <a:solidFill>
                  <a:srgbClr val="E4568A"/>
                </a:solidFill>
                <a:latin typeface="Calibri" pitchFamily="34" charset="0"/>
                <a:ea typeface="Calibri" pitchFamily="34" charset="-122"/>
                <a:cs typeface="Calibri" pitchFamily="34" charset="-120"/>
              </a:rPr>
              <a:t>82%</a:t>
            </a:r>
            <a:endParaRPr lang="en-US" sz="4000" dirty="0"/>
          </a:p>
        </p:txBody>
      </p:sp>
      <p:sp>
        <p:nvSpPr>
          <p:cNvPr id="9" name="Text 7"/>
          <p:cNvSpPr txBox="1"/>
          <p:nvPr/>
        </p:nvSpPr>
        <p:spPr>
          <a:xfrm>
            <a:off x="685800" y="4727448"/>
            <a:ext cx="2468880" cy="822960"/>
          </a:xfrm>
          <a:prstGeom prst="rect">
            <a:avLst/>
          </a:prstGeom>
          <a:noFill/>
          <a:ln/>
        </p:spPr>
        <p:txBody>
          <a:bodyPr wrap="square" lIns="0" tIns="0" rIns="0" bIns="0" rtlCol="0" anchor="ctr"/>
          <a:lstStyle/>
          <a:p>
            <a:pPr indent="0" marL="0">
              <a:lnSpc>
                <a:spcPts val="1700"/>
              </a:lnSpc>
              <a:buNone/>
            </a:pPr>
            <a:r>
              <a:rPr lang="en-US" sz="1300" dirty="0">
                <a:solidFill>
                  <a:srgbClr val="9FB0CF"/>
                </a:solidFill>
                <a:latin typeface="Calibri" pitchFamily="34" charset="0"/>
                <a:ea typeface="Calibri" pitchFamily="34" charset="-122"/>
                <a:cs typeface="Calibri" pitchFamily="34" charset="-120"/>
              </a:rPr>
              <a:t>of events caught by our</a:t>
            </a:r>
            <a:endParaRPr lang="en-US" sz="1300" dirty="0"/>
          </a:p>
          <a:p>
            <a:pPr indent="0" marL="0">
              <a:lnSpc>
                <a:spcPts val="1700"/>
              </a:lnSpc>
              <a:buNone/>
            </a:pPr>
            <a:r>
              <a:rPr lang="en-US" sz="1300" dirty="0">
                <a:solidFill>
                  <a:srgbClr val="9FB0CF"/>
                </a:solidFill>
                <a:latin typeface="Calibri" pitchFamily="34" charset="0"/>
                <a:ea typeface="Calibri" pitchFamily="34" charset="-122"/>
                <a:cs typeface="Calibri" pitchFamily="34" charset="-120"/>
              </a:rPr>
              <a:t>machine-learning model</a:t>
            </a:r>
            <a:endParaRPr lang="en-US" sz="1300" dirty="0"/>
          </a:p>
        </p:txBody>
      </p:sp>
      <p:sp>
        <p:nvSpPr>
          <p:cNvPr id="10" name="Text 8"/>
          <p:cNvSpPr txBox="1"/>
          <p:nvPr/>
        </p:nvSpPr>
        <p:spPr>
          <a:xfrm>
            <a:off x="3291840" y="3886200"/>
            <a:ext cx="2468880" cy="822960"/>
          </a:xfrm>
          <a:prstGeom prst="rect">
            <a:avLst/>
          </a:prstGeom>
          <a:noFill/>
          <a:ln/>
        </p:spPr>
        <p:txBody>
          <a:bodyPr wrap="square" lIns="0" tIns="0" rIns="0" bIns="0" rtlCol="0" anchor="ctr"/>
          <a:lstStyle/>
          <a:p>
            <a:pPr indent="0" marL="0">
              <a:buNone/>
            </a:pPr>
            <a:r>
              <a:rPr lang="en-US" sz="4000" b="1" dirty="0">
                <a:solidFill>
                  <a:srgbClr val="2F8F5B"/>
                </a:solidFill>
                <a:latin typeface="Calibri" pitchFamily="34" charset="0"/>
                <a:ea typeface="Calibri" pitchFamily="34" charset="-122"/>
                <a:cs typeface="Calibri" pitchFamily="34" charset="-120"/>
              </a:rPr>
              <a:t>4</a:t>
            </a:r>
            <a:endParaRPr lang="en-US" sz="4000" dirty="0"/>
          </a:p>
        </p:txBody>
      </p:sp>
      <p:sp>
        <p:nvSpPr>
          <p:cNvPr id="11" name="Text 9"/>
          <p:cNvSpPr txBox="1"/>
          <p:nvPr/>
        </p:nvSpPr>
        <p:spPr>
          <a:xfrm>
            <a:off x="3291840" y="4727448"/>
            <a:ext cx="2468880" cy="822960"/>
          </a:xfrm>
          <a:prstGeom prst="rect">
            <a:avLst/>
          </a:prstGeom>
          <a:noFill/>
          <a:ln/>
        </p:spPr>
        <p:txBody>
          <a:bodyPr wrap="square" lIns="0" tIns="0" rIns="0" bIns="0" rtlCol="0" anchor="ctr"/>
          <a:lstStyle/>
          <a:p>
            <a:pPr indent="0" marL="0">
              <a:lnSpc>
                <a:spcPts val="1700"/>
              </a:lnSpc>
              <a:buNone/>
            </a:pPr>
            <a:r>
              <a:rPr lang="en-US" sz="1300" dirty="0">
                <a:solidFill>
                  <a:srgbClr val="9FB0CF"/>
                </a:solidFill>
                <a:latin typeface="Calibri" pitchFamily="34" charset="0"/>
                <a:ea typeface="Calibri" pitchFamily="34" charset="-122"/>
                <a:cs typeface="Calibri" pitchFamily="34" charset="-120"/>
              </a:rPr>
              <a:t>analyses, all tested</a:t>
            </a:r>
            <a:endParaRPr lang="en-US" sz="1300" dirty="0"/>
          </a:p>
          <a:p>
            <a:pPr indent="0" marL="0">
              <a:lnSpc>
                <a:spcPts val="1700"/>
              </a:lnSpc>
              <a:buNone/>
            </a:pPr>
            <a:r>
              <a:rPr lang="en-US" sz="1300" dirty="0">
                <a:solidFill>
                  <a:srgbClr val="9FB0CF"/>
                </a:solidFill>
                <a:latin typeface="Calibri" pitchFamily="34" charset="0"/>
                <a:ea typeface="Calibri" pitchFamily="34" charset="-122"/>
                <a:cs typeface="Calibri" pitchFamily="34" charset="-120"/>
              </a:rPr>
              <a:t>end-to-end in code</a:t>
            </a:r>
            <a:endParaRPr lang="en-US" sz="1300" dirty="0"/>
          </a:p>
        </p:txBody>
      </p:sp>
      <p:sp>
        <p:nvSpPr>
          <p:cNvPr id="12" name="Shape 10"/>
          <p:cNvSpPr/>
          <p:nvPr/>
        </p:nvSpPr>
        <p:spPr>
          <a:xfrm>
            <a:off x="5852160" y="1691640"/>
            <a:ext cx="5760720" cy="3627059"/>
          </a:xfrm>
          <a:prstGeom prst="roundRect">
            <a:avLst>
              <a:gd name="adj" fmla="val 2017"/>
            </a:avLst>
          </a:prstGeom>
          <a:solidFill>
            <a:srgbClr val="FFFFFF"/>
          </a:solidFill>
          <a:ln w="12700">
            <a:solidFill>
              <a:srgbClr val="18233F"/>
            </a:solidFill>
            <a:prstDash val="solid"/>
          </a:ln>
        </p:spPr>
      </p:sp>
      <p:pic>
        <p:nvPicPr>
          <p:cNvPr id="13" name="Image 0" descr="/tmp/trailer_validation.png">    </p:cNvPr>
          <p:cNvPicPr>
            <a:picLocks noChangeAspect="1"/>
          </p:cNvPicPr>
          <p:nvPr/>
        </p:nvPicPr>
        <p:blipFill>
          <a:blip r:embed="rId1"/>
          <a:stretch>
            <a:fillRect/>
          </a:stretch>
        </p:blipFill>
        <p:spPr>
          <a:xfrm>
            <a:off x="5989320" y="1828800"/>
            <a:ext cx="5486400" cy="3352739"/>
          </a:xfrm>
          <a:prstGeom prst="rect">
            <a:avLst/>
          </a:prstGeom>
        </p:spPr>
      </p:pic>
      <p:sp>
        <p:nvSpPr>
          <p:cNvPr id="14" name="Text 11"/>
          <p:cNvSpPr txBox="1"/>
          <p:nvPr/>
        </p:nvSpPr>
        <p:spPr>
          <a:xfrm>
            <a:off x="640080" y="6172200"/>
            <a:ext cx="10972800" cy="411480"/>
          </a:xfrm>
          <a:prstGeom prst="rect">
            <a:avLst/>
          </a:prstGeom>
          <a:noFill/>
          <a:ln/>
        </p:spPr>
        <p:txBody>
          <a:bodyPr wrap="square" lIns="0" tIns="0" rIns="0" bIns="0" rtlCol="0" anchor="ctr"/>
          <a:lstStyle/>
          <a:p>
            <a:pPr indent="0" marL="0">
              <a:buNone/>
            </a:pPr>
            <a:r>
              <a:rPr lang="en-US" sz="1800" b="1" dirty="0">
                <a:solidFill>
                  <a:srgbClr val="3FB8CC"/>
                </a:solidFill>
                <a:latin typeface="Calibri" pitchFamily="34" charset="0"/>
                <a:ea typeface="Calibri" pitchFamily="34" charset="-122"/>
                <a:cs typeface="Calibri" pitchFamily="34" charset="-120"/>
              </a:rPr>
              <a:t>Low-cost.  Validated.  Ready to screen for sleep apnea.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2026-10-01T17:39:23Z</dcterms:created>
  <dcterms:modified xsi:type="dcterms:W3CDTF">2026-10-01T17:39:23Z</dcterms:modified>
</cp:coreProperties>
</file>